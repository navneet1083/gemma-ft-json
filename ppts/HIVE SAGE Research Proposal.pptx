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JkVS2DKSfpSYZQd5g1u3ennoS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24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949440" y="822960"/>
            <a:ext cx="567000" cy="567000"/>
          </a:xfrm>
          <a:prstGeom prst="ellipse">
            <a:avLst/>
          </a:prstGeom>
          <a:solidFill>
            <a:srgbClr val="0B7285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772400" y="822960"/>
            <a:ext cx="566928" cy="566928"/>
          </a:xfrm>
          <a:prstGeom prst="ellipse">
            <a:avLst/>
          </a:prstGeom>
          <a:solidFill>
            <a:srgbClr val="1F4260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60920" y="1417320"/>
            <a:ext cx="566928" cy="566928"/>
          </a:xfrm>
          <a:prstGeom prst="ellipse">
            <a:avLst/>
          </a:prstGeom>
          <a:solidFill>
            <a:srgbClr val="1F4260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183880" y="1417320"/>
            <a:ext cx="566928" cy="566928"/>
          </a:xfrm>
          <a:prstGeom prst="ellipse">
            <a:avLst/>
          </a:prstGeom>
          <a:solidFill>
            <a:srgbClr val="0B7285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949440" y="2011680"/>
            <a:ext cx="566928" cy="566928"/>
          </a:xfrm>
          <a:prstGeom prst="ellipse">
            <a:avLst/>
          </a:prstGeom>
          <a:solidFill>
            <a:srgbClr val="1F4260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772400" y="2011680"/>
            <a:ext cx="566928" cy="566928"/>
          </a:xfrm>
          <a:prstGeom prst="ellipse">
            <a:avLst/>
          </a:prstGeom>
          <a:solidFill>
            <a:srgbClr val="1F4260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60920" y="2606040"/>
            <a:ext cx="566928" cy="566928"/>
          </a:xfrm>
          <a:prstGeom prst="ellipse">
            <a:avLst/>
          </a:prstGeom>
          <a:solidFill>
            <a:srgbClr val="0B7285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83880" y="2606040"/>
            <a:ext cx="566928" cy="566928"/>
          </a:xfrm>
          <a:prstGeom prst="ellipse">
            <a:avLst/>
          </a:prstGeom>
          <a:solidFill>
            <a:srgbClr val="1F4260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772400" y="3200400"/>
            <a:ext cx="566928" cy="566928"/>
          </a:xfrm>
          <a:prstGeom prst="ellipse">
            <a:avLst/>
          </a:prstGeom>
          <a:solidFill>
            <a:srgbClr val="1F4260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949440" y="3200400"/>
            <a:ext cx="566928" cy="566928"/>
          </a:xfrm>
          <a:prstGeom prst="ellipse">
            <a:avLst/>
          </a:prstGeom>
          <a:solidFill>
            <a:srgbClr val="0B7285"/>
          </a:solidFill>
          <a:ln cap="flat" cmpd="sng" w="9525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8704" y="1563624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7224" y="27523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548640" y="68580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8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C8D6"/>
                </a:solidFill>
                <a:latin typeface="Calibri"/>
                <a:ea typeface="Calibri"/>
                <a:cs typeface="Calibri"/>
                <a:sym typeface="Calibri"/>
              </a:rPr>
              <a:t>RESEARCH PROPOSAL  ·  APPLIED AI PLATFORMS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1051560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HIVE + SAGE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8640" y="2057400"/>
            <a:ext cx="5760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E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A contract-verified agent swarm </a:t>
            </a:r>
            <a:r>
              <a:rPr b="1" i="0" lang="en-US" sz="1500" u="none" cap="none" strike="noStrike">
                <a:solidFill>
                  <a:srgbClr val="7FC8D6"/>
                </a:solidFill>
                <a:latin typeface="Calibri"/>
                <a:ea typeface="Calibri"/>
                <a:cs typeface="Calibri"/>
                <a:sym typeface="Calibri"/>
              </a:rPr>
              <a:t>(HIVE)</a:t>
            </a:r>
            <a:r>
              <a:rPr b="0" i="0" lang="en-US" sz="150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 that compiles an intake form into the optimal </a:t>
            </a:r>
            <a:r>
              <a:rPr b="1" i="0" lang="en-US" sz="1500" u="none" cap="none" strike="noStrike">
                <a:solidFill>
                  <a:srgbClr val="F2C288"/>
                </a:solidFill>
                <a:latin typeface="Calibri"/>
                <a:ea typeface="Calibri"/>
                <a:cs typeface="Calibri"/>
                <a:sym typeface="Calibri"/>
              </a:rPr>
              <a:t>training-regime decision</a:t>
            </a:r>
            <a:r>
              <a:rPr b="0" i="0" lang="en-US" sz="150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 for health-domain SLMs </a:t>
            </a:r>
            <a:r>
              <a:rPr b="1" i="0" lang="en-US" sz="1500" u="none" cap="none" strike="noStrike">
                <a:solidFill>
                  <a:srgbClr val="7FC8D6"/>
                </a:solidFill>
                <a:latin typeface="Calibri"/>
                <a:ea typeface="Calibri"/>
                <a:cs typeface="Calibri"/>
                <a:sym typeface="Calibri"/>
              </a:rPr>
              <a:t>(SAGE)</a:t>
            </a:r>
            <a:r>
              <a:rPr b="0" i="0" lang="en-US" sz="150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 — grounded in literature, ontologies, and proxy evidence.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8640" y="3429000"/>
            <a:ext cx="1783080" cy="914400"/>
          </a:xfrm>
          <a:prstGeom prst="roundRect">
            <a:avLst>
              <a:gd fmla="val 8000" name="adj"/>
            </a:avLst>
          </a:prstGeom>
          <a:solidFill>
            <a:srgbClr val="1F4260"/>
          </a:solidFill>
          <a:ln cap="flat" cmpd="sng" w="12700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48640" y="352044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2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2C28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21792" y="3931920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patentable mechanisms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514600" y="3429000"/>
            <a:ext cx="1783080" cy="914400"/>
          </a:xfrm>
          <a:prstGeom prst="roundRect">
            <a:avLst>
              <a:gd fmla="val 8000" name="adj"/>
            </a:avLst>
          </a:prstGeom>
          <a:solidFill>
            <a:srgbClr val="1F4260"/>
          </a:solidFill>
          <a:ln cap="flat" cmpd="sng" w="12700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514600" y="352044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2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2C28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587752" y="3931920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publishable directions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480560" y="3429000"/>
            <a:ext cx="1783080" cy="914400"/>
          </a:xfrm>
          <a:prstGeom prst="roundRect">
            <a:avLst>
              <a:gd fmla="val 8000" name="adj"/>
            </a:avLst>
          </a:prstGeom>
          <a:solidFill>
            <a:srgbClr val="1F4260"/>
          </a:solidFill>
          <a:ln cap="flat" cmpd="sng" w="12700">
            <a:solidFill>
              <a:srgbClr val="2C5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4480560" y="352044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2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2C288"/>
                </a:solidFill>
                <a:latin typeface="Cambria"/>
                <a:ea typeface="Cambria"/>
                <a:cs typeface="Cambria"/>
                <a:sym typeface="Cambria"/>
              </a:rPr>
              <a:t>30+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553712" y="3931920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strategies in one registry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48640" y="468172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6B5"/>
                </a:solidFill>
                <a:latin typeface="Calibri"/>
                <a:ea typeface="Calibri"/>
                <a:cs typeface="Calibri"/>
                <a:sym typeface="Calibri"/>
              </a:rPr>
              <a:t>Navneet Singh  ·  July 2026  ·  Confidential — for leadership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THE PROBLEM &amp; THE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Fine-tuning strategy is still expert guesswork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02920" y="1298448"/>
            <a:ext cx="402336" cy="402336"/>
          </a:xfrm>
          <a:prstGeom prst="ellipse">
            <a:avLst/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481" y="1395009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1051560" y="12618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 combinatorial decision, made by intuition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51560" y="1536192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Model family × training regime × PEFT method × rank × data recipe — chosen today by tribal knowledge, not evidence.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02920" y="2267712"/>
            <a:ext cx="402336" cy="402336"/>
          </a:xfrm>
          <a:prstGeom prst="ellipse">
            <a:avLst/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81" y="236427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1051560" y="2231136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Health domain raises the stakes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51560" y="2505456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PHI handling, HIPAA paths, and clinical error modes make a wrong regime choice a compliance and safety cost, not just a compute cost.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02920" y="3236976"/>
            <a:ext cx="402336" cy="402336"/>
          </a:xfrm>
          <a:prstGeom prst="ellipse">
            <a:avLst/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481" y="3333537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051560" y="320040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Wasted GPU spend &amp; slow time-to-model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51560" y="3474720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Teams over-train (full FT when LoRA r=8 suffices) or under-train (prompting when DAPT was needed) — both burn budget and calendar.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49240" y="1234440"/>
            <a:ext cx="3291840" cy="2834640"/>
          </a:xfrm>
          <a:prstGeom prst="roundRect">
            <a:avLst>
              <a:gd fmla="val 3226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577840" y="141732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THE MOVE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577840" y="16916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Turn regime selection into a grounded, automated 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577840" y="2450592"/>
            <a:ext cx="2880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Intake form in → </a:t>
            </a: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Pareto-optimal (model, strategy, rank) out, with citations and proxy-run evidence attached.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577840" y="3310128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Whitespace: </a:t>
            </a: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no published agentic system selects among training strategies — closest prior art routes only LoRA vs. full FT, non-agentically.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Every recommendation is traceable: the paper, the ontology path, and the proxy run that justified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EAGLE-EYE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System at 10,000 ft — eight components, one loop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" y="1481328"/>
            <a:ext cx="1572768" cy="786384"/>
          </a:xfrm>
          <a:prstGeom prst="roundRect">
            <a:avLst>
              <a:gd fmla="val 8140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02920" y="1545336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① INTAKE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1792224"/>
            <a:ext cx="1481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Persona-adaptive form,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versioned JSON-Schema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3"/>
          <p:cNvCxnSpPr/>
          <p:nvPr/>
        </p:nvCxnSpPr>
        <p:spPr>
          <a:xfrm>
            <a:off x="2103120" y="1874520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3"/>
          <p:cNvSpPr/>
          <p:nvPr/>
        </p:nvSpPr>
        <p:spPr>
          <a:xfrm>
            <a:off x="2359152" y="1481328"/>
            <a:ext cx="1572768" cy="786384"/>
          </a:xfrm>
          <a:prstGeom prst="roundRect">
            <a:avLst>
              <a:gd fmla="val 8140" name="adj"/>
            </a:avLst>
          </a:prstGeom>
          <a:solidFill>
            <a:srgbClr val="0B7285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359152" y="1545336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HIVE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404872" y="1792224"/>
            <a:ext cx="1481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Contract-verified swarm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(validate · profile · scout)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3959352" y="1874520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3"/>
          <p:cNvSpPr/>
          <p:nvPr/>
        </p:nvSpPr>
        <p:spPr>
          <a:xfrm>
            <a:off x="4215384" y="1481328"/>
            <a:ext cx="1572768" cy="786384"/>
          </a:xfrm>
          <a:prstGeom prst="roundRect">
            <a:avLst>
              <a:gd fmla="val 8140" name="adj"/>
            </a:avLst>
          </a:prstGeom>
          <a:solidFill>
            <a:srgbClr val="16324F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215384" y="1545336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BRAIN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261104" y="1792224"/>
            <a:ext cx="1481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Rules + literature +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proxy evidence fusion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5815584" y="1874520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" name="Google Shape;87;p3"/>
          <p:cNvSpPr/>
          <p:nvPr/>
        </p:nvSpPr>
        <p:spPr>
          <a:xfrm>
            <a:off x="6071616" y="1481328"/>
            <a:ext cx="1572768" cy="786384"/>
          </a:xfrm>
          <a:prstGeom prst="roundRect">
            <a:avLst>
              <a:gd fmla="val 8140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071616" y="1545336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⑥ PROXY RUNS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117336" y="1792224"/>
            <a:ext cx="1481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Multi-fidelity ASHA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short fine-tunes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7671816" y="1874520"/>
            <a:ext cx="228600" cy="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3"/>
          <p:cNvSpPr/>
          <p:nvPr/>
        </p:nvSpPr>
        <p:spPr>
          <a:xfrm>
            <a:off x="7927848" y="1481328"/>
            <a:ext cx="1572768" cy="786384"/>
          </a:xfrm>
          <a:prstGeom prst="roundRect">
            <a:avLst>
              <a:gd fmla="val 8140" name="adj"/>
            </a:avLst>
          </a:prstGeom>
          <a:solidFill>
            <a:srgbClr val="FDF3E7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7927848" y="1545336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1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5A1E"/>
                </a:solidFill>
                <a:latin typeface="Calibri"/>
                <a:ea typeface="Calibri"/>
                <a:cs typeface="Calibri"/>
                <a:sym typeface="Calibri"/>
              </a:rPr>
              <a:t>⑦ OUTPUT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973568" y="1792224"/>
            <a:ext cx="14813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8A5A1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8A5A1E"/>
                </a:solidFill>
                <a:latin typeface="Calibri"/>
                <a:ea typeface="Calibri"/>
                <a:cs typeface="Calibri"/>
                <a:sym typeface="Calibri"/>
              </a:rPr>
              <a:t>Pareto set + configs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8A5A1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8A5A1E"/>
                </a:solidFill>
                <a:latin typeface="Calibri"/>
                <a:ea typeface="Calibri"/>
                <a:cs typeface="Calibri"/>
                <a:sym typeface="Calibri"/>
              </a:rPr>
              <a:t>+ rationale report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176272" y="2880360"/>
            <a:ext cx="19202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0B728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176272" y="29352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③ RESEARCH GROUNDING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221992" y="315468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arXiv/Medium → cache-aside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Vector DB + Doc store + KG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35424" y="2880360"/>
            <a:ext cx="19202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0B728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35424" y="293522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⑤ SLM-AS-SERVICE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581144" y="315468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Model cards · adapter registry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serving limits (hosted)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3145536" y="2267712"/>
            <a:ext cx="0" cy="612648"/>
          </a:xfrm>
          <a:prstGeom prst="straightConnector1">
            <a:avLst/>
          </a:prstGeom>
          <a:noFill/>
          <a:ln cap="flat" cmpd="sng" w="2030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3"/>
          <p:cNvCxnSpPr/>
          <p:nvPr/>
        </p:nvCxnSpPr>
        <p:spPr>
          <a:xfrm>
            <a:off x="5321808" y="2267712"/>
            <a:ext cx="0" cy="612648"/>
          </a:xfrm>
          <a:prstGeom prst="straightConnector1">
            <a:avLst/>
          </a:prstGeom>
          <a:noFill/>
          <a:ln cap="flat" cmpd="sng" w="2030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3"/>
          <p:cNvCxnSpPr/>
          <p:nvPr/>
        </p:nvCxnSpPr>
        <p:spPr>
          <a:xfrm>
            <a:off x="8714232" y="2267712"/>
            <a:ext cx="0" cy="1682496"/>
          </a:xfrm>
          <a:prstGeom prst="straightConnector1">
            <a:avLst/>
          </a:prstGeom>
          <a:noFill/>
          <a:ln cap="flat" cmpd="sng" w="19050">
            <a:solidFill>
              <a:srgbClr val="C77D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/>
          <p:nvPr/>
        </p:nvCxnSpPr>
        <p:spPr>
          <a:xfrm>
            <a:off x="2276856" y="3950208"/>
            <a:ext cx="6437376" cy="0"/>
          </a:xfrm>
          <a:prstGeom prst="straightConnector1">
            <a:avLst/>
          </a:prstGeom>
          <a:noFill/>
          <a:ln cap="flat" cmpd="sng" w="19050">
            <a:solidFill>
              <a:srgbClr val="C77D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/>
          <p:nvPr/>
        </p:nvCxnSpPr>
        <p:spPr>
          <a:xfrm rot="10800000">
            <a:off x="2276856" y="2286000"/>
            <a:ext cx="0" cy="1664208"/>
          </a:xfrm>
          <a:prstGeom prst="straightConnector1">
            <a:avLst/>
          </a:prstGeom>
          <a:noFill/>
          <a:ln cap="flat" cmpd="sng" w="19050">
            <a:solidFill>
              <a:srgbClr val="C77D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3"/>
          <p:cNvSpPr/>
          <p:nvPr/>
        </p:nvSpPr>
        <p:spPr>
          <a:xfrm>
            <a:off x="2103120" y="402336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⑧ FEEDBACK — realized outcomes update rule priors, agent trust scores &amp; strategy registry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02920" y="4443984"/>
            <a:ext cx="8138160" cy="457200"/>
          </a:xfrm>
          <a:prstGeom prst="roundRect">
            <a:avLst>
              <a:gd fmla="val 12000" name="adj"/>
            </a:avLst>
          </a:prstGeom>
          <a:solidFill>
            <a:srgbClr val="FB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45445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1005840" y="4517136"/>
            <a:ext cx="7543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1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Cross-cutting guardrail plane: PHI de-identification at every boundary · RBAC · audit log · prompt-injection defense on web-facing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COMPONENT DEEP-DIVE · ORCHESTRATION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HIVE — a reusable, contract-verified swarm substrate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1234440"/>
            <a:ext cx="3977640" cy="3063240"/>
          </a:xfrm>
          <a:prstGeom prst="roundRect">
            <a:avLst>
              <a:gd fmla="val 2985" name="adj"/>
            </a:avLst>
          </a:prstGeom>
          <a:solidFill>
            <a:srgbClr val="F4F8FA"/>
          </a:solidFill>
          <a:ln cap="flat" cmpd="sng" w="12700">
            <a:solidFill>
              <a:srgbClr val="C9D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85800" y="1371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CONTRACT-NET LOOP (Smith 1980, applied to LLM agents)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13232" y="1737360"/>
            <a:ext cx="164592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5875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713232" y="17830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Announce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13232" y="200253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task + I/O schema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542032" y="1737360"/>
            <a:ext cx="164592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5875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2542032" y="17830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Bid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542032" y="200253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capability × trust × 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13232" y="2487168"/>
            <a:ext cx="164592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5875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13232" y="253288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13232" y="275234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best agent wins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542032" y="2487168"/>
            <a:ext cx="1645920" cy="566928"/>
          </a:xfrm>
          <a:prstGeom prst="roundRect">
            <a:avLst>
              <a:gd fmla="val 9677" name="adj"/>
            </a:avLst>
          </a:prstGeom>
          <a:solidFill>
            <a:srgbClr val="0B7285"/>
          </a:solidFill>
          <a:ln cap="flat" cmpd="sng" w="15875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542032" y="253288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542032" y="275234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EF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8EEF2"/>
                </a:solidFill>
                <a:latin typeface="Calibri"/>
                <a:ea typeface="Calibri"/>
                <a:cs typeface="Calibri"/>
                <a:sym typeface="Calibri"/>
              </a:rPr>
              <a:t>pre/post-conditions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2377440" y="2020824"/>
            <a:ext cx="146304" cy="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4"/>
          <p:cNvCxnSpPr/>
          <p:nvPr/>
        </p:nvCxnSpPr>
        <p:spPr>
          <a:xfrm flipH="1">
            <a:off x="1536192" y="2322576"/>
            <a:ext cx="1828800" cy="146304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4"/>
          <p:cNvCxnSpPr/>
          <p:nvPr/>
        </p:nvCxnSpPr>
        <p:spPr>
          <a:xfrm>
            <a:off x="2377440" y="2770632"/>
            <a:ext cx="146304" cy="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4"/>
          <p:cNvSpPr/>
          <p:nvPr/>
        </p:nvSpPr>
        <p:spPr>
          <a:xfrm>
            <a:off x="713232" y="3310128"/>
            <a:ext cx="3474720" cy="502920"/>
          </a:xfrm>
          <a:prstGeom prst="roundRect">
            <a:avLst>
              <a:gd fmla="val 10909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13232" y="3310128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blackboard (stigmergy) — verified results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4"/>
          <p:cNvCxnSpPr/>
          <p:nvPr/>
        </p:nvCxnSpPr>
        <p:spPr>
          <a:xfrm>
            <a:off x="3364992" y="3054096"/>
            <a:ext cx="0" cy="237744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4"/>
          <p:cNvSpPr/>
          <p:nvPr/>
        </p:nvSpPr>
        <p:spPr>
          <a:xfrm>
            <a:off x="713232" y="387705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Fail ⇒ re-auction (self-healing)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09160" y="1298448"/>
            <a:ext cx="384048" cy="384048"/>
          </a:xfrm>
          <a:prstGeom prst="ellipse">
            <a:avLst/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1332" y="1390620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5230368" y="12618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Every handoff is formally verified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230368" y="1517904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JSON-schema + pre/post-condition checks kill silent data-cascade failures — absent in LangGraph / AutoGen / CrewAI.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09160" y="2194560"/>
            <a:ext cx="384048" cy="384048"/>
          </a:xfrm>
          <a:prstGeom prst="ellipse">
            <a:avLst/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1332" y="228673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5230368" y="215798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Provider-abstraction layer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230368" y="2414016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One loop spec runs on OpenAI, Gemini, Anthropic, or open-source — tool-calling and loop style resolved per provider capability.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709160" y="3090672"/>
            <a:ext cx="384048" cy="384048"/>
          </a:xfrm>
          <a:prstGeom prst="ellipse">
            <a:avLst/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1332" y="3182844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5230368" y="305409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Generic substrate, not a one-off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230368" y="3310128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Any team composes swarms on a graph canvas (React Flow → typed JSON → executable graph). SAGE is simply tenant #1.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709160" y="39502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SAGE'S AGENT CATEGORIES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09160" y="4187952"/>
            <a:ext cx="1207008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709160" y="418795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Schema validator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998464" y="4187952"/>
            <a:ext cx="960120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998464" y="4187952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PHI screener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040880" y="4187952"/>
            <a:ext cx="987552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040880" y="4187952"/>
            <a:ext cx="987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Data profiler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709160" y="4517136"/>
            <a:ext cx="841248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4709160" y="4517136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632704" y="4517136"/>
            <a:ext cx="1143000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5632704" y="451713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Literature scout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858000" y="4517136"/>
            <a:ext cx="1024128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858000" y="451713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Strategy synth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964424" y="4517136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7964424" y="451713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Critic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COMPONENT DEEP-DIVE · DECISION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SAGE's brain — three evidence sources, one Pareto answer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2920" y="1280160"/>
            <a:ext cx="2606040" cy="1481328"/>
          </a:xfrm>
          <a:prstGeom prst="roundRect">
            <a:avLst>
              <a:gd fmla="val 5556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67512" y="142646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94" y="15142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1124712" y="1426464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RULE PRIORS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124712" y="164592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Interpretable heuristics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67512" y="193852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e.g., N&lt;1k + strong base → RAG or LoRA r≤8;  domain shift + raw corpus → DAPT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1801368" y="2788920"/>
            <a:ext cx="0" cy="27432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5"/>
          <p:cNvSpPr/>
          <p:nvPr/>
        </p:nvSpPr>
        <p:spPr>
          <a:xfrm>
            <a:off x="3291840" y="1280160"/>
            <a:ext cx="2606040" cy="1481328"/>
          </a:xfrm>
          <a:prstGeom prst="roundRect">
            <a:avLst>
              <a:gd fmla="val 5556" name="adj"/>
            </a:avLst>
          </a:prstGeom>
          <a:solidFill>
            <a:srgbClr val="FDF3E7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456432" y="142646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4214" y="15142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/>
          <p:nvPr/>
        </p:nvSpPr>
        <p:spPr>
          <a:xfrm>
            <a:off x="3913632" y="1426464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1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5A1E"/>
                </a:solidFill>
                <a:latin typeface="Calibri"/>
                <a:ea typeface="Calibri"/>
                <a:cs typeface="Calibri"/>
                <a:sym typeface="Calibri"/>
              </a:rPr>
              <a:t>LITERATURE 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913632" y="164592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Ontology-guided GraphRAG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456432" y="193852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UMLS · SNOMED · MeSH anchors + an ML-technique ontology over the in-house paper KG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5"/>
          <p:cNvCxnSpPr/>
          <p:nvPr/>
        </p:nvCxnSpPr>
        <p:spPr>
          <a:xfrm>
            <a:off x="4590288" y="2788920"/>
            <a:ext cx="0" cy="27432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p5"/>
          <p:cNvSpPr/>
          <p:nvPr/>
        </p:nvSpPr>
        <p:spPr>
          <a:xfrm>
            <a:off x="6080760" y="1280160"/>
            <a:ext cx="2606040" cy="1481328"/>
          </a:xfrm>
          <a:prstGeom prst="roundRect">
            <a:avLst>
              <a:gd fmla="val 5556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245352" y="142646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3134" y="15142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6702552" y="1426464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EMPIRICAL 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702552" y="164592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Multi-fidelity proxy runs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245352" y="193852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ASHA / Hyperband short fine-tunes; promote top-1/η; full Pareto front maintained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5"/>
          <p:cNvCxnSpPr/>
          <p:nvPr/>
        </p:nvCxnSpPr>
        <p:spPr>
          <a:xfrm>
            <a:off x="7379208" y="2788920"/>
            <a:ext cx="0" cy="274320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5"/>
          <p:cNvSpPr/>
          <p:nvPr/>
        </p:nvSpPr>
        <p:spPr>
          <a:xfrm>
            <a:off x="1280160" y="3127248"/>
            <a:ext cx="6583680" cy="713232"/>
          </a:xfrm>
          <a:prstGeom prst="roundRect">
            <a:avLst>
              <a:gd fmla="val 10256" name="adj"/>
            </a:avLst>
          </a:prstGeom>
          <a:solidFill>
            <a:srgbClr val="16324F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6192" y="33375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/>
          <p:nvPr/>
        </p:nvSpPr>
        <p:spPr>
          <a:xfrm>
            <a:off x="1938528" y="3200400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Multi-objective Pareto fusion  </a:t>
            </a:r>
            <a:r>
              <a:rPr b="0" i="0" lang="en-US" sz="1100" u="none" cap="none" strike="noStrike">
                <a:solidFill>
                  <a:srgbClr val="C7D6DE"/>
                </a:solidFill>
                <a:latin typeface="Calibri"/>
                <a:ea typeface="Calibri"/>
                <a:cs typeface="Calibri"/>
                <a:sym typeface="Calibri"/>
              </a:rPr>
              <a:t>— quality × params × latency × cost.  Disagreement between sources is surfaced, never silently resolved (clinical accountability).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5"/>
          <p:cNvCxnSpPr/>
          <p:nvPr/>
        </p:nvCxnSpPr>
        <p:spPr>
          <a:xfrm>
            <a:off x="4572000" y="3840480"/>
            <a:ext cx="0" cy="219456"/>
          </a:xfrm>
          <a:prstGeom prst="straightConnector1">
            <a:avLst/>
          </a:prstGeom>
          <a:noFill/>
          <a:ln cap="flat" cmpd="sng" w="20300">
            <a:solidFill>
              <a:srgbClr val="095C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5"/>
          <p:cNvSpPr/>
          <p:nvPr/>
        </p:nvSpPr>
        <p:spPr>
          <a:xfrm>
            <a:off x="502920" y="4133088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DECIDES THE REAL TRAINING REGIME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02920" y="4370832"/>
            <a:ext cx="1170432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02920" y="4370832"/>
            <a:ext cx="1170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RAG / prompt only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732788" y="4370832"/>
            <a:ext cx="1170432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732788" y="4370832"/>
            <a:ext cx="1170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PEFT (LoRA family)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962656" y="4370832"/>
            <a:ext cx="96012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2962656" y="4370832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Full fine-tune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982212" y="4370832"/>
            <a:ext cx="1298448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3982212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DAPT / cont. pretrain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340096" y="4370832"/>
            <a:ext cx="1389888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340096" y="4370832"/>
            <a:ext cx="13898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Embedding / contrastive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789420" y="4370832"/>
            <a:ext cx="1207008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6789420" y="4370832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Post-train / instruct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8055864" y="4370832"/>
            <a:ext cx="1170432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8055864" y="4370832"/>
            <a:ext cx="1170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0" i="0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DPO · GRPO · RLHF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STRATEGY COVERAGE &amp; FUTURE-PROOFING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One registry, 30+ strategies — new methods plug in, no core changes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02920" y="1207008"/>
            <a:ext cx="4023360" cy="1444752"/>
          </a:xfrm>
          <a:prstGeom prst="roundRect">
            <a:avLst>
              <a:gd fmla="val 5696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40080" y="133502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084" y="1414028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/>
          <p:nvPr/>
        </p:nvSpPr>
        <p:spPr>
          <a:xfrm>
            <a:off x="1051560" y="136245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PEFT / ADAPTERS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67512" y="1645920"/>
            <a:ext cx="37033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LoRA · QLoRA · AdaLoRA · DyLoRA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DoRA · VeRA · PiSSA · rsLoRA · LoRA+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IA3 · prefix/prompt · GaLore · ReFT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MoE-LoRA (X-LoRA) · MoRA · LongLoRA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BitFit · Spectrum layer selection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709160" y="1207008"/>
            <a:ext cx="4023360" cy="1444752"/>
          </a:xfrm>
          <a:prstGeom prst="roundRect">
            <a:avLst>
              <a:gd fmla="val 5696" name="adj"/>
            </a:avLst>
          </a:prstGeom>
          <a:solidFill>
            <a:srgbClr val="FDF3E7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846320" y="133502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5324" y="1414028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"/>
          <p:cNvSpPr/>
          <p:nvPr/>
        </p:nvSpPr>
        <p:spPr>
          <a:xfrm>
            <a:off x="5257800" y="136245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PREFERENCE / 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873752" y="1645920"/>
            <a:ext cx="37033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DPO · IPO · KTO · ORPO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GRPO (critic-free, verifiable reward)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SimPO · RLOO · DAPO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RLAIF / constitutional pipelines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02920" y="2779776"/>
            <a:ext cx="4023360" cy="1444752"/>
          </a:xfrm>
          <a:prstGeom prst="roundRect">
            <a:avLst>
              <a:gd fmla="val 5696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40080" y="290779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084" y="298679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/>
          <p:nvPr/>
        </p:nvSpPr>
        <p:spPr>
          <a:xfrm>
            <a:off x="1051560" y="293522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DATA-CENTRIC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67512" y="3218688"/>
            <a:ext cx="37033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DAPT / continued pretraining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Contrastive embedding (SapBERT-style)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Influence-based selection (LESS)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Synthetic data gen · curriculum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NEFTune noise regularization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709160" y="2779776"/>
            <a:ext cx="4023360" cy="1444752"/>
          </a:xfrm>
          <a:prstGeom prst="roundRect">
            <a:avLst>
              <a:gd fmla="val 5696" name="adj"/>
            </a:avLst>
          </a:prstGeom>
          <a:solidFill>
            <a:srgbClr val="FDF3E7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846320" y="290779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5324" y="2986796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5257800" y="293522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873752" y="3218688"/>
            <a:ext cx="37033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Adapter reuse &amp; hot-swap (multi-LoRA)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Model merging: TIES · DARE · SLERP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Knowledge distillation to smaller SLM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Model soups / weight averaging</a:t>
            </a:r>
            <a:r>
              <a:rPr b="1" i="0" lang="en-US" sz="8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  +NEW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02920" y="4498848"/>
            <a:ext cx="8138160" cy="420624"/>
          </a:xfrm>
          <a:prstGeom prst="roundRect">
            <a:avLst>
              <a:gd fmla="val 13043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4590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987552" y="45445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Plugin contract: </a:t>
            </a: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each strategy declares applicability conditions, resource needs &amp; search space — the brain filters, the proxy trainer executes.  </a:t>
            </a:r>
            <a:r>
              <a:rPr b="0" i="1" lang="en-US" sz="105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+NEW = gap-scan additions this review.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TRUST, SAFETY &amp;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Health-grade by construction — not bolted 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02920" y="1261872"/>
            <a:ext cx="4114800" cy="3063240"/>
          </a:xfrm>
          <a:prstGeom prst="roundRect">
            <a:avLst>
              <a:gd fmla="val 2985" name="adj"/>
            </a:avLst>
          </a:prstGeom>
          <a:solidFill>
            <a:srgbClr val="F4F8FA"/>
          </a:solidFill>
          <a:ln cap="flat" cmpd="sng" w="12700">
            <a:solidFill>
              <a:srgbClr val="C9D6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685800" y="138988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1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TRUST BOUNDARY — nothing crosses un-scrubbed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31520" y="1719072"/>
            <a:ext cx="2148840" cy="23774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90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731520" y="1792224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INSIDE (PHI zone)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68680" y="2066544"/>
            <a:ext cx="1874520" cy="402336"/>
          </a:xfrm>
          <a:prstGeom prst="roundRect">
            <a:avLst>
              <a:gd fmla="val 13636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868680" y="2066544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Sample data + intake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68680" y="2569464"/>
            <a:ext cx="1874520" cy="402336"/>
          </a:xfrm>
          <a:prstGeom prst="roundRect">
            <a:avLst>
              <a:gd fmla="val 13636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868680" y="2569464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HIVE agents &amp; blackboard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868680" y="3072384"/>
            <a:ext cx="1874520" cy="402336"/>
          </a:xfrm>
          <a:prstGeom prst="roundRect">
            <a:avLst>
              <a:gd fmla="val 13636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868680" y="3072384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Proxy training runs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868680" y="3575304"/>
            <a:ext cx="1874520" cy="402336"/>
          </a:xfrm>
          <a:prstGeom prst="roundRect">
            <a:avLst>
              <a:gd fmla="val 13636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868680" y="3575304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Audit log (every decision)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999232" y="2377440"/>
            <a:ext cx="566928" cy="1097280"/>
          </a:xfrm>
          <a:prstGeom prst="roundRect">
            <a:avLst>
              <a:gd fmla="val 9677" name="adj"/>
            </a:avLst>
          </a:prstGeom>
          <a:solidFill>
            <a:srgbClr val="B04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962656" y="2432304"/>
            <a:ext cx="6400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De-ID gate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7"/>
          <p:cNvCxnSpPr/>
          <p:nvPr/>
        </p:nvCxnSpPr>
        <p:spPr>
          <a:xfrm>
            <a:off x="2889504" y="2926080"/>
            <a:ext cx="109728" cy="0"/>
          </a:xfrm>
          <a:prstGeom prst="straightConnector1">
            <a:avLst/>
          </a:prstGeom>
          <a:noFill/>
          <a:ln cap="flat" cmpd="sng" w="20300">
            <a:solidFill>
              <a:srgbClr val="B0413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7"/>
          <p:cNvCxnSpPr/>
          <p:nvPr/>
        </p:nvCxnSpPr>
        <p:spPr>
          <a:xfrm>
            <a:off x="3566160" y="2926080"/>
            <a:ext cx="128016" cy="0"/>
          </a:xfrm>
          <a:prstGeom prst="straightConnector1">
            <a:avLst/>
          </a:prstGeom>
          <a:noFill/>
          <a:ln cap="flat" cmpd="sng" w="20300">
            <a:solidFill>
              <a:srgbClr val="B041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" name="Google Shape;268;p7"/>
          <p:cNvSpPr/>
          <p:nvPr/>
        </p:nvSpPr>
        <p:spPr>
          <a:xfrm>
            <a:off x="3749040" y="2377440"/>
            <a:ext cx="749808" cy="109728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5875">
            <a:solidFill>
              <a:srgbClr val="5C6B7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3749040" y="2432304"/>
            <a:ext cx="74980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OUTSIDE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web · arXiv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hosted SLMs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731520" y="405993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880"/>
              <a:buFont typeface="Calibri"/>
              <a:buNone/>
            </a:pPr>
            <a:r>
              <a:rPr b="0" i="1" lang="en-US" sz="88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Fetched content is untrusted → injection-scanned before ingestion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892040" y="1298448"/>
            <a:ext cx="365760" cy="365760"/>
          </a:xfrm>
          <a:prstGeom prst="ellipse">
            <a:avLst/>
          </a:prstGeom>
          <a:solidFill>
            <a:srgbClr val="FB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9822" y="138623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"/>
          <p:cNvSpPr/>
          <p:nvPr/>
        </p:nvSpPr>
        <p:spPr>
          <a:xfrm>
            <a:off x="5394960" y="1271016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PHI de-identification, fail-closed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394960" y="1508760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Philter / Presidio / CliniDeID-class screening on all 18 HIPAA Safe-Harbor identifiers; ≥95% recall gate before anything egresses.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892040" y="2084832"/>
            <a:ext cx="365760" cy="365760"/>
          </a:xfrm>
          <a:prstGeom prst="ellipse">
            <a:avLst/>
          </a:prstGeom>
          <a:solidFill>
            <a:srgbClr val="FB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9822" y="217261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/>
          <p:nvPr/>
        </p:nvSpPr>
        <p:spPr>
          <a:xfrm>
            <a:off x="5394960" y="205740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HIPAA path enforced per request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394960" y="2295144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Safe Harbor vs. Expert Determination asserted in the intake; PHI-bearing workloads route to self-hosted SLMs + BAA.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892040" y="2871216"/>
            <a:ext cx="365760" cy="365760"/>
          </a:xfrm>
          <a:prstGeom prst="ellipse">
            <a:avLst/>
          </a:prstGeom>
          <a:solidFill>
            <a:srgbClr val="FB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9822" y="29589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7"/>
          <p:cNvSpPr/>
          <p:nvPr/>
        </p:nvSpPr>
        <p:spPr>
          <a:xfrm>
            <a:off x="5394960" y="2843784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Prompt-injection defense (OWASP LLM01)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394960" y="3081528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Layered: guardrail models + tool allow-lists + spotlighting + provenance tags; evaluated on AgentDojo, target ASR &lt;1%.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892040" y="3657600"/>
            <a:ext cx="365760" cy="365760"/>
          </a:xfrm>
          <a:prstGeom prst="ellipse">
            <a:avLst/>
          </a:prstGeom>
          <a:solidFill>
            <a:srgbClr val="FB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9822" y="37453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/>
          <p:nvPr/>
        </p:nvSpPr>
        <p:spPr>
          <a:xfrm>
            <a:off x="5394960" y="363016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Auditability for regulators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394960" y="3867912"/>
            <a:ext cx="3246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Every agent decision, evidence link and guardrail verdict logged — aligned to EU AI Act oversight duties for high-risk systems.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892040" y="44805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0413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0413E"/>
                </a:solidFill>
                <a:latin typeface="Calibri"/>
                <a:ea typeface="Calibri"/>
                <a:cs typeface="Calibri"/>
                <a:sym typeface="Calibri"/>
              </a:rPr>
              <a:t>De-identification is defense-in-depth, not a legal guarantee — architecture assumes BAA wherever PHI flows.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INNOVATION &amp;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A defensible research program: 4 patents, 5 papers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02920" y="118872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PATENTABLE MECHANISMS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02920" y="1508760"/>
            <a:ext cx="365760" cy="36576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50292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1005840" y="1481328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Contract-verified swarm handoffs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1005840" y="1719072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Formal schema + pre/post checks with auto re-auction — absent in today's agent frameworks.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02920" y="2295144"/>
            <a:ext cx="365760" cy="36576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502920" y="2295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1005840" y="2267712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Literature-grounded regime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005840" y="2505456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GraphRAG evidence + rule priors + ASHA proxy fusion. Strongest whitespace claim.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02920" y="3081528"/>
            <a:ext cx="365760" cy="36576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502920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1005840" y="3054096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Intake-form → training-regime compiler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005840" y="3291840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Ontology-driven compile of a versioned form into an executable training plan.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02920" y="3867912"/>
            <a:ext cx="365760" cy="365760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502920" y="3867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005840" y="3840480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Contract-checked graph topology UI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1005840" y="4078224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Drag-and-drop canvas whose edges carry verifiable contracts, compiled to executable graphs.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800600" y="1188720"/>
            <a:ext cx="3840480" cy="3291840"/>
          </a:xfrm>
          <a:prstGeom prst="roundRect">
            <a:avLst>
              <a:gd fmla="val 2778" name="adj"/>
            </a:avLst>
          </a:prstGeom>
          <a:solidFill>
            <a:srgbClr val="E6F4F1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029200" y="1335024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PUBLICATION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6642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"/>
          <p:cNvSpPr/>
          <p:nvPr/>
        </p:nvSpPr>
        <p:spPr>
          <a:xfrm>
            <a:off x="5340096" y="1645920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60"/>
              <a:buFont typeface="Calibri"/>
              <a:buNone/>
            </a:pPr>
            <a:r>
              <a:rPr b="1" i="0" lang="en-US" sz="106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Agentic training-regime selection for clinical SLMs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NeurIPS D&amp;B / MLSys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7" name="Google Shape;3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1945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/>
          <p:nvPr/>
        </p:nvSpPr>
        <p:spPr>
          <a:xfrm>
            <a:off x="5340096" y="2176272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60"/>
              <a:buFont typeface="Calibri"/>
              <a:buNone/>
            </a:pPr>
            <a:r>
              <a:rPr b="1" i="0" lang="en-US" sz="106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Ontology-guided GraphRAG for ML method selection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ACL / EMNLP industry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7249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/>
          <p:nvPr/>
        </p:nvSpPr>
        <p:spPr>
          <a:xfrm>
            <a:off x="5340096" y="2706624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60"/>
              <a:buFont typeface="Calibri"/>
              <a:buNone/>
            </a:pPr>
            <a:r>
              <a:rPr b="1" i="0" lang="en-US" sz="106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Contract-verified multi-agent handoffs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AAMAS / MLSys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255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8"/>
          <p:cNvSpPr/>
          <p:nvPr/>
        </p:nvSpPr>
        <p:spPr>
          <a:xfrm>
            <a:off x="5340096" y="3236976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60"/>
              <a:buFont typeface="Calibri"/>
              <a:buNone/>
            </a:pPr>
            <a:r>
              <a:rPr b="1" i="0" lang="en-US" sz="106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Multi-objective multi-fidelity PEFT search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ICML / AutoML-Conf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7856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8"/>
          <p:cNvSpPr/>
          <p:nvPr/>
        </p:nvSpPr>
        <p:spPr>
          <a:xfrm>
            <a:off x="5340096" y="3767328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60"/>
              <a:buFont typeface="Calibri"/>
              <a:buNone/>
            </a:pPr>
            <a:r>
              <a:rPr b="1" i="0" lang="en-US" sz="106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PHI-safe agentic literature grounding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7D2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77D2E"/>
                </a:solidFill>
                <a:latin typeface="Calibri"/>
                <a:ea typeface="Calibri"/>
                <a:cs typeface="Calibri"/>
                <a:sym typeface="Calibri"/>
              </a:rPr>
              <a:t>EMNLP Clinical NLP / CHIL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02920" y="4572000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Closest prior art: </a:t>
            </a: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AutoML-Agent (generic pipelines), AgentHPO (hyperparameters only), gradient-guided LoRA-vs-FT routing (non-agentic, 2 regimes). None selects across the full regime space.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ROADMAP &amp; 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12 months, four gated phases — each with a kill/scale metric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8641080" y="48280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02920" y="1280160"/>
            <a:ext cx="1938528" cy="2057400"/>
          </a:xfrm>
          <a:prstGeom prst="roundRect">
            <a:avLst>
              <a:gd fmla="val 4245" name="adj"/>
            </a:avLst>
          </a:prstGeom>
          <a:solidFill>
            <a:srgbClr val="FFFFFF"/>
          </a:solidFill>
          <a:ln cap="flat" cmpd="sng" w="1905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630936" y="1408176"/>
            <a:ext cx="1005840" cy="274320"/>
          </a:xfrm>
          <a:prstGeom prst="roundRect">
            <a:avLst>
              <a:gd fmla="val 50000" name="adj"/>
            </a:avLst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30936" y="140817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 · 0–3 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30936" y="1755648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HIVE substrate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30936" y="2048256"/>
            <a:ext cx="170078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Registry · CNP · blackboard · guardrails · graph canvas · intake registry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630936" y="283464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860"/>
              <a:buFont typeface="Calibri"/>
              <a:buNone/>
            </a:pPr>
            <a:r>
              <a:rPr b="1" i="1" lang="en-US" sz="86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Gate: handoff pass &gt;99% · PHI recall ≥95%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9"/>
          <p:cNvCxnSpPr/>
          <p:nvPr/>
        </p:nvCxnSpPr>
        <p:spPr>
          <a:xfrm>
            <a:off x="2459736" y="2286000"/>
            <a:ext cx="109728" cy="0"/>
          </a:xfrm>
          <a:prstGeom prst="straightConnector1">
            <a:avLst/>
          </a:prstGeom>
          <a:noFill/>
          <a:ln cap="flat" cmpd="sng" w="2030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9"/>
          <p:cNvSpPr/>
          <p:nvPr/>
        </p:nvSpPr>
        <p:spPr>
          <a:xfrm>
            <a:off x="2587752" y="1280160"/>
            <a:ext cx="1938528" cy="2057400"/>
          </a:xfrm>
          <a:prstGeom prst="roundRect">
            <a:avLst>
              <a:gd fmla="val 4245" name="adj"/>
            </a:avLst>
          </a:prstGeom>
          <a:solidFill>
            <a:srgbClr val="FFFFFF"/>
          </a:solidFill>
          <a:ln cap="flat" cmpd="sng" w="19050">
            <a:solidFill>
              <a:srgbClr val="095C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2715768" y="1408176"/>
            <a:ext cx="1005840" cy="274320"/>
          </a:xfrm>
          <a:prstGeom prst="roundRect">
            <a:avLst>
              <a:gd fmla="val 50000" name="adj"/>
            </a:avLst>
          </a:prstGeom>
          <a:solidFill>
            <a:srgbClr val="095C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2715768" y="140817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 · 3–6 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2715768" y="1755648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Grounding + rule brain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715768" y="2048256"/>
            <a:ext cx="170078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GROBID/LLM extraction · vector+KG store · SLM-service read APIs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2715768" y="283464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5C6E"/>
              </a:buClr>
              <a:buSzPts val="860"/>
              <a:buFont typeface="Calibri"/>
              <a:buNone/>
            </a:pPr>
            <a:r>
              <a:rPr b="1" i="1" lang="en-US" sz="860" u="none" cap="none" strike="noStrike">
                <a:solidFill>
                  <a:srgbClr val="095C6E"/>
                </a:solidFill>
                <a:latin typeface="Calibri"/>
                <a:ea typeface="Calibri"/>
                <a:cs typeface="Calibri"/>
                <a:sym typeface="Calibri"/>
              </a:rPr>
              <a:t>Gate: cache hit-rate · extraction precision w/ source spans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9"/>
          <p:cNvCxnSpPr/>
          <p:nvPr/>
        </p:nvCxnSpPr>
        <p:spPr>
          <a:xfrm>
            <a:off x="4544568" y="2286000"/>
            <a:ext cx="109728" cy="0"/>
          </a:xfrm>
          <a:prstGeom prst="straightConnector1">
            <a:avLst/>
          </a:prstGeom>
          <a:noFill/>
          <a:ln cap="flat" cmpd="sng" w="2030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9"/>
          <p:cNvSpPr/>
          <p:nvPr/>
        </p:nvSpPr>
        <p:spPr>
          <a:xfrm>
            <a:off x="4672584" y="1280160"/>
            <a:ext cx="1938528" cy="2057400"/>
          </a:xfrm>
          <a:prstGeom prst="roundRect">
            <a:avLst>
              <a:gd fmla="val 4245" name="adj"/>
            </a:avLst>
          </a:prstGeom>
          <a:solidFill>
            <a:srgbClr val="FFFFFF"/>
          </a:solidFill>
          <a:ln cap="flat" cmpd="sng" w="19050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4800600" y="1408176"/>
            <a:ext cx="1005840" cy="274320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800600" y="140817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 · 6–9 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800600" y="1755648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Empirical + ontology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800600" y="2048256"/>
            <a:ext cx="170078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ASHA proxy trainer · Pareto optimizer · UMLS/GraphRAG layer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800600" y="283464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860"/>
              <a:buFont typeface="Calibri"/>
              <a:buNone/>
            </a:pPr>
            <a:r>
              <a:rPr b="1" i="1" lang="en-US" sz="86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Gate: ≥80% agreement with expert MLEs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9"/>
          <p:cNvCxnSpPr/>
          <p:nvPr/>
        </p:nvCxnSpPr>
        <p:spPr>
          <a:xfrm>
            <a:off x="6629400" y="2286000"/>
            <a:ext cx="109728" cy="0"/>
          </a:xfrm>
          <a:prstGeom prst="straightConnector1">
            <a:avLst/>
          </a:prstGeom>
          <a:noFill/>
          <a:ln cap="flat" cmpd="sng" w="2030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9"/>
          <p:cNvSpPr/>
          <p:nvPr/>
        </p:nvSpPr>
        <p:spPr>
          <a:xfrm>
            <a:off x="6757416" y="1280160"/>
            <a:ext cx="1938528" cy="2057400"/>
          </a:xfrm>
          <a:prstGeom prst="roundRect">
            <a:avLst>
              <a:gd fmla="val 4245" name="adj"/>
            </a:avLst>
          </a:prstGeom>
          <a:solidFill>
            <a:srgbClr val="FFFFFF"/>
          </a:solidFill>
          <a:ln cap="flat" cmpd="sng" w="19050">
            <a:solidFill>
              <a:srgbClr val="C77D2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6885432" y="1408176"/>
            <a:ext cx="1005840" cy="274320"/>
          </a:xfrm>
          <a:prstGeom prst="roundRect">
            <a:avLst>
              <a:gd fmla="val 50000" name="adj"/>
            </a:avLst>
          </a:prstGeom>
          <a:solidFill>
            <a:srgbClr val="C77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6885432" y="140817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P4 · 9–12 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885432" y="1755648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6324F"/>
                </a:solidFill>
                <a:latin typeface="Cambria"/>
                <a:ea typeface="Cambria"/>
                <a:cs typeface="Cambria"/>
                <a:sym typeface="Cambria"/>
              </a:rPr>
              <a:t>Self-improve + IP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885432" y="2048256"/>
            <a:ext cx="170078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Feedback loop · trust learning · 4 filings · benchmark paper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885432" y="2834640"/>
            <a:ext cx="1700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E"/>
              </a:buClr>
              <a:buSzPts val="860"/>
              <a:buFont typeface="Calibri"/>
              <a:buNone/>
            </a:pPr>
            <a:r>
              <a:rPr b="1" i="1" lang="en-US" sz="860" u="none" cap="none" strike="noStrike">
                <a:solidFill>
                  <a:srgbClr val="8A5A1E"/>
                </a:solidFill>
                <a:latin typeface="Calibri"/>
                <a:ea typeface="Calibri"/>
                <a:cs typeface="Calibri"/>
                <a:sym typeface="Calibri"/>
              </a:rPr>
              <a:t>Gate: NeurIPS/MLSys submission ready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02920" y="3611880"/>
            <a:ext cx="8138160" cy="1280160"/>
          </a:xfrm>
          <a:prstGeom prst="roundRect">
            <a:avLst>
              <a:gd fmla="val 7143" name="adj"/>
            </a:avLst>
          </a:prstGeom>
          <a:solidFill>
            <a:srgbClr val="16324F"/>
          </a:solidFill>
          <a:ln>
            <a:noFill/>
          </a:ln>
          <a:effectLst>
            <a:outerShdw blurRad="889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777240" y="376732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2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C288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0782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9"/>
          <p:cNvSpPr/>
          <p:nvPr/>
        </p:nvSpPr>
        <p:spPr>
          <a:xfrm>
            <a:off x="1124712" y="4041648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2–3 engineers + 1 researcher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core pod, 12 months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40782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9"/>
          <p:cNvSpPr/>
          <p:nvPr/>
        </p:nvSpPr>
        <p:spPr>
          <a:xfrm>
            <a:off x="3730752" y="4041648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GPU pool for proxy runs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ASHA keeps spend bounded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40782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9"/>
          <p:cNvSpPr/>
          <p:nvPr/>
        </p:nvSpPr>
        <p:spPr>
          <a:xfrm>
            <a:off x="6336792" y="4041648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Green-light P1 + provisional filings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decision today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777240" y="4617720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ADCE4"/>
                </a:solidFill>
                <a:latin typeface="Calibri"/>
                <a:ea typeface="Calibri"/>
                <a:cs typeface="Calibri"/>
                <a:sym typeface="Calibri"/>
              </a:rPr>
              <a:t>Downside is capped by gates; upside is a defensible platform + IP portfolio no competitor has assembled.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2026-07-07T17:02:37Z</dcterms:created>
  <dc:creator>Navneet Singh</dc:creator>
</cp:coreProperties>
</file>