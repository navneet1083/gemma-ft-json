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MMLU (%)</c:v>
                </c:pt>
              </c:strCache>
            </c:strRef>
          </c:tx>
          <c:spPr>
            <a:solidFill>
              <a:srgbClr val="5B4BE0"/>
            </a:solidFill>
            <a:ln w="38100" cap="flat">
              <a:solidFill>
                <a:srgbClr val="5B4B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5B4BE0"/>
              </a:solidFill>
              <a:ln w="9525" cap="flat">
                <a:solidFill>
                  <a:srgbClr val="5B4BE0"/>
                </a:solidFill>
                <a:prstDash val="solid"/>
                <a:round/>
              </a:ln>
              <a:effectLst/>
            </c:spPr>
          </c:marker>
          <c:cat>
            <c:multiLvlStrRef>
              <c:f>Sheet1!$A$2:$A$7</c:f>
              <c:multiLvlStrCache>
                <c:ptCount val="6"/>
                <c:lvl>
                  <c:pt idx="0">
                    <c:v>GPT-3
2020</c:v>
                  </c:pt>
                  <c:pt idx="1">
                    <c:v>Chinchilla
2022</c:v>
                  </c:pt>
                  <c:pt idx="2">
                    <c:v>PaLM
2022</c:v>
                  </c:pt>
                  <c:pt idx="3">
                    <c:v>GPT-4
2023</c:v>
                  </c:pt>
                  <c:pt idx="4">
                    <c:v>DeepSeek-V3
2024</c:v>
                  </c:pt>
                  <c:pt idx="5">
                    <c:v>Frontier
2026</c:v>
                  </c:pt>
                </c:lvl>
              </c:multiLvlStrCache>
            </c:multiLvlStrRef>
          </c:cat>
          <c:val>
            <c:numRef>
              <c:f>Sheet1!$B$2:$B$7</c:f>
              <c:numCache>
                <c:formatCode>General</c:formatCode>
                <c:ptCount val="6"/>
                <c:pt idx="0">
                  <c:v>43.9</c:v>
                </c:pt>
                <c:pt idx="1">
                  <c:v>67.6</c:v>
                </c:pt>
                <c:pt idx="2">
                  <c:v>69.3</c:v>
                </c:pt>
                <c:pt idx="3">
                  <c:v>86.4</c:v>
                </c:pt>
                <c:pt idx="4">
                  <c:v>88.5</c:v>
                </c:pt>
                <c:pt idx="5">
                  <c:v>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40"/>
                </a:solidFill>
                <a:latin typeface="Calibri"/>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12700" cap="flat">
              <a:solidFill>
                <a:srgbClr val="DDE1EC"/>
              </a:solidFill>
              <a:prstDash val="solid"/>
              <a:round/>
            </a:ln>
          </c:spPr>
        </c:majorGridlines>
        <c:title>
          <c:tx>
            <c:rich>
              <a:bodyPr/>
              <a:lstStyle/>
              <a:p>
                <a:pPr>
                  <a:defRPr sz="1100" b="0" i="0" u="none" strike="noStrike">
                    <a:solidFill>
                      <a:srgbClr val="5A6685"/>
                    </a:solidFill>
                    <a:latin typeface="Arial"/>
                  </a:defRPr>
                </a:pPr>
                <a:r>
                  <a:rPr sz="1100" b="0" i="0" u="none" strike="noStrike">
                    <a:solidFill>
                      <a:srgbClr val="5A6685"/>
                    </a:solidFill>
                    <a:latin typeface="Arial"/>
                  </a:rPr>
                  <a:t>MMLU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685"/>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the frame: we are going to time-travel from 2017 (the Transformer paper) to 2026 (today's frontier). Note the common myth: the Transformer came from Google Brain in 2017, not OpenAI — OpenAI then scaled the decoder-only variant into the GPT line. Promise the audience three things: intuition (pictures), mechanism (real architecture + math), and evidence (benchmarks and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Tell students each 'Part' answers one question: (1) why did we need something new, (2) what exactly is a Transformer, (3) why did bigger = better and when did that break, (4) the clever tricks that make modern models fast and long-context, (5) where we are now, (6) how all of this is changing how science gets done. Keep ~10 minutes per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magic: it is autocomplete at planetary scale. The probability-distribution picture is the single most useful mental model — generation = sample, append, repeat. 'Large' is doing real work: scale is what unlocks the emergent abilities on the right, which is the whole reason we left LSTMs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throughline is 'how much context can the model condition on, and how cheaply.' Rule-based: none, hand-coded. Statistical: a fixed n-word window. Embeddings: words gain meaning but sentences are still sequential. Seq2Seq+attention is the immediate ancestor of the Transformer — attention existed, but was still strapped onto a slow recurrent backbone.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bridge slide. The king/queen analogy is the classic 'aha'. Stress the survival: every Transformer still starts by embedding tokens into vectors — Word2Vec proved the representation; the Transformer fixed how those vectors talk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chain of purple arrows: that is both the strength (memory) and the curse (everything is serial). Each step waits for the previous one, so you cannot exploit GPU parallelism, and gradients shrink across long chains — the vanishing-gradient problem. This sets up LSTM as the patch, and the Transformer as the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LSTMs are the heroic patch: the gating mechanism is genuinely clever and bought the field several productive years. But emphasise the framing for the next slide — gates fix *gradient flow*, they do NOT fix *serial computation* or give true long-range, content-based lookup. Those two unsolved problems are exactly what attention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Part 1. Number them out loud. The Transformer's headline claim — 'dispensing with recurrence and convolutions entirely' — directly targets walls 1 and 2: self-attention lets every token look at every other token in a single parallel operation, with a constant number of steps between any two positions. That simultaneously kills the serial bottleneck and the long-range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hinge into Part 2. Bahdanau-style attention was invented to fix translation alignment. The heatmap shows the model learning that French flips adjective order — content-based, not position-based, lookup. The 2017 leap was radical minimalism: throw away the RNN, keep only attention. That is literally what the paper title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misconception directly: the Transformer is a Google Brain paper, not OpenAI. It was a translation paper — the authors realised mid-project it was a general-purpose architecture. The three stats land the 'why it mattered': better quality, far cheaper to train (parallelism!), and an almost unmatched scientific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 slow down. Both stacks share the same two-ingredient recipe: an attention sub-layer and a feed-forward sub-layer, each wrapped in residual Add &amp; Norm. Differences: the decoder's self-attention is MASKED (can't peek at future tokens — essential for generation), and it has an extra cross-attention sub-layer (red arrow) that reads the encoder's keys and values. GPT keeps only the right stack; BERT keeps only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library analogy: the Query is your search request, Keys are the spine labels on every book, the dot-product is how well each spine matches your request, softmax turns matches into a focus distribution, and Values are the contents you actually pull and mix. 'Self' attention just means the books and the request come from the same sentence. The two bullets that matter most: 1-hop distance (kills wall #2) and full parallelism (kills wall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but essential additions. Multi-head = ensemble of attention 'viewpoints'; specialisation is empirically real and interpretable. Positional encoding fixes a subtle but fatal flaw — pure attention treats 'dog bites man' and 'man bites dog' identically. Flag forward: the sinusoidal scheme on the right is exactly the thing RoPE will replace in Part 4, so this slide plants that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Punchline of Part 2: the Transformer is a kit, not a single model. Three ways to wire the same blocks. BERT (2018) took the encoder and dominated 'understanding' benchmarks and Google Search. GPT took the decoder and bet on generation + scale — that bet won, which is why almost every model after slide 30 is decoder-only. T5/BART keep both halves for seq-to-seq. This slide is the natural bridge into the scaling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 is the fork in the road. Both are Transformers, but they bet differently. BERT won 2018–2020 on understanding tasks and was the bigger deal at the time. GPT-1 looked weaker — but it bet on generation + scale, and that bet compounds across the next slides. Foreshadow: the 'loser' of 2018 becomes the architecture of every frontier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anchor: 175 billion. But the real story is qualitative — in-context / few-shot learning. Before GPT-3 you trained a model per task; after, you wrote a prompt. That is the seed of 'prompt engineering' and of the whole product surface that became ChatGPT. Emergence is the key word: this ability is essentially absent in small models and shows up only past a scale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log scale do the talking: the bars roughly double in visual length while the real numbers 10×. Caveat the GPT-4 figure honestly — it's an estimate, the model is sparse (MoE), so 'parameters' stops being apples-to-apples. That caveat is the perfect hand-off to scaling laws: by 2022 the question changed from 'how big?' to 'how should we spend a fixed compute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intellectually important slide in Part 3. Kaplan made scaling predictable — you can forecast loss, which de-risks spending millions on a training run. Chinchilla corrected the *allocation*: people were buying parameters and starving them of data. The 20:1 ratio (70B model → ~1.4T tokens) is why a 70B Chinchilla beat a 280B Gopher. Mention C≈6ND so the budget math is concrete: compute is roughly 6× params ×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scale gave us capability; RLHF gave us usability. A base model completes text; an RLHF'd model follows instructions and refuses harmful ones. Walk the 4 steps quickly — pretrain, SFT, reward model from human rankings, then RL (PPO) against that reward. ChatGPT wasn't a new base model; it was GPT-3.5 + this alignment recipe + a chat UI. That packaging is what made it a cultural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Part 4 as problem→solution. Each card names a real cost of the naive design and the innovation that targets it. Quadratic attention and the KV cache are *efficiency* problems (speed, memory); position extrapolation is a *capability* problem (long context); dense compute is a *scaling-economics* problem. The next four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RoPE is the most elegant idea in Part 4. Old way: ADD a position vector. RoPE: ROTATE the query/key by an angle set by position. Because a dot product of two rotated vectors depends only on the angle BETWEEN them, the attention score automatically becomes a function of relative distance (n−m) — shown in the boxed identity. Two payoffs: zero extra parameters, and much better extrapolation to long contexts. It's in nearly every modern open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left→right as a dial. MHA is the original: every query head carries its own keys and values — highest quality but the KV cache is huge. MQA collapses to a single shared K/V — tiny cache, very fast, slight quality hit. GQA is the compromise that won: a few K/V groups recover almost all the quality at a fraction of the memory. That's why LLaMA-2/3, Mistral and most 2024 models ship GQA — it's what makes 100K-token contexts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reframing: FlashAttention is not a new attention — it's the SAME attention computed in a memory-aware order. The insight is that GPUs are starved by data movement, not compute. By tiling Q/K/V into blocks that fit in fast SRAM and using an online (streaming) softmax, it never writes the giant N×N matrix to slow HBM. Exact result, big speedups, and memory that scales linearly — which is precisely what made 32K–1M token contexts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 is how labs keep scaling capability without scaling the bill. A dense model runs every weight for every token; MoE has many 'expert' sub-networks and a router that activates only the top-k per token. So total parameters (knowledge capacity) and active parameters (per-token cost) decouple. DeepSeek-V3 is the poster child: 671B total but only 37B active — frontier results at a reported ~$5.6M training cost, which is why it shook the market in early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Part 4 recap and a reference table. Each row = a bottleneck from slide 24 and its fix. The closing line is the thesis: modern models share the 2017 skeleton but bolt on RoPE (position), GQA/MLA (memory), FlashAttention (speed) and MoE (compute economics). If a student remembers only one slide from Part 4,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is the hinge year. GPT-4 set a new capability bar and proved multimodality; its architecture stayed secret but the consensus is MoE. Simultaneously Meta's LLaMA put real weights in everyone's hands, igniting the open ecosystem. The lasting outcome is the two-track world we still live in: a closed/API frontier vs an open/weights builder ecosystem. Keep this split in mind — it explains why DeepSeek mattered so much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2024's headline isn't 'bigger', it's 'cheaper at the frontier'. DeepSeek-V3 stacks the Part-4 innovations: MoE for sparse compute, MLA to shrink the KV cache below even GQA, plus FP8 training and multi-token prediction. Result: GPT-4-class scores at a reported ~$5.6M — a number that stunned the industry. Hold the benchmarks loosely (self-reported) but the efficiency story is the real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leap of 2025. Until now 'scaling' meant training-time compute. Reasoning models open a second axis: test-time compute — the model writes a long chain-of-thought, explores and self-corrects before answering. OpenAI's o1 introduced it; DeepSeek-R1 showed it could be reproduced with RL (GRPO) and released the weights, matching o1 and triggering a market shock (including a notable Nvidia dip). The &lt;think&gt;&lt;/think&gt; trace is the visible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memorise version numbers — they change weekly. The durable picture: a few families (Claude, GPT, Gemini on the closed side; Llama, DeepSeek, Qwen, Mistral on the open side), each offering a spectrum from small/fast to deep-reasoning. The capability gap between open and closed has narrowed dramatically since 2023. As a presenter you can mention that this very assistant is a Claude model — a nice live tie-in.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for the whole scaling story. MMLU is a broad 57-subject exam. GPT-3 was near chance on the hard subjects (~44%); within three years GPT-4 cleared the human-expert line (~89.8%). The curve's flattening near the top isn't stagnation — it means MMLU is saturating, which is exactly why the field moved on to harder benchmarks like MMLU-Pro and GPQA. Mention scores are self-reported and methodology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taxonomy slide — six axes that classify almost any model someone will name. A real 2026 model is a point in this space: e.g. 'DeepSeek-R1 = open, MoE, frontier-scale, reasoning, text-ish, agent-capable'. Encourage students to describe models by these axes rather than by hype. It also sets up the final 'how LLMs ruled the world' applications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'ruled the world' payoff slide. The point isn't a list of products — it's that ONE architecture generalised across every domain that runs on language and symbols: code, conversation, knowledge, science, agents. That generality is the historical novelty. End by pointing forward: the science column is exactly what Session 2 zooms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'agentic' clearly: it's an LLM in a loop — plan, act (via tools/code/lab robots), observe, reflect, repeat. That loop is what turns a passive text model into something that can actually conduct research. The right-hand list is the practical 'why' for labs. The next slides are concrete, published US case studies of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citable examples — exactly what Session 2 asks for (US research &amp; publications). Coscientist and ChemCrow show autonomous chemistry; Robin is the showcase — an agent whose hypothesis surfaced ripasudil for dry age-related macular degeneration; Google's AI co-scientist generates and ranks hypotheses; PaperQA shows superhuman grounded literature QA. Caveat honestly: these are early, human-supervised systems, not autonomous scientists — but the trajectory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how the case studies are built — it's a stack, not magic. The same five layers recur: a foundation LLM for reasoning, RAG to stay grounded in real literature, tools for action (including lab robots), an agent loop to chain it all, and crucially a human-in-the-loop for verification. This slide lets a student replicate the pattern conceptually for their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Naming limitations makes the whole talk more trustworthy. The big four to stress: hallucination (confident wrongness), bias, the compute/cost footprint, and interpretability (we still can't fully explain outputs). Add safety/misuse and the knowledge-cutoff problem. Frame these as active research frontiers — they're where the next breakthroughs (and student projects)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recap. If the audience forgets everything else, these five sentences are the spine of the talk: (1) attention replaced recurrence, (2) scale created capability, (3) efficiency innovations beat brute force, (4) reasoning is the new scaling axis, (5) LLMs became research collaborators. Walk down them in order — it mirrors the whole deck's chronology.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Everything claimed in the deck traces to one of these primary sources — all arXiv papers or the two canonical video explainers (3Blue1Brown's visual transformer series and Karpathy's intro). Encourage students to read 'Attention Is All You Need' and watch the 3Blue1Brown chapter as their entry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Restate the one-line arc: in under a decade we went from attention replacing recurrence to agentic models doing science. Invite hard questions — and remember the live tie-in: the assistant that helped build this talk is itself a Claude model, a working example of everything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0424160" y="914400"/>
            <a:ext cx="146304" cy="146304"/>
          </a:xfrm>
          <a:prstGeom prst="ellipse">
            <a:avLst/>
          </a:prstGeom>
          <a:solidFill>
            <a:srgbClr val="7C6FF0"/>
          </a:solidFill>
          <a:ln/>
        </p:spPr>
      </p:sp>
      <p:sp>
        <p:nvSpPr>
          <p:cNvPr id="3" name="Shape 1"/>
          <p:cNvSpPr/>
          <p:nvPr/>
        </p:nvSpPr>
        <p:spPr>
          <a:xfrm>
            <a:off x="11155680" y="1554480"/>
            <a:ext cx="146304" cy="146304"/>
          </a:xfrm>
          <a:prstGeom prst="ellipse">
            <a:avLst/>
          </a:prstGeom>
          <a:solidFill>
            <a:srgbClr val="7C6FF0"/>
          </a:solidFill>
          <a:ln/>
        </p:spPr>
      </p:sp>
      <p:sp>
        <p:nvSpPr>
          <p:cNvPr id="4" name="Shape 2"/>
          <p:cNvSpPr/>
          <p:nvPr/>
        </p:nvSpPr>
        <p:spPr>
          <a:xfrm>
            <a:off x="10698480" y="2468880"/>
            <a:ext cx="146304" cy="146304"/>
          </a:xfrm>
          <a:prstGeom prst="ellipse">
            <a:avLst/>
          </a:prstGeom>
          <a:solidFill>
            <a:srgbClr val="7C6FF0"/>
          </a:solidFill>
          <a:ln/>
        </p:spPr>
      </p:sp>
      <p:sp>
        <p:nvSpPr>
          <p:cNvPr id="5" name="Shape 3"/>
          <p:cNvSpPr/>
          <p:nvPr/>
        </p:nvSpPr>
        <p:spPr>
          <a:xfrm>
            <a:off x="11430000" y="3200400"/>
            <a:ext cx="146304" cy="146304"/>
          </a:xfrm>
          <a:prstGeom prst="ellipse">
            <a:avLst/>
          </a:prstGeom>
          <a:solidFill>
            <a:srgbClr val="7C6FF0"/>
          </a:solidFill>
          <a:ln/>
        </p:spPr>
      </p:sp>
      <p:sp>
        <p:nvSpPr>
          <p:cNvPr id="6" name="Shape 4"/>
          <p:cNvSpPr/>
          <p:nvPr/>
        </p:nvSpPr>
        <p:spPr>
          <a:xfrm>
            <a:off x="10241280" y="3840480"/>
            <a:ext cx="146304" cy="146304"/>
          </a:xfrm>
          <a:prstGeom prst="ellipse">
            <a:avLst/>
          </a:prstGeom>
          <a:solidFill>
            <a:srgbClr val="7C6FF0"/>
          </a:solidFill>
          <a:ln/>
        </p:spPr>
      </p:sp>
      <p:sp>
        <p:nvSpPr>
          <p:cNvPr id="7" name="Shape 5"/>
          <p:cNvSpPr/>
          <p:nvPr/>
        </p:nvSpPr>
        <p:spPr>
          <a:xfrm>
            <a:off x="11064240" y="4663440"/>
            <a:ext cx="146304" cy="146304"/>
          </a:xfrm>
          <a:prstGeom prst="ellipse">
            <a:avLst/>
          </a:prstGeom>
          <a:solidFill>
            <a:srgbClr val="7C6FF0"/>
          </a:solidFill>
          <a:ln/>
        </p:spPr>
      </p:sp>
      <p:sp>
        <p:nvSpPr>
          <p:cNvPr id="8" name="Shape 6"/>
          <p:cNvSpPr/>
          <p:nvPr/>
        </p:nvSpPr>
        <p:spPr>
          <a:xfrm>
            <a:off x="10607040" y="5486400"/>
            <a:ext cx="146304" cy="146304"/>
          </a:xfrm>
          <a:prstGeom prst="ellipse">
            <a:avLst/>
          </a:prstGeom>
          <a:solidFill>
            <a:srgbClr val="7C6FF0"/>
          </a:solidFill>
          <a:ln/>
        </p:spPr>
      </p:sp>
      <p:sp>
        <p:nvSpPr>
          <p:cNvPr id="9" name="Shape 7"/>
          <p:cNvSpPr/>
          <p:nvPr/>
        </p:nvSpPr>
        <p:spPr>
          <a:xfrm>
            <a:off x="11384280" y="5943600"/>
            <a:ext cx="146304" cy="146304"/>
          </a:xfrm>
          <a:prstGeom prst="ellipse">
            <a:avLst/>
          </a:prstGeom>
          <a:solidFill>
            <a:srgbClr val="7C6FF0"/>
          </a:solidFill>
          <a:ln/>
        </p:spPr>
      </p:sp>
      <p:sp>
        <p:nvSpPr>
          <p:cNvPr id="10" name="Shape 8"/>
          <p:cNvSpPr/>
          <p:nvPr/>
        </p:nvSpPr>
        <p:spPr>
          <a:xfrm>
            <a:off x="9875520" y="1828800"/>
            <a:ext cx="146304" cy="146304"/>
          </a:xfrm>
          <a:prstGeom prst="ellipse">
            <a:avLst/>
          </a:prstGeom>
          <a:solidFill>
            <a:srgbClr val="7C6FF0"/>
          </a:solidFill>
          <a:ln/>
        </p:spPr>
      </p:sp>
      <p:sp>
        <p:nvSpPr>
          <p:cNvPr id="11" name="Shape 9"/>
          <p:cNvSpPr/>
          <p:nvPr/>
        </p:nvSpPr>
        <p:spPr>
          <a:xfrm>
            <a:off x="10012680" y="4937760"/>
            <a:ext cx="146304" cy="146304"/>
          </a:xfrm>
          <a:prstGeom prst="ellipse">
            <a:avLst/>
          </a:prstGeom>
          <a:solidFill>
            <a:srgbClr val="7C6FF0"/>
          </a:solidFill>
          <a:ln/>
        </p:spPr>
      </p:sp>
      <p:sp>
        <p:nvSpPr>
          <p:cNvPr id="12" name="Shape 10"/>
          <p:cNvSpPr/>
          <p:nvPr/>
        </p:nvSpPr>
        <p:spPr>
          <a:xfrm>
            <a:off x="10570464" y="1060704"/>
            <a:ext cx="658368" cy="566928"/>
          </a:xfrm>
          <a:prstGeom prst="line">
            <a:avLst/>
          </a:prstGeom>
          <a:noFill/>
          <a:ln w="12700">
            <a:solidFill>
              <a:srgbClr val="5B4BE0">
                <a:alpha val="45000"/>
              </a:srgbClr>
            </a:solidFill>
            <a:prstDash val="solid"/>
          </a:ln>
        </p:spPr>
      </p:sp>
      <p:sp>
        <p:nvSpPr>
          <p:cNvPr id="13" name="Shape 11"/>
          <p:cNvSpPr/>
          <p:nvPr/>
        </p:nvSpPr>
        <p:spPr>
          <a:xfrm>
            <a:off x="11301984" y="1700784"/>
            <a:ext cx="-512064" cy="841248"/>
          </a:xfrm>
          <a:prstGeom prst="line">
            <a:avLst/>
          </a:prstGeom>
          <a:noFill/>
          <a:ln w="12700">
            <a:solidFill>
              <a:srgbClr val="5B4BE0">
                <a:alpha val="45000"/>
              </a:srgbClr>
            </a:solidFill>
            <a:prstDash val="solid"/>
          </a:ln>
        </p:spPr>
      </p:sp>
      <p:sp>
        <p:nvSpPr>
          <p:cNvPr id="14" name="Shape 12"/>
          <p:cNvSpPr/>
          <p:nvPr/>
        </p:nvSpPr>
        <p:spPr>
          <a:xfrm>
            <a:off x="10844784" y="2615184"/>
            <a:ext cx="658368" cy="658368"/>
          </a:xfrm>
          <a:prstGeom prst="line">
            <a:avLst/>
          </a:prstGeom>
          <a:noFill/>
          <a:ln w="12700">
            <a:solidFill>
              <a:srgbClr val="5B4BE0">
                <a:alpha val="45000"/>
              </a:srgbClr>
            </a:solidFill>
            <a:prstDash val="solid"/>
          </a:ln>
        </p:spPr>
      </p:sp>
      <p:sp>
        <p:nvSpPr>
          <p:cNvPr id="15" name="Shape 13"/>
          <p:cNvSpPr/>
          <p:nvPr/>
        </p:nvSpPr>
        <p:spPr>
          <a:xfrm>
            <a:off x="10387584" y="3986784"/>
            <a:ext cx="749808" cy="749808"/>
          </a:xfrm>
          <a:prstGeom prst="line">
            <a:avLst/>
          </a:prstGeom>
          <a:noFill/>
          <a:ln w="12700">
            <a:solidFill>
              <a:srgbClr val="5B4BE0">
                <a:alpha val="45000"/>
              </a:srgbClr>
            </a:solidFill>
            <a:prstDash val="solid"/>
          </a:ln>
        </p:spPr>
      </p:sp>
      <p:sp>
        <p:nvSpPr>
          <p:cNvPr id="16" name="Shape 14"/>
          <p:cNvSpPr/>
          <p:nvPr/>
        </p:nvSpPr>
        <p:spPr>
          <a:xfrm>
            <a:off x="11210544" y="4809744"/>
            <a:ext cx="-512064" cy="749808"/>
          </a:xfrm>
          <a:prstGeom prst="line">
            <a:avLst/>
          </a:prstGeom>
          <a:noFill/>
          <a:ln w="12700">
            <a:solidFill>
              <a:srgbClr val="5B4BE0">
                <a:alpha val="45000"/>
              </a:srgbClr>
            </a:solidFill>
            <a:prstDash val="solid"/>
          </a:ln>
        </p:spPr>
      </p:sp>
      <p:sp>
        <p:nvSpPr>
          <p:cNvPr id="17" name="Shape 15"/>
          <p:cNvSpPr/>
          <p:nvPr/>
        </p:nvSpPr>
        <p:spPr>
          <a:xfrm>
            <a:off x="566928" y="1051560"/>
            <a:ext cx="960120" cy="960120"/>
          </a:xfrm>
          <a:prstGeom prst="ellipse">
            <a:avLst/>
          </a:prstGeom>
          <a:solidFill>
            <a:srgbClr val="5B4BE0"/>
          </a:solidFill>
          <a:ln/>
        </p:spPr>
      </p:sp>
      <p:pic>
        <p:nvPicPr>
          <p:cNvPr id="18" name="Image 0" descr="preencoded.png">    </p:cNvPr>
          <p:cNvPicPr>
            <a:picLocks noChangeAspect="1"/>
          </p:cNvPicPr>
          <p:nvPr/>
        </p:nvPicPr>
        <p:blipFill>
          <a:blip r:embed="rId1"/>
          <a:stretch>
            <a:fillRect/>
          </a:stretch>
        </p:blipFill>
        <p:spPr>
          <a:xfrm>
            <a:off x="797357" y="1281989"/>
            <a:ext cx="499262" cy="499262"/>
          </a:xfrm>
          <a:prstGeom prst="rect">
            <a:avLst/>
          </a:prstGeom>
        </p:spPr>
      </p:pic>
      <p:sp>
        <p:nvSpPr>
          <p:cNvPr id="19" name="Text 16"/>
          <p:cNvSpPr/>
          <p:nvPr/>
        </p:nvSpPr>
        <p:spPr>
          <a:xfrm>
            <a:off x="566928" y="2240280"/>
            <a:ext cx="10515600" cy="310896"/>
          </a:xfrm>
          <a:prstGeom prst="rect">
            <a:avLst/>
          </a:prstGeom>
          <a:noFill/>
          <a:ln/>
        </p:spPr>
        <p:txBody>
          <a:bodyPr wrap="square" lIns="0" tIns="0" rIns="0" bIns="0" rtlCol="0" anchor="ctr"/>
          <a:lstStyle/>
          <a:p>
            <a:pPr indent="0" marL="0">
              <a:buNone/>
            </a:pPr>
            <a:r>
              <a:rPr lang="en-US" sz="1250" b="1" spc="250" kern="0" dirty="0">
                <a:solidFill>
                  <a:srgbClr val="7C6FF0"/>
                </a:solidFill>
                <a:latin typeface="Calibri" pitchFamily="34" charset="0"/>
                <a:ea typeface="Calibri" pitchFamily="34" charset="-122"/>
                <a:cs typeface="Calibri" pitchFamily="34" charset="-120"/>
              </a:rPr>
              <a:t>DAY 1  ·  SESSION 1  —  AI &amp; ML THROUGH PICTURES</a:t>
            </a:r>
            <a:endParaRPr lang="en-US" sz="1250" dirty="0"/>
          </a:p>
        </p:txBody>
      </p:sp>
      <p:sp>
        <p:nvSpPr>
          <p:cNvPr id="20" name="Text 17"/>
          <p:cNvSpPr/>
          <p:nvPr/>
        </p:nvSpPr>
        <p:spPr>
          <a:xfrm>
            <a:off x="566928" y="2578608"/>
            <a:ext cx="109728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LLM Foundations</a:t>
            </a:r>
            <a:endParaRPr lang="en-US" sz="5400" dirty="0"/>
          </a:p>
        </p:txBody>
      </p:sp>
      <p:sp>
        <p:nvSpPr>
          <p:cNvPr id="21" name="Text 18"/>
          <p:cNvSpPr/>
          <p:nvPr/>
        </p:nvSpPr>
        <p:spPr>
          <a:xfrm>
            <a:off x="566928" y="3611880"/>
            <a:ext cx="10607040" cy="731520"/>
          </a:xfrm>
          <a:prstGeom prst="rect">
            <a:avLst/>
          </a:prstGeom>
          <a:noFill/>
          <a:ln/>
        </p:spPr>
        <p:txBody>
          <a:bodyPr wrap="square" lIns="0" tIns="0" rIns="0" bIns="0" rtlCol="0" anchor="ctr"/>
          <a:lstStyle/>
          <a:p>
            <a:pPr indent="0" marL="0">
              <a:lnSpc>
                <a:spcPct val="115000"/>
              </a:lnSpc>
              <a:buNone/>
            </a:pPr>
            <a:r>
              <a:rPr lang="en-US" sz="1900" dirty="0">
                <a:solidFill>
                  <a:srgbClr val="C6CCE0"/>
                </a:solidFill>
                <a:latin typeface="Calibri" pitchFamily="34" charset="0"/>
                <a:ea typeface="Calibri" pitchFamily="34" charset="-122"/>
                <a:cs typeface="Calibri" pitchFamily="34" charset="-120"/>
              </a:rPr>
              <a:t>From NLP &amp; LSTMs to Frontier Models — a guided walk through the eras, 2017 → 2026</a:t>
            </a:r>
            <a:endParaRPr lang="en-US" sz="1900" dirty="0"/>
          </a:p>
        </p:txBody>
      </p:sp>
      <p:sp>
        <p:nvSpPr>
          <p:cNvPr id="22" name="Shape 19"/>
          <p:cNvSpPr/>
          <p:nvPr/>
        </p:nvSpPr>
        <p:spPr>
          <a:xfrm>
            <a:off x="566928" y="4617720"/>
            <a:ext cx="1375258" cy="420624"/>
          </a:xfrm>
          <a:prstGeom prst="roundRect">
            <a:avLst>
              <a:gd name="adj" fmla="val 50000"/>
            </a:avLst>
          </a:prstGeom>
          <a:solidFill>
            <a:srgbClr val="22315C"/>
          </a:solidFill>
          <a:ln w="12700">
            <a:solidFill>
              <a:srgbClr val="5B4BE0"/>
            </a:solidFill>
            <a:prstDash val="solid"/>
          </a:ln>
        </p:spPr>
      </p:sp>
      <p:sp>
        <p:nvSpPr>
          <p:cNvPr id="23" name="Text 20"/>
          <p:cNvSpPr/>
          <p:nvPr/>
        </p:nvSpPr>
        <p:spPr>
          <a:xfrm>
            <a:off x="566928"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Transformers</a:t>
            </a:r>
            <a:endParaRPr lang="en-US" sz="1150" dirty="0"/>
          </a:p>
        </p:txBody>
      </p:sp>
      <p:sp>
        <p:nvSpPr>
          <p:cNvPr id="24" name="Shape 21"/>
          <p:cNvSpPr/>
          <p:nvPr/>
        </p:nvSpPr>
        <p:spPr>
          <a:xfrm>
            <a:off x="2125066" y="4617720"/>
            <a:ext cx="1375258" cy="420624"/>
          </a:xfrm>
          <a:prstGeom prst="roundRect">
            <a:avLst>
              <a:gd name="adj" fmla="val 50000"/>
            </a:avLst>
          </a:prstGeom>
          <a:solidFill>
            <a:srgbClr val="22315C"/>
          </a:solidFill>
          <a:ln w="12700">
            <a:solidFill>
              <a:srgbClr val="5B4BE0"/>
            </a:solidFill>
            <a:prstDash val="solid"/>
          </a:ln>
        </p:spPr>
      </p:sp>
      <p:sp>
        <p:nvSpPr>
          <p:cNvPr id="25" name="Text 22"/>
          <p:cNvSpPr/>
          <p:nvPr/>
        </p:nvSpPr>
        <p:spPr>
          <a:xfrm>
            <a:off x="2125066"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Scaling Laws</a:t>
            </a:r>
            <a:endParaRPr lang="en-US" sz="1150" dirty="0"/>
          </a:p>
        </p:txBody>
      </p:sp>
      <p:sp>
        <p:nvSpPr>
          <p:cNvPr id="26" name="Shape 23"/>
          <p:cNvSpPr/>
          <p:nvPr/>
        </p:nvSpPr>
        <p:spPr>
          <a:xfrm>
            <a:off x="3683203" y="4617720"/>
            <a:ext cx="1730045" cy="420624"/>
          </a:xfrm>
          <a:prstGeom prst="roundRect">
            <a:avLst>
              <a:gd name="adj" fmla="val 50000"/>
            </a:avLst>
          </a:prstGeom>
          <a:solidFill>
            <a:srgbClr val="22315C"/>
          </a:solidFill>
          <a:ln w="12700">
            <a:solidFill>
              <a:srgbClr val="5B4BE0"/>
            </a:solidFill>
            <a:prstDash val="solid"/>
          </a:ln>
        </p:spPr>
      </p:sp>
      <p:sp>
        <p:nvSpPr>
          <p:cNvPr id="27" name="Text 24"/>
          <p:cNvSpPr/>
          <p:nvPr/>
        </p:nvSpPr>
        <p:spPr>
          <a:xfrm>
            <a:off x="3683203"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RoPE · GQA · MoE</a:t>
            </a:r>
            <a:endParaRPr lang="en-US" sz="1150" dirty="0"/>
          </a:p>
        </p:txBody>
      </p:sp>
      <p:sp>
        <p:nvSpPr>
          <p:cNvPr id="28" name="Shape 25"/>
          <p:cNvSpPr/>
          <p:nvPr/>
        </p:nvSpPr>
        <p:spPr>
          <a:xfrm>
            <a:off x="5596128" y="4617720"/>
            <a:ext cx="1730045" cy="420624"/>
          </a:xfrm>
          <a:prstGeom prst="roundRect">
            <a:avLst>
              <a:gd name="adj" fmla="val 50000"/>
            </a:avLst>
          </a:prstGeom>
          <a:solidFill>
            <a:srgbClr val="22315C"/>
          </a:solidFill>
          <a:ln w="12700">
            <a:solidFill>
              <a:srgbClr val="5B4BE0"/>
            </a:solidFill>
            <a:prstDash val="solid"/>
          </a:ln>
        </p:spPr>
      </p:sp>
      <p:sp>
        <p:nvSpPr>
          <p:cNvPr id="29" name="Text 26"/>
          <p:cNvSpPr/>
          <p:nvPr/>
        </p:nvSpPr>
        <p:spPr>
          <a:xfrm>
            <a:off x="5596128"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Reasoning Models</a:t>
            </a:r>
            <a:endParaRPr lang="en-US" sz="1150" dirty="0"/>
          </a:p>
        </p:txBody>
      </p:sp>
      <p:sp>
        <p:nvSpPr>
          <p:cNvPr id="30" name="Shape 27"/>
          <p:cNvSpPr/>
          <p:nvPr/>
        </p:nvSpPr>
        <p:spPr>
          <a:xfrm>
            <a:off x="7509053" y="4617720"/>
            <a:ext cx="2262226" cy="420624"/>
          </a:xfrm>
          <a:prstGeom prst="roundRect">
            <a:avLst>
              <a:gd name="adj" fmla="val 50000"/>
            </a:avLst>
          </a:prstGeom>
          <a:solidFill>
            <a:srgbClr val="22315C"/>
          </a:solidFill>
          <a:ln w="12700">
            <a:solidFill>
              <a:srgbClr val="5B4BE0"/>
            </a:solidFill>
            <a:prstDash val="solid"/>
          </a:ln>
        </p:spPr>
      </p:sp>
      <p:sp>
        <p:nvSpPr>
          <p:cNvPr id="31" name="Text 28"/>
          <p:cNvSpPr/>
          <p:nvPr/>
        </p:nvSpPr>
        <p:spPr>
          <a:xfrm>
            <a:off x="7509053" y="4617720"/>
            <a:ext cx="2262226"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Agentic AI in Research</a:t>
            </a:r>
            <a:endParaRPr lang="en-US" sz="1150" dirty="0"/>
          </a:p>
        </p:txBody>
      </p:sp>
      <p:sp>
        <p:nvSpPr>
          <p:cNvPr id="32" name="Text 29"/>
          <p:cNvSpPr/>
          <p:nvPr/>
        </p:nvSpPr>
        <p:spPr>
          <a:xfrm>
            <a:off x="566928" y="5806440"/>
            <a:ext cx="10972800" cy="365760"/>
          </a:xfrm>
          <a:prstGeom prst="rect">
            <a:avLst/>
          </a:prstGeom>
          <a:noFill/>
          <a:ln/>
        </p:spPr>
        <p:txBody>
          <a:bodyPr wrap="square" lIns="0" tIns="0" rIns="0" bIns="0" rtlCol="0" anchor="ctr"/>
          <a:lstStyle/>
          <a:p>
            <a:pPr indent="0" marL="0">
              <a:buNone/>
            </a:pPr>
            <a:r>
              <a:rPr lang="en-US" sz="1300" i="1" dirty="0">
                <a:solidFill>
                  <a:srgbClr val="9AA3C2"/>
                </a:solidFill>
                <a:latin typeface="Calibri" pitchFamily="34" charset="0"/>
                <a:ea typeface="Calibri" pitchFamily="34" charset="-122"/>
                <a:cs typeface="Calibri" pitchFamily="34" charset="-120"/>
              </a:rPr>
              <a:t>A technical primer for Generative-AI engineers  ·  Visual · Sourced · Benchmark-driven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ROADMAP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this hour is structured — six eras of one idea</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6692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Text 4"/>
          <p:cNvSpPr/>
          <p:nvPr/>
        </p:nvSpPr>
        <p:spPr>
          <a:xfrm>
            <a:off x="731520" y="176479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1</a:t>
            </a:r>
            <a:endParaRPr lang="en-US" sz="4000" dirty="0"/>
          </a:p>
        </p:txBody>
      </p:sp>
      <p:sp>
        <p:nvSpPr>
          <p:cNvPr id="7" name="Shape 5"/>
          <p:cNvSpPr/>
          <p:nvPr/>
        </p:nvSpPr>
        <p:spPr>
          <a:xfrm>
            <a:off x="3191256" y="1801368"/>
            <a:ext cx="713232" cy="713232"/>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3369564" y="1979676"/>
            <a:ext cx="356616" cy="356616"/>
          </a:xfrm>
          <a:prstGeom prst="rect">
            <a:avLst/>
          </a:prstGeom>
        </p:spPr>
      </p:pic>
      <p:sp>
        <p:nvSpPr>
          <p:cNvPr id="9" name="Text 6"/>
          <p:cNvSpPr/>
          <p:nvPr/>
        </p:nvSpPr>
        <p:spPr>
          <a:xfrm>
            <a:off x="74980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Before the Transformer</a:t>
            </a:r>
            <a:endParaRPr lang="en-US" sz="1650" dirty="0"/>
          </a:p>
        </p:txBody>
      </p:sp>
      <p:sp>
        <p:nvSpPr>
          <p:cNvPr id="10" name="Text 7"/>
          <p:cNvSpPr/>
          <p:nvPr/>
        </p:nvSpPr>
        <p:spPr>
          <a:xfrm>
            <a:off x="74980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NLP, embeddings, RNNs, LSTMs &amp; what stayed unsolved</a:t>
            </a:r>
            <a:endParaRPr lang="en-US" sz="1180" dirty="0"/>
          </a:p>
        </p:txBody>
      </p:sp>
      <p:sp>
        <p:nvSpPr>
          <p:cNvPr id="11" name="Shape 8"/>
          <p:cNvSpPr/>
          <p:nvPr/>
        </p:nvSpPr>
        <p:spPr>
          <a:xfrm>
            <a:off x="431596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9"/>
          <p:cNvSpPr/>
          <p:nvPr/>
        </p:nvSpPr>
        <p:spPr>
          <a:xfrm>
            <a:off x="4480560" y="176479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6940296" y="1801368"/>
            <a:ext cx="713232" cy="713232"/>
          </a:xfrm>
          <a:prstGeom prst="ellipse">
            <a:avLst/>
          </a:prstGeom>
          <a:solidFill>
            <a:srgbClr val="EEECFB"/>
          </a:solidFill>
          <a:ln/>
        </p:spPr>
      </p:sp>
      <p:pic>
        <p:nvPicPr>
          <p:cNvPr id="14" name="Image 1" descr="preencoded.png">    </p:cNvPr>
          <p:cNvPicPr>
            <a:picLocks noChangeAspect="1"/>
          </p:cNvPicPr>
          <p:nvPr/>
        </p:nvPicPr>
        <p:blipFill>
          <a:blip r:embed="rId2"/>
          <a:stretch>
            <a:fillRect/>
          </a:stretch>
        </p:blipFill>
        <p:spPr>
          <a:xfrm>
            <a:off x="7118604" y="1979676"/>
            <a:ext cx="356616" cy="356616"/>
          </a:xfrm>
          <a:prstGeom prst="rect">
            <a:avLst/>
          </a:prstGeom>
        </p:spPr>
      </p:pic>
      <p:sp>
        <p:nvSpPr>
          <p:cNvPr id="15" name="Text 11"/>
          <p:cNvSpPr/>
          <p:nvPr/>
        </p:nvSpPr>
        <p:spPr>
          <a:xfrm>
            <a:off x="449884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2017 — The Transformer</a:t>
            </a:r>
            <a:endParaRPr lang="en-US" sz="1650" dirty="0"/>
          </a:p>
        </p:txBody>
      </p:sp>
      <p:sp>
        <p:nvSpPr>
          <p:cNvPr id="16" name="Text 12"/>
          <p:cNvSpPr/>
          <p:nvPr/>
        </p:nvSpPr>
        <p:spPr>
          <a:xfrm>
            <a:off x="449884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Self-attention, Q/K/V, the architecture that scaled</a:t>
            </a:r>
            <a:endParaRPr lang="en-US" sz="1180" dirty="0"/>
          </a:p>
        </p:txBody>
      </p:sp>
      <p:sp>
        <p:nvSpPr>
          <p:cNvPr id="17" name="Shape 13"/>
          <p:cNvSpPr/>
          <p:nvPr/>
        </p:nvSpPr>
        <p:spPr>
          <a:xfrm>
            <a:off x="806500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4"/>
          <p:cNvSpPr/>
          <p:nvPr/>
        </p:nvSpPr>
        <p:spPr>
          <a:xfrm>
            <a:off x="8229600" y="176479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3</a:t>
            </a:r>
            <a:endParaRPr lang="en-US" sz="4000" dirty="0"/>
          </a:p>
        </p:txBody>
      </p:sp>
      <p:sp>
        <p:nvSpPr>
          <p:cNvPr id="19" name="Shape 15"/>
          <p:cNvSpPr/>
          <p:nvPr/>
        </p:nvSpPr>
        <p:spPr>
          <a:xfrm>
            <a:off x="10689336" y="1801368"/>
            <a:ext cx="713232" cy="713232"/>
          </a:xfrm>
          <a:prstGeom prst="ellipse">
            <a:avLst/>
          </a:prstGeom>
          <a:solidFill>
            <a:srgbClr val="FBEFD8"/>
          </a:solidFill>
          <a:ln/>
        </p:spPr>
      </p:sp>
      <p:pic>
        <p:nvPicPr>
          <p:cNvPr id="20" name="Image 2" descr="preencoded.png">    </p:cNvPr>
          <p:cNvPicPr>
            <a:picLocks noChangeAspect="1"/>
          </p:cNvPicPr>
          <p:nvPr/>
        </p:nvPicPr>
        <p:blipFill>
          <a:blip r:embed="rId3"/>
          <a:stretch>
            <a:fillRect/>
          </a:stretch>
        </p:blipFill>
        <p:spPr>
          <a:xfrm>
            <a:off x="10867644" y="1979676"/>
            <a:ext cx="356616" cy="356616"/>
          </a:xfrm>
          <a:prstGeom prst="rect">
            <a:avLst/>
          </a:prstGeom>
        </p:spPr>
      </p:pic>
      <p:sp>
        <p:nvSpPr>
          <p:cNvPr id="21" name="Text 16"/>
          <p:cNvSpPr/>
          <p:nvPr/>
        </p:nvSpPr>
        <p:spPr>
          <a:xfrm>
            <a:off x="824788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Scaling Era</a:t>
            </a:r>
            <a:endParaRPr lang="en-US" sz="1650" dirty="0"/>
          </a:p>
        </p:txBody>
      </p:sp>
      <p:sp>
        <p:nvSpPr>
          <p:cNvPr id="22" name="Text 17"/>
          <p:cNvSpPr/>
          <p:nvPr/>
        </p:nvSpPr>
        <p:spPr>
          <a:xfrm>
            <a:off x="824788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GPT-1→4, parameters, scaling laws, RLHF &amp; ChatGPT</a:t>
            </a:r>
            <a:endParaRPr lang="en-US" sz="1180" dirty="0"/>
          </a:p>
        </p:txBody>
      </p:sp>
      <p:sp>
        <p:nvSpPr>
          <p:cNvPr id="23" name="Shape 18"/>
          <p:cNvSpPr/>
          <p:nvPr/>
        </p:nvSpPr>
        <p:spPr>
          <a:xfrm>
            <a:off x="56692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4" name="Text 19"/>
          <p:cNvSpPr/>
          <p:nvPr/>
        </p:nvSpPr>
        <p:spPr>
          <a:xfrm>
            <a:off x="731520" y="418795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4</a:t>
            </a:r>
            <a:endParaRPr lang="en-US" sz="4000" dirty="0"/>
          </a:p>
        </p:txBody>
      </p:sp>
      <p:sp>
        <p:nvSpPr>
          <p:cNvPr id="25" name="Shape 20"/>
          <p:cNvSpPr/>
          <p:nvPr/>
        </p:nvSpPr>
        <p:spPr>
          <a:xfrm>
            <a:off x="3191256" y="4224528"/>
            <a:ext cx="713232" cy="713232"/>
          </a:xfrm>
          <a:prstGeom prst="ellipse">
            <a:avLst/>
          </a:prstGeom>
          <a:solidFill>
            <a:srgbClr val="EEECFB"/>
          </a:solidFill>
          <a:ln/>
        </p:spPr>
      </p:sp>
      <p:pic>
        <p:nvPicPr>
          <p:cNvPr id="26" name="Image 3" descr="preencoded.png">    </p:cNvPr>
          <p:cNvPicPr>
            <a:picLocks noChangeAspect="1"/>
          </p:cNvPicPr>
          <p:nvPr/>
        </p:nvPicPr>
        <p:blipFill>
          <a:blip r:embed="rId4"/>
          <a:stretch>
            <a:fillRect/>
          </a:stretch>
        </p:blipFill>
        <p:spPr>
          <a:xfrm>
            <a:off x="3369564" y="4402836"/>
            <a:ext cx="356616" cy="356616"/>
          </a:xfrm>
          <a:prstGeom prst="rect">
            <a:avLst/>
          </a:prstGeom>
        </p:spPr>
      </p:pic>
      <p:sp>
        <p:nvSpPr>
          <p:cNvPr id="27" name="Text 21"/>
          <p:cNvSpPr/>
          <p:nvPr/>
        </p:nvSpPr>
        <p:spPr>
          <a:xfrm>
            <a:off x="74980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Architectural Innovations</a:t>
            </a:r>
            <a:endParaRPr lang="en-US" sz="1650" dirty="0"/>
          </a:p>
        </p:txBody>
      </p:sp>
      <p:sp>
        <p:nvSpPr>
          <p:cNvPr id="28" name="Text 22"/>
          <p:cNvSpPr/>
          <p:nvPr/>
        </p:nvSpPr>
        <p:spPr>
          <a:xfrm>
            <a:off x="74980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RoPE, MQA/GQA, FlashAttention, Mixture-of-Experts</a:t>
            </a:r>
            <a:endParaRPr lang="en-US" sz="1180" dirty="0"/>
          </a:p>
        </p:txBody>
      </p:sp>
      <p:sp>
        <p:nvSpPr>
          <p:cNvPr id="29" name="Shape 23"/>
          <p:cNvSpPr/>
          <p:nvPr/>
        </p:nvSpPr>
        <p:spPr>
          <a:xfrm>
            <a:off x="431596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0" name="Text 24"/>
          <p:cNvSpPr/>
          <p:nvPr/>
        </p:nvSpPr>
        <p:spPr>
          <a:xfrm>
            <a:off x="4480560" y="418795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5</a:t>
            </a:r>
            <a:endParaRPr lang="en-US" sz="4000" dirty="0"/>
          </a:p>
        </p:txBody>
      </p:sp>
      <p:sp>
        <p:nvSpPr>
          <p:cNvPr id="31" name="Shape 25"/>
          <p:cNvSpPr/>
          <p:nvPr/>
        </p:nvSpPr>
        <p:spPr>
          <a:xfrm>
            <a:off x="6940296" y="4224528"/>
            <a:ext cx="713232" cy="713232"/>
          </a:xfrm>
          <a:prstGeom prst="ellipse">
            <a:avLst/>
          </a:prstGeom>
          <a:solidFill>
            <a:srgbClr val="E2F4F2"/>
          </a:solidFill>
          <a:ln/>
        </p:spPr>
      </p:sp>
      <p:pic>
        <p:nvPicPr>
          <p:cNvPr id="32" name="Image 4" descr="preencoded.png">    </p:cNvPr>
          <p:cNvPicPr>
            <a:picLocks noChangeAspect="1"/>
          </p:cNvPicPr>
          <p:nvPr/>
        </p:nvPicPr>
        <p:blipFill>
          <a:blip r:embed="rId5"/>
          <a:stretch>
            <a:fillRect/>
          </a:stretch>
        </p:blipFill>
        <p:spPr>
          <a:xfrm>
            <a:off x="7118604" y="4402836"/>
            <a:ext cx="356616" cy="356616"/>
          </a:xfrm>
          <a:prstGeom prst="rect">
            <a:avLst/>
          </a:prstGeom>
        </p:spPr>
      </p:pic>
      <p:sp>
        <p:nvSpPr>
          <p:cNvPr id="33" name="Text 26"/>
          <p:cNvSpPr/>
          <p:nvPr/>
        </p:nvSpPr>
        <p:spPr>
          <a:xfrm>
            <a:off x="449884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Modern Era</a:t>
            </a:r>
            <a:endParaRPr lang="en-US" sz="1650" dirty="0"/>
          </a:p>
        </p:txBody>
      </p:sp>
      <p:sp>
        <p:nvSpPr>
          <p:cNvPr id="34" name="Text 27"/>
          <p:cNvSpPr/>
          <p:nvPr/>
        </p:nvSpPr>
        <p:spPr>
          <a:xfrm>
            <a:off x="449884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Multimodal, open-weights, reasoning models, 2026 frontier</a:t>
            </a:r>
            <a:endParaRPr lang="en-US" sz="1180" dirty="0"/>
          </a:p>
        </p:txBody>
      </p:sp>
      <p:sp>
        <p:nvSpPr>
          <p:cNvPr id="35" name="Shape 28"/>
          <p:cNvSpPr/>
          <p:nvPr/>
        </p:nvSpPr>
        <p:spPr>
          <a:xfrm>
            <a:off x="806500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6" name="Text 29"/>
          <p:cNvSpPr/>
          <p:nvPr/>
        </p:nvSpPr>
        <p:spPr>
          <a:xfrm>
            <a:off x="8229600" y="418795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6</a:t>
            </a:r>
            <a:endParaRPr lang="en-US" sz="4000" dirty="0"/>
          </a:p>
        </p:txBody>
      </p:sp>
      <p:sp>
        <p:nvSpPr>
          <p:cNvPr id="37" name="Shape 30"/>
          <p:cNvSpPr/>
          <p:nvPr/>
        </p:nvSpPr>
        <p:spPr>
          <a:xfrm>
            <a:off x="10689336" y="4224528"/>
            <a:ext cx="713232" cy="713232"/>
          </a:xfrm>
          <a:prstGeom prst="ellipse">
            <a:avLst/>
          </a:prstGeom>
          <a:solidFill>
            <a:srgbClr val="FBEFD8"/>
          </a:solidFill>
          <a:ln/>
        </p:spPr>
      </p:sp>
      <p:pic>
        <p:nvPicPr>
          <p:cNvPr id="38" name="Image 5" descr="preencoded.png">    </p:cNvPr>
          <p:cNvPicPr>
            <a:picLocks noChangeAspect="1"/>
          </p:cNvPicPr>
          <p:nvPr/>
        </p:nvPicPr>
        <p:blipFill>
          <a:blip r:embed="rId6"/>
          <a:stretch>
            <a:fillRect/>
          </a:stretch>
        </p:blipFill>
        <p:spPr>
          <a:xfrm>
            <a:off x="10867644" y="4402836"/>
            <a:ext cx="356616" cy="356616"/>
          </a:xfrm>
          <a:prstGeom prst="rect">
            <a:avLst/>
          </a:prstGeom>
        </p:spPr>
      </p:pic>
      <p:sp>
        <p:nvSpPr>
          <p:cNvPr id="39" name="Text 31"/>
          <p:cNvSpPr/>
          <p:nvPr/>
        </p:nvSpPr>
        <p:spPr>
          <a:xfrm>
            <a:off x="824788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AI in Research</a:t>
            </a:r>
            <a:endParaRPr lang="en-US" sz="1650" dirty="0"/>
          </a:p>
        </p:txBody>
      </p:sp>
      <p:sp>
        <p:nvSpPr>
          <p:cNvPr id="40" name="Text 32"/>
          <p:cNvSpPr/>
          <p:nvPr/>
        </p:nvSpPr>
        <p:spPr>
          <a:xfrm>
            <a:off x="824788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Agentic systems &amp; published scientific case studies (USA)</a:t>
            </a:r>
            <a:endParaRPr lang="en-US" sz="11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1</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1</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Before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To understand why Large Language Models matter, we first have to see the wall that earlier language AI kept hitting — and which specific limits the Transformer was built to break.</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PLAIN LANGUAGE FIRST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What actually is a Large Language Model?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'But what is a GPT? Visual intro to transformers' — youtube.com/watch?v=wjZofJX0v4M</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66928" y="1554480"/>
            <a:ext cx="553212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411480"/>
          </a:xfrm>
          <a:prstGeom prst="rect">
            <a:avLst/>
          </a:prstGeom>
          <a:noFill/>
          <a:ln/>
        </p:spPr>
        <p:txBody>
          <a:bodyPr wrap="square" lIns="0" tIns="0" rIns="0" bIns="0" rtlCol="0" anchor="ctr"/>
          <a:lstStyle/>
          <a:p>
            <a:pPr indent="0" marL="0">
              <a:buNone/>
            </a:pPr>
            <a:r>
              <a:rPr lang="en-US" sz="1700" b="1" dirty="0">
                <a:solidFill>
                  <a:srgbClr val="1B2440"/>
                </a:solidFill>
                <a:latin typeface="Calibri" pitchFamily="34" charset="0"/>
                <a:ea typeface="Calibri" pitchFamily="34" charset="-122"/>
                <a:cs typeface="Calibri" pitchFamily="34" charset="-120"/>
              </a:rPr>
              <a:t>A next-token prediction machine</a:t>
            </a:r>
            <a:endParaRPr lang="en-US" sz="1700" dirty="0"/>
          </a:p>
        </p:txBody>
      </p:sp>
      <p:sp>
        <p:nvSpPr>
          <p:cNvPr id="8" name="Text 6"/>
          <p:cNvSpPr/>
          <p:nvPr/>
        </p:nvSpPr>
        <p:spPr>
          <a:xfrm>
            <a:off x="841248" y="2212848"/>
            <a:ext cx="5029200" cy="868680"/>
          </a:xfrm>
          <a:prstGeom prst="rect">
            <a:avLst/>
          </a:prstGeom>
          <a:noFill/>
          <a:ln/>
        </p:spPr>
        <p:txBody>
          <a:bodyPr wrap="square" lIns="0" tIns="0" rIns="0" bIns="0" rtlCol="0" anchor="ctr"/>
          <a:lstStyle/>
          <a:p>
            <a:pPr indent="0" marL="0">
              <a:lnSpc>
                <a:spcPct val="112000"/>
              </a:lnSpc>
              <a:buNone/>
            </a:pPr>
            <a:r>
              <a:rPr lang="en-US" sz="1280" dirty="0">
                <a:solidFill>
                  <a:srgbClr val="5A6685"/>
                </a:solidFill>
                <a:latin typeface="Calibri" pitchFamily="34" charset="0"/>
                <a:ea typeface="Calibri" pitchFamily="34" charset="-122"/>
                <a:cs typeface="Calibri" pitchFamily="34" charset="-120"/>
              </a:rPr>
              <a:t>At its core, an LLM reads a sequence of text and outputs a probability distribution over what comes next — then samples one token and repeats.</a:t>
            </a:r>
            <a:endParaRPr lang="en-US" sz="1280" dirty="0"/>
          </a:p>
        </p:txBody>
      </p:sp>
      <p:sp>
        <p:nvSpPr>
          <p:cNvPr id="9" name="Shape 7"/>
          <p:cNvSpPr/>
          <p:nvPr/>
        </p:nvSpPr>
        <p:spPr>
          <a:xfrm>
            <a:off x="841248" y="3246120"/>
            <a:ext cx="603504" cy="457200"/>
          </a:xfrm>
          <a:prstGeom prst="roundRect">
            <a:avLst>
              <a:gd name="adj" fmla="val 12000"/>
            </a:avLst>
          </a:prstGeom>
          <a:solidFill>
            <a:srgbClr val="FFFFFF"/>
          </a:solidFill>
          <a:ln w="12700">
            <a:solidFill>
              <a:srgbClr val="DDE1EC"/>
            </a:solidFill>
            <a:prstDash val="solid"/>
          </a:ln>
        </p:spPr>
      </p:sp>
      <p:sp>
        <p:nvSpPr>
          <p:cNvPr id="10" name="Text 8"/>
          <p:cNvSpPr/>
          <p:nvPr/>
        </p:nvSpPr>
        <p:spPr>
          <a:xfrm>
            <a:off x="841248" y="3246120"/>
            <a:ext cx="603504"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The</a:t>
            </a:r>
            <a:endParaRPr lang="en-US" sz="1100" dirty="0"/>
          </a:p>
        </p:txBody>
      </p:sp>
      <p:sp>
        <p:nvSpPr>
          <p:cNvPr id="11" name="Shape 9"/>
          <p:cNvSpPr/>
          <p:nvPr/>
        </p:nvSpPr>
        <p:spPr>
          <a:xfrm>
            <a:off x="1517904" y="3246120"/>
            <a:ext cx="603504" cy="457200"/>
          </a:xfrm>
          <a:prstGeom prst="roundRect">
            <a:avLst>
              <a:gd name="adj" fmla="val 12000"/>
            </a:avLst>
          </a:prstGeom>
          <a:solidFill>
            <a:srgbClr val="FFFFFF"/>
          </a:solidFill>
          <a:ln w="12700">
            <a:solidFill>
              <a:srgbClr val="DDE1EC"/>
            </a:solidFill>
            <a:prstDash val="solid"/>
          </a:ln>
        </p:spPr>
      </p:sp>
      <p:sp>
        <p:nvSpPr>
          <p:cNvPr id="12" name="Text 10"/>
          <p:cNvSpPr/>
          <p:nvPr/>
        </p:nvSpPr>
        <p:spPr>
          <a:xfrm>
            <a:off x="1517904" y="3246120"/>
            <a:ext cx="603504"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cat</a:t>
            </a:r>
            <a:endParaRPr lang="en-US" sz="1100" dirty="0"/>
          </a:p>
        </p:txBody>
      </p:sp>
      <p:sp>
        <p:nvSpPr>
          <p:cNvPr id="13" name="Shape 11"/>
          <p:cNvSpPr/>
          <p:nvPr/>
        </p:nvSpPr>
        <p:spPr>
          <a:xfrm>
            <a:off x="2194560" y="3246120"/>
            <a:ext cx="603504" cy="457200"/>
          </a:xfrm>
          <a:prstGeom prst="roundRect">
            <a:avLst>
              <a:gd name="adj" fmla="val 12000"/>
            </a:avLst>
          </a:prstGeom>
          <a:solidFill>
            <a:srgbClr val="FFFFFF"/>
          </a:solidFill>
          <a:ln w="12700">
            <a:solidFill>
              <a:srgbClr val="DDE1EC"/>
            </a:solidFill>
            <a:prstDash val="solid"/>
          </a:ln>
        </p:spPr>
      </p:sp>
      <p:sp>
        <p:nvSpPr>
          <p:cNvPr id="14" name="Text 12"/>
          <p:cNvSpPr/>
          <p:nvPr/>
        </p:nvSpPr>
        <p:spPr>
          <a:xfrm>
            <a:off x="2194560" y="3246120"/>
            <a:ext cx="603504"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sat</a:t>
            </a:r>
            <a:endParaRPr lang="en-US" sz="1100" dirty="0"/>
          </a:p>
        </p:txBody>
      </p:sp>
      <p:sp>
        <p:nvSpPr>
          <p:cNvPr id="15" name="Shape 13"/>
          <p:cNvSpPr/>
          <p:nvPr/>
        </p:nvSpPr>
        <p:spPr>
          <a:xfrm>
            <a:off x="2871216" y="3246120"/>
            <a:ext cx="603504" cy="457200"/>
          </a:xfrm>
          <a:prstGeom prst="roundRect">
            <a:avLst>
              <a:gd name="adj" fmla="val 12000"/>
            </a:avLst>
          </a:prstGeom>
          <a:solidFill>
            <a:srgbClr val="FFFFFF"/>
          </a:solidFill>
          <a:ln w="12700">
            <a:solidFill>
              <a:srgbClr val="DDE1EC"/>
            </a:solidFill>
            <a:prstDash val="solid"/>
          </a:ln>
        </p:spPr>
      </p:sp>
      <p:sp>
        <p:nvSpPr>
          <p:cNvPr id="16" name="Text 14"/>
          <p:cNvSpPr/>
          <p:nvPr/>
        </p:nvSpPr>
        <p:spPr>
          <a:xfrm>
            <a:off x="2871216" y="3246120"/>
            <a:ext cx="603504"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on</a:t>
            </a:r>
            <a:endParaRPr lang="en-US" sz="1100" dirty="0"/>
          </a:p>
        </p:txBody>
      </p:sp>
      <p:sp>
        <p:nvSpPr>
          <p:cNvPr id="17" name="Shape 15"/>
          <p:cNvSpPr/>
          <p:nvPr/>
        </p:nvSpPr>
        <p:spPr>
          <a:xfrm>
            <a:off x="3547872" y="3246120"/>
            <a:ext cx="603504" cy="457200"/>
          </a:xfrm>
          <a:prstGeom prst="roundRect">
            <a:avLst>
              <a:gd name="adj" fmla="val 12000"/>
            </a:avLst>
          </a:prstGeom>
          <a:solidFill>
            <a:srgbClr val="FFFFFF"/>
          </a:solidFill>
          <a:ln w="12700">
            <a:solidFill>
              <a:srgbClr val="DDE1EC"/>
            </a:solidFill>
            <a:prstDash val="solid"/>
          </a:ln>
        </p:spPr>
      </p:sp>
      <p:sp>
        <p:nvSpPr>
          <p:cNvPr id="18" name="Text 16"/>
          <p:cNvSpPr/>
          <p:nvPr/>
        </p:nvSpPr>
        <p:spPr>
          <a:xfrm>
            <a:off x="3547872" y="3246120"/>
            <a:ext cx="603504"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the</a:t>
            </a:r>
            <a:endParaRPr lang="en-US" sz="1100" dirty="0"/>
          </a:p>
        </p:txBody>
      </p:sp>
      <p:sp>
        <p:nvSpPr>
          <p:cNvPr id="19" name="Shape 17"/>
          <p:cNvSpPr/>
          <p:nvPr/>
        </p:nvSpPr>
        <p:spPr>
          <a:xfrm>
            <a:off x="841248" y="3959352"/>
            <a:ext cx="3657600" cy="502920"/>
          </a:xfrm>
          <a:prstGeom prst="roundRect">
            <a:avLst>
              <a:gd name="adj" fmla="val 10909"/>
            </a:avLst>
          </a:prstGeom>
          <a:solidFill>
            <a:srgbClr val="5B4BE0"/>
          </a:solidFill>
          <a:ln w="12700">
            <a:solidFill>
              <a:srgbClr val="DDE1EC"/>
            </a:solidFill>
            <a:prstDash val="solid"/>
          </a:ln>
        </p:spPr>
      </p:sp>
      <p:sp>
        <p:nvSpPr>
          <p:cNvPr id="20" name="Text 18"/>
          <p:cNvSpPr/>
          <p:nvPr/>
        </p:nvSpPr>
        <p:spPr>
          <a:xfrm>
            <a:off x="841248" y="3959352"/>
            <a:ext cx="3657600" cy="502920"/>
          </a:xfrm>
          <a:prstGeom prst="rect">
            <a:avLst/>
          </a:prstGeom>
          <a:noFill/>
          <a:ln/>
        </p:spPr>
        <p:txBody>
          <a:bodyPr wrap="square" lIns="25400" tIns="25400" rIns="25400" bIns="25400"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Transformer language model</a:t>
            </a:r>
            <a:endParaRPr lang="en-US" sz="1250" dirty="0"/>
          </a:p>
        </p:txBody>
      </p:sp>
      <p:sp>
        <p:nvSpPr>
          <p:cNvPr id="21" name="Shape 19"/>
          <p:cNvSpPr/>
          <p:nvPr/>
        </p:nvSpPr>
        <p:spPr>
          <a:xfrm>
            <a:off x="2670048" y="3703320"/>
            <a:ext cx="0" cy="256032"/>
          </a:xfrm>
          <a:prstGeom prst="line">
            <a:avLst/>
          </a:prstGeom>
          <a:noFill/>
          <a:ln w="22225">
            <a:solidFill>
              <a:srgbClr val="8A93AB"/>
            </a:solidFill>
            <a:prstDash val="solid"/>
            <a:tailEnd type="triangle"/>
          </a:ln>
        </p:spPr>
      </p:sp>
      <p:sp>
        <p:nvSpPr>
          <p:cNvPr id="22" name="Shape 20"/>
          <p:cNvSpPr/>
          <p:nvPr/>
        </p:nvSpPr>
        <p:spPr>
          <a:xfrm>
            <a:off x="2670048" y="4462272"/>
            <a:ext cx="0" cy="237744"/>
          </a:xfrm>
          <a:prstGeom prst="line">
            <a:avLst/>
          </a:prstGeom>
          <a:noFill/>
          <a:ln w="22225">
            <a:solidFill>
              <a:srgbClr val="8A93AB"/>
            </a:solidFill>
            <a:prstDash val="solid"/>
            <a:tailEnd type="triangle"/>
          </a:ln>
        </p:spPr>
      </p:sp>
      <p:sp>
        <p:nvSpPr>
          <p:cNvPr id="23" name="Shape 21"/>
          <p:cNvSpPr/>
          <p:nvPr/>
        </p:nvSpPr>
        <p:spPr>
          <a:xfrm>
            <a:off x="841248" y="4764024"/>
            <a:ext cx="822960" cy="457200"/>
          </a:xfrm>
          <a:prstGeom prst="roundRect">
            <a:avLst>
              <a:gd name="adj" fmla="val 12000"/>
            </a:avLst>
          </a:prstGeom>
          <a:solidFill>
            <a:srgbClr val="EEECFB"/>
          </a:solidFill>
          <a:ln w="12700">
            <a:solidFill>
              <a:srgbClr val="5B4BE0"/>
            </a:solidFill>
            <a:prstDash val="solid"/>
          </a:ln>
        </p:spPr>
      </p:sp>
      <p:sp>
        <p:nvSpPr>
          <p:cNvPr id="24" name="Text 22"/>
          <p:cNvSpPr/>
          <p:nvPr/>
        </p:nvSpPr>
        <p:spPr>
          <a:xfrm>
            <a:off x="841248" y="4764024"/>
            <a:ext cx="82296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1B2440"/>
                </a:solidFill>
                <a:latin typeface="Calibri" pitchFamily="34" charset="0"/>
                <a:ea typeface="Calibri" pitchFamily="34" charset="-122"/>
                <a:cs typeface="Calibri" pitchFamily="34" charset="-120"/>
              </a:rPr>
              <a:t>mat</a:t>
            </a:r>
            <a:endParaRPr lang="en-US" sz="1150" dirty="0"/>
          </a:p>
        </p:txBody>
      </p:sp>
      <p:sp>
        <p:nvSpPr>
          <p:cNvPr id="25" name="Text 23"/>
          <p:cNvSpPr/>
          <p:nvPr/>
        </p:nvSpPr>
        <p:spPr>
          <a:xfrm>
            <a:off x="841248" y="5257800"/>
            <a:ext cx="822960" cy="256032"/>
          </a:xfrm>
          <a:prstGeom prst="rect">
            <a:avLst/>
          </a:prstGeom>
          <a:noFill/>
          <a:ln/>
        </p:spPr>
        <p:txBody>
          <a:bodyPr wrap="square" lIns="0" tIns="0" rIns="0" bIns="0" rtlCol="0" anchor="ctr"/>
          <a:lstStyle/>
          <a:p>
            <a:pPr algn="ctr" indent="0" marL="0">
              <a:buNone/>
            </a:pPr>
            <a:r>
              <a:rPr lang="en-US" sz="1050" b="1" dirty="0">
                <a:solidFill>
                  <a:srgbClr val="1B9C5A"/>
                </a:solidFill>
                <a:latin typeface="Calibri" pitchFamily="34" charset="0"/>
                <a:ea typeface="Calibri" pitchFamily="34" charset="-122"/>
                <a:cs typeface="Calibri" pitchFamily="34" charset="-120"/>
              </a:rPr>
              <a:t>31%</a:t>
            </a:r>
            <a:endParaRPr lang="en-US" sz="1050" dirty="0"/>
          </a:p>
        </p:txBody>
      </p:sp>
      <p:sp>
        <p:nvSpPr>
          <p:cNvPr id="26" name="Shape 24"/>
          <p:cNvSpPr/>
          <p:nvPr/>
        </p:nvSpPr>
        <p:spPr>
          <a:xfrm>
            <a:off x="1755648" y="4764024"/>
            <a:ext cx="822960" cy="457200"/>
          </a:xfrm>
          <a:prstGeom prst="roundRect">
            <a:avLst>
              <a:gd name="adj" fmla="val 12000"/>
            </a:avLst>
          </a:prstGeom>
          <a:solidFill>
            <a:srgbClr val="EEECFB"/>
          </a:solidFill>
          <a:ln w="12700">
            <a:solidFill>
              <a:srgbClr val="5B4BE0"/>
            </a:solidFill>
            <a:prstDash val="solid"/>
          </a:ln>
        </p:spPr>
      </p:sp>
      <p:sp>
        <p:nvSpPr>
          <p:cNvPr id="27" name="Text 25"/>
          <p:cNvSpPr/>
          <p:nvPr/>
        </p:nvSpPr>
        <p:spPr>
          <a:xfrm>
            <a:off x="1755648" y="4764024"/>
            <a:ext cx="82296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1B2440"/>
                </a:solidFill>
                <a:latin typeface="Calibri" pitchFamily="34" charset="0"/>
                <a:ea typeface="Calibri" pitchFamily="34" charset="-122"/>
                <a:cs typeface="Calibri" pitchFamily="34" charset="-120"/>
              </a:rPr>
              <a:t>floor</a:t>
            </a:r>
            <a:endParaRPr lang="en-US" sz="1150" dirty="0"/>
          </a:p>
        </p:txBody>
      </p:sp>
      <p:sp>
        <p:nvSpPr>
          <p:cNvPr id="28" name="Text 26"/>
          <p:cNvSpPr/>
          <p:nvPr/>
        </p:nvSpPr>
        <p:spPr>
          <a:xfrm>
            <a:off x="1755648" y="5257800"/>
            <a:ext cx="822960" cy="256032"/>
          </a:xfrm>
          <a:prstGeom prst="rect">
            <a:avLst/>
          </a:prstGeom>
          <a:noFill/>
          <a:ln/>
        </p:spPr>
        <p:txBody>
          <a:bodyPr wrap="square" lIns="0" tIns="0" rIns="0" bIns="0" rtlCol="0" anchor="ctr"/>
          <a:lstStyle/>
          <a:p>
            <a:pPr algn="ctr" indent="0" marL="0">
              <a:buNone/>
            </a:pPr>
            <a:r>
              <a:rPr lang="en-US" sz="1050" b="1" dirty="0">
                <a:solidFill>
                  <a:srgbClr val="0E9E96"/>
                </a:solidFill>
                <a:latin typeface="Calibri" pitchFamily="34" charset="0"/>
                <a:ea typeface="Calibri" pitchFamily="34" charset="-122"/>
                <a:cs typeface="Calibri" pitchFamily="34" charset="-120"/>
              </a:rPr>
              <a:t>18%</a:t>
            </a:r>
            <a:endParaRPr lang="en-US" sz="1050" dirty="0"/>
          </a:p>
        </p:txBody>
      </p:sp>
      <p:sp>
        <p:nvSpPr>
          <p:cNvPr id="29" name="Shape 27"/>
          <p:cNvSpPr/>
          <p:nvPr/>
        </p:nvSpPr>
        <p:spPr>
          <a:xfrm>
            <a:off x="2670048" y="4764024"/>
            <a:ext cx="822960" cy="457200"/>
          </a:xfrm>
          <a:prstGeom prst="roundRect">
            <a:avLst>
              <a:gd name="adj" fmla="val 12000"/>
            </a:avLst>
          </a:prstGeom>
          <a:solidFill>
            <a:srgbClr val="EEECFB"/>
          </a:solidFill>
          <a:ln w="12700">
            <a:solidFill>
              <a:srgbClr val="5B4BE0"/>
            </a:solidFill>
            <a:prstDash val="solid"/>
          </a:ln>
        </p:spPr>
      </p:sp>
      <p:sp>
        <p:nvSpPr>
          <p:cNvPr id="30" name="Text 28"/>
          <p:cNvSpPr/>
          <p:nvPr/>
        </p:nvSpPr>
        <p:spPr>
          <a:xfrm>
            <a:off x="2670048" y="4764024"/>
            <a:ext cx="82296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1B2440"/>
                </a:solidFill>
                <a:latin typeface="Calibri" pitchFamily="34" charset="0"/>
                <a:ea typeface="Calibri" pitchFamily="34" charset="-122"/>
                <a:cs typeface="Calibri" pitchFamily="34" charset="-120"/>
              </a:rPr>
              <a:t>roof</a:t>
            </a:r>
            <a:endParaRPr lang="en-US" sz="1150" dirty="0"/>
          </a:p>
        </p:txBody>
      </p:sp>
      <p:sp>
        <p:nvSpPr>
          <p:cNvPr id="31" name="Text 29"/>
          <p:cNvSpPr/>
          <p:nvPr/>
        </p:nvSpPr>
        <p:spPr>
          <a:xfrm>
            <a:off x="2670048" y="5257800"/>
            <a:ext cx="822960" cy="256032"/>
          </a:xfrm>
          <a:prstGeom prst="rect">
            <a:avLst/>
          </a:prstGeom>
          <a:noFill/>
          <a:ln/>
        </p:spPr>
        <p:txBody>
          <a:bodyPr wrap="square" lIns="0" tIns="0" rIns="0" bIns="0" rtlCol="0" anchor="ctr"/>
          <a:lstStyle/>
          <a:p>
            <a:pPr algn="ctr" indent="0" marL="0">
              <a:buNone/>
            </a:pPr>
            <a:r>
              <a:rPr lang="en-US" sz="1050" b="1" dirty="0">
                <a:solidFill>
                  <a:srgbClr val="D9820A"/>
                </a:solidFill>
                <a:latin typeface="Calibri" pitchFamily="34" charset="0"/>
                <a:ea typeface="Calibri" pitchFamily="34" charset="-122"/>
                <a:cs typeface="Calibri" pitchFamily="34" charset="-120"/>
              </a:rPr>
              <a:t>9%</a:t>
            </a:r>
            <a:endParaRPr lang="en-US" sz="1050" dirty="0"/>
          </a:p>
        </p:txBody>
      </p:sp>
      <p:sp>
        <p:nvSpPr>
          <p:cNvPr id="32" name="Shape 30"/>
          <p:cNvSpPr/>
          <p:nvPr/>
        </p:nvSpPr>
        <p:spPr>
          <a:xfrm>
            <a:off x="3584448" y="4764024"/>
            <a:ext cx="822960" cy="457200"/>
          </a:xfrm>
          <a:prstGeom prst="roundRect">
            <a:avLst>
              <a:gd name="adj" fmla="val 12000"/>
            </a:avLst>
          </a:prstGeom>
          <a:solidFill>
            <a:srgbClr val="EEECFB"/>
          </a:solidFill>
          <a:ln w="12700">
            <a:solidFill>
              <a:srgbClr val="5B4BE0"/>
            </a:solidFill>
            <a:prstDash val="solid"/>
          </a:ln>
        </p:spPr>
      </p:sp>
      <p:sp>
        <p:nvSpPr>
          <p:cNvPr id="33" name="Text 31"/>
          <p:cNvSpPr/>
          <p:nvPr/>
        </p:nvSpPr>
        <p:spPr>
          <a:xfrm>
            <a:off x="3584448" y="4764024"/>
            <a:ext cx="82296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1B2440"/>
                </a:solidFill>
                <a:latin typeface="Calibri" pitchFamily="34" charset="0"/>
                <a:ea typeface="Calibri" pitchFamily="34" charset="-122"/>
                <a:cs typeface="Calibri" pitchFamily="34" charset="-120"/>
              </a:rPr>
              <a:t>…</a:t>
            </a:r>
            <a:endParaRPr lang="en-US" sz="1150" dirty="0"/>
          </a:p>
        </p:txBody>
      </p:sp>
      <p:sp>
        <p:nvSpPr>
          <p:cNvPr id="34" name="Text 32"/>
          <p:cNvSpPr/>
          <p:nvPr/>
        </p:nvSpPr>
        <p:spPr>
          <a:xfrm>
            <a:off x="3584448" y="5257800"/>
            <a:ext cx="822960" cy="256032"/>
          </a:xfrm>
          <a:prstGeom prst="rect">
            <a:avLst/>
          </a:prstGeom>
          <a:noFill/>
          <a:ln/>
        </p:spPr>
        <p:txBody>
          <a:bodyPr wrap="square" lIns="0" tIns="0" rIns="0" bIns="0" rtlCol="0" anchor="ctr"/>
          <a:lstStyle/>
          <a:p>
            <a:pPr algn="ctr" indent="0" marL="0">
              <a:buNone/>
            </a:pPr>
            <a:r>
              <a:rPr lang="en-US" sz="1050" b="1" dirty="0">
                <a:solidFill>
                  <a:srgbClr val="8A93AB"/>
                </a:solidFill>
                <a:latin typeface="Calibri" pitchFamily="34" charset="0"/>
                <a:ea typeface="Calibri" pitchFamily="34" charset="-122"/>
                <a:cs typeface="Calibri" pitchFamily="34" charset="-120"/>
              </a:rPr>
              <a:t>…</a:t>
            </a:r>
            <a:endParaRPr lang="en-US" sz="1050" dirty="0"/>
          </a:p>
        </p:txBody>
      </p:sp>
      <p:sp>
        <p:nvSpPr>
          <p:cNvPr id="35" name="Text 33"/>
          <p:cNvSpPr/>
          <p:nvPr/>
        </p:nvSpPr>
        <p:spPr>
          <a:xfrm>
            <a:off x="841248" y="5650992"/>
            <a:ext cx="5120640" cy="274320"/>
          </a:xfrm>
          <a:prstGeom prst="rect">
            <a:avLst/>
          </a:prstGeom>
          <a:noFill/>
          <a:ln/>
        </p:spPr>
        <p:txBody>
          <a:bodyPr wrap="square" lIns="0" tIns="0" rIns="0" bIns="0" rtlCol="0" anchor="ctr"/>
          <a:lstStyle/>
          <a:p>
            <a:pPr indent="0" marL="0">
              <a:buNone/>
            </a:pPr>
            <a:r>
              <a:rPr lang="en-US" sz="1100" i="1" dirty="0">
                <a:solidFill>
                  <a:srgbClr val="5B4BE0"/>
                </a:solidFill>
                <a:latin typeface="Calibri" pitchFamily="34" charset="0"/>
                <a:ea typeface="Calibri" pitchFamily="34" charset="-122"/>
                <a:cs typeface="Calibri" pitchFamily="34" charset="-120"/>
              </a:rPr>
              <a:t>"large"  =  billions of tunable parameters  +  trained on trillions of words</a:t>
            </a:r>
            <a:endParaRPr lang="en-US" sz="1100" dirty="0"/>
          </a:p>
        </p:txBody>
      </p:sp>
      <p:sp>
        <p:nvSpPr>
          <p:cNvPr id="36" name="Shape 34"/>
          <p:cNvSpPr/>
          <p:nvPr/>
        </p:nvSpPr>
        <p:spPr>
          <a:xfrm>
            <a:off x="6400800" y="1554480"/>
            <a:ext cx="521208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35"/>
          <p:cNvSpPr/>
          <p:nvPr/>
        </p:nvSpPr>
        <p:spPr>
          <a:xfrm>
            <a:off x="6601968" y="1828800"/>
            <a:ext cx="822960" cy="822960"/>
          </a:xfrm>
          <a:prstGeom prst="ellipse">
            <a:avLst/>
          </a:prstGeom>
          <a:solidFill>
            <a:srgbClr val="EEECFB"/>
          </a:solidFill>
          <a:ln/>
        </p:spPr>
      </p:sp>
      <p:pic>
        <p:nvPicPr>
          <p:cNvPr id="38" name="Image 0" descr="preencoded.png">    </p:cNvPr>
          <p:cNvPicPr>
            <a:picLocks noChangeAspect="1"/>
          </p:cNvPicPr>
          <p:nvPr/>
        </p:nvPicPr>
        <p:blipFill>
          <a:blip r:embed="rId1"/>
          <a:stretch>
            <a:fillRect/>
          </a:stretch>
        </p:blipFill>
        <p:spPr>
          <a:xfrm>
            <a:off x="6807708" y="2034540"/>
            <a:ext cx="411480" cy="411480"/>
          </a:xfrm>
          <a:prstGeom prst="rect">
            <a:avLst/>
          </a:prstGeom>
        </p:spPr>
      </p:pic>
      <p:sp>
        <p:nvSpPr>
          <p:cNvPr id="39" name="Text 36"/>
          <p:cNvSpPr/>
          <p:nvPr/>
        </p:nvSpPr>
        <p:spPr>
          <a:xfrm>
            <a:off x="7589520" y="1755648"/>
            <a:ext cx="384048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Learned, not programmed</a:t>
            </a:r>
            <a:endParaRPr lang="en-US" sz="1550" dirty="0"/>
          </a:p>
        </p:txBody>
      </p:sp>
      <p:sp>
        <p:nvSpPr>
          <p:cNvPr id="40" name="Text 37"/>
          <p:cNvSpPr/>
          <p:nvPr/>
        </p:nvSpPr>
        <p:spPr>
          <a:xfrm>
            <a:off x="7589520" y="2121408"/>
            <a:ext cx="3840480" cy="73152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Behaviour emerges from data + gradient descent — nobody writes the rules for grammar or facts.</a:t>
            </a:r>
            <a:endParaRPr lang="en-US" sz="1200" dirty="0"/>
          </a:p>
        </p:txBody>
      </p:sp>
      <p:sp>
        <p:nvSpPr>
          <p:cNvPr id="41" name="Shape 38"/>
          <p:cNvSpPr/>
          <p:nvPr/>
        </p:nvSpPr>
        <p:spPr>
          <a:xfrm>
            <a:off x="6400800" y="3063240"/>
            <a:ext cx="521208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2" name="Shape 39"/>
          <p:cNvSpPr/>
          <p:nvPr/>
        </p:nvSpPr>
        <p:spPr>
          <a:xfrm>
            <a:off x="6601968" y="3337560"/>
            <a:ext cx="822960" cy="822960"/>
          </a:xfrm>
          <a:prstGeom prst="ellipse">
            <a:avLst/>
          </a:prstGeom>
          <a:solidFill>
            <a:srgbClr val="E2F4F2"/>
          </a:solidFill>
          <a:ln/>
        </p:spPr>
      </p:sp>
      <p:pic>
        <p:nvPicPr>
          <p:cNvPr id="43" name="Image 1" descr="preencoded.png">    </p:cNvPr>
          <p:cNvPicPr>
            <a:picLocks noChangeAspect="1"/>
          </p:cNvPicPr>
          <p:nvPr/>
        </p:nvPicPr>
        <p:blipFill>
          <a:blip r:embed="rId2"/>
          <a:stretch>
            <a:fillRect/>
          </a:stretch>
        </p:blipFill>
        <p:spPr>
          <a:xfrm>
            <a:off x="6807708" y="3543300"/>
            <a:ext cx="411480" cy="411480"/>
          </a:xfrm>
          <a:prstGeom prst="rect">
            <a:avLst/>
          </a:prstGeom>
        </p:spPr>
      </p:pic>
      <p:sp>
        <p:nvSpPr>
          <p:cNvPr id="44" name="Text 40"/>
          <p:cNvSpPr/>
          <p:nvPr/>
        </p:nvSpPr>
        <p:spPr>
          <a:xfrm>
            <a:off x="7589520" y="3264408"/>
            <a:ext cx="384048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General-purpose</a:t>
            </a:r>
            <a:endParaRPr lang="en-US" sz="1550" dirty="0"/>
          </a:p>
        </p:txBody>
      </p:sp>
      <p:sp>
        <p:nvSpPr>
          <p:cNvPr id="45" name="Text 41"/>
          <p:cNvSpPr/>
          <p:nvPr/>
        </p:nvSpPr>
        <p:spPr>
          <a:xfrm>
            <a:off x="7589520" y="3630168"/>
            <a:ext cx="3840480" cy="73152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One model translates, summarises, codes, reasons — capabilities that were once separate research fields.</a:t>
            </a:r>
            <a:endParaRPr lang="en-US" sz="1200" dirty="0"/>
          </a:p>
        </p:txBody>
      </p:sp>
      <p:sp>
        <p:nvSpPr>
          <p:cNvPr id="46" name="Shape 42"/>
          <p:cNvSpPr/>
          <p:nvPr/>
        </p:nvSpPr>
        <p:spPr>
          <a:xfrm>
            <a:off x="6400800" y="4572000"/>
            <a:ext cx="521208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7" name="Shape 43"/>
          <p:cNvSpPr/>
          <p:nvPr/>
        </p:nvSpPr>
        <p:spPr>
          <a:xfrm>
            <a:off x="6601968" y="4846320"/>
            <a:ext cx="822960" cy="822960"/>
          </a:xfrm>
          <a:prstGeom prst="ellipse">
            <a:avLst/>
          </a:prstGeom>
          <a:solidFill>
            <a:srgbClr val="FBEFD8"/>
          </a:solidFill>
          <a:ln/>
        </p:spPr>
      </p:sp>
      <p:pic>
        <p:nvPicPr>
          <p:cNvPr id="48" name="Image 2" descr="preencoded.png">    </p:cNvPr>
          <p:cNvPicPr>
            <a:picLocks noChangeAspect="1"/>
          </p:cNvPicPr>
          <p:nvPr/>
        </p:nvPicPr>
        <p:blipFill>
          <a:blip r:embed="rId3"/>
          <a:stretch>
            <a:fillRect/>
          </a:stretch>
        </p:blipFill>
        <p:spPr>
          <a:xfrm>
            <a:off x="6807708" y="5052060"/>
            <a:ext cx="411480" cy="411480"/>
          </a:xfrm>
          <a:prstGeom prst="rect">
            <a:avLst/>
          </a:prstGeom>
        </p:spPr>
      </p:pic>
      <p:sp>
        <p:nvSpPr>
          <p:cNvPr id="49" name="Text 44"/>
          <p:cNvSpPr/>
          <p:nvPr/>
        </p:nvSpPr>
        <p:spPr>
          <a:xfrm>
            <a:off x="7589520" y="4773168"/>
            <a:ext cx="384048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Emergent abilities</a:t>
            </a:r>
            <a:endParaRPr lang="en-US" sz="1550" dirty="0"/>
          </a:p>
        </p:txBody>
      </p:sp>
      <p:sp>
        <p:nvSpPr>
          <p:cNvPr id="50" name="Text 45"/>
          <p:cNvSpPr/>
          <p:nvPr/>
        </p:nvSpPr>
        <p:spPr>
          <a:xfrm>
            <a:off x="7589520" y="5138928"/>
            <a:ext cx="3840480" cy="73152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Skills like in-context learning and chain-of-thought appear only past a certain scale — not present in small models.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ROAD TO 2017</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Natural Language Processing before deep attention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Jurafsky &amp; Martin, 'Speech and Language Processing' (3rd ed.) · Toloka, History of LLMs — toloka.ai/blog/history-of-llms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749808" y="1828800"/>
            <a:ext cx="10515600" cy="0"/>
          </a:xfrm>
          <a:prstGeom prst="line">
            <a:avLst/>
          </a:prstGeom>
          <a:noFill/>
          <a:ln w="25400">
            <a:solidFill>
              <a:srgbClr val="DDE1EC"/>
            </a:solidFill>
            <a:prstDash val="solid"/>
          </a:ln>
        </p:spPr>
      </p:sp>
      <p:sp>
        <p:nvSpPr>
          <p:cNvPr id="7" name="Shape 5"/>
          <p:cNvSpPr/>
          <p:nvPr/>
        </p:nvSpPr>
        <p:spPr>
          <a:xfrm>
            <a:off x="1810512" y="1737360"/>
            <a:ext cx="182880" cy="182880"/>
          </a:xfrm>
          <a:prstGeom prst="ellipse">
            <a:avLst/>
          </a:prstGeom>
          <a:solidFill>
            <a:srgbClr val="E5484D"/>
          </a:solidFill>
          <a:ln/>
        </p:spPr>
      </p:sp>
      <p:sp>
        <p:nvSpPr>
          <p:cNvPr id="8" name="Text 6"/>
          <p:cNvSpPr/>
          <p:nvPr/>
        </p:nvSpPr>
        <p:spPr>
          <a:xfrm>
            <a:off x="566928" y="1371600"/>
            <a:ext cx="2670048" cy="310896"/>
          </a:xfrm>
          <a:prstGeom prst="rect">
            <a:avLst/>
          </a:prstGeom>
          <a:noFill/>
          <a:ln/>
        </p:spPr>
        <p:txBody>
          <a:bodyPr wrap="square" lIns="0" tIns="0" rIns="0" bIns="0" rtlCol="0" anchor="ctr"/>
          <a:lstStyle/>
          <a:p>
            <a:pPr algn="ctr" indent="0" marL="0">
              <a:buNone/>
            </a:pPr>
            <a:r>
              <a:rPr lang="en-US" sz="1300" b="1" dirty="0">
                <a:solidFill>
                  <a:srgbClr val="E5484D"/>
                </a:solidFill>
                <a:latin typeface="Calibri" pitchFamily="34" charset="0"/>
                <a:ea typeface="Calibri" pitchFamily="34" charset="-122"/>
                <a:cs typeface="Calibri" pitchFamily="34" charset="-120"/>
              </a:rPr>
              <a:t>1950s–80s</a:t>
            </a:r>
            <a:endParaRPr lang="en-US" sz="1300" dirty="0"/>
          </a:p>
        </p:txBody>
      </p:sp>
      <p:sp>
        <p:nvSpPr>
          <p:cNvPr id="9" name="Shape 7"/>
          <p:cNvSpPr/>
          <p:nvPr/>
        </p:nvSpPr>
        <p:spPr>
          <a:xfrm>
            <a:off x="566928" y="1965960"/>
            <a:ext cx="2670048" cy="324612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0" name="Shape 8"/>
          <p:cNvSpPr/>
          <p:nvPr/>
        </p:nvSpPr>
        <p:spPr>
          <a:xfrm>
            <a:off x="1444752" y="2221992"/>
            <a:ext cx="914400" cy="914400"/>
          </a:xfrm>
          <a:prstGeom prst="ellipse">
            <a:avLst/>
          </a:prstGeom>
          <a:solidFill>
            <a:srgbClr val="FBE7E7"/>
          </a:solidFill>
          <a:ln/>
        </p:spPr>
      </p:sp>
      <p:pic>
        <p:nvPicPr>
          <p:cNvPr id="11" name="Image 0" descr="preencoded.png">    </p:cNvPr>
          <p:cNvPicPr>
            <a:picLocks noChangeAspect="1"/>
          </p:cNvPicPr>
          <p:nvPr/>
        </p:nvPicPr>
        <p:blipFill>
          <a:blip r:embed="rId1"/>
          <a:stretch>
            <a:fillRect/>
          </a:stretch>
        </p:blipFill>
        <p:spPr>
          <a:xfrm>
            <a:off x="1673352" y="2450592"/>
            <a:ext cx="457200" cy="457200"/>
          </a:xfrm>
          <a:prstGeom prst="rect">
            <a:avLst/>
          </a:prstGeom>
        </p:spPr>
      </p:pic>
      <p:sp>
        <p:nvSpPr>
          <p:cNvPr id="12" name="Text 9"/>
          <p:cNvSpPr/>
          <p:nvPr/>
        </p:nvSpPr>
        <p:spPr>
          <a:xfrm>
            <a:off x="704088" y="3264408"/>
            <a:ext cx="239572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Rule-based / symbolic</a:t>
            </a:r>
            <a:endParaRPr lang="en-US" sz="1500" dirty="0"/>
          </a:p>
        </p:txBody>
      </p:sp>
      <p:sp>
        <p:nvSpPr>
          <p:cNvPr id="13" name="Text 10"/>
          <p:cNvSpPr/>
          <p:nvPr/>
        </p:nvSpPr>
        <p:spPr>
          <a:xfrm>
            <a:off x="749808" y="3904488"/>
            <a:ext cx="2304288" cy="1188720"/>
          </a:xfrm>
          <a:prstGeom prst="rect">
            <a:avLst/>
          </a:prstGeom>
          <a:noFill/>
          <a:ln/>
        </p:spPr>
        <p:txBody>
          <a:bodyPr wrap="square" lIns="0" tIns="0" rIns="0" bIns="0" rtlCol="0" anchor="ctr"/>
          <a:lstStyle/>
          <a:p>
            <a:pPr algn="ctr" indent="0" marL="0">
              <a:lnSpc>
                <a:spcPct val="110000"/>
              </a:lnSpc>
              <a:buNone/>
            </a:pPr>
            <a:r>
              <a:rPr lang="en-US" sz="1160" dirty="0">
                <a:solidFill>
                  <a:srgbClr val="5A6685"/>
                </a:solidFill>
                <a:latin typeface="Calibri" pitchFamily="34" charset="0"/>
                <a:ea typeface="Calibri" pitchFamily="34" charset="-122"/>
                <a:cs typeface="Calibri" pitchFamily="34" charset="-120"/>
              </a:rPr>
              <a:t>Hand-written grammars &amp; dictionaries. Brittle, no learning, exploded in complexity.</a:t>
            </a:r>
            <a:endParaRPr lang="en-US" sz="1160" dirty="0"/>
          </a:p>
        </p:txBody>
      </p:sp>
      <p:sp>
        <p:nvSpPr>
          <p:cNvPr id="14" name="Shape 11"/>
          <p:cNvSpPr/>
          <p:nvPr/>
        </p:nvSpPr>
        <p:spPr>
          <a:xfrm>
            <a:off x="3236976" y="2880360"/>
            <a:ext cx="146304" cy="0"/>
          </a:xfrm>
          <a:prstGeom prst="line">
            <a:avLst/>
          </a:prstGeom>
          <a:noFill/>
          <a:ln w="19050">
            <a:solidFill>
              <a:srgbClr val="8A93AB"/>
            </a:solidFill>
            <a:prstDash val="solid"/>
            <a:tailEnd type="triangle"/>
          </a:ln>
        </p:spPr>
      </p:sp>
      <p:sp>
        <p:nvSpPr>
          <p:cNvPr id="15" name="Shape 12"/>
          <p:cNvSpPr/>
          <p:nvPr/>
        </p:nvSpPr>
        <p:spPr>
          <a:xfrm>
            <a:off x="4626864" y="1737360"/>
            <a:ext cx="182880" cy="182880"/>
          </a:xfrm>
          <a:prstGeom prst="ellipse">
            <a:avLst/>
          </a:prstGeom>
          <a:solidFill>
            <a:srgbClr val="D9820A"/>
          </a:solidFill>
          <a:ln/>
        </p:spPr>
      </p:sp>
      <p:sp>
        <p:nvSpPr>
          <p:cNvPr id="16" name="Text 13"/>
          <p:cNvSpPr/>
          <p:nvPr/>
        </p:nvSpPr>
        <p:spPr>
          <a:xfrm>
            <a:off x="3383280" y="1371600"/>
            <a:ext cx="2670048" cy="310896"/>
          </a:xfrm>
          <a:prstGeom prst="rect">
            <a:avLst/>
          </a:prstGeom>
          <a:noFill/>
          <a:ln/>
        </p:spPr>
        <p:txBody>
          <a:bodyPr wrap="square" lIns="0" tIns="0" rIns="0" bIns="0" rtlCol="0" anchor="ctr"/>
          <a:lstStyle/>
          <a:p>
            <a:pPr algn="ctr" indent="0" marL="0">
              <a:buNone/>
            </a:pPr>
            <a:r>
              <a:rPr lang="en-US" sz="1300" b="1" dirty="0">
                <a:solidFill>
                  <a:srgbClr val="D9820A"/>
                </a:solidFill>
                <a:latin typeface="Calibri" pitchFamily="34" charset="0"/>
                <a:ea typeface="Calibri" pitchFamily="34" charset="-122"/>
                <a:cs typeface="Calibri" pitchFamily="34" charset="-120"/>
              </a:rPr>
              <a:t>1990s–2000s</a:t>
            </a:r>
            <a:endParaRPr lang="en-US" sz="1300" dirty="0"/>
          </a:p>
        </p:txBody>
      </p:sp>
      <p:sp>
        <p:nvSpPr>
          <p:cNvPr id="17" name="Shape 14"/>
          <p:cNvSpPr/>
          <p:nvPr/>
        </p:nvSpPr>
        <p:spPr>
          <a:xfrm>
            <a:off x="3383280" y="1965960"/>
            <a:ext cx="2670048" cy="324612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5"/>
          <p:cNvSpPr/>
          <p:nvPr/>
        </p:nvSpPr>
        <p:spPr>
          <a:xfrm>
            <a:off x="4261104" y="2221992"/>
            <a:ext cx="914400" cy="914400"/>
          </a:xfrm>
          <a:prstGeom prst="ellipse">
            <a:avLst/>
          </a:prstGeom>
          <a:solidFill>
            <a:srgbClr val="FBEFD8"/>
          </a:solidFill>
          <a:ln/>
        </p:spPr>
      </p:sp>
      <p:pic>
        <p:nvPicPr>
          <p:cNvPr id="19" name="Image 1" descr="preencoded.png">    </p:cNvPr>
          <p:cNvPicPr>
            <a:picLocks noChangeAspect="1"/>
          </p:cNvPicPr>
          <p:nvPr/>
        </p:nvPicPr>
        <p:blipFill>
          <a:blip r:embed="rId2"/>
          <a:stretch>
            <a:fillRect/>
          </a:stretch>
        </p:blipFill>
        <p:spPr>
          <a:xfrm>
            <a:off x="4489704" y="2450592"/>
            <a:ext cx="457200" cy="457200"/>
          </a:xfrm>
          <a:prstGeom prst="rect">
            <a:avLst/>
          </a:prstGeom>
        </p:spPr>
      </p:pic>
      <p:sp>
        <p:nvSpPr>
          <p:cNvPr id="20" name="Text 16"/>
          <p:cNvSpPr/>
          <p:nvPr/>
        </p:nvSpPr>
        <p:spPr>
          <a:xfrm>
            <a:off x="3520440" y="3264408"/>
            <a:ext cx="239572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Statistical NLP</a:t>
            </a:r>
            <a:endParaRPr lang="en-US" sz="1500" dirty="0"/>
          </a:p>
        </p:txBody>
      </p:sp>
      <p:sp>
        <p:nvSpPr>
          <p:cNvPr id="21" name="Text 17"/>
          <p:cNvSpPr/>
          <p:nvPr/>
        </p:nvSpPr>
        <p:spPr>
          <a:xfrm>
            <a:off x="3566160" y="3904488"/>
            <a:ext cx="2304288" cy="1188720"/>
          </a:xfrm>
          <a:prstGeom prst="rect">
            <a:avLst/>
          </a:prstGeom>
          <a:noFill/>
          <a:ln/>
        </p:spPr>
        <p:txBody>
          <a:bodyPr wrap="square" lIns="0" tIns="0" rIns="0" bIns="0" rtlCol="0" anchor="ctr"/>
          <a:lstStyle/>
          <a:p>
            <a:pPr algn="ctr" indent="0" marL="0">
              <a:lnSpc>
                <a:spcPct val="110000"/>
              </a:lnSpc>
              <a:buNone/>
            </a:pPr>
            <a:r>
              <a:rPr lang="en-US" sz="1160" dirty="0">
                <a:solidFill>
                  <a:srgbClr val="5A6685"/>
                </a:solidFill>
                <a:latin typeface="Calibri" pitchFamily="34" charset="0"/>
                <a:ea typeface="Calibri" pitchFamily="34" charset="-122"/>
                <a:cs typeface="Calibri" pitchFamily="34" charset="-120"/>
              </a:rPr>
              <a:t>n-gram language models &amp; HMMs. Learns from counts, but only sees a tiny fixed window.</a:t>
            </a:r>
            <a:endParaRPr lang="en-US" sz="1160" dirty="0"/>
          </a:p>
        </p:txBody>
      </p:sp>
      <p:sp>
        <p:nvSpPr>
          <p:cNvPr id="22" name="Shape 18"/>
          <p:cNvSpPr/>
          <p:nvPr/>
        </p:nvSpPr>
        <p:spPr>
          <a:xfrm>
            <a:off x="6053328" y="2880360"/>
            <a:ext cx="146304" cy="0"/>
          </a:xfrm>
          <a:prstGeom prst="line">
            <a:avLst/>
          </a:prstGeom>
          <a:noFill/>
          <a:ln w="19050">
            <a:solidFill>
              <a:srgbClr val="8A93AB"/>
            </a:solidFill>
            <a:prstDash val="solid"/>
            <a:tailEnd type="triangle"/>
          </a:ln>
        </p:spPr>
      </p:sp>
      <p:sp>
        <p:nvSpPr>
          <p:cNvPr id="23" name="Shape 19"/>
          <p:cNvSpPr/>
          <p:nvPr/>
        </p:nvSpPr>
        <p:spPr>
          <a:xfrm>
            <a:off x="7443216" y="1737360"/>
            <a:ext cx="182880" cy="182880"/>
          </a:xfrm>
          <a:prstGeom prst="ellipse">
            <a:avLst/>
          </a:prstGeom>
          <a:solidFill>
            <a:srgbClr val="0E9E96"/>
          </a:solidFill>
          <a:ln/>
        </p:spPr>
      </p:sp>
      <p:sp>
        <p:nvSpPr>
          <p:cNvPr id="24" name="Text 20"/>
          <p:cNvSpPr/>
          <p:nvPr/>
        </p:nvSpPr>
        <p:spPr>
          <a:xfrm>
            <a:off x="6199632" y="1371600"/>
            <a:ext cx="2670048" cy="310896"/>
          </a:xfrm>
          <a:prstGeom prst="rect">
            <a:avLst/>
          </a:prstGeom>
          <a:noFill/>
          <a:ln/>
        </p:spPr>
        <p:txBody>
          <a:bodyPr wrap="square" lIns="0" tIns="0" rIns="0" bIns="0" rtlCol="0" anchor="ctr"/>
          <a:lstStyle/>
          <a:p>
            <a:pPr algn="ctr" indent="0" marL="0">
              <a:buNone/>
            </a:pPr>
            <a:r>
              <a:rPr lang="en-US" sz="1300" b="1" dirty="0">
                <a:solidFill>
                  <a:srgbClr val="0E9E96"/>
                </a:solidFill>
                <a:latin typeface="Calibri" pitchFamily="34" charset="0"/>
                <a:ea typeface="Calibri" pitchFamily="34" charset="-122"/>
                <a:cs typeface="Calibri" pitchFamily="34" charset="-120"/>
              </a:rPr>
              <a:t>2013</a:t>
            </a:r>
            <a:endParaRPr lang="en-US" sz="1300" dirty="0"/>
          </a:p>
        </p:txBody>
      </p:sp>
      <p:sp>
        <p:nvSpPr>
          <p:cNvPr id="25" name="Shape 21"/>
          <p:cNvSpPr/>
          <p:nvPr/>
        </p:nvSpPr>
        <p:spPr>
          <a:xfrm>
            <a:off x="6199632" y="1965960"/>
            <a:ext cx="2670048" cy="324612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Shape 22"/>
          <p:cNvSpPr/>
          <p:nvPr/>
        </p:nvSpPr>
        <p:spPr>
          <a:xfrm>
            <a:off x="7077456" y="2221992"/>
            <a:ext cx="914400" cy="914400"/>
          </a:xfrm>
          <a:prstGeom prst="ellipse">
            <a:avLst/>
          </a:prstGeom>
          <a:solidFill>
            <a:srgbClr val="E2F4F2"/>
          </a:solidFill>
          <a:ln/>
        </p:spPr>
      </p:sp>
      <p:pic>
        <p:nvPicPr>
          <p:cNvPr id="27" name="Image 2" descr="preencoded.png">    </p:cNvPr>
          <p:cNvPicPr>
            <a:picLocks noChangeAspect="1"/>
          </p:cNvPicPr>
          <p:nvPr/>
        </p:nvPicPr>
        <p:blipFill>
          <a:blip r:embed="rId3"/>
          <a:stretch>
            <a:fillRect/>
          </a:stretch>
        </p:blipFill>
        <p:spPr>
          <a:xfrm>
            <a:off x="7306056" y="2450592"/>
            <a:ext cx="457200" cy="457200"/>
          </a:xfrm>
          <a:prstGeom prst="rect">
            <a:avLst/>
          </a:prstGeom>
        </p:spPr>
      </p:pic>
      <p:sp>
        <p:nvSpPr>
          <p:cNvPr id="28" name="Text 23"/>
          <p:cNvSpPr/>
          <p:nvPr/>
        </p:nvSpPr>
        <p:spPr>
          <a:xfrm>
            <a:off x="6336792" y="3264408"/>
            <a:ext cx="239572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Neural embeddings</a:t>
            </a:r>
            <a:endParaRPr lang="en-US" sz="1500" dirty="0"/>
          </a:p>
        </p:txBody>
      </p:sp>
      <p:sp>
        <p:nvSpPr>
          <p:cNvPr id="29" name="Text 24"/>
          <p:cNvSpPr/>
          <p:nvPr/>
        </p:nvSpPr>
        <p:spPr>
          <a:xfrm>
            <a:off x="6382512" y="3904488"/>
            <a:ext cx="2304288" cy="1188720"/>
          </a:xfrm>
          <a:prstGeom prst="rect">
            <a:avLst/>
          </a:prstGeom>
          <a:noFill/>
          <a:ln/>
        </p:spPr>
        <p:txBody>
          <a:bodyPr wrap="square" lIns="0" tIns="0" rIns="0" bIns="0" rtlCol="0" anchor="ctr"/>
          <a:lstStyle/>
          <a:p>
            <a:pPr algn="ctr" indent="0" marL="0">
              <a:lnSpc>
                <a:spcPct val="110000"/>
              </a:lnSpc>
              <a:buNone/>
            </a:pPr>
            <a:r>
              <a:rPr lang="en-US" sz="1160" dirty="0">
                <a:solidFill>
                  <a:srgbClr val="5A6685"/>
                </a:solidFill>
                <a:latin typeface="Calibri" pitchFamily="34" charset="0"/>
                <a:ea typeface="Calibri" pitchFamily="34" charset="-122"/>
                <a:cs typeface="Calibri" pitchFamily="34" charset="-120"/>
              </a:rPr>
              <a:t>Word2Vec / GloVe map words to vectors — meaning becomes geometry.</a:t>
            </a:r>
            <a:endParaRPr lang="en-US" sz="1160" dirty="0"/>
          </a:p>
        </p:txBody>
      </p:sp>
      <p:sp>
        <p:nvSpPr>
          <p:cNvPr id="30" name="Shape 25"/>
          <p:cNvSpPr/>
          <p:nvPr/>
        </p:nvSpPr>
        <p:spPr>
          <a:xfrm>
            <a:off x="8869680" y="2880360"/>
            <a:ext cx="146304" cy="0"/>
          </a:xfrm>
          <a:prstGeom prst="line">
            <a:avLst/>
          </a:prstGeom>
          <a:noFill/>
          <a:ln w="19050">
            <a:solidFill>
              <a:srgbClr val="8A93AB"/>
            </a:solidFill>
            <a:prstDash val="solid"/>
            <a:tailEnd type="triangle"/>
          </a:ln>
        </p:spPr>
      </p:sp>
      <p:sp>
        <p:nvSpPr>
          <p:cNvPr id="31" name="Shape 26"/>
          <p:cNvSpPr/>
          <p:nvPr/>
        </p:nvSpPr>
        <p:spPr>
          <a:xfrm>
            <a:off x="10259568" y="1737360"/>
            <a:ext cx="182880" cy="182880"/>
          </a:xfrm>
          <a:prstGeom prst="ellipse">
            <a:avLst/>
          </a:prstGeom>
          <a:solidFill>
            <a:srgbClr val="5B4BE0"/>
          </a:solidFill>
          <a:ln/>
        </p:spPr>
      </p:sp>
      <p:sp>
        <p:nvSpPr>
          <p:cNvPr id="32" name="Text 27"/>
          <p:cNvSpPr/>
          <p:nvPr/>
        </p:nvSpPr>
        <p:spPr>
          <a:xfrm>
            <a:off x="9015984" y="1371600"/>
            <a:ext cx="2670048" cy="310896"/>
          </a:xfrm>
          <a:prstGeom prst="rect">
            <a:avLst/>
          </a:prstGeom>
          <a:noFill/>
          <a:ln/>
        </p:spPr>
        <p:txBody>
          <a:bodyPr wrap="square" lIns="0" tIns="0" rIns="0" bIns="0" rtlCol="0" anchor="ctr"/>
          <a:lstStyle/>
          <a:p>
            <a:pPr algn="ctr" indent="0" marL="0">
              <a:buNone/>
            </a:pPr>
            <a:r>
              <a:rPr lang="en-US" sz="1300" b="1" dirty="0">
                <a:solidFill>
                  <a:srgbClr val="5B4BE0"/>
                </a:solidFill>
                <a:latin typeface="Calibri" pitchFamily="34" charset="0"/>
                <a:ea typeface="Calibri" pitchFamily="34" charset="-122"/>
                <a:cs typeface="Calibri" pitchFamily="34" charset="-120"/>
              </a:rPr>
              <a:t>2014–16</a:t>
            </a:r>
            <a:endParaRPr lang="en-US" sz="1300" dirty="0"/>
          </a:p>
        </p:txBody>
      </p:sp>
      <p:sp>
        <p:nvSpPr>
          <p:cNvPr id="33" name="Shape 28"/>
          <p:cNvSpPr/>
          <p:nvPr/>
        </p:nvSpPr>
        <p:spPr>
          <a:xfrm>
            <a:off x="9015984" y="1965960"/>
            <a:ext cx="2670048" cy="324612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4" name="Shape 29"/>
          <p:cNvSpPr/>
          <p:nvPr/>
        </p:nvSpPr>
        <p:spPr>
          <a:xfrm>
            <a:off x="9893808" y="2221992"/>
            <a:ext cx="914400" cy="914400"/>
          </a:xfrm>
          <a:prstGeom prst="ellipse">
            <a:avLst/>
          </a:prstGeom>
          <a:solidFill>
            <a:srgbClr val="EEECFB"/>
          </a:solidFill>
          <a:ln/>
        </p:spPr>
      </p:sp>
      <p:pic>
        <p:nvPicPr>
          <p:cNvPr id="35" name="Image 3" descr="preencoded.png">    </p:cNvPr>
          <p:cNvPicPr>
            <a:picLocks noChangeAspect="1"/>
          </p:cNvPicPr>
          <p:nvPr/>
        </p:nvPicPr>
        <p:blipFill>
          <a:blip r:embed="rId4"/>
          <a:stretch>
            <a:fillRect/>
          </a:stretch>
        </p:blipFill>
        <p:spPr>
          <a:xfrm>
            <a:off x="10122408" y="2450592"/>
            <a:ext cx="457200" cy="457200"/>
          </a:xfrm>
          <a:prstGeom prst="rect">
            <a:avLst/>
          </a:prstGeom>
        </p:spPr>
      </p:pic>
      <p:sp>
        <p:nvSpPr>
          <p:cNvPr id="36" name="Text 30"/>
          <p:cNvSpPr/>
          <p:nvPr/>
        </p:nvSpPr>
        <p:spPr>
          <a:xfrm>
            <a:off x="9153144" y="3264408"/>
            <a:ext cx="239572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Seq2Seq + attention</a:t>
            </a:r>
            <a:endParaRPr lang="en-US" sz="1500" dirty="0"/>
          </a:p>
        </p:txBody>
      </p:sp>
      <p:sp>
        <p:nvSpPr>
          <p:cNvPr id="37" name="Text 31"/>
          <p:cNvSpPr/>
          <p:nvPr/>
        </p:nvSpPr>
        <p:spPr>
          <a:xfrm>
            <a:off x="9198864" y="3904488"/>
            <a:ext cx="2304288" cy="1188720"/>
          </a:xfrm>
          <a:prstGeom prst="rect">
            <a:avLst/>
          </a:prstGeom>
          <a:noFill/>
          <a:ln/>
        </p:spPr>
        <p:txBody>
          <a:bodyPr wrap="square" lIns="0" tIns="0" rIns="0" bIns="0" rtlCol="0" anchor="ctr"/>
          <a:lstStyle/>
          <a:p>
            <a:pPr algn="ctr" indent="0" marL="0">
              <a:lnSpc>
                <a:spcPct val="110000"/>
              </a:lnSpc>
              <a:buNone/>
            </a:pPr>
            <a:r>
              <a:rPr lang="en-US" sz="1160" dirty="0">
                <a:solidFill>
                  <a:srgbClr val="5A6685"/>
                </a:solidFill>
                <a:latin typeface="Calibri" pitchFamily="34" charset="0"/>
                <a:ea typeface="Calibri" pitchFamily="34" charset="-122"/>
                <a:cs typeface="Calibri" pitchFamily="34" charset="-120"/>
              </a:rPr>
              <a:t>RNN/LSTM encoder–decoder for translation; attention is bolted on as a fix.</a:t>
            </a:r>
            <a:endParaRPr lang="en-US" sz="1160" dirty="0"/>
          </a:p>
        </p:txBody>
      </p:sp>
      <p:sp>
        <p:nvSpPr>
          <p:cNvPr id="38" name="Text 32"/>
          <p:cNvSpPr/>
          <p:nvPr/>
        </p:nvSpPr>
        <p:spPr>
          <a:xfrm>
            <a:off x="566928" y="5532120"/>
            <a:ext cx="11064240" cy="640080"/>
          </a:xfrm>
          <a:prstGeom prst="rect">
            <a:avLst/>
          </a:prstGeom>
          <a:noFill/>
          <a:ln/>
        </p:spPr>
        <p:txBody>
          <a:bodyPr wrap="square" lIns="0" tIns="0" rIns="0" bIns="0" rtlCol="0" anchor="ctr"/>
          <a:lstStyle/>
          <a:p>
            <a:pPr algn="ctr" indent="0" marL="0">
              <a:lnSpc>
                <a:spcPct val="110000"/>
              </a:lnSpc>
              <a:buNone/>
            </a:pPr>
            <a:r>
              <a:rPr lang="en-US" sz="1350" b="1" dirty="0">
                <a:solidFill>
                  <a:srgbClr val="1B2440"/>
                </a:solidFill>
                <a:latin typeface="Calibri" pitchFamily="34" charset="0"/>
                <a:ea typeface="Calibri" pitchFamily="34" charset="-122"/>
                <a:cs typeface="Calibri" pitchFamily="34" charset="-120"/>
              </a:rPr>
              <a:t>The pattern:  </a:t>
            </a:r>
            <a:pPr algn="ctr" indent="0" marL="0">
              <a:lnSpc>
                <a:spcPct val="110000"/>
              </a:lnSpc>
              <a:buNone/>
            </a:pPr>
            <a:r>
              <a:rPr lang="en-US" sz="1350" dirty="0">
                <a:solidFill>
                  <a:srgbClr val="5A6685"/>
                </a:solidFill>
                <a:latin typeface="Calibri" pitchFamily="34" charset="0"/>
                <a:ea typeface="Calibri" pitchFamily="34" charset="-122"/>
                <a:cs typeface="Calibri" pitchFamily="34" charset="-120"/>
              </a:rPr>
              <a:t>each era widened the context a model could use — but every approach still processed language </a:t>
            </a:r>
            <a:pPr algn="ctr" indent="0" marL="0">
              <a:lnSpc>
                <a:spcPct val="110000"/>
              </a:lnSpc>
              <a:buNone/>
            </a:pPr>
            <a:r>
              <a:rPr lang="en-US" sz="1350" b="1" dirty="0">
                <a:solidFill>
                  <a:srgbClr val="E5484D"/>
                </a:solidFill>
                <a:latin typeface="Calibri" pitchFamily="34" charset="0"/>
                <a:ea typeface="Calibri" pitchFamily="34" charset="-122"/>
                <a:cs typeface="Calibri" pitchFamily="34" charset="-120"/>
              </a:rPr>
              <a:t>one step at a time</a:t>
            </a:r>
            <a:pPr algn="ctr" indent="0" marL="0">
              <a:lnSpc>
                <a:spcPct val="110000"/>
              </a:lnSpc>
              <a:buNone/>
            </a:pPr>
            <a:r>
              <a:rPr lang="en-US" sz="1350" dirty="0">
                <a:solidFill>
                  <a:srgbClr val="5A6685"/>
                </a:solidFill>
                <a:latin typeface="Calibri" pitchFamily="34" charset="0"/>
                <a:ea typeface="Calibri" pitchFamily="34" charset="-122"/>
                <a:cs typeface="Calibri" pitchFamily="34" charset="-120"/>
              </a:rPr>
              <a:t>, which caps both memory and speed.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2013 · THE MEANING BREAKTHROUGH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Word embeddings: turning words into geometry</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Mikolov et al., 'Efficient Estimation of Word Representations' (Word2Vec), arXiv:1301.3781 · Pennington et al., GloVe (2014)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554480"/>
            <a:ext cx="594360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394960" cy="36576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Each word becomes a dense vector</a:t>
            </a:r>
            <a:endParaRPr lang="en-US" sz="1650" dirty="0"/>
          </a:p>
        </p:txBody>
      </p:sp>
      <p:sp>
        <p:nvSpPr>
          <p:cNvPr id="8" name="Text 6"/>
          <p:cNvSpPr/>
          <p:nvPr/>
        </p:nvSpPr>
        <p:spPr>
          <a:xfrm>
            <a:off x="841248" y="2176272"/>
            <a:ext cx="5394960" cy="822960"/>
          </a:xfrm>
          <a:prstGeom prst="rect">
            <a:avLst/>
          </a:prstGeom>
          <a:noFill/>
          <a:ln/>
        </p:spPr>
        <p:txBody>
          <a:bodyPr wrap="square" lIns="0" tIns="0" rIns="0" bIns="0" rtlCol="0" anchor="ctr"/>
          <a:lstStyle/>
          <a:p>
            <a:pPr indent="0" marL="0">
              <a:lnSpc>
                <a:spcPct val="112000"/>
              </a:lnSpc>
              <a:buNone/>
            </a:pPr>
            <a:r>
              <a:rPr lang="en-US" sz="1260" dirty="0">
                <a:solidFill>
                  <a:srgbClr val="5A6685"/>
                </a:solidFill>
                <a:latin typeface="Calibri" pitchFamily="34" charset="0"/>
                <a:ea typeface="Calibri" pitchFamily="34" charset="-122"/>
                <a:cs typeface="Calibri" pitchFamily="34" charset="-120"/>
              </a:rPr>
              <a:t>Words used in similar contexts land near each other in a high-dimensional space. Direction encodes relationships — so meaning becomes arithmetic.</a:t>
            </a:r>
            <a:endParaRPr lang="en-US" sz="1260" dirty="0"/>
          </a:p>
        </p:txBody>
      </p:sp>
      <p:sp>
        <p:nvSpPr>
          <p:cNvPr id="9" name="Shape 7"/>
          <p:cNvSpPr/>
          <p:nvPr/>
        </p:nvSpPr>
        <p:spPr>
          <a:xfrm>
            <a:off x="841248" y="3108960"/>
            <a:ext cx="5394960" cy="868680"/>
          </a:xfrm>
          <a:prstGeom prst="roundRect">
            <a:avLst>
              <a:gd name="adj" fmla="val 8421"/>
            </a:avLst>
          </a:prstGeom>
          <a:solidFill>
            <a:srgbClr val="FFFFFF"/>
          </a:solidFill>
          <a:ln w="19050">
            <a:solidFill>
              <a:srgbClr val="5B4BE0"/>
            </a:solidFill>
            <a:prstDash val="solid"/>
          </a:ln>
        </p:spPr>
      </p:sp>
      <p:sp>
        <p:nvSpPr>
          <p:cNvPr id="10" name="Text 8"/>
          <p:cNvSpPr/>
          <p:nvPr/>
        </p:nvSpPr>
        <p:spPr>
          <a:xfrm>
            <a:off x="841248" y="3108960"/>
            <a:ext cx="5394960" cy="868680"/>
          </a:xfrm>
          <a:prstGeom prst="rect">
            <a:avLst/>
          </a:prstGeom>
          <a:noFill/>
          <a:ln/>
        </p:spPr>
        <p:txBody>
          <a:bodyPr wrap="square" lIns="0" tIns="0" rIns="0" bIns="0" rtlCol="0" anchor="ctr"/>
          <a:lstStyle/>
          <a:p>
            <a:pPr algn="ctr" indent="0" marL="0">
              <a:buNone/>
            </a:pPr>
            <a:r>
              <a:rPr lang="en-US" sz="1450" dirty="0">
                <a:solidFill>
                  <a:srgbClr val="1B2440"/>
                </a:solidFill>
                <a:latin typeface="Courier New" pitchFamily="34" charset="0"/>
                <a:ea typeface="Courier New" pitchFamily="34" charset="-122"/>
                <a:cs typeface="Courier New" pitchFamily="34" charset="-120"/>
              </a:rPr>
              <a:t>vec(</a:t>
            </a:r>
            <a:pPr algn="ctr" indent="0" marL="0">
              <a:buNone/>
            </a:pPr>
            <a:r>
              <a:rPr lang="en-US" sz="1450" b="1" dirty="0">
                <a:solidFill>
                  <a:srgbClr val="5B4BE0"/>
                </a:solidFill>
                <a:latin typeface="Courier New" pitchFamily="34" charset="0"/>
                <a:ea typeface="Courier New" pitchFamily="34" charset="-122"/>
                <a:cs typeface="Courier New" pitchFamily="34" charset="-120"/>
              </a:rPr>
              <a:t>king</a:t>
            </a:r>
            <a:pPr algn="ctr" indent="0" marL="0">
              <a:buNone/>
            </a:pPr>
            <a:r>
              <a:rPr lang="en-US" sz="1450" dirty="0">
                <a:solidFill>
                  <a:srgbClr val="1B2440"/>
                </a:solidFill>
                <a:latin typeface="Courier New" pitchFamily="34" charset="0"/>
                <a:ea typeface="Courier New" pitchFamily="34" charset="-122"/>
                <a:cs typeface="Courier New" pitchFamily="34" charset="-120"/>
              </a:rPr>
              <a:t>) − vec(</a:t>
            </a:r>
            <a:pPr algn="ctr" indent="0" marL="0">
              <a:buNone/>
            </a:pPr>
            <a:r>
              <a:rPr lang="en-US" sz="1450" b="1" dirty="0">
                <a:solidFill>
                  <a:srgbClr val="E5484D"/>
                </a:solidFill>
                <a:latin typeface="Courier New" pitchFamily="34" charset="0"/>
                <a:ea typeface="Courier New" pitchFamily="34" charset="-122"/>
                <a:cs typeface="Courier New" pitchFamily="34" charset="-120"/>
              </a:rPr>
              <a:t>man</a:t>
            </a:r>
            <a:pPr algn="ctr" indent="0" marL="0">
              <a:buNone/>
            </a:pPr>
            <a:r>
              <a:rPr lang="en-US" sz="1450" dirty="0">
                <a:solidFill>
                  <a:srgbClr val="1B2440"/>
                </a:solidFill>
                <a:latin typeface="Courier New" pitchFamily="34" charset="0"/>
                <a:ea typeface="Courier New" pitchFamily="34" charset="-122"/>
                <a:cs typeface="Courier New" pitchFamily="34" charset="-120"/>
              </a:rPr>
              <a:t>) + vec(</a:t>
            </a:r>
            <a:pPr algn="ctr" indent="0" marL="0">
              <a:buNone/>
            </a:pPr>
            <a:r>
              <a:rPr lang="en-US" sz="1450" b="1" dirty="0">
                <a:solidFill>
                  <a:srgbClr val="E5484D"/>
                </a:solidFill>
                <a:latin typeface="Courier New" pitchFamily="34" charset="0"/>
                <a:ea typeface="Courier New" pitchFamily="34" charset="-122"/>
                <a:cs typeface="Courier New" pitchFamily="34" charset="-120"/>
              </a:rPr>
              <a:t>woman</a:t>
            </a:r>
            <a:pPr algn="ctr" indent="0" marL="0">
              <a:buNone/>
            </a:pPr>
            <a:r>
              <a:rPr lang="en-US" sz="1450" dirty="0">
                <a:solidFill>
                  <a:srgbClr val="1B2440"/>
                </a:solidFill>
                <a:latin typeface="Courier New" pitchFamily="34" charset="0"/>
                <a:ea typeface="Courier New" pitchFamily="34" charset="-122"/>
                <a:cs typeface="Courier New" pitchFamily="34" charset="-120"/>
              </a:rPr>
              <a:t>)  ≈  vec(</a:t>
            </a:r>
            <a:pPr algn="ctr" indent="0" marL="0">
              <a:buNone/>
            </a:pPr>
            <a:r>
              <a:rPr lang="en-US" sz="1450" b="1" dirty="0">
                <a:solidFill>
                  <a:srgbClr val="1B9C5A"/>
                </a:solidFill>
                <a:latin typeface="Courier New" pitchFamily="34" charset="0"/>
                <a:ea typeface="Courier New" pitchFamily="34" charset="-122"/>
                <a:cs typeface="Courier New" pitchFamily="34" charset="-120"/>
              </a:rPr>
              <a:t>queen</a:t>
            </a:r>
            <a:pPr algn="ctr" indent="0" marL="0">
              <a:buNone/>
            </a:pPr>
            <a:r>
              <a:rPr lang="en-US" sz="1450" dirty="0">
                <a:solidFill>
                  <a:srgbClr val="1B2440"/>
                </a:solidFill>
                <a:latin typeface="Courier New" pitchFamily="34" charset="0"/>
                <a:ea typeface="Courier New" pitchFamily="34" charset="-122"/>
                <a:cs typeface="Courier New" pitchFamily="34" charset="-120"/>
              </a:rPr>
              <a:t>)</a:t>
            </a:r>
            <a:endParaRPr lang="en-US" sz="1450" dirty="0"/>
          </a:p>
        </p:txBody>
      </p:sp>
      <p:sp>
        <p:nvSpPr>
          <p:cNvPr id="11" name="Text 9"/>
          <p:cNvSpPr/>
          <p:nvPr/>
        </p:nvSpPr>
        <p:spPr>
          <a:xfrm>
            <a:off x="841248" y="4160520"/>
            <a:ext cx="5394960" cy="1463040"/>
          </a:xfrm>
          <a:prstGeom prst="rect">
            <a:avLst/>
          </a:prstGeom>
          <a:noFill/>
          <a:ln/>
        </p:spPr>
        <p:txBody>
          <a:bodyPr wrap="square" lIns="0" tIns="0" rIns="0" bIns="0" rtlCol="0" anchor="t"/>
          <a:lstStyle/>
          <a:p>
            <a:pPr indent="0" marL="0">
              <a:lnSpc>
                <a:spcPct val="114000"/>
              </a:lnSpc>
              <a:buNone/>
            </a:pPr>
            <a:r>
              <a:rPr lang="en-US" sz="1260" b="1" dirty="0">
                <a:solidFill>
                  <a:srgbClr val="0E9E96"/>
                </a:solidFill>
                <a:latin typeface="Calibri" pitchFamily="34" charset="0"/>
                <a:ea typeface="Calibri" pitchFamily="34" charset="-122"/>
                <a:cs typeface="Calibri" pitchFamily="34" charset="-120"/>
              </a:rPr>
              <a:t>Why it mattered:  </a:t>
            </a:r>
            <a:pPr indent="0" marL="0">
              <a:lnSpc>
                <a:spcPct val="114000"/>
              </a:lnSpc>
              <a:buNone/>
            </a:pPr>
            <a:r>
              <a:rPr lang="en-US" sz="1260" dirty="0">
                <a:solidFill>
                  <a:srgbClr val="5A6685"/>
                </a:solidFill>
                <a:latin typeface="Calibri" pitchFamily="34" charset="0"/>
                <a:ea typeface="Calibri" pitchFamily="34" charset="-122"/>
                <a:cs typeface="Calibri" pitchFamily="34" charset="-120"/>
              </a:rPr>
              <a:t>the first time a model represented semantic similarity it was never explicitly taught. This vector idea survives — it is exactly how tokens enter a Transformer today.</a:t>
            </a:r>
            <a:endParaRPr lang="en-US" sz="1260" dirty="0"/>
          </a:p>
        </p:txBody>
      </p:sp>
      <p:sp>
        <p:nvSpPr>
          <p:cNvPr id="12" name="Shape 10"/>
          <p:cNvSpPr/>
          <p:nvPr/>
        </p:nvSpPr>
        <p:spPr>
          <a:xfrm>
            <a:off x="6812280" y="1554480"/>
            <a:ext cx="480060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7040880" y="1737360"/>
            <a:ext cx="43434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Semantic neighbourhoods (illustrative)</a:t>
            </a:r>
            <a:endParaRPr lang="en-US" sz="1300" dirty="0"/>
          </a:p>
        </p:txBody>
      </p:sp>
      <p:sp>
        <p:nvSpPr>
          <p:cNvPr id="14" name="Shape 12"/>
          <p:cNvSpPr/>
          <p:nvPr/>
        </p:nvSpPr>
        <p:spPr>
          <a:xfrm>
            <a:off x="8092440" y="2514600"/>
            <a:ext cx="128016" cy="128016"/>
          </a:xfrm>
          <a:prstGeom prst="ellipse">
            <a:avLst/>
          </a:prstGeom>
          <a:solidFill>
            <a:srgbClr val="5B4BE0"/>
          </a:solidFill>
          <a:ln/>
        </p:spPr>
      </p:sp>
      <p:sp>
        <p:nvSpPr>
          <p:cNvPr id="15" name="Text 13"/>
          <p:cNvSpPr/>
          <p:nvPr/>
        </p:nvSpPr>
        <p:spPr>
          <a:xfrm>
            <a:off x="8202168" y="2404872"/>
            <a:ext cx="1005840" cy="237744"/>
          </a:xfrm>
          <a:prstGeom prst="rect">
            <a:avLst/>
          </a:prstGeom>
          <a:noFill/>
          <a:ln/>
        </p:spPr>
        <p:txBody>
          <a:bodyPr wrap="square" lIns="0" tIns="0" rIns="0" bIns="0" rtlCol="0" anchor="ctr"/>
          <a:lstStyle/>
          <a:p>
            <a:pPr indent="0" marL="0">
              <a:buNone/>
            </a:pPr>
            <a:r>
              <a:rPr lang="en-US" sz="1050" b="1" dirty="0">
                <a:solidFill>
                  <a:srgbClr val="5B4BE0"/>
                </a:solidFill>
                <a:latin typeface="Calibri" pitchFamily="34" charset="0"/>
                <a:ea typeface="Calibri" pitchFamily="34" charset="-122"/>
                <a:cs typeface="Calibri" pitchFamily="34" charset="-120"/>
              </a:rPr>
              <a:t>king</a:t>
            </a:r>
            <a:endParaRPr lang="en-US" sz="1050" dirty="0"/>
          </a:p>
        </p:txBody>
      </p:sp>
      <p:sp>
        <p:nvSpPr>
          <p:cNvPr id="16" name="Shape 14"/>
          <p:cNvSpPr/>
          <p:nvPr/>
        </p:nvSpPr>
        <p:spPr>
          <a:xfrm>
            <a:off x="8636508" y="2274570"/>
            <a:ext cx="128016" cy="128016"/>
          </a:xfrm>
          <a:prstGeom prst="ellipse">
            <a:avLst/>
          </a:prstGeom>
          <a:solidFill>
            <a:srgbClr val="5B4BE0"/>
          </a:solidFill>
          <a:ln/>
        </p:spPr>
      </p:sp>
      <p:sp>
        <p:nvSpPr>
          <p:cNvPr id="17" name="Text 15"/>
          <p:cNvSpPr/>
          <p:nvPr/>
        </p:nvSpPr>
        <p:spPr>
          <a:xfrm>
            <a:off x="8746236" y="2164842"/>
            <a:ext cx="1005840" cy="237744"/>
          </a:xfrm>
          <a:prstGeom prst="rect">
            <a:avLst/>
          </a:prstGeom>
          <a:noFill/>
          <a:ln/>
        </p:spPr>
        <p:txBody>
          <a:bodyPr wrap="square" lIns="0" tIns="0" rIns="0" bIns="0" rtlCol="0" anchor="ctr"/>
          <a:lstStyle/>
          <a:p>
            <a:pPr indent="0" marL="0">
              <a:buNone/>
            </a:pPr>
            <a:r>
              <a:rPr lang="en-US" sz="1050" b="1" dirty="0">
                <a:solidFill>
                  <a:srgbClr val="5B4BE0"/>
                </a:solidFill>
                <a:latin typeface="Calibri" pitchFamily="34" charset="0"/>
                <a:ea typeface="Calibri" pitchFamily="34" charset="-122"/>
                <a:cs typeface="Calibri" pitchFamily="34" charset="-120"/>
              </a:rPr>
              <a:t>queen</a:t>
            </a:r>
            <a:endParaRPr lang="en-US" sz="1050" dirty="0"/>
          </a:p>
        </p:txBody>
      </p:sp>
      <p:sp>
        <p:nvSpPr>
          <p:cNvPr id="18" name="Shape 16"/>
          <p:cNvSpPr/>
          <p:nvPr/>
        </p:nvSpPr>
        <p:spPr>
          <a:xfrm>
            <a:off x="8247888" y="2926080"/>
            <a:ext cx="128016" cy="128016"/>
          </a:xfrm>
          <a:prstGeom prst="ellipse">
            <a:avLst/>
          </a:prstGeom>
          <a:solidFill>
            <a:srgbClr val="5B4BE0"/>
          </a:solidFill>
          <a:ln/>
        </p:spPr>
      </p:sp>
      <p:sp>
        <p:nvSpPr>
          <p:cNvPr id="19" name="Text 17"/>
          <p:cNvSpPr/>
          <p:nvPr/>
        </p:nvSpPr>
        <p:spPr>
          <a:xfrm>
            <a:off x="8357616" y="2816352"/>
            <a:ext cx="1005840" cy="237744"/>
          </a:xfrm>
          <a:prstGeom prst="rect">
            <a:avLst/>
          </a:prstGeom>
          <a:noFill/>
          <a:ln/>
        </p:spPr>
        <p:txBody>
          <a:bodyPr wrap="square" lIns="0" tIns="0" rIns="0" bIns="0" rtlCol="0" anchor="ctr"/>
          <a:lstStyle/>
          <a:p>
            <a:pPr indent="0" marL="0">
              <a:buNone/>
            </a:pPr>
            <a:r>
              <a:rPr lang="en-US" sz="1050" b="1" dirty="0">
                <a:solidFill>
                  <a:srgbClr val="5B4BE0"/>
                </a:solidFill>
                <a:latin typeface="Calibri" pitchFamily="34" charset="0"/>
                <a:ea typeface="Calibri" pitchFamily="34" charset="-122"/>
                <a:cs typeface="Calibri" pitchFamily="34" charset="-120"/>
              </a:rPr>
              <a:t>prince</a:t>
            </a:r>
            <a:endParaRPr lang="en-US" sz="1050" dirty="0"/>
          </a:p>
        </p:txBody>
      </p:sp>
      <p:sp>
        <p:nvSpPr>
          <p:cNvPr id="20" name="Shape 18"/>
          <p:cNvSpPr/>
          <p:nvPr/>
        </p:nvSpPr>
        <p:spPr>
          <a:xfrm>
            <a:off x="10113264" y="4297680"/>
            <a:ext cx="128016" cy="128016"/>
          </a:xfrm>
          <a:prstGeom prst="ellipse">
            <a:avLst/>
          </a:prstGeom>
          <a:solidFill>
            <a:srgbClr val="0E9E96"/>
          </a:solidFill>
          <a:ln/>
        </p:spPr>
      </p:sp>
      <p:sp>
        <p:nvSpPr>
          <p:cNvPr id="21" name="Text 19"/>
          <p:cNvSpPr/>
          <p:nvPr/>
        </p:nvSpPr>
        <p:spPr>
          <a:xfrm>
            <a:off x="10222992" y="4187952"/>
            <a:ext cx="1005840" cy="237744"/>
          </a:xfrm>
          <a:prstGeom prst="rect">
            <a:avLst/>
          </a:prstGeom>
          <a:noFill/>
          <a:ln/>
        </p:spPr>
        <p:txBody>
          <a:bodyPr wrap="square" lIns="0" tIns="0" rIns="0" bIns="0" rtlCol="0" anchor="ctr"/>
          <a:lstStyle/>
          <a:p>
            <a:pPr indent="0" marL="0">
              <a:buNone/>
            </a:pPr>
            <a:r>
              <a:rPr lang="en-US" sz="1050" b="1" dirty="0">
                <a:solidFill>
                  <a:srgbClr val="0E9E96"/>
                </a:solidFill>
                <a:latin typeface="Calibri" pitchFamily="34" charset="0"/>
                <a:ea typeface="Calibri" pitchFamily="34" charset="-122"/>
                <a:cs typeface="Calibri" pitchFamily="34" charset="-120"/>
              </a:rPr>
              <a:t>cat</a:t>
            </a:r>
            <a:endParaRPr lang="en-US" sz="1050" dirty="0"/>
          </a:p>
        </p:txBody>
      </p:sp>
      <p:sp>
        <p:nvSpPr>
          <p:cNvPr id="22" name="Shape 20"/>
          <p:cNvSpPr/>
          <p:nvPr/>
        </p:nvSpPr>
        <p:spPr>
          <a:xfrm>
            <a:off x="10579608" y="3954780"/>
            <a:ext cx="128016" cy="128016"/>
          </a:xfrm>
          <a:prstGeom prst="ellipse">
            <a:avLst/>
          </a:prstGeom>
          <a:solidFill>
            <a:srgbClr val="0E9E96"/>
          </a:solidFill>
          <a:ln/>
        </p:spPr>
      </p:sp>
      <p:sp>
        <p:nvSpPr>
          <p:cNvPr id="23" name="Text 21"/>
          <p:cNvSpPr/>
          <p:nvPr/>
        </p:nvSpPr>
        <p:spPr>
          <a:xfrm>
            <a:off x="10689336" y="3845052"/>
            <a:ext cx="1005840" cy="237744"/>
          </a:xfrm>
          <a:prstGeom prst="rect">
            <a:avLst/>
          </a:prstGeom>
          <a:noFill/>
          <a:ln/>
        </p:spPr>
        <p:txBody>
          <a:bodyPr wrap="square" lIns="0" tIns="0" rIns="0" bIns="0" rtlCol="0" anchor="ctr"/>
          <a:lstStyle/>
          <a:p>
            <a:pPr indent="0" marL="0">
              <a:buNone/>
            </a:pPr>
            <a:r>
              <a:rPr lang="en-US" sz="1050" b="1" dirty="0">
                <a:solidFill>
                  <a:srgbClr val="0E9E96"/>
                </a:solidFill>
                <a:latin typeface="Calibri" pitchFamily="34" charset="0"/>
                <a:ea typeface="Calibri" pitchFamily="34" charset="-122"/>
                <a:cs typeface="Calibri" pitchFamily="34" charset="-120"/>
              </a:rPr>
              <a:t>dog</a:t>
            </a:r>
            <a:endParaRPr lang="en-US" sz="1050" dirty="0"/>
          </a:p>
        </p:txBody>
      </p:sp>
      <p:sp>
        <p:nvSpPr>
          <p:cNvPr id="24" name="Shape 22"/>
          <p:cNvSpPr/>
          <p:nvPr/>
        </p:nvSpPr>
        <p:spPr>
          <a:xfrm>
            <a:off x="10346436" y="4606290"/>
            <a:ext cx="128016" cy="128016"/>
          </a:xfrm>
          <a:prstGeom prst="ellipse">
            <a:avLst/>
          </a:prstGeom>
          <a:solidFill>
            <a:srgbClr val="0E9E96"/>
          </a:solidFill>
          <a:ln/>
        </p:spPr>
      </p:sp>
      <p:sp>
        <p:nvSpPr>
          <p:cNvPr id="25" name="Text 23"/>
          <p:cNvSpPr/>
          <p:nvPr/>
        </p:nvSpPr>
        <p:spPr>
          <a:xfrm>
            <a:off x="10456164" y="4496562"/>
            <a:ext cx="1005840" cy="237744"/>
          </a:xfrm>
          <a:prstGeom prst="rect">
            <a:avLst/>
          </a:prstGeom>
          <a:noFill/>
          <a:ln/>
        </p:spPr>
        <p:txBody>
          <a:bodyPr wrap="square" lIns="0" tIns="0" rIns="0" bIns="0" rtlCol="0" anchor="ctr"/>
          <a:lstStyle/>
          <a:p>
            <a:pPr indent="0" marL="0">
              <a:buNone/>
            </a:pPr>
            <a:r>
              <a:rPr lang="en-US" sz="1050" b="1" dirty="0">
                <a:solidFill>
                  <a:srgbClr val="0E9E96"/>
                </a:solidFill>
                <a:latin typeface="Calibri" pitchFamily="34" charset="0"/>
                <a:ea typeface="Calibri" pitchFamily="34" charset="-122"/>
                <a:cs typeface="Calibri" pitchFamily="34" charset="-120"/>
              </a:rPr>
              <a:t>kitten</a:t>
            </a:r>
            <a:endParaRPr lang="en-US" sz="1050" dirty="0"/>
          </a:p>
        </p:txBody>
      </p:sp>
      <p:sp>
        <p:nvSpPr>
          <p:cNvPr id="26" name="Shape 24"/>
          <p:cNvSpPr/>
          <p:nvPr/>
        </p:nvSpPr>
        <p:spPr>
          <a:xfrm>
            <a:off x="8869680" y="4572000"/>
            <a:ext cx="128016" cy="128016"/>
          </a:xfrm>
          <a:prstGeom prst="ellipse">
            <a:avLst/>
          </a:prstGeom>
          <a:solidFill>
            <a:srgbClr val="D9820A"/>
          </a:solidFill>
          <a:ln/>
        </p:spPr>
      </p:sp>
      <p:sp>
        <p:nvSpPr>
          <p:cNvPr id="27" name="Text 25"/>
          <p:cNvSpPr/>
          <p:nvPr/>
        </p:nvSpPr>
        <p:spPr>
          <a:xfrm>
            <a:off x="8979408" y="4462272"/>
            <a:ext cx="1005840" cy="237744"/>
          </a:xfrm>
          <a:prstGeom prst="rect">
            <a:avLst/>
          </a:prstGeom>
          <a:noFill/>
          <a:ln/>
        </p:spPr>
        <p:txBody>
          <a:bodyPr wrap="square" lIns="0" tIns="0" rIns="0" bIns="0" rtlCol="0" anchor="ctr"/>
          <a:lstStyle/>
          <a:p>
            <a:pPr indent="0" marL="0">
              <a:buNone/>
            </a:pPr>
            <a:r>
              <a:rPr lang="en-US" sz="1050" b="1" dirty="0">
                <a:solidFill>
                  <a:srgbClr val="D9820A"/>
                </a:solidFill>
                <a:latin typeface="Calibri" pitchFamily="34" charset="0"/>
                <a:ea typeface="Calibri" pitchFamily="34" charset="-122"/>
                <a:cs typeface="Calibri" pitchFamily="34" charset="-120"/>
              </a:rPr>
              <a:t>run</a:t>
            </a:r>
            <a:endParaRPr lang="en-US" sz="1050" dirty="0"/>
          </a:p>
        </p:txBody>
      </p:sp>
      <p:sp>
        <p:nvSpPr>
          <p:cNvPr id="28" name="Shape 26"/>
          <p:cNvSpPr/>
          <p:nvPr/>
        </p:nvSpPr>
        <p:spPr>
          <a:xfrm>
            <a:off x="9336024" y="4846320"/>
            <a:ext cx="128016" cy="128016"/>
          </a:xfrm>
          <a:prstGeom prst="ellipse">
            <a:avLst/>
          </a:prstGeom>
          <a:solidFill>
            <a:srgbClr val="D9820A"/>
          </a:solidFill>
          <a:ln/>
        </p:spPr>
      </p:sp>
      <p:sp>
        <p:nvSpPr>
          <p:cNvPr id="29" name="Text 27"/>
          <p:cNvSpPr/>
          <p:nvPr/>
        </p:nvSpPr>
        <p:spPr>
          <a:xfrm>
            <a:off x="9445752" y="4736592"/>
            <a:ext cx="1005840" cy="237744"/>
          </a:xfrm>
          <a:prstGeom prst="rect">
            <a:avLst/>
          </a:prstGeom>
          <a:noFill/>
          <a:ln/>
        </p:spPr>
        <p:txBody>
          <a:bodyPr wrap="square" lIns="0" tIns="0" rIns="0" bIns="0" rtlCol="0" anchor="ctr"/>
          <a:lstStyle/>
          <a:p>
            <a:pPr indent="0" marL="0">
              <a:buNone/>
            </a:pPr>
            <a:r>
              <a:rPr lang="en-US" sz="1050" b="1" dirty="0">
                <a:solidFill>
                  <a:srgbClr val="D9820A"/>
                </a:solidFill>
                <a:latin typeface="Calibri" pitchFamily="34" charset="0"/>
                <a:ea typeface="Calibri" pitchFamily="34" charset="-122"/>
                <a:cs typeface="Calibri" pitchFamily="34" charset="-120"/>
              </a:rPr>
              <a:t>walk</a:t>
            </a:r>
            <a:endParaRPr lang="en-US" sz="1050" dirty="0"/>
          </a:p>
        </p:txBody>
      </p:sp>
      <p:sp>
        <p:nvSpPr>
          <p:cNvPr id="30" name="Shape 28"/>
          <p:cNvSpPr/>
          <p:nvPr/>
        </p:nvSpPr>
        <p:spPr>
          <a:xfrm>
            <a:off x="8481060" y="4880610"/>
            <a:ext cx="128016" cy="128016"/>
          </a:xfrm>
          <a:prstGeom prst="ellipse">
            <a:avLst/>
          </a:prstGeom>
          <a:solidFill>
            <a:srgbClr val="D9820A"/>
          </a:solidFill>
          <a:ln/>
        </p:spPr>
      </p:sp>
      <p:sp>
        <p:nvSpPr>
          <p:cNvPr id="31" name="Text 29"/>
          <p:cNvSpPr/>
          <p:nvPr/>
        </p:nvSpPr>
        <p:spPr>
          <a:xfrm>
            <a:off x="8590788" y="4770882"/>
            <a:ext cx="1005840" cy="237744"/>
          </a:xfrm>
          <a:prstGeom prst="rect">
            <a:avLst/>
          </a:prstGeom>
          <a:noFill/>
          <a:ln/>
        </p:spPr>
        <p:txBody>
          <a:bodyPr wrap="square" lIns="0" tIns="0" rIns="0" bIns="0" rtlCol="0" anchor="ctr"/>
          <a:lstStyle/>
          <a:p>
            <a:pPr indent="0" marL="0">
              <a:buNone/>
            </a:pPr>
            <a:r>
              <a:rPr lang="en-US" sz="1050" b="1" dirty="0">
                <a:solidFill>
                  <a:srgbClr val="D9820A"/>
                </a:solidFill>
                <a:latin typeface="Calibri" pitchFamily="34" charset="0"/>
                <a:ea typeface="Calibri" pitchFamily="34" charset="-122"/>
                <a:cs typeface="Calibri" pitchFamily="34" charset="-120"/>
              </a:rPr>
              <a:t>jog</a:t>
            </a:r>
            <a:endParaRPr lang="en-US" sz="1050" dirty="0"/>
          </a:p>
        </p:txBody>
      </p:sp>
      <p:sp>
        <p:nvSpPr>
          <p:cNvPr id="32" name="Text 30"/>
          <p:cNvSpPr/>
          <p:nvPr/>
        </p:nvSpPr>
        <p:spPr>
          <a:xfrm>
            <a:off x="7040880" y="5650992"/>
            <a:ext cx="4343400" cy="274320"/>
          </a:xfrm>
          <a:prstGeom prst="rect">
            <a:avLst/>
          </a:prstGeom>
          <a:noFill/>
          <a:ln/>
        </p:spPr>
        <p:txBody>
          <a:bodyPr wrap="square" lIns="0" tIns="0" rIns="0" bIns="0" rtlCol="0" anchor="ctr"/>
          <a:lstStyle/>
          <a:p>
            <a:pPr algn="ctr" indent="0" marL="0">
              <a:buNone/>
            </a:pPr>
            <a:r>
              <a:rPr lang="en-US" sz="1050" i="1" dirty="0">
                <a:solidFill>
                  <a:srgbClr val="5A6685"/>
                </a:solidFill>
                <a:latin typeface="Calibri" pitchFamily="34" charset="0"/>
                <a:ea typeface="Calibri" pitchFamily="34" charset="-122"/>
                <a:cs typeface="Calibri" pitchFamily="34" charset="-120"/>
              </a:rPr>
              <a:t>Royalty · Animals · Motion verbs cluster apart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SEQUENTIAL WORKHORSE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Recurrent Neural Networks: memory by looping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Karpathy, 'The Unreasonable Effectiveness of RNNs' · Andrej Karpathy, Intro to LLMs — youtube.com/watch?v=zjkBMFhNj_g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An RNN reads one token at a time, passing a hidden state forward</a:t>
            </a:r>
            <a:endParaRPr lang="en-US" sz="1350" dirty="0"/>
          </a:p>
        </p:txBody>
      </p:sp>
      <p:sp>
        <p:nvSpPr>
          <p:cNvPr id="7" name="Shape 5"/>
          <p:cNvSpPr/>
          <p:nvPr/>
        </p:nvSpPr>
        <p:spPr>
          <a:xfrm>
            <a:off x="704088" y="3566160"/>
            <a:ext cx="914400" cy="457200"/>
          </a:xfrm>
          <a:prstGeom prst="roundRect">
            <a:avLst>
              <a:gd name="adj" fmla="val 12000"/>
            </a:avLst>
          </a:prstGeom>
          <a:solidFill>
            <a:srgbClr val="F4F5F9"/>
          </a:solidFill>
          <a:ln w="12700">
            <a:solidFill>
              <a:srgbClr val="DDE1EC"/>
            </a:solidFill>
            <a:prstDash val="solid"/>
          </a:ln>
        </p:spPr>
      </p:sp>
      <p:sp>
        <p:nvSpPr>
          <p:cNvPr id="8" name="Text 6"/>
          <p:cNvSpPr/>
          <p:nvPr/>
        </p:nvSpPr>
        <p:spPr>
          <a:xfrm>
            <a:off x="704088" y="3566160"/>
            <a:ext cx="9144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5A6685"/>
                </a:solidFill>
                <a:latin typeface="Calibri" pitchFamily="34" charset="0"/>
                <a:ea typeface="Calibri" pitchFamily="34" charset="-122"/>
                <a:cs typeface="Calibri" pitchFamily="34" charset="-120"/>
              </a:rPr>
              <a:t>The</a:t>
            </a:r>
            <a:endParaRPr lang="en-US" sz="1100" dirty="0"/>
          </a:p>
        </p:txBody>
      </p:sp>
      <p:sp>
        <p:nvSpPr>
          <p:cNvPr id="9" name="Shape 7"/>
          <p:cNvSpPr/>
          <p:nvPr/>
        </p:nvSpPr>
        <p:spPr>
          <a:xfrm>
            <a:off x="1161288" y="3547872"/>
            <a:ext cx="0" cy="-182880"/>
          </a:xfrm>
          <a:prstGeom prst="line">
            <a:avLst/>
          </a:prstGeom>
          <a:noFill/>
          <a:ln w="22225">
            <a:solidFill>
              <a:srgbClr val="8A93AB"/>
            </a:solidFill>
            <a:prstDash val="solid"/>
            <a:tailEnd type="triangle"/>
          </a:ln>
        </p:spPr>
      </p:sp>
      <p:sp>
        <p:nvSpPr>
          <p:cNvPr id="10" name="Shape 8"/>
          <p:cNvSpPr/>
          <p:nvPr/>
        </p:nvSpPr>
        <p:spPr>
          <a:xfrm>
            <a:off x="658368" y="2697480"/>
            <a:ext cx="1005840" cy="640080"/>
          </a:xfrm>
          <a:prstGeom prst="roundRect">
            <a:avLst>
              <a:gd name="adj" fmla="val 8571"/>
            </a:avLst>
          </a:prstGeom>
          <a:solidFill>
            <a:srgbClr val="5B4BE0"/>
          </a:solidFill>
          <a:ln w="12700">
            <a:solidFill>
              <a:srgbClr val="DDE1EC"/>
            </a:solidFill>
            <a:prstDash val="solid"/>
          </a:ln>
        </p:spPr>
      </p:sp>
      <p:sp>
        <p:nvSpPr>
          <p:cNvPr id="11" name="Text 9"/>
          <p:cNvSpPr/>
          <p:nvPr/>
        </p:nvSpPr>
        <p:spPr>
          <a:xfrm>
            <a:off x="658368" y="2697480"/>
            <a:ext cx="1005840"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h0</a:t>
            </a:r>
            <a:endParaRPr lang="en-US" sz="1300" dirty="0"/>
          </a:p>
        </p:txBody>
      </p:sp>
      <p:sp>
        <p:nvSpPr>
          <p:cNvPr id="12" name="Shape 10"/>
          <p:cNvSpPr/>
          <p:nvPr/>
        </p:nvSpPr>
        <p:spPr>
          <a:xfrm>
            <a:off x="1161288" y="2679192"/>
            <a:ext cx="0" cy="-201168"/>
          </a:xfrm>
          <a:prstGeom prst="line">
            <a:avLst/>
          </a:prstGeom>
          <a:noFill/>
          <a:ln w="22225">
            <a:solidFill>
              <a:srgbClr val="8A93AB"/>
            </a:solidFill>
            <a:prstDash val="solid"/>
            <a:tailEnd type="triangle"/>
          </a:ln>
        </p:spPr>
      </p:sp>
      <p:sp>
        <p:nvSpPr>
          <p:cNvPr id="13" name="Shape 11"/>
          <p:cNvSpPr/>
          <p:nvPr/>
        </p:nvSpPr>
        <p:spPr>
          <a:xfrm>
            <a:off x="704088" y="2194560"/>
            <a:ext cx="914400" cy="411480"/>
          </a:xfrm>
          <a:prstGeom prst="roundRect">
            <a:avLst>
              <a:gd name="adj" fmla="val 13333"/>
            </a:avLst>
          </a:prstGeom>
          <a:solidFill>
            <a:srgbClr val="E2F4F2"/>
          </a:solidFill>
          <a:ln w="12700">
            <a:solidFill>
              <a:srgbClr val="0E9E96"/>
            </a:solidFill>
            <a:prstDash val="solid"/>
          </a:ln>
        </p:spPr>
      </p:sp>
      <p:sp>
        <p:nvSpPr>
          <p:cNvPr id="14" name="Text 12"/>
          <p:cNvSpPr/>
          <p:nvPr/>
        </p:nvSpPr>
        <p:spPr>
          <a:xfrm>
            <a:off x="704088" y="2194560"/>
            <a:ext cx="914400" cy="41148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0E9E96"/>
                </a:solidFill>
                <a:latin typeface="Calibri" pitchFamily="34" charset="0"/>
                <a:ea typeface="Calibri" pitchFamily="34" charset="-122"/>
                <a:cs typeface="Calibri" pitchFamily="34" charset="-120"/>
              </a:rPr>
              <a:t>ŷ0</a:t>
            </a:r>
            <a:endParaRPr lang="en-US" sz="1100" dirty="0"/>
          </a:p>
        </p:txBody>
      </p:sp>
      <p:sp>
        <p:nvSpPr>
          <p:cNvPr id="15" name="Shape 13"/>
          <p:cNvSpPr/>
          <p:nvPr/>
        </p:nvSpPr>
        <p:spPr>
          <a:xfrm>
            <a:off x="1664208" y="3017520"/>
            <a:ext cx="1143000" cy="0"/>
          </a:xfrm>
          <a:prstGeom prst="line">
            <a:avLst/>
          </a:prstGeom>
          <a:noFill/>
          <a:ln w="25400">
            <a:solidFill>
              <a:srgbClr val="5B4BE0"/>
            </a:solidFill>
            <a:prstDash val="solid"/>
            <a:tailEnd type="triangle"/>
          </a:ln>
        </p:spPr>
      </p:sp>
      <p:sp>
        <p:nvSpPr>
          <p:cNvPr id="16" name="Shape 14"/>
          <p:cNvSpPr/>
          <p:nvPr/>
        </p:nvSpPr>
        <p:spPr>
          <a:xfrm>
            <a:off x="2852928" y="3566160"/>
            <a:ext cx="914400" cy="457200"/>
          </a:xfrm>
          <a:prstGeom prst="roundRect">
            <a:avLst>
              <a:gd name="adj" fmla="val 12000"/>
            </a:avLst>
          </a:prstGeom>
          <a:solidFill>
            <a:srgbClr val="F4F5F9"/>
          </a:solidFill>
          <a:ln w="12700">
            <a:solidFill>
              <a:srgbClr val="DDE1EC"/>
            </a:solidFill>
            <a:prstDash val="solid"/>
          </a:ln>
        </p:spPr>
      </p:sp>
      <p:sp>
        <p:nvSpPr>
          <p:cNvPr id="17" name="Text 15"/>
          <p:cNvSpPr/>
          <p:nvPr/>
        </p:nvSpPr>
        <p:spPr>
          <a:xfrm>
            <a:off x="2852928" y="3566160"/>
            <a:ext cx="9144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5A6685"/>
                </a:solidFill>
                <a:latin typeface="Calibri" pitchFamily="34" charset="0"/>
                <a:ea typeface="Calibri" pitchFamily="34" charset="-122"/>
                <a:cs typeface="Calibri" pitchFamily="34" charset="-120"/>
              </a:rPr>
              <a:t>cat</a:t>
            </a:r>
            <a:endParaRPr lang="en-US" sz="1100" dirty="0"/>
          </a:p>
        </p:txBody>
      </p:sp>
      <p:sp>
        <p:nvSpPr>
          <p:cNvPr id="18" name="Shape 16"/>
          <p:cNvSpPr/>
          <p:nvPr/>
        </p:nvSpPr>
        <p:spPr>
          <a:xfrm>
            <a:off x="3310128" y="3547872"/>
            <a:ext cx="0" cy="-182880"/>
          </a:xfrm>
          <a:prstGeom prst="line">
            <a:avLst/>
          </a:prstGeom>
          <a:noFill/>
          <a:ln w="22225">
            <a:solidFill>
              <a:srgbClr val="8A93AB"/>
            </a:solidFill>
            <a:prstDash val="solid"/>
            <a:tailEnd type="triangle"/>
          </a:ln>
        </p:spPr>
      </p:sp>
      <p:sp>
        <p:nvSpPr>
          <p:cNvPr id="19" name="Shape 17"/>
          <p:cNvSpPr/>
          <p:nvPr/>
        </p:nvSpPr>
        <p:spPr>
          <a:xfrm>
            <a:off x="2807208" y="2697480"/>
            <a:ext cx="1005840" cy="640080"/>
          </a:xfrm>
          <a:prstGeom prst="roundRect">
            <a:avLst>
              <a:gd name="adj" fmla="val 8571"/>
            </a:avLst>
          </a:prstGeom>
          <a:solidFill>
            <a:srgbClr val="5B4BE0"/>
          </a:solidFill>
          <a:ln w="12700">
            <a:solidFill>
              <a:srgbClr val="DDE1EC"/>
            </a:solidFill>
            <a:prstDash val="solid"/>
          </a:ln>
        </p:spPr>
      </p:sp>
      <p:sp>
        <p:nvSpPr>
          <p:cNvPr id="20" name="Text 18"/>
          <p:cNvSpPr/>
          <p:nvPr/>
        </p:nvSpPr>
        <p:spPr>
          <a:xfrm>
            <a:off x="2807208" y="2697480"/>
            <a:ext cx="1005840"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21" name="Shape 19"/>
          <p:cNvSpPr/>
          <p:nvPr/>
        </p:nvSpPr>
        <p:spPr>
          <a:xfrm>
            <a:off x="3310128" y="2679192"/>
            <a:ext cx="0" cy="-201168"/>
          </a:xfrm>
          <a:prstGeom prst="line">
            <a:avLst/>
          </a:prstGeom>
          <a:noFill/>
          <a:ln w="22225">
            <a:solidFill>
              <a:srgbClr val="8A93AB"/>
            </a:solidFill>
            <a:prstDash val="solid"/>
            <a:tailEnd type="triangle"/>
          </a:ln>
        </p:spPr>
      </p:sp>
      <p:sp>
        <p:nvSpPr>
          <p:cNvPr id="22" name="Shape 20"/>
          <p:cNvSpPr/>
          <p:nvPr/>
        </p:nvSpPr>
        <p:spPr>
          <a:xfrm>
            <a:off x="2852928" y="2194560"/>
            <a:ext cx="914400" cy="411480"/>
          </a:xfrm>
          <a:prstGeom prst="roundRect">
            <a:avLst>
              <a:gd name="adj" fmla="val 13333"/>
            </a:avLst>
          </a:prstGeom>
          <a:solidFill>
            <a:srgbClr val="E2F4F2"/>
          </a:solidFill>
          <a:ln w="12700">
            <a:solidFill>
              <a:srgbClr val="0E9E96"/>
            </a:solidFill>
            <a:prstDash val="solid"/>
          </a:ln>
        </p:spPr>
      </p:sp>
      <p:sp>
        <p:nvSpPr>
          <p:cNvPr id="23" name="Text 21"/>
          <p:cNvSpPr/>
          <p:nvPr/>
        </p:nvSpPr>
        <p:spPr>
          <a:xfrm>
            <a:off x="2852928" y="2194560"/>
            <a:ext cx="914400" cy="41148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0E9E96"/>
                </a:solidFill>
                <a:latin typeface="Calibri" pitchFamily="34" charset="0"/>
                <a:ea typeface="Calibri" pitchFamily="34" charset="-122"/>
                <a:cs typeface="Calibri" pitchFamily="34" charset="-120"/>
              </a:rPr>
              <a:t>ŷ1</a:t>
            </a:r>
            <a:endParaRPr lang="en-US" sz="1100" dirty="0"/>
          </a:p>
        </p:txBody>
      </p:sp>
      <p:sp>
        <p:nvSpPr>
          <p:cNvPr id="24" name="Shape 22"/>
          <p:cNvSpPr/>
          <p:nvPr/>
        </p:nvSpPr>
        <p:spPr>
          <a:xfrm>
            <a:off x="3813048" y="3017520"/>
            <a:ext cx="1143000" cy="0"/>
          </a:xfrm>
          <a:prstGeom prst="line">
            <a:avLst/>
          </a:prstGeom>
          <a:noFill/>
          <a:ln w="25400">
            <a:solidFill>
              <a:srgbClr val="5B4BE0"/>
            </a:solidFill>
            <a:prstDash val="solid"/>
            <a:tailEnd type="triangle"/>
          </a:ln>
        </p:spPr>
      </p:sp>
      <p:sp>
        <p:nvSpPr>
          <p:cNvPr id="25" name="Shape 23"/>
          <p:cNvSpPr/>
          <p:nvPr/>
        </p:nvSpPr>
        <p:spPr>
          <a:xfrm>
            <a:off x="5001768" y="3566160"/>
            <a:ext cx="914400" cy="457200"/>
          </a:xfrm>
          <a:prstGeom prst="roundRect">
            <a:avLst>
              <a:gd name="adj" fmla="val 12000"/>
            </a:avLst>
          </a:prstGeom>
          <a:solidFill>
            <a:srgbClr val="F4F5F9"/>
          </a:solidFill>
          <a:ln w="12700">
            <a:solidFill>
              <a:srgbClr val="DDE1EC"/>
            </a:solidFill>
            <a:prstDash val="solid"/>
          </a:ln>
        </p:spPr>
      </p:sp>
      <p:sp>
        <p:nvSpPr>
          <p:cNvPr id="26" name="Text 24"/>
          <p:cNvSpPr/>
          <p:nvPr/>
        </p:nvSpPr>
        <p:spPr>
          <a:xfrm>
            <a:off x="5001768" y="3566160"/>
            <a:ext cx="9144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5A6685"/>
                </a:solidFill>
                <a:latin typeface="Calibri" pitchFamily="34" charset="0"/>
                <a:ea typeface="Calibri" pitchFamily="34" charset="-122"/>
                <a:cs typeface="Calibri" pitchFamily="34" charset="-120"/>
              </a:rPr>
              <a:t>sat</a:t>
            </a:r>
            <a:endParaRPr lang="en-US" sz="1100" dirty="0"/>
          </a:p>
        </p:txBody>
      </p:sp>
      <p:sp>
        <p:nvSpPr>
          <p:cNvPr id="27" name="Shape 25"/>
          <p:cNvSpPr/>
          <p:nvPr/>
        </p:nvSpPr>
        <p:spPr>
          <a:xfrm>
            <a:off x="5458968" y="3547872"/>
            <a:ext cx="0" cy="-182880"/>
          </a:xfrm>
          <a:prstGeom prst="line">
            <a:avLst/>
          </a:prstGeom>
          <a:noFill/>
          <a:ln w="22225">
            <a:solidFill>
              <a:srgbClr val="8A93AB"/>
            </a:solidFill>
            <a:prstDash val="solid"/>
            <a:tailEnd type="triangle"/>
          </a:ln>
        </p:spPr>
      </p:sp>
      <p:sp>
        <p:nvSpPr>
          <p:cNvPr id="28" name="Shape 26"/>
          <p:cNvSpPr/>
          <p:nvPr/>
        </p:nvSpPr>
        <p:spPr>
          <a:xfrm>
            <a:off x="4956048" y="2697480"/>
            <a:ext cx="1005840" cy="640080"/>
          </a:xfrm>
          <a:prstGeom prst="roundRect">
            <a:avLst>
              <a:gd name="adj" fmla="val 8571"/>
            </a:avLst>
          </a:prstGeom>
          <a:solidFill>
            <a:srgbClr val="5B4BE0"/>
          </a:solidFill>
          <a:ln w="12700">
            <a:solidFill>
              <a:srgbClr val="DDE1EC"/>
            </a:solidFill>
            <a:prstDash val="solid"/>
          </a:ln>
        </p:spPr>
      </p:sp>
      <p:sp>
        <p:nvSpPr>
          <p:cNvPr id="29" name="Text 27"/>
          <p:cNvSpPr/>
          <p:nvPr/>
        </p:nvSpPr>
        <p:spPr>
          <a:xfrm>
            <a:off x="4956048" y="2697480"/>
            <a:ext cx="1005840"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30" name="Shape 28"/>
          <p:cNvSpPr/>
          <p:nvPr/>
        </p:nvSpPr>
        <p:spPr>
          <a:xfrm>
            <a:off x="5458968" y="2679192"/>
            <a:ext cx="0" cy="-201168"/>
          </a:xfrm>
          <a:prstGeom prst="line">
            <a:avLst/>
          </a:prstGeom>
          <a:noFill/>
          <a:ln w="22225">
            <a:solidFill>
              <a:srgbClr val="8A93AB"/>
            </a:solidFill>
            <a:prstDash val="solid"/>
            <a:tailEnd type="triangle"/>
          </a:ln>
        </p:spPr>
      </p:sp>
      <p:sp>
        <p:nvSpPr>
          <p:cNvPr id="31" name="Shape 29"/>
          <p:cNvSpPr/>
          <p:nvPr/>
        </p:nvSpPr>
        <p:spPr>
          <a:xfrm>
            <a:off x="5001768" y="2194560"/>
            <a:ext cx="914400" cy="411480"/>
          </a:xfrm>
          <a:prstGeom prst="roundRect">
            <a:avLst>
              <a:gd name="adj" fmla="val 13333"/>
            </a:avLst>
          </a:prstGeom>
          <a:solidFill>
            <a:srgbClr val="E2F4F2"/>
          </a:solidFill>
          <a:ln w="12700">
            <a:solidFill>
              <a:srgbClr val="0E9E96"/>
            </a:solidFill>
            <a:prstDash val="solid"/>
          </a:ln>
        </p:spPr>
      </p:sp>
      <p:sp>
        <p:nvSpPr>
          <p:cNvPr id="32" name="Text 30"/>
          <p:cNvSpPr/>
          <p:nvPr/>
        </p:nvSpPr>
        <p:spPr>
          <a:xfrm>
            <a:off x="5001768" y="2194560"/>
            <a:ext cx="914400" cy="41148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0E9E96"/>
                </a:solidFill>
                <a:latin typeface="Calibri" pitchFamily="34" charset="0"/>
                <a:ea typeface="Calibri" pitchFamily="34" charset="-122"/>
                <a:cs typeface="Calibri" pitchFamily="34" charset="-120"/>
              </a:rPr>
              <a:t>ŷ2</a:t>
            </a:r>
            <a:endParaRPr lang="en-US" sz="1100" dirty="0"/>
          </a:p>
        </p:txBody>
      </p:sp>
      <p:sp>
        <p:nvSpPr>
          <p:cNvPr id="33" name="Shape 31"/>
          <p:cNvSpPr/>
          <p:nvPr/>
        </p:nvSpPr>
        <p:spPr>
          <a:xfrm>
            <a:off x="5961888" y="3017520"/>
            <a:ext cx="1143000" cy="0"/>
          </a:xfrm>
          <a:prstGeom prst="line">
            <a:avLst/>
          </a:prstGeom>
          <a:noFill/>
          <a:ln w="25400">
            <a:solidFill>
              <a:srgbClr val="5B4BE0"/>
            </a:solidFill>
            <a:prstDash val="solid"/>
            <a:tailEnd type="triangle"/>
          </a:ln>
        </p:spPr>
      </p:sp>
      <p:sp>
        <p:nvSpPr>
          <p:cNvPr id="34" name="Shape 32"/>
          <p:cNvSpPr/>
          <p:nvPr/>
        </p:nvSpPr>
        <p:spPr>
          <a:xfrm>
            <a:off x="7150608" y="3566160"/>
            <a:ext cx="914400" cy="457200"/>
          </a:xfrm>
          <a:prstGeom prst="roundRect">
            <a:avLst>
              <a:gd name="adj" fmla="val 12000"/>
            </a:avLst>
          </a:prstGeom>
          <a:solidFill>
            <a:srgbClr val="F4F5F9"/>
          </a:solidFill>
          <a:ln w="12700">
            <a:solidFill>
              <a:srgbClr val="DDE1EC"/>
            </a:solidFill>
            <a:prstDash val="solid"/>
          </a:ln>
        </p:spPr>
      </p:sp>
      <p:sp>
        <p:nvSpPr>
          <p:cNvPr id="35" name="Text 33"/>
          <p:cNvSpPr/>
          <p:nvPr/>
        </p:nvSpPr>
        <p:spPr>
          <a:xfrm>
            <a:off x="7150608" y="3566160"/>
            <a:ext cx="9144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5A6685"/>
                </a:solidFill>
                <a:latin typeface="Calibri" pitchFamily="34" charset="0"/>
                <a:ea typeface="Calibri" pitchFamily="34" charset="-122"/>
                <a:cs typeface="Calibri" pitchFamily="34" charset="-120"/>
              </a:rPr>
              <a:t>on</a:t>
            </a:r>
            <a:endParaRPr lang="en-US" sz="1100" dirty="0"/>
          </a:p>
        </p:txBody>
      </p:sp>
      <p:sp>
        <p:nvSpPr>
          <p:cNvPr id="36" name="Shape 34"/>
          <p:cNvSpPr/>
          <p:nvPr/>
        </p:nvSpPr>
        <p:spPr>
          <a:xfrm>
            <a:off x="7607808" y="3547872"/>
            <a:ext cx="0" cy="-182880"/>
          </a:xfrm>
          <a:prstGeom prst="line">
            <a:avLst/>
          </a:prstGeom>
          <a:noFill/>
          <a:ln w="22225">
            <a:solidFill>
              <a:srgbClr val="8A93AB"/>
            </a:solidFill>
            <a:prstDash val="solid"/>
            <a:tailEnd type="triangle"/>
          </a:ln>
        </p:spPr>
      </p:sp>
      <p:sp>
        <p:nvSpPr>
          <p:cNvPr id="37" name="Shape 35"/>
          <p:cNvSpPr/>
          <p:nvPr/>
        </p:nvSpPr>
        <p:spPr>
          <a:xfrm>
            <a:off x="7104888" y="2697480"/>
            <a:ext cx="1005840" cy="640080"/>
          </a:xfrm>
          <a:prstGeom prst="roundRect">
            <a:avLst>
              <a:gd name="adj" fmla="val 8571"/>
            </a:avLst>
          </a:prstGeom>
          <a:solidFill>
            <a:srgbClr val="5B4BE0"/>
          </a:solidFill>
          <a:ln w="12700">
            <a:solidFill>
              <a:srgbClr val="DDE1EC"/>
            </a:solidFill>
            <a:prstDash val="solid"/>
          </a:ln>
        </p:spPr>
      </p:sp>
      <p:sp>
        <p:nvSpPr>
          <p:cNvPr id="38" name="Text 36"/>
          <p:cNvSpPr/>
          <p:nvPr/>
        </p:nvSpPr>
        <p:spPr>
          <a:xfrm>
            <a:off x="7104888" y="2697480"/>
            <a:ext cx="1005840"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39" name="Shape 37"/>
          <p:cNvSpPr/>
          <p:nvPr/>
        </p:nvSpPr>
        <p:spPr>
          <a:xfrm>
            <a:off x="7607808" y="2679192"/>
            <a:ext cx="0" cy="-201168"/>
          </a:xfrm>
          <a:prstGeom prst="line">
            <a:avLst/>
          </a:prstGeom>
          <a:noFill/>
          <a:ln w="22225">
            <a:solidFill>
              <a:srgbClr val="8A93AB"/>
            </a:solidFill>
            <a:prstDash val="solid"/>
            <a:tailEnd type="triangle"/>
          </a:ln>
        </p:spPr>
      </p:sp>
      <p:sp>
        <p:nvSpPr>
          <p:cNvPr id="40" name="Shape 38"/>
          <p:cNvSpPr/>
          <p:nvPr/>
        </p:nvSpPr>
        <p:spPr>
          <a:xfrm>
            <a:off x="7150608" y="2194560"/>
            <a:ext cx="914400" cy="411480"/>
          </a:xfrm>
          <a:prstGeom prst="roundRect">
            <a:avLst>
              <a:gd name="adj" fmla="val 13333"/>
            </a:avLst>
          </a:prstGeom>
          <a:solidFill>
            <a:srgbClr val="E2F4F2"/>
          </a:solidFill>
          <a:ln w="12700">
            <a:solidFill>
              <a:srgbClr val="0E9E96"/>
            </a:solidFill>
            <a:prstDash val="solid"/>
          </a:ln>
        </p:spPr>
      </p:sp>
      <p:sp>
        <p:nvSpPr>
          <p:cNvPr id="41" name="Text 39"/>
          <p:cNvSpPr/>
          <p:nvPr/>
        </p:nvSpPr>
        <p:spPr>
          <a:xfrm>
            <a:off x="7150608" y="2194560"/>
            <a:ext cx="914400" cy="41148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0E9E96"/>
                </a:solidFill>
                <a:latin typeface="Calibri" pitchFamily="34" charset="0"/>
                <a:ea typeface="Calibri" pitchFamily="34" charset="-122"/>
                <a:cs typeface="Calibri" pitchFamily="34" charset="-120"/>
              </a:rPr>
              <a:t>ŷ3</a:t>
            </a:r>
            <a:endParaRPr lang="en-US" sz="1100" dirty="0"/>
          </a:p>
        </p:txBody>
      </p:sp>
      <p:sp>
        <p:nvSpPr>
          <p:cNvPr id="42" name="Shape 40"/>
          <p:cNvSpPr/>
          <p:nvPr/>
        </p:nvSpPr>
        <p:spPr>
          <a:xfrm>
            <a:off x="8110728" y="3017520"/>
            <a:ext cx="1143000" cy="0"/>
          </a:xfrm>
          <a:prstGeom prst="line">
            <a:avLst/>
          </a:prstGeom>
          <a:noFill/>
          <a:ln w="25400">
            <a:solidFill>
              <a:srgbClr val="5B4BE0"/>
            </a:solidFill>
            <a:prstDash val="solid"/>
            <a:tailEnd type="triangle"/>
          </a:ln>
        </p:spPr>
      </p:sp>
      <p:sp>
        <p:nvSpPr>
          <p:cNvPr id="43" name="Shape 41"/>
          <p:cNvSpPr/>
          <p:nvPr/>
        </p:nvSpPr>
        <p:spPr>
          <a:xfrm>
            <a:off x="9299448" y="3566160"/>
            <a:ext cx="914400" cy="457200"/>
          </a:xfrm>
          <a:prstGeom prst="roundRect">
            <a:avLst>
              <a:gd name="adj" fmla="val 12000"/>
            </a:avLst>
          </a:prstGeom>
          <a:solidFill>
            <a:srgbClr val="F4F5F9"/>
          </a:solidFill>
          <a:ln w="12700">
            <a:solidFill>
              <a:srgbClr val="DDE1EC"/>
            </a:solidFill>
            <a:prstDash val="solid"/>
          </a:ln>
        </p:spPr>
      </p:sp>
      <p:sp>
        <p:nvSpPr>
          <p:cNvPr id="44" name="Text 42"/>
          <p:cNvSpPr/>
          <p:nvPr/>
        </p:nvSpPr>
        <p:spPr>
          <a:xfrm>
            <a:off x="9299448" y="3566160"/>
            <a:ext cx="9144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5A6685"/>
                </a:solidFill>
                <a:latin typeface="Calibri" pitchFamily="34" charset="0"/>
                <a:ea typeface="Calibri" pitchFamily="34" charset="-122"/>
                <a:cs typeface="Calibri" pitchFamily="34" charset="-120"/>
              </a:rPr>
              <a:t>mat</a:t>
            </a:r>
            <a:endParaRPr lang="en-US" sz="1100" dirty="0"/>
          </a:p>
        </p:txBody>
      </p:sp>
      <p:sp>
        <p:nvSpPr>
          <p:cNvPr id="45" name="Shape 43"/>
          <p:cNvSpPr/>
          <p:nvPr/>
        </p:nvSpPr>
        <p:spPr>
          <a:xfrm>
            <a:off x="9756648" y="3547872"/>
            <a:ext cx="0" cy="-182880"/>
          </a:xfrm>
          <a:prstGeom prst="line">
            <a:avLst/>
          </a:prstGeom>
          <a:noFill/>
          <a:ln w="22225">
            <a:solidFill>
              <a:srgbClr val="8A93AB"/>
            </a:solidFill>
            <a:prstDash val="solid"/>
            <a:tailEnd type="triangle"/>
          </a:ln>
        </p:spPr>
      </p:sp>
      <p:sp>
        <p:nvSpPr>
          <p:cNvPr id="46" name="Shape 44"/>
          <p:cNvSpPr/>
          <p:nvPr/>
        </p:nvSpPr>
        <p:spPr>
          <a:xfrm>
            <a:off x="9253728" y="2697480"/>
            <a:ext cx="1005840" cy="640080"/>
          </a:xfrm>
          <a:prstGeom prst="roundRect">
            <a:avLst>
              <a:gd name="adj" fmla="val 8571"/>
            </a:avLst>
          </a:prstGeom>
          <a:solidFill>
            <a:srgbClr val="5B4BE0"/>
          </a:solidFill>
          <a:ln w="12700">
            <a:solidFill>
              <a:srgbClr val="DDE1EC"/>
            </a:solidFill>
            <a:prstDash val="solid"/>
          </a:ln>
        </p:spPr>
      </p:sp>
      <p:sp>
        <p:nvSpPr>
          <p:cNvPr id="47" name="Text 45"/>
          <p:cNvSpPr/>
          <p:nvPr/>
        </p:nvSpPr>
        <p:spPr>
          <a:xfrm>
            <a:off x="9253728" y="2697480"/>
            <a:ext cx="1005840" cy="640080"/>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48" name="Shape 46"/>
          <p:cNvSpPr/>
          <p:nvPr/>
        </p:nvSpPr>
        <p:spPr>
          <a:xfrm>
            <a:off x="9756648" y="2679192"/>
            <a:ext cx="0" cy="-201168"/>
          </a:xfrm>
          <a:prstGeom prst="line">
            <a:avLst/>
          </a:prstGeom>
          <a:noFill/>
          <a:ln w="22225">
            <a:solidFill>
              <a:srgbClr val="8A93AB"/>
            </a:solidFill>
            <a:prstDash val="solid"/>
            <a:tailEnd type="triangle"/>
          </a:ln>
        </p:spPr>
      </p:sp>
      <p:sp>
        <p:nvSpPr>
          <p:cNvPr id="49" name="Shape 47"/>
          <p:cNvSpPr/>
          <p:nvPr/>
        </p:nvSpPr>
        <p:spPr>
          <a:xfrm>
            <a:off x="9299448" y="2194560"/>
            <a:ext cx="914400" cy="411480"/>
          </a:xfrm>
          <a:prstGeom prst="roundRect">
            <a:avLst>
              <a:gd name="adj" fmla="val 13333"/>
            </a:avLst>
          </a:prstGeom>
          <a:solidFill>
            <a:srgbClr val="E2F4F2"/>
          </a:solidFill>
          <a:ln w="12700">
            <a:solidFill>
              <a:srgbClr val="0E9E96"/>
            </a:solidFill>
            <a:prstDash val="solid"/>
          </a:ln>
        </p:spPr>
      </p:sp>
      <p:sp>
        <p:nvSpPr>
          <p:cNvPr id="50" name="Text 48"/>
          <p:cNvSpPr/>
          <p:nvPr/>
        </p:nvSpPr>
        <p:spPr>
          <a:xfrm>
            <a:off x="9299448" y="2194560"/>
            <a:ext cx="914400" cy="41148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0E9E96"/>
                </a:solidFill>
                <a:latin typeface="Calibri" pitchFamily="34" charset="0"/>
                <a:ea typeface="Calibri" pitchFamily="34" charset="-122"/>
                <a:cs typeface="Calibri" pitchFamily="34" charset="-120"/>
              </a:rPr>
              <a:t>ŷ4</a:t>
            </a:r>
            <a:endParaRPr lang="en-US" sz="1100" dirty="0"/>
          </a:p>
        </p:txBody>
      </p:sp>
      <p:sp>
        <p:nvSpPr>
          <p:cNvPr id="51" name="Text 49"/>
          <p:cNvSpPr/>
          <p:nvPr/>
        </p:nvSpPr>
        <p:spPr>
          <a:xfrm>
            <a:off x="704088" y="3374136"/>
            <a:ext cx="10058400" cy="256032"/>
          </a:xfrm>
          <a:prstGeom prst="rect">
            <a:avLst/>
          </a:prstGeom>
          <a:noFill/>
          <a:ln/>
        </p:spPr>
        <p:txBody>
          <a:bodyPr wrap="square" lIns="0" tIns="0" rIns="0" bIns="0" rtlCol="0" anchor="ctr"/>
          <a:lstStyle/>
          <a:p>
            <a:pPr algn="l" indent="0" marL="0">
              <a:buNone/>
            </a:pPr>
            <a:r>
              <a:rPr lang="en-US" sz="1000" i="1" dirty="0">
                <a:solidFill>
                  <a:srgbClr val="5B4BE0"/>
                </a:solidFill>
                <a:latin typeface="Calibri" pitchFamily="34" charset="0"/>
                <a:ea typeface="Calibri" pitchFamily="34" charset="-122"/>
                <a:cs typeface="Calibri" pitchFamily="34" charset="-120"/>
              </a:rPr>
              <a:t>hidden state  (carries memory →)</a:t>
            </a:r>
            <a:endParaRPr lang="en-US" sz="1000" dirty="0"/>
          </a:p>
        </p:txBody>
      </p:sp>
      <p:sp>
        <p:nvSpPr>
          <p:cNvPr id="52" name="Shape 50"/>
          <p:cNvSpPr/>
          <p:nvPr/>
        </p:nvSpPr>
        <p:spPr>
          <a:xfrm>
            <a:off x="566928" y="4572000"/>
            <a:ext cx="5440680" cy="1508760"/>
          </a:xfrm>
          <a:prstGeom prst="roundRect">
            <a:avLst>
              <a:gd name="adj" fmla="val 6061"/>
            </a:avLst>
          </a:prstGeom>
          <a:solidFill>
            <a:srgbClr val="E3F4EA"/>
          </a:solidFill>
          <a:ln/>
          <a:effectLst>
            <a:outerShdw sx="100000" sy="100000" kx="0" ky="0" algn="bl" rotWithShape="0" blurRad="114300" dist="38100" dir="5400000">
              <a:srgbClr val="9AA2BC">
                <a:alpha val="16000"/>
              </a:srgbClr>
            </a:outerShdw>
          </a:effectLst>
        </p:spPr>
      </p:sp>
      <p:sp>
        <p:nvSpPr>
          <p:cNvPr id="53" name="Shape 51"/>
          <p:cNvSpPr/>
          <p:nvPr/>
        </p:nvSpPr>
        <p:spPr>
          <a:xfrm>
            <a:off x="768096" y="4800600"/>
            <a:ext cx="548640" cy="548640"/>
          </a:xfrm>
          <a:prstGeom prst="ellipse">
            <a:avLst/>
          </a:prstGeom>
          <a:solidFill>
            <a:srgbClr val="1B9C5A"/>
          </a:solidFill>
          <a:ln/>
        </p:spPr>
      </p:sp>
      <p:pic>
        <p:nvPicPr>
          <p:cNvPr id="54" name="Image 0" descr="preencoded.png">    </p:cNvPr>
          <p:cNvPicPr>
            <a:picLocks noChangeAspect="1"/>
          </p:cNvPicPr>
          <p:nvPr/>
        </p:nvPicPr>
        <p:blipFill>
          <a:blip r:embed="rId1"/>
          <a:stretch>
            <a:fillRect/>
          </a:stretch>
        </p:blipFill>
        <p:spPr>
          <a:xfrm>
            <a:off x="905256" y="4937760"/>
            <a:ext cx="274320" cy="274320"/>
          </a:xfrm>
          <a:prstGeom prst="rect">
            <a:avLst/>
          </a:prstGeom>
        </p:spPr>
      </p:pic>
      <p:sp>
        <p:nvSpPr>
          <p:cNvPr id="55" name="Text 52"/>
          <p:cNvSpPr/>
          <p:nvPr/>
        </p:nvSpPr>
        <p:spPr>
          <a:xfrm>
            <a:off x="1435608" y="4773168"/>
            <a:ext cx="4389120" cy="310896"/>
          </a:xfrm>
          <a:prstGeom prst="rect">
            <a:avLst/>
          </a:prstGeom>
          <a:noFill/>
          <a:ln/>
        </p:spPr>
        <p:txBody>
          <a:bodyPr wrap="square" lIns="0" tIns="0" rIns="0" bIns="0" rtlCol="0" anchor="ctr"/>
          <a:lstStyle/>
          <a:p>
            <a:pPr indent="0" marL="0">
              <a:buNone/>
            </a:pPr>
            <a:r>
              <a:rPr lang="en-US" sz="1350" b="1" dirty="0">
                <a:solidFill>
                  <a:srgbClr val="1B9C5A"/>
                </a:solidFill>
                <a:latin typeface="Calibri" pitchFamily="34" charset="0"/>
                <a:ea typeface="Calibri" pitchFamily="34" charset="-122"/>
                <a:cs typeface="Calibri" pitchFamily="34" charset="-120"/>
              </a:rPr>
              <a:t>What RNNs gave us</a:t>
            </a:r>
            <a:endParaRPr lang="en-US" sz="1350" dirty="0"/>
          </a:p>
        </p:txBody>
      </p:sp>
      <p:sp>
        <p:nvSpPr>
          <p:cNvPr id="56" name="Text 53"/>
          <p:cNvSpPr/>
          <p:nvPr/>
        </p:nvSpPr>
        <p:spPr>
          <a:xfrm>
            <a:off x="1435608" y="5120640"/>
            <a:ext cx="4480560" cy="86868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Variable-length input handled naturally</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A genuine notion of sequential memory</a:t>
            </a:r>
            <a:endParaRPr lang="en-US" sz="1180" dirty="0"/>
          </a:p>
        </p:txBody>
      </p:sp>
      <p:sp>
        <p:nvSpPr>
          <p:cNvPr id="57" name="Shape 54"/>
          <p:cNvSpPr/>
          <p:nvPr/>
        </p:nvSpPr>
        <p:spPr>
          <a:xfrm>
            <a:off x="6400800" y="4572000"/>
            <a:ext cx="5212080" cy="1508760"/>
          </a:xfrm>
          <a:prstGeom prst="roundRect">
            <a:avLst>
              <a:gd name="adj" fmla="val 6061"/>
            </a:avLst>
          </a:prstGeom>
          <a:solidFill>
            <a:srgbClr val="FBE7E7"/>
          </a:solidFill>
          <a:ln/>
          <a:effectLst>
            <a:outerShdw sx="100000" sy="100000" kx="0" ky="0" algn="bl" rotWithShape="0" blurRad="114300" dist="38100" dir="5400000">
              <a:srgbClr val="9AA2BC">
                <a:alpha val="16000"/>
              </a:srgbClr>
            </a:outerShdw>
          </a:effectLst>
        </p:spPr>
      </p:sp>
      <p:sp>
        <p:nvSpPr>
          <p:cNvPr id="58" name="Shape 55"/>
          <p:cNvSpPr/>
          <p:nvPr/>
        </p:nvSpPr>
        <p:spPr>
          <a:xfrm>
            <a:off x="6601968" y="4800600"/>
            <a:ext cx="548640" cy="548640"/>
          </a:xfrm>
          <a:prstGeom prst="ellipse">
            <a:avLst/>
          </a:prstGeom>
          <a:solidFill>
            <a:srgbClr val="E5484D"/>
          </a:solidFill>
          <a:ln/>
        </p:spPr>
      </p:sp>
      <p:pic>
        <p:nvPicPr>
          <p:cNvPr id="59" name="Image 1" descr="preencoded.png">    </p:cNvPr>
          <p:cNvPicPr>
            <a:picLocks noChangeAspect="1"/>
          </p:cNvPicPr>
          <p:nvPr/>
        </p:nvPicPr>
        <p:blipFill>
          <a:blip r:embed="rId2"/>
          <a:stretch>
            <a:fillRect/>
          </a:stretch>
        </p:blipFill>
        <p:spPr>
          <a:xfrm>
            <a:off x="6739128" y="4937760"/>
            <a:ext cx="274320" cy="274320"/>
          </a:xfrm>
          <a:prstGeom prst="rect">
            <a:avLst/>
          </a:prstGeom>
        </p:spPr>
      </p:pic>
      <p:sp>
        <p:nvSpPr>
          <p:cNvPr id="60" name="Text 56"/>
          <p:cNvSpPr/>
          <p:nvPr/>
        </p:nvSpPr>
        <p:spPr>
          <a:xfrm>
            <a:off x="7086600" y="4773168"/>
            <a:ext cx="4297680" cy="310896"/>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The fatal weaknesses</a:t>
            </a:r>
            <a:endParaRPr lang="en-US" sz="1350" dirty="0"/>
          </a:p>
        </p:txBody>
      </p:sp>
      <p:sp>
        <p:nvSpPr>
          <p:cNvPr id="61" name="Text 57"/>
          <p:cNvSpPr/>
          <p:nvPr/>
        </p:nvSpPr>
        <p:spPr>
          <a:xfrm>
            <a:off x="7086600" y="5120640"/>
            <a:ext cx="4206240" cy="86868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Strictly sequential → can't parallelise on GPUs</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Long-range signal vanishes across many steps</a:t>
            </a:r>
            <a:endParaRPr lang="en-US" sz="11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1997, REVIVED ~2014</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LSTM &amp; GRU: gates that protect memory</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Hochreiter &amp; Schmidhuber, 'Long Short-Term Memory' (1997) · Cho et al., GRU (2014)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66928" y="1600200"/>
            <a:ext cx="576072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21208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Inside one LSTM cell</a:t>
            </a:r>
            <a:endParaRPr lang="en-US" sz="1550" dirty="0"/>
          </a:p>
        </p:txBody>
      </p:sp>
      <p:sp>
        <p:nvSpPr>
          <p:cNvPr id="8" name="Shape 6"/>
          <p:cNvSpPr/>
          <p:nvPr/>
        </p:nvSpPr>
        <p:spPr>
          <a:xfrm>
            <a:off x="978408" y="2468880"/>
            <a:ext cx="5120640" cy="0"/>
          </a:xfrm>
          <a:prstGeom prst="line">
            <a:avLst/>
          </a:prstGeom>
          <a:noFill/>
          <a:ln w="38100">
            <a:solidFill>
              <a:srgbClr val="D9820A"/>
            </a:solidFill>
            <a:prstDash val="solid"/>
            <a:tailEnd type="triangle"/>
          </a:ln>
        </p:spPr>
      </p:sp>
      <p:sp>
        <p:nvSpPr>
          <p:cNvPr id="9" name="Text 7"/>
          <p:cNvSpPr/>
          <p:nvPr/>
        </p:nvSpPr>
        <p:spPr>
          <a:xfrm>
            <a:off x="978408" y="2157984"/>
            <a:ext cx="5120640" cy="274320"/>
          </a:xfrm>
          <a:prstGeom prst="rect">
            <a:avLst/>
          </a:prstGeom>
          <a:noFill/>
          <a:ln/>
        </p:spPr>
        <p:txBody>
          <a:bodyPr wrap="square" lIns="0" tIns="0" rIns="0" bIns="0" rtlCol="0" anchor="ctr"/>
          <a:lstStyle/>
          <a:p>
            <a:pPr indent="0" marL="0">
              <a:buNone/>
            </a:pPr>
            <a:r>
              <a:rPr lang="en-US" sz="1050" b="1" i="1" dirty="0">
                <a:solidFill>
                  <a:srgbClr val="D9820A"/>
                </a:solidFill>
                <a:latin typeface="Calibri" pitchFamily="34" charset="0"/>
                <a:ea typeface="Calibri" pitchFamily="34" charset="-122"/>
                <a:cs typeface="Calibri" pitchFamily="34" charset="-120"/>
              </a:rPr>
              <a:t>cell state  (the long-term memory highway)</a:t>
            </a:r>
            <a:endParaRPr lang="en-US" sz="1050" dirty="0"/>
          </a:p>
        </p:txBody>
      </p:sp>
      <p:sp>
        <p:nvSpPr>
          <p:cNvPr id="10" name="Shape 8"/>
          <p:cNvSpPr/>
          <p:nvPr/>
        </p:nvSpPr>
        <p:spPr>
          <a:xfrm>
            <a:off x="978408" y="2880360"/>
            <a:ext cx="502920" cy="502920"/>
          </a:xfrm>
          <a:prstGeom prst="ellipse">
            <a:avLst/>
          </a:prstGeom>
          <a:solidFill>
            <a:srgbClr val="E5484D"/>
          </a:solidFill>
          <a:ln/>
        </p:spPr>
      </p:sp>
      <p:sp>
        <p:nvSpPr>
          <p:cNvPr id="11" name="Text 9"/>
          <p:cNvSpPr/>
          <p:nvPr/>
        </p:nvSpPr>
        <p:spPr>
          <a:xfrm>
            <a:off x="978408"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2" name="Text 10"/>
          <p:cNvSpPr/>
          <p:nvPr/>
        </p:nvSpPr>
        <p:spPr>
          <a:xfrm>
            <a:off x="1664208" y="2907792"/>
            <a:ext cx="4297680" cy="292608"/>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Forget gate</a:t>
            </a:r>
            <a:endParaRPr lang="en-US" sz="1350" dirty="0"/>
          </a:p>
        </p:txBody>
      </p:sp>
      <p:sp>
        <p:nvSpPr>
          <p:cNvPr id="13" name="Text 11"/>
          <p:cNvSpPr/>
          <p:nvPr/>
        </p:nvSpPr>
        <p:spPr>
          <a:xfrm>
            <a:off x="1664208" y="3163824"/>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decides what to erase</a:t>
            </a:r>
            <a:endParaRPr lang="en-US" sz="1150" dirty="0"/>
          </a:p>
        </p:txBody>
      </p:sp>
      <p:sp>
        <p:nvSpPr>
          <p:cNvPr id="14" name="Shape 12"/>
          <p:cNvSpPr/>
          <p:nvPr/>
        </p:nvSpPr>
        <p:spPr>
          <a:xfrm>
            <a:off x="1225296" y="2880360"/>
            <a:ext cx="0" cy="-146304"/>
          </a:xfrm>
          <a:prstGeom prst="line">
            <a:avLst/>
          </a:prstGeom>
          <a:noFill/>
          <a:ln w="22225">
            <a:solidFill>
              <a:srgbClr val="8A93AB"/>
            </a:solidFill>
            <a:prstDash val="solid"/>
            <a:tailEnd type="triangle"/>
          </a:ln>
        </p:spPr>
      </p:sp>
      <p:sp>
        <p:nvSpPr>
          <p:cNvPr id="15" name="Shape 13"/>
          <p:cNvSpPr/>
          <p:nvPr/>
        </p:nvSpPr>
        <p:spPr>
          <a:xfrm>
            <a:off x="978408" y="3904488"/>
            <a:ext cx="502920" cy="502920"/>
          </a:xfrm>
          <a:prstGeom prst="ellipse">
            <a:avLst/>
          </a:prstGeom>
          <a:solidFill>
            <a:srgbClr val="0E9E96"/>
          </a:solidFill>
          <a:ln/>
        </p:spPr>
      </p:sp>
      <p:sp>
        <p:nvSpPr>
          <p:cNvPr id="16" name="Text 14"/>
          <p:cNvSpPr/>
          <p:nvPr/>
        </p:nvSpPr>
        <p:spPr>
          <a:xfrm>
            <a:off x="978408"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7" name="Text 15"/>
          <p:cNvSpPr/>
          <p:nvPr/>
        </p:nvSpPr>
        <p:spPr>
          <a:xfrm>
            <a:off x="1664208" y="3931920"/>
            <a:ext cx="4297680" cy="292608"/>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Input gate</a:t>
            </a:r>
            <a:endParaRPr lang="en-US" sz="1350" dirty="0"/>
          </a:p>
        </p:txBody>
      </p:sp>
      <p:sp>
        <p:nvSpPr>
          <p:cNvPr id="18" name="Text 16"/>
          <p:cNvSpPr/>
          <p:nvPr/>
        </p:nvSpPr>
        <p:spPr>
          <a:xfrm>
            <a:off x="1664208" y="4187952"/>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decides what to store</a:t>
            </a:r>
            <a:endParaRPr lang="en-US" sz="1150" dirty="0"/>
          </a:p>
        </p:txBody>
      </p:sp>
      <p:sp>
        <p:nvSpPr>
          <p:cNvPr id="19" name="Shape 17"/>
          <p:cNvSpPr/>
          <p:nvPr/>
        </p:nvSpPr>
        <p:spPr>
          <a:xfrm>
            <a:off x="1225296" y="3904488"/>
            <a:ext cx="0" cy="-146304"/>
          </a:xfrm>
          <a:prstGeom prst="line">
            <a:avLst/>
          </a:prstGeom>
          <a:noFill/>
          <a:ln w="22225">
            <a:solidFill>
              <a:srgbClr val="8A93AB"/>
            </a:solidFill>
            <a:prstDash val="solid"/>
            <a:tailEnd type="triangle"/>
          </a:ln>
        </p:spPr>
      </p:sp>
      <p:sp>
        <p:nvSpPr>
          <p:cNvPr id="20" name="Shape 18"/>
          <p:cNvSpPr/>
          <p:nvPr/>
        </p:nvSpPr>
        <p:spPr>
          <a:xfrm>
            <a:off x="978408" y="4928616"/>
            <a:ext cx="502920" cy="502920"/>
          </a:xfrm>
          <a:prstGeom prst="ellipse">
            <a:avLst/>
          </a:prstGeom>
          <a:solidFill>
            <a:srgbClr val="5B4BE0"/>
          </a:solidFill>
          <a:ln/>
        </p:spPr>
      </p:sp>
      <p:sp>
        <p:nvSpPr>
          <p:cNvPr id="21" name="Text 19"/>
          <p:cNvSpPr/>
          <p:nvPr/>
        </p:nvSpPr>
        <p:spPr>
          <a:xfrm>
            <a:off x="978408" y="4928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22" name="Text 20"/>
          <p:cNvSpPr/>
          <p:nvPr/>
        </p:nvSpPr>
        <p:spPr>
          <a:xfrm>
            <a:off x="1664208" y="4956048"/>
            <a:ext cx="4297680" cy="292608"/>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Output gate</a:t>
            </a:r>
            <a:endParaRPr lang="en-US" sz="1350" dirty="0"/>
          </a:p>
        </p:txBody>
      </p:sp>
      <p:sp>
        <p:nvSpPr>
          <p:cNvPr id="23" name="Text 21"/>
          <p:cNvSpPr/>
          <p:nvPr/>
        </p:nvSpPr>
        <p:spPr>
          <a:xfrm>
            <a:off x="1664208" y="5212080"/>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decides what to emit</a:t>
            </a:r>
            <a:endParaRPr lang="en-US" sz="1150" dirty="0"/>
          </a:p>
        </p:txBody>
      </p:sp>
      <p:sp>
        <p:nvSpPr>
          <p:cNvPr id="24" name="Shape 22"/>
          <p:cNvSpPr/>
          <p:nvPr/>
        </p:nvSpPr>
        <p:spPr>
          <a:xfrm>
            <a:off x="1225296" y="4928616"/>
            <a:ext cx="0" cy="-146304"/>
          </a:xfrm>
          <a:prstGeom prst="line">
            <a:avLst/>
          </a:prstGeom>
          <a:noFill/>
          <a:ln w="22225">
            <a:solidFill>
              <a:srgbClr val="8A93AB"/>
            </a:solidFill>
            <a:prstDash val="solid"/>
            <a:tailEnd type="triangle"/>
          </a:ln>
        </p:spPr>
      </p:sp>
      <p:sp>
        <p:nvSpPr>
          <p:cNvPr id="25" name="Shape 23"/>
          <p:cNvSpPr/>
          <p:nvPr/>
        </p:nvSpPr>
        <p:spPr>
          <a:xfrm>
            <a:off x="6629400" y="1600200"/>
            <a:ext cx="4983480" cy="2011680"/>
          </a:xfrm>
          <a:prstGeom prst="roundRect">
            <a:avLst>
              <a:gd name="adj" fmla="val 4545"/>
            </a:avLst>
          </a:prstGeom>
          <a:solidFill>
            <a:srgbClr val="E3F4EA"/>
          </a:solidFill>
          <a:ln/>
          <a:effectLst>
            <a:outerShdw sx="100000" sy="100000" kx="0" ky="0" algn="bl" rotWithShape="0" blurRad="114300" dist="38100" dir="5400000">
              <a:srgbClr val="9AA2BC">
                <a:alpha val="16000"/>
              </a:srgbClr>
            </a:outerShdw>
          </a:effectLst>
        </p:spPr>
      </p:sp>
      <p:sp>
        <p:nvSpPr>
          <p:cNvPr id="26" name="Shape 24"/>
          <p:cNvSpPr/>
          <p:nvPr/>
        </p:nvSpPr>
        <p:spPr>
          <a:xfrm>
            <a:off x="6858000" y="1828800"/>
            <a:ext cx="640080" cy="640080"/>
          </a:xfrm>
          <a:prstGeom prst="ellipse">
            <a:avLst/>
          </a:prstGeom>
          <a:solidFill>
            <a:srgbClr val="1B9C5A"/>
          </a:solidFill>
          <a:ln/>
        </p:spPr>
      </p:sp>
      <p:pic>
        <p:nvPicPr>
          <p:cNvPr id="27" name="Image 0" descr="preencoded.png">    </p:cNvPr>
          <p:cNvPicPr>
            <a:picLocks noChangeAspect="1"/>
          </p:cNvPicPr>
          <p:nvPr/>
        </p:nvPicPr>
        <p:blipFill>
          <a:blip r:embed="rId1"/>
          <a:stretch>
            <a:fillRect/>
          </a:stretch>
        </p:blipFill>
        <p:spPr>
          <a:xfrm>
            <a:off x="7018020" y="1988820"/>
            <a:ext cx="320040" cy="320040"/>
          </a:xfrm>
          <a:prstGeom prst="rect">
            <a:avLst/>
          </a:prstGeom>
        </p:spPr>
      </p:pic>
      <p:sp>
        <p:nvSpPr>
          <p:cNvPr id="28" name="Text 25"/>
          <p:cNvSpPr/>
          <p:nvPr/>
        </p:nvSpPr>
        <p:spPr>
          <a:xfrm>
            <a:off x="7635240" y="1810512"/>
            <a:ext cx="3794760" cy="329184"/>
          </a:xfrm>
          <a:prstGeom prst="rect">
            <a:avLst/>
          </a:prstGeom>
          <a:noFill/>
          <a:ln/>
        </p:spPr>
        <p:txBody>
          <a:bodyPr wrap="square" lIns="0" tIns="0" rIns="0" bIns="0" rtlCol="0" anchor="ctr"/>
          <a:lstStyle/>
          <a:p>
            <a:pPr indent="0" marL="0">
              <a:buNone/>
            </a:pPr>
            <a:r>
              <a:rPr lang="en-US" sz="1500" b="1" dirty="0">
                <a:solidFill>
                  <a:srgbClr val="1B9C5A"/>
                </a:solidFill>
                <a:latin typeface="Calibri" pitchFamily="34" charset="0"/>
                <a:ea typeface="Calibri" pitchFamily="34" charset="-122"/>
                <a:cs typeface="Calibri" pitchFamily="34" charset="-120"/>
              </a:rPr>
              <a:t>Problem it solved</a:t>
            </a:r>
            <a:endParaRPr lang="en-US" sz="1500" dirty="0"/>
          </a:p>
        </p:txBody>
      </p:sp>
      <p:sp>
        <p:nvSpPr>
          <p:cNvPr id="29" name="Text 26"/>
          <p:cNvSpPr/>
          <p:nvPr/>
        </p:nvSpPr>
        <p:spPr>
          <a:xfrm>
            <a:off x="6903720" y="2468880"/>
            <a:ext cx="4480560" cy="1051560"/>
          </a:xfrm>
          <a:prstGeom prst="rect">
            <a:avLst/>
          </a:prstGeom>
          <a:noFill/>
          <a:ln/>
        </p:spPr>
        <p:txBody>
          <a:bodyPr wrap="square" lIns="0" tIns="0" rIns="0" bIns="0" rtlCol="0" anchor="t"/>
          <a:lstStyle/>
          <a:p>
            <a:pPr indent="0" marL="0">
              <a:lnSpc>
                <a:spcPct val="114000"/>
              </a:lnSpc>
              <a:buNone/>
            </a:pPr>
            <a:r>
              <a:rPr lang="en-US" sz="1260" dirty="0">
                <a:solidFill>
                  <a:srgbClr val="1B2440"/>
                </a:solidFill>
                <a:latin typeface="Calibri" pitchFamily="34" charset="0"/>
                <a:ea typeface="Calibri" pitchFamily="34" charset="-122"/>
                <a:cs typeface="Calibri" pitchFamily="34" charset="-120"/>
              </a:rPr>
              <a:t>Gates let gradients flow across far more time-steps, taming the vanishing-gradient problem. LSTMs powered Google Translate, Siri &amp; speech recognition for years (≈2014–2017).</a:t>
            </a:r>
            <a:endParaRPr lang="en-US" sz="1260" dirty="0"/>
          </a:p>
        </p:txBody>
      </p:sp>
      <p:sp>
        <p:nvSpPr>
          <p:cNvPr id="30" name="Shape 27"/>
          <p:cNvSpPr/>
          <p:nvPr/>
        </p:nvSpPr>
        <p:spPr>
          <a:xfrm>
            <a:off x="6629400" y="3794760"/>
            <a:ext cx="4983480" cy="2240280"/>
          </a:xfrm>
          <a:prstGeom prst="roundRect">
            <a:avLst>
              <a:gd name="adj" fmla="val 4082"/>
            </a:avLst>
          </a:prstGeom>
          <a:solidFill>
            <a:srgbClr val="FBE7E7"/>
          </a:solidFill>
          <a:ln/>
          <a:effectLst>
            <a:outerShdw sx="100000" sy="100000" kx="0" ky="0" algn="bl" rotWithShape="0" blurRad="114300" dist="38100" dir="5400000">
              <a:srgbClr val="9AA2BC">
                <a:alpha val="16000"/>
              </a:srgbClr>
            </a:outerShdw>
          </a:effectLst>
        </p:spPr>
      </p:sp>
      <p:sp>
        <p:nvSpPr>
          <p:cNvPr id="31" name="Shape 28"/>
          <p:cNvSpPr/>
          <p:nvPr/>
        </p:nvSpPr>
        <p:spPr>
          <a:xfrm>
            <a:off x="6858000" y="4023360"/>
            <a:ext cx="640080" cy="640080"/>
          </a:xfrm>
          <a:prstGeom prst="ellipse">
            <a:avLst/>
          </a:prstGeom>
          <a:solidFill>
            <a:srgbClr val="E5484D"/>
          </a:solidFill>
          <a:ln/>
        </p:spPr>
      </p:sp>
      <p:pic>
        <p:nvPicPr>
          <p:cNvPr id="32" name="Image 1" descr="preencoded.png">    </p:cNvPr>
          <p:cNvPicPr>
            <a:picLocks noChangeAspect="1"/>
          </p:cNvPicPr>
          <p:nvPr/>
        </p:nvPicPr>
        <p:blipFill>
          <a:blip r:embed="rId2"/>
          <a:stretch>
            <a:fillRect/>
          </a:stretch>
        </p:blipFill>
        <p:spPr>
          <a:xfrm>
            <a:off x="7018020" y="4183380"/>
            <a:ext cx="320040" cy="320040"/>
          </a:xfrm>
          <a:prstGeom prst="rect">
            <a:avLst/>
          </a:prstGeom>
        </p:spPr>
      </p:pic>
      <p:sp>
        <p:nvSpPr>
          <p:cNvPr id="33" name="Text 29"/>
          <p:cNvSpPr/>
          <p:nvPr/>
        </p:nvSpPr>
        <p:spPr>
          <a:xfrm>
            <a:off x="7635240" y="4005072"/>
            <a:ext cx="3794760" cy="329184"/>
          </a:xfrm>
          <a:prstGeom prst="rect">
            <a:avLst/>
          </a:prstGeom>
          <a:noFill/>
          <a:ln/>
        </p:spPr>
        <p:txBody>
          <a:bodyPr wrap="square" lIns="0" tIns="0" rIns="0" bIns="0" rtlCol="0" anchor="ctr"/>
          <a:lstStyle/>
          <a:p>
            <a:pPr indent="0" marL="0">
              <a:buNone/>
            </a:pPr>
            <a:r>
              <a:rPr lang="en-US" sz="1500" b="1" dirty="0">
                <a:solidFill>
                  <a:srgbClr val="E5484D"/>
                </a:solidFill>
                <a:latin typeface="Calibri" pitchFamily="34" charset="0"/>
                <a:ea typeface="Calibri" pitchFamily="34" charset="-122"/>
                <a:cs typeface="Calibri" pitchFamily="34" charset="-120"/>
              </a:rPr>
              <a:t>Problem it did NOT solve</a:t>
            </a:r>
            <a:endParaRPr lang="en-US" sz="1500" dirty="0"/>
          </a:p>
        </p:txBody>
      </p:sp>
      <p:sp>
        <p:nvSpPr>
          <p:cNvPr id="34" name="Text 30"/>
          <p:cNvSpPr/>
          <p:nvPr/>
        </p:nvSpPr>
        <p:spPr>
          <a:xfrm>
            <a:off x="6903720" y="4617720"/>
            <a:ext cx="4480560" cy="137160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Still strictly sequential — no parallel training</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Memory across hundreds/thousands of tokens stays weak</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A single fixed-size vector bottlenecks long inputs</a:t>
            </a:r>
            <a:endParaRPr lang="en-US" sz="12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WE NEEDED SOMETHING NEW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walls LSTMs could not break</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'Attention Is All You Need', arXiv:1706.03762 (motivation section)</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66928" y="1463040"/>
            <a:ext cx="10972800" cy="310896"/>
          </a:xfrm>
          <a:prstGeom prst="rect">
            <a:avLst/>
          </a:prstGeom>
          <a:noFill/>
          <a:ln/>
        </p:spPr>
        <p:txBody>
          <a:bodyPr wrap="square" lIns="0" tIns="0" rIns="0" bIns="0" rtlCol="0" anchor="ctr"/>
          <a:lstStyle/>
          <a:p>
            <a:pPr indent="0" marL="0">
              <a:buNone/>
            </a:pPr>
            <a:r>
              <a:rPr lang="en-US" sz="1350" dirty="0">
                <a:solidFill>
                  <a:srgbClr val="5A6685"/>
                </a:solidFill>
                <a:latin typeface="Calibri" pitchFamily="34" charset="0"/>
                <a:ea typeface="Calibri" pitchFamily="34" charset="-122"/>
                <a:cs typeface="Calibri" pitchFamily="34" charset="-120"/>
              </a:rPr>
              <a:t>These are the constraints that justified abandoning recurrence entirely.</a:t>
            </a:r>
            <a:endParaRPr lang="en-US" sz="1350" dirty="0"/>
          </a:p>
        </p:txBody>
      </p:sp>
      <p:sp>
        <p:nvSpPr>
          <p:cNvPr id="7" name="Shape 5"/>
          <p:cNvSpPr/>
          <p:nvPr/>
        </p:nvSpPr>
        <p:spPr>
          <a:xfrm>
            <a:off x="566928" y="1965960"/>
            <a:ext cx="2679192" cy="393192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1403604" y="2258568"/>
            <a:ext cx="1005840" cy="1005840"/>
          </a:xfrm>
          <a:prstGeom prst="ellipse">
            <a:avLst/>
          </a:prstGeom>
          <a:solidFill>
            <a:srgbClr val="FBE7E7"/>
          </a:solidFill>
          <a:ln/>
        </p:spPr>
      </p:sp>
      <p:pic>
        <p:nvPicPr>
          <p:cNvPr id="9" name="Image 0" descr="preencoded.png">    </p:cNvPr>
          <p:cNvPicPr>
            <a:picLocks noChangeAspect="1"/>
          </p:cNvPicPr>
          <p:nvPr/>
        </p:nvPicPr>
        <p:blipFill>
          <a:blip r:embed="rId1"/>
          <a:stretch>
            <a:fillRect/>
          </a:stretch>
        </p:blipFill>
        <p:spPr>
          <a:xfrm>
            <a:off x="1655064" y="2510028"/>
            <a:ext cx="502920" cy="502920"/>
          </a:xfrm>
          <a:prstGeom prst="rect">
            <a:avLst/>
          </a:prstGeom>
        </p:spPr>
      </p:pic>
      <p:sp>
        <p:nvSpPr>
          <p:cNvPr id="10" name="Text 7"/>
          <p:cNvSpPr/>
          <p:nvPr/>
        </p:nvSpPr>
        <p:spPr>
          <a:xfrm>
            <a:off x="731520" y="2148840"/>
            <a:ext cx="731520" cy="365760"/>
          </a:xfrm>
          <a:prstGeom prst="rect">
            <a:avLst/>
          </a:prstGeom>
          <a:noFill/>
          <a:ln/>
        </p:spPr>
        <p:txBody>
          <a:bodyPr wrap="square" lIns="0" tIns="0" rIns="0" bIns="0" rtlCol="0" anchor="ctr"/>
          <a:lstStyle/>
          <a:p>
            <a:pPr indent="0" marL="0">
              <a:buNone/>
            </a:pPr>
            <a:r>
              <a:rPr lang="en-US" sz="1500" b="1" dirty="0">
                <a:solidFill>
                  <a:srgbClr val="E5484D"/>
                </a:solidFill>
                <a:latin typeface="Cambria" pitchFamily="34" charset="0"/>
                <a:ea typeface="Cambria" pitchFamily="34" charset="-122"/>
                <a:cs typeface="Cambria" pitchFamily="34" charset="-120"/>
              </a:rPr>
              <a:t>01</a:t>
            </a:r>
            <a:endParaRPr lang="en-US" sz="1500" dirty="0"/>
          </a:p>
        </p:txBody>
      </p:sp>
      <p:sp>
        <p:nvSpPr>
          <p:cNvPr id="11" name="Text 8"/>
          <p:cNvSpPr/>
          <p:nvPr/>
        </p:nvSpPr>
        <p:spPr>
          <a:xfrm>
            <a:off x="731520" y="3429000"/>
            <a:ext cx="2350008" cy="640080"/>
          </a:xfrm>
          <a:prstGeom prst="rect">
            <a:avLst/>
          </a:prstGeom>
          <a:noFill/>
          <a:ln/>
        </p:spPr>
        <p:txBody>
          <a:bodyPr wrap="square" lIns="0" tIns="0" rIns="0" bIns="0" rtlCol="0" anchor="ctr"/>
          <a:lstStyle/>
          <a:p>
            <a:pPr algn="ctr" indent="0" marL="0">
              <a:lnSpc>
                <a:spcPct val="100000"/>
              </a:lnSpc>
              <a:buNone/>
            </a:pPr>
            <a:r>
              <a:rPr lang="en-US" sz="1550" b="1" dirty="0">
                <a:solidFill>
                  <a:srgbClr val="1B2440"/>
                </a:solidFill>
                <a:latin typeface="Calibri" pitchFamily="34" charset="0"/>
                <a:ea typeface="Calibri" pitchFamily="34" charset="-122"/>
                <a:cs typeface="Calibri" pitchFamily="34" charset="-120"/>
              </a:rPr>
              <a:t>No parallelism</a:t>
            </a:r>
            <a:endParaRPr lang="en-US" sz="1550" dirty="0"/>
          </a:p>
        </p:txBody>
      </p:sp>
      <p:sp>
        <p:nvSpPr>
          <p:cNvPr id="12" name="Text 9"/>
          <p:cNvSpPr/>
          <p:nvPr/>
        </p:nvSpPr>
        <p:spPr>
          <a:xfrm>
            <a:off x="786384" y="4114800"/>
            <a:ext cx="2240280" cy="1645920"/>
          </a:xfrm>
          <a:prstGeom prst="rect">
            <a:avLst/>
          </a:prstGeom>
          <a:noFill/>
          <a:ln/>
        </p:spPr>
        <p:txBody>
          <a:bodyPr wrap="square" lIns="0" tIns="0" rIns="0" bIns="0" rtlCol="0" anchor="ctr"/>
          <a:lstStyle/>
          <a:p>
            <a:pPr algn="ctr" indent="0" marL="0">
              <a:lnSpc>
                <a:spcPct val="113000"/>
              </a:lnSpc>
              <a:buNone/>
            </a:pPr>
            <a:r>
              <a:rPr lang="en-US" sz="1170" dirty="0">
                <a:solidFill>
                  <a:srgbClr val="5A6685"/>
                </a:solidFill>
                <a:latin typeface="Calibri" pitchFamily="34" charset="0"/>
                <a:ea typeface="Calibri" pitchFamily="34" charset="-122"/>
                <a:cs typeface="Calibri" pitchFamily="34" charset="-120"/>
              </a:rPr>
              <a:t>Token t must wait for token t−1. Training a long sequence can't be spread across the GPU at once — painfully slow at scale.</a:t>
            </a:r>
            <a:endParaRPr lang="en-US" sz="1170" dirty="0"/>
          </a:p>
        </p:txBody>
      </p:sp>
      <p:sp>
        <p:nvSpPr>
          <p:cNvPr id="13" name="Shape 10"/>
          <p:cNvSpPr/>
          <p:nvPr/>
        </p:nvSpPr>
        <p:spPr>
          <a:xfrm>
            <a:off x="3401568" y="1965960"/>
            <a:ext cx="2679192" cy="393192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4238244" y="2258568"/>
            <a:ext cx="1005840" cy="1005840"/>
          </a:xfrm>
          <a:prstGeom prst="ellipse">
            <a:avLst/>
          </a:prstGeom>
          <a:solidFill>
            <a:srgbClr val="FBEFD8"/>
          </a:solidFill>
          <a:ln/>
        </p:spPr>
      </p:sp>
      <p:pic>
        <p:nvPicPr>
          <p:cNvPr id="15" name="Image 1" descr="preencoded.png">    </p:cNvPr>
          <p:cNvPicPr>
            <a:picLocks noChangeAspect="1"/>
          </p:cNvPicPr>
          <p:nvPr/>
        </p:nvPicPr>
        <p:blipFill>
          <a:blip r:embed="rId2"/>
          <a:stretch>
            <a:fillRect/>
          </a:stretch>
        </p:blipFill>
        <p:spPr>
          <a:xfrm>
            <a:off x="4489704" y="2510028"/>
            <a:ext cx="502920" cy="502920"/>
          </a:xfrm>
          <a:prstGeom prst="rect">
            <a:avLst/>
          </a:prstGeom>
        </p:spPr>
      </p:pic>
      <p:sp>
        <p:nvSpPr>
          <p:cNvPr id="16" name="Text 12"/>
          <p:cNvSpPr/>
          <p:nvPr/>
        </p:nvSpPr>
        <p:spPr>
          <a:xfrm>
            <a:off x="3566160" y="2148840"/>
            <a:ext cx="731520" cy="365760"/>
          </a:xfrm>
          <a:prstGeom prst="rect">
            <a:avLst/>
          </a:prstGeom>
          <a:noFill/>
          <a:ln/>
        </p:spPr>
        <p:txBody>
          <a:bodyPr wrap="square" lIns="0" tIns="0" rIns="0" bIns="0" rtlCol="0" anchor="ctr"/>
          <a:lstStyle/>
          <a:p>
            <a:pPr indent="0" marL="0">
              <a:buNone/>
            </a:pPr>
            <a:r>
              <a:rPr lang="en-US" sz="1500" b="1" dirty="0">
                <a:solidFill>
                  <a:srgbClr val="D9820A"/>
                </a:solidFill>
                <a:latin typeface="Cambria" pitchFamily="34" charset="0"/>
                <a:ea typeface="Cambria" pitchFamily="34" charset="-122"/>
                <a:cs typeface="Cambria" pitchFamily="34" charset="-120"/>
              </a:rPr>
              <a:t>02</a:t>
            </a:r>
            <a:endParaRPr lang="en-US" sz="1500" dirty="0"/>
          </a:p>
        </p:txBody>
      </p:sp>
      <p:sp>
        <p:nvSpPr>
          <p:cNvPr id="17" name="Text 13"/>
          <p:cNvSpPr/>
          <p:nvPr/>
        </p:nvSpPr>
        <p:spPr>
          <a:xfrm>
            <a:off x="3566160" y="3429000"/>
            <a:ext cx="2350008" cy="640080"/>
          </a:xfrm>
          <a:prstGeom prst="rect">
            <a:avLst/>
          </a:prstGeom>
          <a:noFill/>
          <a:ln/>
        </p:spPr>
        <p:txBody>
          <a:bodyPr wrap="square" lIns="0" tIns="0" rIns="0" bIns="0" rtlCol="0" anchor="ctr"/>
          <a:lstStyle/>
          <a:p>
            <a:pPr algn="ctr" indent="0" marL="0">
              <a:lnSpc>
                <a:spcPct val="100000"/>
              </a:lnSpc>
              <a:buNone/>
            </a:pPr>
            <a:r>
              <a:rPr lang="en-US" sz="1550" b="1" dirty="0">
                <a:solidFill>
                  <a:srgbClr val="1B2440"/>
                </a:solidFill>
                <a:latin typeface="Calibri" pitchFamily="34" charset="0"/>
                <a:ea typeface="Calibri" pitchFamily="34" charset="-122"/>
                <a:cs typeface="Calibri" pitchFamily="34" charset="-120"/>
              </a:rPr>
              <a:t>Long-range amnesia</a:t>
            </a:r>
            <a:endParaRPr lang="en-US" sz="1550" dirty="0"/>
          </a:p>
        </p:txBody>
      </p:sp>
      <p:sp>
        <p:nvSpPr>
          <p:cNvPr id="18" name="Text 14"/>
          <p:cNvSpPr/>
          <p:nvPr/>
        </p:nvSpPr>
        <p:spPr>
          <a:xfrm>
            <a:off x="3621024" y="4114800"/>
            <a:ext cx="2240280" cy="1645920"/>
          </a:xfrm>
          <a:prstGeom prst="rect">
            <a:avLst/>
          </a:prstGeom>
          <a:noFill/>
          <a:ln/>
        </p:spPr>
        <p:txBody>
          <a:bodyPr wrap="square" lIns="0" tIns="0" rIns="0" bIns="0" rtlCol="0" anchor="ctr"/>
          <a:lstStyle/>
          <a:p>
            <a:pPr algn="ctr" indent="0" marL="0">
              <a:lnSpc>
                <a:spcPct val="113000"/>
              </a:lnSpc>
              <a:buNone/>
            </a:pPr>
            <a:r>
              <a:rPr lang="en-US" sz="1170" dirty="0">
                <a:solidFill>
                  <a:srgbClr val="5A6685"/>
                </a:solidFill>
                <a:latin typeface="Calibri" pitchFamily="34" charset="0"/>
                <a:ea typeface="Calibri" pitchFamily="34" charset="-122"/>
                <a:cs typeface="Calibri" pitchFamily="34" charset="-120"/>
              </a:rPr>
              <a:t>Connecting word 1 to word 500 means passing signal through 499 hops. Information and gradient both decay.</a:t>
            </a:r>
            <a:endParaRPr lang="en-US" sz="1170" dirty="0"/>
          </a:p>
        </p:txBody>
      </p:sp>
      <p:sp>
        <p:nvSpPr>
          <p:cNvPr id="19" name="Shape 15"/>
          <p:cNvSpPr/>
          <p:nvPr/>
        </p:nvSpPr>
        <p:spPr>
          <a:xfrm>
            <a:off x="6236208" y="1965960"/>
            <a:ext cx="2679192" cy="393192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0" name="Shape 16"/>
          <p:cNvSpPr/>
          <p:nvPr/>
        </p:nvSpPr>
        <p:spPr>
          <a:xfrm>
            <a:off x="7072884" y="2258568"/>
            <a:ext cx="1005840" cy="1005840"/>
          </a:xfrm>
          <a:prstGeom prst="ellipse">
            <a:avLst/>
          </a:prstGeom>
          <a:solidFill>
            <a:srgbClr val="E2F4F2"/>
          </a:solidFill>
          <a:ln/>
        </p:spPr>
      </p:sp>
      <p:pic>
        <p:nvPicPr>
          <p:cNvPr id="21" name="Image 2" descr="preencoded.png">    </p:cNvPr>
          <p:cNvPicPr>
            <a:picLocks noChangeAspect="1"/>
          </p:cNvPicPr>
          <p:nvPr/>
        </p:nvPicPr>
        <p:blipFill>
          <a:blip r:embed="rId3"/>
          <a:stretch>
            <a:fillRect/>
          </a:stretch>
        </p:blipFill>
        <p:spPr>
          <a:xfrm>
            <a:off x="7324344" y="2510028"/>
            <a:ext cx="502920" cy="502920"/>
          </a:xfrm>
          <a:prstGeom prst="rect">
            <a:avLst/>
          </a:prstGeom>
        </p:spPr>
      </p:pic>
      <p:sp>
        <p:nvSpPr>
          <p:cNvPr id="22" name="Text 17"/>
          <p:cNvSpPr/>
          <p:nvPr/>
        </p:nvSpPr>
        <p:spPr>
          <a:xfrm>
            <a:off x="6400800" y="2148840"/>
            <a:ext cx="731520" cy="365760"/>
          </a:xfrm>
          <a:prstGeom prst="rect">
            <a:avLst/>
          </a:prstGeom>
          <a:noFill/>
          <a:ln/>
        </p:spPr>
        <p:txBody>
          <a:bodyPr wrap="square" lIns="0" tIns="0" rIns="0" bIns="0" rtlCol="0" anchor="ctr"/>
          <a:lstStyle/>
          <a:p>
            <a:pPr indent="0" marL="0">
              <a:buNone/>
            </a:pPr>
            <a:r>
              <a:rPr lang="en-US" sz="1500" b="1" dirty="0">
                <a:solidFill>
                  <a:srgbClr val="0E9E96"/>
                </a:solidFill>
                <a:latin typeface="Cambria" pitchFamily="34" charset="0"/>
                <a:ea typeface="Cambria" pitchFamily="34" charset="-122"/>
                <a:cs typeface="Cambria" pitchFamily="34" charset="-120"/>
              </a:rPr>
              <a:t>03</a:t>
            </a:r>
            <a:endParaRPr lang="en-US" sz="1500" dirty="0"/>
          </a:p>
        </p:txBody>
      </p:sp>
      <p:sp>
        <p:nvSpPr>
          <p:cNvPr id="23" name="Text 18"/>
          <p:cNvSpPr/>
          <p:nvPr/>
        </p:nvSpPr>
        <p:spPr>
          <a:xfrm>
            <a:off x="6400800" y="3429000"/>
            <a:ext cx="2350008" cy="640080"/>
          </a:xfrm>
          <a:prstGeom prst="rect">
            <a:avLst/>
          </a:prstGeom>
          <a:noFill/>
          <a:ln/>
        </p:spPr>
        <p:txBody>
          <a:bodyPr wrap="square" lIns="0" tIns="0" rIns="0" bIns="0" rtlCol="0" anchor="ctr"/>
          <a:lstStyle/>
          <a:p>
            <a:pPr algn="ctr" indent="0" marL="0">
              <a:lnSpc>
                <a:spcPct val="100000"/>
              </a:lnSpc>
              <a:buNone/>
            </a:pPr>
            <a:r>
              <a:rPr lang="en-US" sz="1550" b="1" dirty="0">
                <a:solidFill>
                  <a:srgbClr val="1B2440"/>
                </a:solidFill>
                <a:latin typeface="Calibri" pitchFamily="34" charset="0"/>
                <a:ea typeface="Calibri" pitchFamily="34" charset="-122"/>
                <a:cs typeface="Calibri" pitchFamily="34" charset="-120"/>
              </a:rPr>
              <a:t>The fixed bottleneck</a:t>
            </a:r>
            <a:endParaRPr lang="en-US" sz="1550" dirty="0"/>
          </a:p>
        </p:txBody>
      </p:sp>
      <p:sp>
        <p:nvSpPr>
          <p:cNvPr id="24" name="Text 19"/>
          <p:cNvSpPr/>
          <p:nvPr/>
        </p:nvSpPr>
        <p:spPr>
          <a:xfrm>
            <a:off x="6455664" y="4114800"/>
            <a:ext cx="2240280" cy="1645920"/>
          </a:xfrm>
          <a:prstGeom prst="rect">
            <a:avLst/>
          </a:prstGeom>
          <a:noFill/>
          <a:ln/>
        </p:spPr>
        <p:txBody>
          <a:bodyPr wrap="square" lIns="0" tIns="0" rIns="0" bIns="0" rtlCol="0" anchor="ctr"/>
          <a:lstStyle/>
          <a:p>
            <a:pPr algn="ctr" indent="0" marL="0">
              <a:lnSpc>
                <a:spcPct val="113000"/>
              </a:lnSpc>
              <a:buNone/>
            </a:pPr>
            <a:r>
              <a:rPr lang="en-US" sz="1170" dirty="0">
                <a:solidFill>
                  <a:srgbClr val="5A6685"/>
                </a:solidFill>
                <a:latin typeface="Calibri" pitchFamily="34" charset="0"/>
                <a:ea typeface="Calibri" pitchFamily="34" charset="-122"/>
                <a:cs typeface="Calibri" pitchFamily="34" charset="-120"/>
              </a:rPr>
              <a:t>Encoder–decoder squeezes a whole sentence into one vector. Long inputs lose detail catastrophically.</a:t>
            </a:r>
            <a:endParaRPr lang="en-US" sz="1170" dirty="0"/>
          </a:p>
        </p:txBody>
      </p:sp>
      <p:sp>
        <p:nvSpPr>
          <p:cNvPr id="25" name="Shape 20"/>
          <p:cNvSpPr/>
          <p:nvPr/>
        </p:nvSpPr>
        <p:spPr>
          <a:xfrm>
            <a:off x="9070848" y="1965960"/>
            <a:ext cx="2679192" cy="393192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Shape 21"/>
          <p:cNvSpPr/>
          <p:nvPr/>
        </p:nvSpPr>
        <p:spPr>
          <a:xfrm>
            <a:off x="9907524" y="2258568"/>
            <a:ext cx="1005840" cy="1005840"/>
          </a:xfrm>
          <a:prstGeom prst="ellipse">
            <a:avLst/>
          </a:prstGeom>
          <a:solidFill>
            <a:srgbClr val="EEECFB"/>
          </a:solidFill>
          <a:ln/>
        </p:spPr>
      </p:sp>
      <p:pic>
        <p:nvPicPr>
          <p:cNvPr id="27" name="Image 3" descr="preencoded.png">    </p:cNvPr>
          <p:cNvPicPr>
            <a:picLocks noChangeAspect="1"/>
          </p:cNvPicPr>
          <p:nvPr/>
        </p:nvPicPr>
        <p:blipFill>
          <a:blip r:embed="rId4"/>
          <a:stretch>
            <a:fillRect/>
          </a:stretch>
        </p:blipFill>
        <p:spPr>
          <a:xfrm>
            <a:off x="10158984" y="2510028"/>
            <a:ext cx="502920" cy="502920"/>
          </a:xfrm>
          <a:prstGeom prst="rect">
            <a:avLst/>
          </a:prstGeom>
        </p:spPr>
      </p:pic>
      <p:sp>
        <p:nvSpPr>
          <p:cNvPr id="28" name="Text 22"/>
          <p:cNvSpPr/>
          <p:nvPr/>
        </p:nvSpPr>
        <p:spPr>
          <a:xfrm>
            <a:off x="9235440" y="2148840"/>
            <a:ext cx="731520" cy="365760"/>
          </a:xfrm>
          <a:prstGeom prst="rect">
            <a:avLst/>
          </a:prstGeom>
          <a:noFill/>
          <a:ln/>
        </p:spPr>
        <p:txBody>
          <a:bodyPr wrap="square" lIns="0" tIns="0" rIns="0" bIns="0" rtlCol="0" anchor="ctr"/>
          <a:lstStyle/>
          <a:p>
            <a:pPr indent="0" marL="0">
              <a:buNone/>
            </a:pPr>
            <a:r>
              <a:rPr lang="en-US" sz="1500" b="1" dirty="0">
                <a:solidFill>
                  <a:srgbClr val="5B4BE0"/>
                </a:solidFill>
                <a:latin typeface="Cambria" pitchFamily="34" charset="0"/>
                <a:ea typeface="Cambria" pitchFamily="34" charset="-122"/>
                <a:cs typeface="Cambria" pitchFamily="34" charset="-120"/>
              </a:rPr>
              <a:t>04</a:t>
            </a:r>
            <a:endParaRPr lang="en-US" sz="1500" dirty="0"/>
          </a:p>
        </p:txBody>
      </p:sp>
      <p:sp>
        <p:nvSpPr>
          <p:cNvPr id="29" name="Text 23"/>
          <p:cNvSpPr/>
          <p:nvPr/>
        </p:nvSpPr>
        <p:spPr>
          <a:xfrm>
            <a:off x="9235440" y="3429000"/>
            <a:ext cx="2350008" cy="640080"/>
          </a:xfrm>
          <a:prstGeom prst="rect">
            <a:avLst/>
          </a:prstGeom>
          <a:noFill/>
          <a:ln/>
        </p:spPr>
        <p:txBody>
          <a:bodyPr wrap="square" lIns="0" tIns="0" rIns="0" bIns="0" rtlCol="0" anchor="ctr"/>
          <a:lstStyle/>
          <a:p>
            <a:pPr algn="ctr" indent="0" marL="0">
              <a:lnSpc>
                <a:spcPct val="100000"/>
              </a:lnSpc>
              <a:buNone/>
            </a:pPr>
            <a:r>
              <a:rPr lang="en-US" sz="1550" b="1" dirty="0">
                <a:solidFill>
                  <a:srgbClr val="1B2440"/>
                </a:solidFill>
                <a:latin typeface="Calibri" pitchFamily="34" charset="0"/>
                <a:ea typeface="Calibri" pitchFamily="34" charset="-122"/>
                <a:cs typeface="Calibri" pitchFamily="34" charset="-120"/>
              </a:rPr>
              <a:t>Doesn't scale gracefully</a:t>
            </a:r>
            <a:endParaRPr lang="en-US" sz="1550" dirty="0"/>
          </a:p>
        </p:txBody>
      </p:sp>
      <p:sp>
        <p:nvSpPr>
          <p:cNvPr id="30" name="Text 24"/>
          <p:cNvSpPr/>
          <p:nvPr/>
        </p:nvSpPr>
        <p:spPr>
          <a:xfrm>
            <a:off x="9290304" y="4114800"/>
            <a:ext cx="2240280" cy="1645920"/>
          </a:xfrm>
          <a:prstGeom prst="rect">
            <a:avLst/>
          </a:prstGeom>
          <a:noFill/>
          <a:ln/>
        </p:spPr>
        <p:txBody>
          <a:bodyPr wrap="square" lIns="0" tIns="0" rIns="0" bIns="0" rtlCol="0" anchor="ctr"/>
          <a:lstStyle/>
          <a:p>
            <a:pPr algn="ctr" indent="0" marL="0">
              <a:lnSpc>
                <a:spcPct val="113000"/>
              </a:lnSpc>
              <a:buNone/>
            </a:pPr>
            <a:r>
              <a:rPr lang="en-US" sz="1170" dirty="0">
                <a:solidFill>
                  <a:srgbClr val="5A6685"/>
                </a:solidFill>
                <a:latin typeface="Calibri" pitchFamily="34" charset="0"/>
                <a:ea typeface="Calibri" pitchFamily="34" charset="-122"/>
                <a:cs typeface="Calibri" pitchFamily="34" charset="-120"/>
              </a:rPr>
              <a:t>More data/parameters gave diminishing returns — recurrence is the wrong shape for massive scaling.</a:t>
            </a:r>
            <a:endParaRPr lang="en-US" sz="11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2014 · THE SEED IDEA</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let the model look where it matters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Bahdanau, Cho &amp; Bengio, 'Neural Machine Translation by Jointly Learning to Align and Translate', arXiv:1409.0473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66928" y="1554480"/>
            <a:ext cx="566928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120640" cy="640080"/>
          </a:xfrm>
          <a:prstGeom prst="rect">
            <a:avLst/>
          </a:prstGeom>
          <a:noFill/>
          <a:ln/>
        </p:spPr>
        <p:txBody>
          <a:bodyPr wrap="square" lIns="0" tIns="0" rIns="0" bIns="0" rtlCol="0" anchor="ctr"/>
          <a:lstStyle/>
          <a:p>
            <a:pPr indent="0" marL="0">
              <a:lnSpc>
                <a:spcPct val="100000"/>
              </a:lnSpc>
              <a:buNone/>
            </a:pPr>
            <a:r>
              <a:rPr lang="en-US" sz="1550" b="1" dirty="0">
                <a:solidFill>
                  <a:srgbClr val="1B2440"/>
                </a:solidFill>
                <a:latin typeface="Calibri" pitchFamily="34" charset="0"/>
                <a:ea typeface="Calibri" pitchFamily="34" charset="-122"/>
                <a:cs typeface="Calibri" pitchFamily="34" charset="-120"/>
              </a:rPr>
              <a:t>From one bottleneck vector → a weighted look-up</a:t>
            </a:r>
            <a:endParaRPr lang="en-US" sz="1550" dirty="0"/>
          </a:p>
        </p:txBody>
      </p:sp>
      <p:sp>
        <p:nvSpPr>
          <p:cNvPr id="8" name="Text 6"/>
          <p:cNvSpPr/>
          <p:nvPr/>
        </p:nvSpPr>
        <p:spPr>
          <a:xfrm>
            <a:off x="841248" y="2377440"/>
            <a:ext cx="5166360" cy="1097280"/>
          </a:xfrm>
          <a:prstGeom prst="rect">
            <a:avLst/>
          </a:prstGeom>
          <a:noFill/>
          <a:ln/>
        </p:spPr>
        <p:txBody>
          <a:bodyPr wrap="square" lIns="0" tIns="0" rIns="0" bIns="0" rtlCol="0" anchor="ctr"/>
          <a:lstStyle/>
          <a:p>
            <a:pPr indent="0" marL="0">
              <a:lnSpc>
                <a:spcPct val="114000"/>
              </a:lnSpc>
              <a:buNone/>
            </a:pPr>
            <a:r>
              <a:rPr lang="en-US" sz="1270" dirty="0">
                <a:solidFill>
                  <a:srgbClr val="5A6685"/>
                </a:solidFill>
                <a:latin typeface="Calibri" pitchFamily="34" charset="0"/>
                <a:ea typeface="Calibri" pitchFamily="34" charset="-122"/>
                <a:cs typeface="Calibri" pitchFamily="34" charset="-120"/>
              </a:rPr>
              <a:t>Instead of cramming a sentence into a single vector, attention lets the decoder, at every output step, take a weighted blend of all input states — focusing on the relevant source words.</a:t>
            </a:r>
            <a:endParaRPr lang="en-US" sz="1270" dirty="0"/>
          </a:p>
        </p:txBody>
      </p:sp>
      <p:sp>
        <p:nvSpPr>
          <p:cNvPr id="9" name="Text 7"/>
          <p:cNvSpPr/>
          <p:nvPr/>
        </p:nvSpPr>
        <p:spPr>
          <a:xfrm>
            <a:off x="841248" y="3611880"/>
            <a:ext cx="5166360" cy="2103120"/>
          </a:xfrm>
          <a:prstGeom prst="rect">
            <a:avLst/>
          </a:prstGeom>
          <a:noFill/>
          <a:ln/>
        </p:spPr>
        <p:txBody>
          <a:bodyPr wrap="square" lIns="0" tIns="0" rIns="0" bIns="0" rtlCol="0" anchor="t"/>
          <a:lstStyle/>
          <a:p>
            <a:pPr indent="0" marL="0">
              <a:lnSpc>
                <a:spcPct val="116000"/>
              </a:lnSpc>
              <a:buNone/>
            </a:pPr>
            <a:r>
              <a:rPr lang="en-US" sz="1350" b="1" dirty="0">
                <a:solidFill>
                  <a:srgbClr val="5B4BE0"/>
                </a:solidFill>
                <a:latin typeface="Calibri" pitchFamily="34" charset="0"/>
                <a:ea typeface="Calibri" pitchFamily="34" charset="-122"/>
                <a:cs typeface="Calibri" pitchFamily="34" charset="-120"/>
              </a:rPr>
              <a:t>Key insight that the Transformer took to the limit:  </a:t>
            </a:r>
            <a:pPr indent="0" marL="0">
              <a:lnSpc>
                <a:spcPct val="116000"/>
              </a:lnSpc>
              <a:buNone/>
            </a:pPr>
            <a:r>
              <a:rPr lang="en-US" sz="1350" dirty="0">
                <a:solidFill>
                  <a:srgbClr val="1B2440"/>
                </a:solidFill>
                <a:latin typeface="Calibri" pitchFamily="34" charset="0"/>
                <a:ea typeface="Calibri" pitchFamily="34" charset="-122"/>
                <a:cs typeface="Calibri" pitchFamily="34" charset="-120"/>
              </a:rPr>
              <a:t>if attention is this useful as a helper, what if it is the </a:t>
            </a:r>
            <a:pPr indent="0" marL="0">
              <a:lnSpc>
                <a:spcPct val="116000"/>
              </a:lnSpc>
              <a:buNone/>
            </a:pPr>
            <a:r>
              <a:rPr lang="en-US" sz="1350" b="1" i="1" dirty="0">
                <a:solidFill>
                  <a:srgbClr val="5B4BE0"/>
                </a:solidFill>
                <a:latin typeface="Calibri" pitchFamily="34" charset="0"/>
                <a:ea typeface="Calibri" pitchFamily="34" charset="-122"/>
                <a:cs typeface="Calibri" pitchFamily="34" charset="-120"/>
              </a:rPr>
              <a:t>only</a:t>
            </a:r>
            <a:pPr indent="0" marL="0">
              <a:lnSpc>
                <a:spcPct val="116000"/>
              </a:lnSpc>
              <a:buNone/>
            </a:pPr>
            <a:r>
              <a:rPr lang="en-US" sz="1350" dirty="0">
                <a:solidFill>
                  <a:srgbClr val="1B2440"/>
                </a:solidFill>
                <a:latin typeface="Calibri" pitchFamily="34" charset="0"/>
                <a:ea typeface="Calibri" pitchFamily="34" charset="-122"/>
                <a:cs typeface="Calibri" pitchFamily="34" charset="-120"/>
              </a:rPr>
              <a:t> thing the model uses?</a:t>
            </a:r>
            <a:endParaRPr lang="en-US" sz="1350" dirty="0"/>
          </a:p>
        </p:txBody>
      </p:sp>
      <p:sp>
        <p:nvSpPr>
          <p:cNvPr id="10" name="Shape 8"/>
          <p:cNvSpPr/>
          <p:nvPr/>
        </p:nvSpPr>
        <p:spPr>
          <a:xfrm>
            <a:off x="6537960" y="1554480"/>
            <a:ext cx="507492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Text 9"/>
          <p:cNvSpPr/>
          <p:nvPr/>
        </p:nvSpPr>
        <p:spPr>
          <a:xfrm>
            <a:off x="6766560" y="1737360"/>
            <a:ext cx="4617720" cy="292608"/>
          </a:xfrm>
          <a:prstGeom prst="rect">
            <a:avLst/>
          </a:prstGeom>
          <a:noFill/>
          <a:ln/>
        </p:spPr>
        <p:txBody>
          <a:bodyPr wrap="square" lIns="0" tIns="0" rIns="0" bIns="0" rtlCol="0" anchor="ctr"/>
          <a:lstStyle/>
          <a:p>
            <a:pPr algn="ctr" indent="0" marL="0">
              <a:buNone/>
            </a:pPr>
            <a:r>
              <a:rPr lang="en-US" sz="1250" b="1" dirty="0">
                <a:solidFill>
                  <a:srgbClr val="1B2440"/>
                </a:solidFill>
                <a:latin typeface="Calibri" pitchFamily="34" charset="0"/>
                <a:ea typeface="Calibri" pitchFamily="34" charset="-122"/>
                <a:cs typeface="Calibri" pitchFamily="34" charset="-120"/>
              </a:rPr>
              <a:t>Soft alignment (EN → FR), illustrative</a:t>
            </a:r>
            <a:endParaRPr lang="en-US" sz="1250" dirty="0"/>
          </a:p>
        </p:txBody>
      </p:sp>
      <p:sp>
        <p:nvSpPr>
          <p:cNvPr id="12" name="Text 10"/>
          <p:cNvSpPr/>
          <p:nvPr/>
        </p:nvSpPr>
        <p:spPr>
          <a:xfrm>
            <a:off x="7818120" y="2039112"/>
            <a:ext cx="868680" cy="292608"/>
          </a:xfrm>
          <a:prstGeom prst="rect">
            <a:avLst/>
          </a:prstGeom>
          <a:noFill/>
          <a:ln/>
        </p:spPr>
        <p:txBody>
          <a:bodyPr wrap="square" lIns="0" tIns="0" rIns="0" bIns="0" rtlCol="0" anchor="ctr"/>
          <a:lstStyle/>
          <a:p>
            <a:pPr algn="ctr" indent="0" marL="0">
              <a:buNone/>
            </a:pPr>
            <a:r>
              <a:rPr lang="en-US" sz="1150" b="1" dirty="0">
                <a:solidFill>
                  <a:srgbClr val="5A6685"/>
                </a:solidFill>
                <a:latin typeface="Calibri" pitchFamily="34" charset="0"/>
                <a:ea typeface="Calibri" pitchFamily="34" charset="-122"/>
                <a:cs typeface="Calibri" pitchFamily="34" charset="-120"/>
              </a:rPr>
              <a:t>the</a:t>
            </a:r>
            <a:endParaRPr lang="en-US" sz="1150" dirty="0"/>
          </a:p>
        </p:txBody>
      </p:sp>
      <p:sp>
        <p:nvSpPr>
          <p:cNvPr id="13" name="Text 11"/>
          <p:cNvSpPr/>
          <p:nvPr/>
        </p:nvSpPr>
        <p:spPr>
          <a:xfrm>
            <a:off x="8686800" y="2039112"/>
            <a:ext cx="868680" cy="292608"/>
          </a:xfrm>
          <a:prstGeom prst="rect">
            <a:avLst/>
          </a:prstGeom>
          <a:noFill/>
          <a:ln/>
        </p:spPr>
        <p:txBody>
          <a:bodyPr wrap="square" lIns="0" tIns="0" rIns="0" bIns="0" rtlCol="0" anchor="ctr"/>
          <a:lstStyle/>
          <a:p>
            <a:pPr algn="ctr" indent="0" marL="0">
              <a:buNone/>
            </a:pPr>
            <a:r>
              <a:rPr lang="en-US" sz="1150" b="1" dirty="0">
                <a:solidFill>
                  <a:srgbClr val="5A6685"/>
                </a:solidFill>
                <a:latin typeface="Calibri" pitchFamily="34" charset="0"/>
                <a:ea typeface="Calibri" pitchFamily="34" charset="-122"/>
                <a:cs typeface="Calibri" pitchFamily="34" charset="-120"/>
              </a:rPr>
              <a:t>white</a:t>
            </a:r>
            <a:endParaRPr lang="en-US" sz="1150" dirty="0"/>
          </a:p>
        </p:txBody>
      </p:sp>
      <p:sp>
        <p:nvSpPr>
          <p:cNvPr id="14" name="Text 12"/>
          <p:cNvSpPr/>
          <p:nvPr/>
        </p:nvSpPr>
        <p:spPr>
          <a:xfrm>
            <a:off x="9555480" y="2039112"/>
            <a:ext cx="868680" cy="292608"/>
          </a:xfrm>
          <a:prstGeom prst="rect">
            <a:avLst/>
          </a:prstGeom>
          <a:noFill/>
          <a:ln/>
        </p:spPr>
        <p:txBody>
          <a:bodyPr wrap="square" lIns="0" tIns="0" rIns="0" bIns="0" rtlCol="0" anchor="ctr"/>
          <a:lstStyle/>
          <a:p>
            <a:pPr algn="ctr" indent="0" marL="0">
              <a:buNone/>
            </a:pPr>
            <a:r>
              <a:rPr lang="en-US" sz="1150" b="1" dirty="0">
                <a:solidFill>
                  <a:srgbClr val="5A6685"/>
                </a:solidFill>
                <a:latin typeface="Calibri" pitchFamily="34" charset="0"/>
                <a:ea typeface="Calibri" pitchFamily="34" charset="-122"/>
                <a:cs typeface="Calibri" pitchFamily="34" charset="-120"/>
              </a:rPr>
              <a:t>house</a:t>
            </a:r>
            <a:endParaRPr lang="en-US" sz="1150" dirty="0"/>
          </a:p>
        </p:txBody>
      </p:sp>
      <p:sp>
        <p:nvSpPr>
          <p:cNvPr id="15" name="Text 13"/>
          <p:cNvSpPr/>
          <p:nvPr/>
        </p:nvSpPr>
        <p:spPr>
          <a:xfrm>
            <a:off x="6720840" y="2679192"/>
            <a:ext cx="1051560" cy="310896"/>
          </a:xfrm>
          <a:prstGeom prst="rect">
            <a:avLst/>
          </a:prstGeom>
          <a:noFill/>
          <a:ln/>
        </p:spPr>
        <p:txBody>
          <a:bodyPr wrap="square" lIns="0" tIns="0" rIns="0" bIns="0" rtlCol="0" anchor="ctr"/>
          <a:lstStyle/>
          <a:p>
            <a:pPr algn="r" indent="0" marL="0">
              <a:buNone/>
            </a:pPr>
            <a:r>
              <a:rPr lang="en-US" sz="1150" b="1" dirty="0">
                <a:solidFill>
                  <a:srgbClr val="5A6685"/>
                </a:solidFill>
                <a:latin typeface="Calibri" pitchFamily="34" charset="0"/>
                <a:ea typeface="Calibri" pitchFamily="34" charset="-122"/>
                <a:cs typeface="Calibri" pitchFamily="34" charset="-120"/>
              </a:rPr>
              <a:t>la</a:t>
            </a:r>
            <a:endParaRPr lang="en-US" sz="1150" dirty="0"/>
          </a:p>
        </p:txBody>
      </p:sp>
      <p:sp>
        <p:nvSpPr>
          <p:cNvPr id="16" name="Shape 14"/>
          <p:cNvSpPr/>
          <p:nvPr/>
        </p:nvSpPr>
        <p:spPr>
          <a:xfrm>
            <a:off x="7818120" y="2423160"/>
            <a:ext cx="813816" cy="813816"/>
          </a:xfrm>
          <a:prstGeom prst="rect">
            <a:avLst/>
          </a:prstGeom>
          <a:solidFill>
            <a:srgbClr val="5B4BE0"/>
          </a:solidFill>
          <a:ln w="19050">
            <a:solidFill>
              <a:srgbClr val="FFFFFF"/>
            </a:solidFill>
            <a:prstDash val="solid"/>
          </a:ln>
        </p:spPr>
      </p:sp>
      <p:sp>
        <p:nvSpPr>
          <p:cNvPr id="17" name="Text 15"/>
          <p:cNvSpPr/>
          <p:nvPr/>
        </p:nvSpPr>
        <p:spPr>
          <a:xfrm>
            <a:off x="7818120" y="2423160"/>
            <a:ext cx="813816" cy="81381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18" name="Shape 16"/>
          <p:cNvSpPr/>
          <p:nvPr/>
        </p:nvSpPr>
        <p:spPr>
          <a:xfrm>
            <a:off x="8686800" y="2423160"/>
            <a:ext cx="813816" cy="813816"/>
          </a:xfrm>
          <a:prstGeom prst="rect">
            <a:avLst/>
          </a:prstGeom>
          <a:solidFill>
            <a:srgbClr val="EFEDFB"/>
          </a:solidFill>
          <a:ln w="19050">
            <a:solidFill>
              <a:srgbClr val="FFFFFF"/>
            </a:solidFill>
            <a:prstDash val="solid"/>
          </a:ln>
        </p:spPr>
      </p:sp>
      <p:sp>
        <p:nvSpPr>
          <p:cNvPr id="19" name="Text 17"/>
          <p:cNvSpPr/>
          <p:nvPr/>
        </p:nvSpPr>
        <p:spPr>
          <a:xfrm>
            <a:off x="8686800" y="242316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20" name="Shape 18"/>
          <p:cNvSpPr/>
          <p:nvPr/>
        </p:nvSpPr>
        <p:spPr>
          <a:xfrm>
            <a:off x="9555480" y="2423160"/>
            <a:ext cx="813816" cy="813816"/>
          </a:xfrm>
          <a:prstGeom prst="rect">
            <a:avLst/>
          </a:prstGeom>
          <a:solidFill>
            <a:srgbClr val="EFEDFB"/>
          </a:solidFill>
          <a:ln w="19050">
            <a:solidFill>
              <a:srgbClr val="FFFFFF"/>
            </a:solidFill>
            <a:prstDash val="solid"/>
          </a:ln>
        </p:spPr>
      </p:sp>
      <p:sp>
        <p:nvSpPr>
          <p:cNvPr id="21" name="Text 19"/>
          <p:cNvSpPr/>
          <p:nvPr/>
        </p:nvSpPr>
        <p:spPr>
          <a:xfrm>
            <a:off x="9555480" y="242316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22" name="Text 20"/>
          <p:cNvSpPr/>
          <p:nvPr/>
        </p:nvSpPr>
        <p:spPr>
          <a:xfrm>
            <a:off x="6720840" y="3547872"/>
            <a:ext cx="1051560" cy="310896"/>
          </a:xfrm>
          <a:prstGeom prst="rect">
            <a:avLst/>
          </a:prstGeom>
          <a:noFill/>
          <a:ln/>
        </p:spPr>
        <p:txBody>
          <a:bodyPr wrap="square" lIns="0" tIns="0" rIns="0" bIns="0" rtlCol="0" anchor="ctr"/>
          <a:lstStyle/>
          <a:p>
            <a:pPr algn="r" indent="0" marL="0">
              <a:buNone/>
            </a:pPr>
            <a:r>
              <a:rPr lang="en-US" sz="1150" b="1" dirty="0">
                <a:solidFill>
                  <a:srgbClr val="5A6685"/>
                </a:solidFill>
                <a:latin typeface="Calibri" pitchFamily="34" charset="0"/>
                <a:ea typeface="Calibri" pitchFamily="34" charset="-122"/>
                <a:cs typeface="Calibri" pitchFamily="34" charset="-120"/>
              </a:rPr>
              <a:t>maison</a:t>
            </a:r>
            <a:endParaRPr lang="en-US" sz="1150" dirty="0"/>
          </a:p>
        </p:txBody>
      </p:sp>
      <p:sp>
        <p:nvSpPr>
          <p:cNvPr id="23" name="Shape 21"/>
          <p:cNvSpPr/>
          <p:nvPr/>
        </p:nvSpPr>
        <p:spPr>
          <a:xfrm>
            <a:off x="7818120" y="3291840"/>
            <a:ext cx="813816" cy="813816"/>
          </a:xfrm>
          <a:prstGeom prst="rect">
            <a:avLst/>
          </a:prstGeom>
          <a:solidFill>
            <a:srgbClr val="EFEDFB"/>
          </a:solidFill>
          <a:ln w="19050">
            <a:solidFill>
              <a:srgbClr val="FFFFFF"/>
            </a:solidFill>
            <a:prstDash val="solid"/>
          </a:ln>
        </p:spPr>
      </p:sp>
      <p:sp>
        <p:nvSpPr>
          <p:cNvPr id="24" name="Text 22"/>
          <p:cNvSpPr/>
          <p:nvPr/>
        </p:nvSpPr>
        <p:spPr>
          <a:xfrm>
            <a:off x="7818120" y="329184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25" name="Shape 23"/>
          <p:cNvSpPr/>
          <p:nvPr/>
        </p:nvSpPr>
        <p:spPr>
          <a:xfrm>
            <a:off x="8686800" y="3291840"/>
            <a:ext cx="813816" cy="813816"/>
          </a:xfrm>
          <a:prstGeom prst="rect">
            <a:avLst/>
          </a:prstGeom>
          <a:solidFill>
            <a:srgbClr val="D7D2F7"/>
          </a:solidFill>
          <a:ln w="19050">
            <a:solidFill>
              <a:srgbClr val="FFFFFF"/>
            </a:solidFill>
            <a:prstDash val="solid"/>
          </a:ln>
        </p:spPr>
      </p:sp>
      <p:sp>
        <p:nvSpPr>
          <p:cNvPr id="26" name="Text 24"/>
          <p:cNvSpPr/>
          <p:nvPr/>
        </p:nvSpPr>
        <p:spPr>
          <a:xfrm>
            <a:off x="8686800" y="329184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27" name="Shape 25"/>
          <p:cNvSpPr/>
          <p:nvPr/>
        </p:nvSpPr>
        <p:spPr>
          <a:xfrm>
            <a:off x="9555480" y="3291840"/>
            <a:ext cx="813816" cy="813816"/>
          </a:xfrm>
          <a:prstGeom prst="rect">
            <a:avLst/>
          </a:prstGeom>
          <a:solidFill>
            <a:srgbClr val="5B4BE0"/>
          </a:solidFill>
          <a:ln w="19050">
            <a:solidFill>
              <a:srgbClr val="FFFFFF"/>
            </a:solidFill>
            <a:prstDash val="solid"/>
          </a:ln>
        </p:spPr>
      </p:sp>
      <p:sp>
        <p:nvSpPr>
          <p:cNvPr id="28" name="Text 26"/>
          <p:cNvSpPr/>
          <p:nvPr/>
        </p:nvSpPr>
        <p:spPr>
          <a:xfrm>
            <a:off x="9555480" y="3291840"/>
            <a:ext cx="813816" cy="81381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29" name="Text 27"/>
          <p:cNvSpPr/>
          <p:nvPr/>
        </p:nvSpPr>
        <p:spPr>
          <a:xfrm>
            <a:off x="6720840" y="4416552"/>
            <a:ext cx="1051560" cy="310896"/>
          </a:xfrm>
          <a:prstGeom prst="rect">
            <a:avLst/>
          </a:prstGeom>
          <a:noFill/>
          <a:ln/>
        </p:spPr>
        <p:txBody>
          <a:bodyPr wrap="square" lIns="0" tIns="0" rIns="0" bIns="0" rtlCol="0" anchor="ctr"/>
          <a:lstStyle/>
          <a:p>
            <a:pPr algn="r" indent="0" marL="0">
              <a:buNone/>
            </a:pPr>
            <a:r>
              <a:rPr lang="en-US" sz="1150" b="1" dirty="0">
                <a:solidFill>
                  <a:srgbClr val="5A6685"/>
                </a:solidFill>
                <a:latin typeface="Calibri" pitchFamily="34" charset="0"/>
                <a:ea typeface="Calibri" pitchFamily="34" charset="-122"/>
                <a:cs typeface="Calibri" pitchFamily="34" charset="-120"/>
              </a:rPr>
              <a:t>blanche</a:t>
            </a:r>
            <a:endParaRPr lang="en-US" sz="1150" dirty="0"/>
          </a:p>
        </p:txBody>
      </p:sp>
      <p:sp>
        <p:nvSpPr>
          <p:cNvPr id="30" name="Shape 28"/>
          <p:cNvSpPr/>
          <p:nvPr/>
        </p:nvSpPr>
        <p:spPr>
          <a:xfrm>
            <a:off x="7818120" y="4160520"/>
            <a:ext cx="813816" cy="813816"/>
          </a:xfrm>
          <a:prstGeom prst="rect">
            <a:avLst/>
          </a:prstGeom>
          <a:solidFill>
            <a:srgbClr val="EFEDFB"/>
          </a:solidFill>
          <a:ln w="19050">
            <a:solidFill>
              <a:srgbClr val="FFFFFF"/>
            </a:solidFill>
            <a:prstDash val="solid"/>
          </a:ln>
        </p:spPr>
      </p:sp>
      <p:sp>
        <p:nvSpPr>
          <p:cNvPr id="31" name="Text 29"/>
          <p:cNvSpPr/>
          <p:nvPr/>
        </p:nvSpPr>
        <p:spPr>
          <a:xfrm>
            <a:off x="7818120" y="416052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32" name="Shape 30"/>
          <p:cNvSpPr/>
          <p:nvPr/>
        </p:nvSpPr>
        <p:spPr>
          <a:xfrm>
            <a:off x="8686800" y="4160520"/>
            <a:ext cx="813816" cy="813816"/>
          </a:xfrm>
          <a:prstGeom prst="rect">
            <a:avLst/>
          </a:prstGeom>
          <a:solidFill>
            <a:srgbClr val="5B4BE0"/>
          </a:solidFill>
          <a:ln w="19050">
            <a:solidFill>
              <a:srgbClr val="FFFFFF"/>
            </a:solidFill>
            <a:prstDash val="solid"/>
          </a:ln>
        </p:spPr>
      </p:sp>
      <p:sp>
        <p:nvSpPr>
          <p:cNvPr id="33" name="Text 31"/>
          <p:cNvSpPr/>
          <p:nvPr/>
        </p:nvSpPr>
        <p:spPr>
          <a:xfrm>
            <a:off x="8686800" y="4160520"/>
            <a:ext cx="813816" cy="81381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4" name="Shape 32"/>
          <p:cNvSpPr/>
          <p:nvPr/>
        </p:nvSpPr>
        <p:spPr>
          <a:xfrm>
            <a:off x="9555480" y="4160520"/>
            <a:ext cx="813816" cy="813816"/>
          </a:xfrm>
          <a:prstGeom prst="rect">
            <a:avLst/>
          </a:prstGeom>
          <a:solidFill>
            <a:srgbClr val="EFEDFB"/>
          </a:solidFill>
          <a:ln w="19050">
            <a:solidFill>
              <a:srgbClr val="FFFFFF"/>
            </a:solidFill>
            <a:prstDash val="solid"/>
          </a:ln>
        </p:spPr>
      </p:sp>
      <p:sp>
        <p:nvSpPr>
          <p:cNvPr id="35" name="Text 33"/>
          <p:cNvSpPr/>
          <p:nvPr/>
        </p:nvSpPr>
        <p:spPr>
          <a:xfrm>
            <a:off x="9555480" y="4160520"/>
            <a:ext cx="813816" cy="813816"/>
          </a:xfrm>
          <a:prstGeom prst="rect">
            <a:avLst/>
          </a:prstGeom>
          <a:noFill/>
          <a:ln/>
        </p:spPr>
        <p:txBody>
          <a:bodyPr wrap="square" lIns="0" tIns="0" rIns="0" bIns="0" rtlCol="0" anchor="ctr"/>
          <a:lstStyle/>
          <a:p>
            <a:pPr algn="ctr" indent="0" marL="0">
              <a:buNone/>
            </a:pPr>
            <a:r>
              <a:rPr lang="en-US" sz="1100" b="1" dirty="0">
                <a:solidFill>
                  <a:srgbClr val="8A93AB"/>
                </a:solidFill>
                <a:latin typeface="Calibri" pitchFamily="34" charset="0"/>
                <a:ea typeface="Calibri" pitchFamily="34" charset="-122"/>
                <a:cs typeface="Calibri" pitchFamily="34" charset="-120"/>
              </a:rPr>
              <a:t>0.1</a:t>
            </a:r>
            <a:endParaRPr lang="en-US" sz="1100" dirty="0"/>
          </a:p>
        </p:txBody>
      </p:sp>
      <p:sp>
        <p:nvSpPr>
          <p:cNvPr id="36" name="Text 34"/>
          <p:cNvSpPr/>
          <p:nvPr/>
        </p:nvSpPr>
        <p:spPr>
          <a:xfrm>
            <a:off x="6766560" y="5486400"/>
            <a:ext cx="4617720" cy="502920"/>
          </a:xfrm>
          <a:prstGeom prst="rect">
            <a:avLst/>
          </a:prstGeom>
          <a:noFill/>
          <a:ln/>
        </p:spPr>
        <p:txBody>
          <a:bodyPr wrap="square" lIns="0" tIns="0" rIns="0" bIns="0" rtlCol="0" anchor="ctr"/>
          <a:lstStyle/>
          <a:p>
            <a:pPr algn="ctr" indent="0" marL="0">
              <a:lnSpc>
                <a:spcPct val="108000"/>
              </a:lnSpc>
              <a:buNone/>
            </a:pPr>
            <a:r>
              <a:rPr lang="en-US" sz="1050" i="1" dirty="0">
                <a:solidFill>
                  <a:srgbClr val="5A6685"/>
                </a:solidFill>
                <a:latin typeface="Calibri" pitchFamily="34" charset="0"/>
                <a:ea typeface="Calibri" pitchFamily="34" charset="-122"/>
                <a:cs typeface="Calibri" pitchFamily="34" charset="-120"/>
              </a:rPr>
              <a:t>Darker = higher attention weight. Note 'blanche' correctly aligns to 'white' despite the word-order flip.</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2</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2</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2017 —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Google Brain publishes 'Attention Is All You Need'. By throwing away recurrence and keeping only attention, it becomes parallelisable, long-range, and — crucially — scalable. Every model in this talk descends from it.</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LANDMARK PAPER</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Is All You Need' — Vaswani et al., June 2017</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arXiv:1706.03762 · NeurIPS 2017 · citation count via Wikipedia (Jan 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554480"/>
            <a:ext cx="553212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46988" y="1988820"/>
            <a:ext cx="411480" cy="411480"/>
          </a:xfrm>
          <a:prstGeom prst="rect">
            <a:avLst/>
          </a:prstGeom>
        </p:spPr>
      </p:pic>
      <p:sp>
        <p:nvSpPr>
          <p:cNvPr id="9" name="Text 6"/>
          <p:cNvSpPr/>
          <p:nvPr/>
        </p:nvSpPr>
        <p:spPr>
          <a:xfrm>
            <a:off x="1801368" y="1810512"/>
            <a:ext cx="41148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The one-line thesis</a:t>
            </a:r>
            <a:endParaRPr lang="en-US" sz="1550" dirty="0"/>
          </a:p>
        </p:txBody>
      </p:sp>
      <p:sp>
        <p:nvSpPr>
          <p:cNvPr id="10" name="Text 7"/>
          <p:cNvSpPr/>
          <p:nvPr/>
        </p:nvSpPr>
        <p:spPr>
          <a:xfrm>
            <a:off x="1801368" y="2139696"/>
            <a:ext cx="4160520" cy="548640"/>
          </a:xfrm>
          <a:prstGeom prst="rect">
            <a:avLst/>
          </a:prstGeom>
          <a:noFill/>
          <a:ln/>
        </p:spPr>
        <p:txBody>
          <a:bodyPr wrap="square" lIns="0" tIns="0" rIns="0" bIns="0" rtlCol="0" anchor="ctr"/>
          <a:lstStyle/>
          <a:p>
            <a:pPr indent="0" marL="0">
              <a:lnSpc>
                <a:spcPct val="105000"/>
              </a:lnSpc>
              <a:buNone/>
            </a:pPr>
            <a:r>
              <a:rPr lang="en-US" sz="1250" i="1" dirty="0">
                <a:solidFill>
                  <a:srgbClr val="5B4BE0"/>
                </a:solidFill>
                <a:latin typeface="Calibri" pitchFamily="34" charset="0"/>
                <a:ea typeface="Calibri" pitchFamily="34" charset="-122"/>
                <a:cs typeface="Calibri" pitchFamily="34" charset="-120"/>
              </a:rPr>
              <a:t>"…dispensing with recurrence and convolutions entirely."</a:t>
            </a:r>
            <a:endParaRPr lang="en-US" sz="1250" dirty="0"/>
          </a:p>
        </p:txBody>
      </p:sp>
      <p:sp>
        <p:nvSpPr>
          <p:cNvPr id="11" name="Text 8"/>
          <p:cNvSpPr/>
          <p:nvPr/>
        </p:nvSpPr>
        <p:spPr>
          <a:xfrm>
            <a:off x="859536" y="2834640"/>
            <a:ext cx="5029200" cy="21031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Replaces RNN/CNN backbones with stacked self-attention</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Every token attends to every token in one parallel step</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Constant path length between any two positions</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Originally built for English→German / English→French translation</a:t>
            </a:r>
            <a:endParaRPr lang="en-US" sz="1260" dirty="0"/>
          </a:p>
        </p:txBody>
      </p:sp>
      <p:sp>
        <p:nvSpPr>
          <p:cNvPr id="12" name="Text 9"/>
          <p:cNvSpPr/>
          <p:nvPr/>
        </p:nvSpPr>
        <p:spPr>
          <a:xfrm>
            <a:off x="859536" y="5532120"/>
            <a:ext cx="5029200" cy="310896"/>
          </a:xfrm>
          <a:prstGeom prst="rect">
            <a:avLst/>
          </a:prstGeom>
          <a:noFill/>
          <a:ln/>
        </p:spPr>
        <p:txBody>
          <a:bodyPr wrap="square" lIns="0" tIns="0" rIns="0" bIns="0" rtlCol="0" anchor="ctr"/>
          <a:lstStyle/>
          <a:p>
            <a:pPr indent="0" marL="0">
              <a:buNone/>
            </a:pPr>
            <a:r>
              <a:rPr lang="en-US" sz="1100" i="1" dirty="0">
                <a:solidFill>
                  <a:srgbClr val="5A6685"/>
                </a:solidFill>
                <a:latin typeface="Calibri" pitchFamily="34" charset="0"/>
                <a:ea typeface="Calibri" pitchFamily="34" charset="-122"/>
                <a:cs typeface="Calibri" pitchFamily="34" charset="-120"/>
              </a:rPr>
              <a:t>8 authors · Google Brain / Google Research / U. Toronto</a:t>
            </a:r>
            <a:endParaRPr lang="en-US" sz="1100" dirty="0"/>
          </a:p>
        </p:txBody>
      </p:sp>
      <p:sp>
        <p:nvSpPr>
          <p:cNvPr id="13" name="Shape 10"/>
          <p:cNvSpPr/>
          <p:nvPr/>
        </p:nvSpPr>
        <p:spPr>
          <a:xfrm>
            <a:off x="6537960" y="155448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Text 11"/>
          <p:cNvSpPr/>
          <p:nvPr/>
        </p:nvSpPr>
        <p:spPr>
          <a:xfrm>
            <a:off x="6766560" y="1719072"/>
            <a:ext cx="2103120" cy="1051560"/>
          </a:xfrm>
          <a:prstGeom prst="rect">
            <a:avLst/>
          </a:prstGeom>
          <a:noFill/>
          <a:ln/>
        </p:spPr>
        <p:txBody>
          <a:bodyPr wrap="square" lIns="0" tIns="0" rIns="0" bIns="0" rtlCol="0" anchor="ctr"/>
          <a:lstStyle/>
          <a:p>
            <a:pPr algn="l" indent="0" marL="0">
              <a:buNone/>
            </a:pPr>
            <a:r>
              <a:rPr lang="en-US" sz="4000" b="1" dirty="0">
                <a:solidFill>
                  <a:srgbClr val="5B4BE0"/>
                </a:solidFill>
                <a:latin typeface="Cambria" pitchFamily="34" charset="0"/>
                <a:ea typeface="Cambria" pitchFamily="34" charset="-122"/>
                <a:cs typeface="Cambria" pitchFamily="34" charset="-120"/>
              </a:rPr>
              <a:t>28.4</a:t>
            </a:r>
            <a:endParaRPr lang="en-US" sz="4000" dirty="0"/>
          </a:p>
        </p:txBody>
      </p:sp>
      <p:sp>
        <p:nvSpPr>
          <p:cNvPr id="15" name="Shape 12"/>
          <p:cNvSpPr/>
          <p:nvPr/>
        </p:nvSpPr>
        <p:spPr>
          <a:xfrm>
            <a:off x="8869680" y="1810512"/>
            <a:ext cx="0" cy="868680"/>
          </a:xfrm>
          <a:prstGeom prst="line">
            <a:avLst/>
          </a:prstGeom>
          <a:noFill/>
          <a:ln w="25400">
            <a:solidFill>
              <a:srgbClr val="EEECFB"/>
            </a:solidFill>
            <a:prstDash val="solid"/>
          </a:ln>
        </p:spPr>
      </p:sp>
      <p:sp>
        <p:nvSpPr>
          <p:cNvPr id="16" name="Text 13"/>
          <p:cNvSpPr/>
          <p:nvPr/>
        </p:nvSpPr>
        <p:spPr>
          <a:xfrm>
            <a:off x="9052560" y="173736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BLEU on WMT'14 EN→DE — a new state of the art, beating prior ensembles by &gt;2 BLEU</a:t>
            </a:r>
            <a:endParaRPr lang="en-US" sz="1230" dirty="0"/>
          </a:p>
        </p:txBody>
      </p:sp>
      <p:sp>
        <p:nvSpPr>
          <p:cNvPr id="17" name="Shape 14"/>
          <p:cNvSpPr/>
          <p:nvPr/>
        </p:nvSpPr>
        <p:spPr>
          <a:xfrm>
            <a:off x="6537960" y="306324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5"/>
          <p:cNvSpPr/>
          <p:nvPr/>
        </p:nvSpPr>
        <p:spPr>
          <a:xfrm>
            <a:off x="6766560" y="3227832"/>
            <a:ext cx="2103120" cy="1051560"/>
          </a:xfrm>
          <a:prstGeom prst="rect">
            <a:avLst/>
          </a:prstGeom>
          <a:noFill/>
          <a:ln/>
        </p:spPr>
        <p:txBody>
          <a:bodyPr wrap="square" lIns="0" tIns="0" rIns="0" bIns="0" rtlCol="0" anchor="ctr"/>
          <a:lstStyle/>
          <a:p>
            <a:pPr algn="l" indent="0" marL="0">
              <a:buNone/>
            </a:pPr>
            <a:r>
              <a:rPr lang="en-US" sz="4000" b="1" dirty="0">
                <a:solidFill>
                  <a:srgbClr val="0E9E96"/>
                </a:solidFill>
                <a:latin typeface="Cambria" pitchFamily="34" charset="0"/>
                <a:ea typeface="Cambria" pitchFamily="34" charset="-122"/>
                <a:cs typeface="Cambria" pitchFamily="34" charset="-120"/>
              </a:rPr>
              <a:t>3.5 days</a:t>
            </a:r>
            <a:endParaRPr lang="en-US" sz="4000" dirty="0"/>
          </a:p>
        </p:txBody>
      </p:sp>
      <p:sp>
        <p:nvSpPr>
          <p:cNvPr id="19" name="Shape 16"/>
          <p:cNvSpPr/>
          <p:nvPr/>
        </p:nvSpPr>
        <p:spPr>
          <a:xfrm>
            <a:off x="8869680" y="3319272"/>
            <a:ext cx="0" cy="868680"/>
          </a:xfrm>
          <a:prstGeom prst="line">
            <a:avLst/>
          </a:prstGeom>
          <a:noFill/>
          <a:ln w="25400">
            <a:solidFill>
              <a:srgbClr val="E2F4F2"/>
            </a:solidFill>
            <a:prstDash val="solid"/>
          </a:ln>
        </p:spPr>
      </p:sp>
      <p:sp>
        <p:nvSpPr>
          <p:cNvPr id="20" name="Text 17"/>
          <p:cNvSpPr/>
          <p:nvPr/>
        </p:nvSpPr>
        <p:spPr>
          <a:xfrm>
            <a:off x="9052560" y="324612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to train the big model on just 8 GPUs — a fraction of prior compute</a:t>
            </a:r>
            <a:endParaRPr lang="en-US" sz="1230" dirty="0"/>
          </a:p>
        </p:txBody>
      </p:sp>
      <p:sp>
        <p:nvSpPr>
          <p:cNvPr id="21" name="Shape 18"/>
          <p:cNvSpPr/>
          <p:nvPr/>
        </p:nvSpPr>
        <p:spPr>
          <a:xfrm>
            <a:off x="6537960" y="457200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Text 19"/>
          <p:cNvSpPr/>
          <p:nvPr/>
        </p:nvSpPr>
        <p:spPr>
          <a:xfrm>
            <a:off x="6766560" y="4736592"/>
            <a:ext cx="2103120" cy="1051560"/>
          </a:xfrm>
          <a:prstGeom prst="rect">
            <a:avLst/>
          </a:prstGeom>
          <a:noFill/>
          <a:ln/>
        </p:spPr>
        <p:txBody>
          <a:bodyPr wrap="square" lIns="0" tIns="0" rIns="0" bIns="0" rtlCol="0" anchor="ctr"/>
          <a:lstStyle/>
          <a:p>
            <a:pPr algn="l" indent="0" marL="0">
              <a:buNone/>
            </a:pPr>
            <a:r>
              <a:rPr lang="en-US" sz="4000" b="1" dirty="0">
                <a:solidFill>
                  <a:srgbClr val="D9820A"/>
                </a:solidFill>
                <a:latin typeface="Cambria" pitchFamily="34" charset="0"/>
                <a:ea typeface="Cambria" pitchFamily="34" charset="-122"/>
                <a:cs typeface="Cambria" pitchFamily="34" charset="-120"/>
              </a:rPr>
              <a:t>170,000+</a:t>
            </a:r>
            <a:endParaRPr lang="en-US" sz="4000" dirty="0"/>
          </a:p>
        </p:txBody>
      </p:sp>
      <p:sp>
        <p:nvSpPr>
          <p:cNvPr id="23" name="Shape 20"/>
          <p:cNvSpPr/>
          <p:nvPr/>
        </p:nvSpPr>
        <p:spPr>
          <a:xfrm>
            <a:off x="8869680" y="4828032"/>
            <a:ext cx="0" cy="868680"/>
          </a:xfrm>
          <a:prstGeom prst="line">
            <a:avLst/>
          </a:prstGeom>
          <a:noFill/>
          <a:ln w="25400">
            <a:solidFill>
              <a:srgbClr val="FBEFD8"/>
            </a:solidFill>
            <a:prstDash val="solid"/>
          </a:ln>
        </p:spPr>
      </p:sp>
      <p:sp>
        <p:nvSpPr>
          <p:cNvPr id="24" name="Text 21"/>
          <p:cNvSpPr/>
          <p:nvPr/>
        </p:nvSpPr>
        <p:spPr>
          <a:xfrm>
            <a:off x="9052560" y="475488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citations by 2026 — among the most-cited papers of the 21st century</a:t>
            </a:r>
            <a:endParaRPr lang="en-US" sz="12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BLUEPRINT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Transformer architecture: encoder + 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Redrawn from Vaswani et al., arXiv:1706.03762, Figure 1 — 'The Transformer model architecture'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Read bottom → top (direction of data flow).  Each stack is repeated N× (N = 6 in the paper).</a:t>
            </a:r>
            <a:endParaRPr lang="en-US" sz="1250" dirty="0"/>
          </a:p>
        </p:txBody>
      </p:sp>
      <p:sp>
        <p:nvSpPr>
          <p:cNvPr id="7" name="Shape 5"/>
          <p:cNvSpPr/>
          <p:nvPr/>
        </p:nvSpPr>
        <p:spPr>
          <a:xfrm>
            <a:off x="1325880" y="1874520"/>
            <a:ext cx="4160520" cy="4160520"/>
          </a:xfrm>
          <a:prstGeom prst="roundRect">
            <a:avLst>
              <a:gd name="adj" fmla="val 2198"/>
            </a:avLst>
          </a:prstGeom>
          <a:solidFill>
            <a:srgbClr val="EEECFB"/>
          </a:solidFill>
          <a:ln/>
          <a:effectLst>
            <a:outerShdw sx="100000" sy="100000" kx="0" ky="0" algn="bl" rotWithShape="0" blurRad="114300" dist="38100" dir="5400000">
              <a:srgbClr val="9AA2BC">
                <a:alpha val="16000"/>
              </a:srgbClr>
            </a:outerShdw>
          </a:effectLst>
        </p:spPr>
      </p:sp>
      <p:sp>
        <p:nvSpPr>
          <p:cNvPr id="8" name="Shape 6"/>
          <p:cNvSpPr/>
          <p:nvPr/>
        </p:nvSpPr>
        <p:spPr>
          <a:xfrm>
            <a:off x="6629400" y="1874520"/>
            <a:ext cx="4206240" cy="4160520"/>
          </a:xfrm>
          <a:prstGeom prst="roundRect">
            <a:avLst>
              <a:gd name="adj" fmla="val 2198"/>
            </a:avLst>
          </a:prstGeom>
          <a:solidFill>
            <a:srgbClr val="E2F4F2"/>
          </a:solidFill>
          <a:ln/>
          <a:effectLst>
            <a:outerShdw sx="100000" sy="100000" kx="0" ky="0" algn="bl" rotWithShape="0" blurRad="114300" dist="38100" dir="5400000">
              <a:srgbClr val="9AA2BC">
                <a:alpha val="16000"/>
              </a:srgbClr>
            </a:outerShdw>
          </a:effectLst>
        </p:spPr>
      </p:sp>
      <p:sp>
        <p:nvSpPr>
          <p:cNvPr id="9" name="Text 7"/>
          <p:cNvSpPr/>
          <p:nvPr/>
        </p:nvSpPr>
        <p:spPr>
          <a:xfrm>
            <a:off x="1325880" y="1938528"/>
            <a:ext cx="4160520" cy="310896"/>
          </a:xfrm>
          <a:prstGeom prst="rect">
            <a:avLst/>
          </a:prstGeom>
          <a:noFill/>
          <a:ln/>
        </p:spPr>
        <p:txBody>
          <a:bodyPr wrap="square" lIns="0" tIns="0" rIns="0" bIns="0" rtlCol="0" anchor="ctr"/>
          <a:lstStyle/>
          <a:p>
            <a:pPr algn="ctr" indent="0" marL="0">
              <a:buNone/>
            </a:pPr>
            <a:r>
              <a:rPr lang="en-US" sz="1250" b="1" spc="150" kern="0" dirty="0">
                <a:solidFill>
                  <a:srgbClr val="5B4BE0"/>
                </a:solidFill>
                <a:latin typeface="Calibri" pitchFamily="34" charset="0"/>
                <a:ea typeface="Calibri" pitchFamily="34" charset="-122"/>
                <a:cs typeface="Calibri" pitchFamily="34" charset="-120"/>
              </a:rPr>
              <a:t>ENCODER   × N</a:t>
            </a:r>
            <a:endParaRPr lang="en-US" sz="1250" dirty="0"/>
          </a:p>
        </p:txBody>
      </p:sp>
      <p:sp>
        <p:nvSpPr>
          <p:cNvPr id="10" name="Text 8"/>
          <p:cNvSpPr/>
          <p:nvPr/>
        </p:nvSpPr>
        <p:spPr>
          <a:xfrm>
            <a:off x="6629400" y="1938528"/>
            <a:ext cx="4206240" cy="310896"/>
          </a:xfrm>
          <a:prstGeom prst="rect">
            <a:avLst/>
          </a:prstGeom>
          <a:noFill/>
          <a:ln/>
        </p:spPr>
        <p:txBody>
          <a:bodyPr wrap="square" lIns="0" tIns="0" rIns="0" bIns="0" rtlCol="0" anchor="ctr"/>
          <a:lstStyle/>
          <a:p>
            <a:pPr algn="ctr" indent="0" marL="0">
              <a:buNone/>
            </a:pPr>
            <a:r>
              <a:rPr lang="en-US" sz="1250" b="1" spc="150" kern="0" dirty="0">
                <a:solidFill>
                  <a:srgbClr val="0E9E96"/>
                </a:solidFill>
                <a:latin typeface="Calibri" pitchFamily="34" charset="0"/>
                <a:ea typeface="Calibri" pitchFamily="34" charset="-122"/>
                <a:cs typeface="Calibri" pitchFamily="34" charset="-120"/>
              </a:rPr>
              <a:t>DECODER   × N</a:t>
            </a:r>
            <a:endParaRPr lang="en-US" sz="1250" dirty="0"/>
          </a:p>
        </p:txBody>
      </p:sp>
      <p:sp>
        <p:nvSpPr>
          <p:cNvPr id="11" name="Shape 9"/>
          <p:cNvSpPr/>
          <p:nvPr/>
        </p:nvSpPr>
        <p:spPr>
          <a:xfrm>
            <a:off x="1691640" y="2331720"/>
            <a:ext cx="3429000" cy="566928"/>
          </a:xfrm>
          <a:prstGeom prst="roundRect">
            <a:avLst>
              <a:gd name="adj" fmla="val 9677"/>
            </a:avLst>
          </a:prstGeom>
          <a:solidFill>
            <a:srgbClr val="5B4BE0"/>
          </a:solidFill>
          <a:ln w="12700">
            <a:solidFill>
              <a:srgbClr val="DDE1EC"/>
            </a:solidFill>
            <a:prstDash val="solid"/>
          </a:ln>
        </p:spPr>
      </p:sp>
      <p:sp>
        <p:nvSpPr>
          <p:cNvPr id="12" name="Text 10"/>
          <p:cNvSpPr/>
          <p:nvPr/>
        </p:nvSpPr>
        <p:spPr>
          <a:xfrm>
            <a:off x="1691640" y="233172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Feed-Forward Network  +  Add &amp; Norm</a:t>
            </a:r>
            <a:endParaRPr lang="en-US" sz="1150" dirty="0"/>
          </a:p>
        </p:txBody>
      </p:sp>
      <p:sp>
        <p:nvSpPr>
          <p:cNvPr id="13" name="Shape 11"/>
          <p:cNvSpPr/>
          <p:nvPr/>
        </p:nvSpPr>
        <p:spPr>
          <a:xfrm>
            <a:off x="1691640" y="3063240"/>
            <a:ext cx="3429000" cy="566928"/>
          </a:xfrm>
          <a:prstGeom prst="roundRect">
            <a:avLst>
              <a:gd name="adj" fmla="val 9677"/>
            </a:avLst>
          </a:prstGeom>
          <a:solidFill>
            <a:srgbClr val="5B4BE0"/>
          </a:solidFill>
          <a:ln w="12700">
            <a:solidFill>
              <a:srgbClr val="DDE1EC"/>
            </a:solidFill>
            <a:prstDash val="solid"/>
          </a:ln>
        </p:spPr>
      </p:sp>
      <p:sp>
        <p:nvSpPr>
          <p:cNvPr id="14" name="Text 12"/>
          <p:cNvSpPr/>
          <p:nvPr/>
        </p:nvSpPr>
        <p:spPr>
          <a:xfrm>
            <a:off x="1691640" y="306324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Multi-Head Self-Attention  +  Add &amp; Norm</a:t>
            </a:r>
            <a:endParaRPr lang="en-US" sz="1150" dirty="0"/>
          </a:p>
        </p:txBody>
      </p:sp>
      <p:sp>
        <p:nvSpPr>
          <p:cNvPr id="15" name="Shape 13"/>
          <p:cNvSpPr/>
          <p:nvPr/>
        </p:nvSpPr>
        <p:spPr>
          <a:xfrm>
            <a:off x="1691640" y="3794760"/>
            <a:ext cx="3429000" cy="548640"/>
          </a:xfrm>
          <a:prstGeom prst="roundRect">
            <a:avLst>
              <a:gd name="adj" fmla="val 10000"/>
            </a:avLst>
          </a:prstGeom>
          <a:solidFill>
            <a:srgbClr val="FFFFFF"/>
          </a:solidFill>
          <a:ln w="12700">
            <a:solidFill>
              <a:srgbClr val="DDE1EC"/>
            </a:solidFill>
            <a:prstDash val="solid"/>
          </a:ln>
        </p:spPr>
      </p:sp>
      <p:sp>
        <p:nvSpPr>
          <p:cNvPr id="16" name="Text 14"/>
          <p:cNvSpPr/>
          <p:nvPr/>
        </p:nvSpPr>
        <p:spPr>
          <a:xfrm>
            <a:off x="1691640" y="3794760"/>
            <a:ext cx="342900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  Positional Encoding</a:t>
            </a:r>
            <a:endParaRPr lang="en-US" sz="1100" dirty="0"/>
          </a:p>
        </p:txBody>
      </p:sp>
      <p:sp>
        <p:nvSpPr>
          <p:cNvPr id="17" name="Shape 15"/>
          <p:cNvSpPr/>
          <p:nvPr/>
        </p:nvSpPr>
        <p:spPr>
          <a:xfrm>
            <a:off x="1691640" y="4480560"/>
            <a:ext cx="3429000" cy="502920"/>
          </a:xfrm>
          <a:prstGeom prst="roundRect">
            <a:avLst>
              <a:gd name="adj" fmla="val 10909"/>
            </a:avLst>
          </a:prstGeom>
          <a:solidFill>
            <a:srgbClr val="F4F5F9"/>
          </a:solidFill>
          <a:ln w="12700">
            <a:solidFill>
              <a:srgbClr val="DDE1EC"/>
            </a:solidFill>
            <a:prstDash val="solid"/>
          </a:ln>
        </p:spPr>
      </p:sp>
      <p:sp>
        <p:nvSpPr>
          <p:cNvPr id="18" name="Text 16"/>
          <p:cNvSpPr/>
          <p:nvPr/>
        </p:nvSpPr>
        <p:spPr>
          <a:xfrm>
            <a:off x="1691640" y="4480560"/>
            <a:ext cx="342900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Input Embedding</a:t>
            </a:r>
            <a:endParaRPr lang="en-US" sz="1100" dirty="0"/>
          </a:p>
        </p:txBody>
      </p:sp>
      <p:sp>
        <p:nvSpPr>
          <p:cNvPr id="19" name="Shape 17"/>
          <p:cNvSpPr/>
          <p:nvPr/>
        </p:nvSpPr>
        <p:spPr>
          <a:xfrm>
            <a:off x="1691640" y="5138928"/>
            <a:ext cx="3429000" cy="502920"/>
          </a:xfrm>
          <a:prstGeom prst="roundRect">
            <a:avLst>
              <a:gd name="adj" fmla="val 10909"/>
            </a:avLst>
          </a:prstGeom>
          <a:solidFill>
            <a:srgbClr val="D9DEF5"/>
          </a:solidFill>
          <a:ln w="12700">
            <a:solidFill>
              <a:srgbClr val="DDE1EC"/>
            </a:solidFill>
            <a:prstDash val="solid"/>
          </a:ln>
        </p:spPr>
      </p:sp>
      <p:sp>
        <p:nvSpPr>
          <p:cNvPr id="20" name="Text 18"/>
          <p:cNvSpPr/>
          <p:nvPr/>
        </p:nvSpPr>
        <p:spPr>
          <a:xfrm>
            <a:off x="1691640" y="5138928"/>
            <a:ext cx="3429000" cy="502920"/>
          </a:xfrm>
          <a:prstGeom prst="rect">
            <a:avLst/>
          </a:prstGeom>
          <a:noFill/>
          <a:ln/>
        </p:spPr>
        <p:txBody>
          <a:bodyPr wrap="square" lIns="25400" tIns="25400" rIns="25400" bIns="25400" rtlCol="0" anchor="ctr"/>
          <a:lstStyle/>
          <a:p>
            <a:pPr algn="ctr" indent="0" marL="0">
              <a:lnSpc>
                <a:spcPct val="100000"/>
              </a:lnSpc>
              <a:buNone/>
            </a:pPr>
            <a:r>
              <a:rPr lang="en-US" sz="1050" dirty="0">
                <a:solidFill>
                  <a:srgbClr val="5A6685"/>
                </a:solidFill>
                <a:latin typeface="Calibri" pitchFamily="34" charset="0"/>
                <a:ea typeface="Calibri" pitchFamily="34" charset="-122"/>
                <a:cs typeface="Calibri" pitchFamily="34" charset="-120"/>
              </a:rPr>
              <a:t>Inputs  (source tokens)</a:t>
            </a:r>
            <a:endParaRPr lang="en-US" sz="1050" dirty="0"/>
          </a:p>
        </p:txBody>
      </p:sp>
      <p:sp>
        <p:nvSpPr>
          <p:cNvPr id="21" name="Shape 19"/>
          <p:cNvSpPr/>
          <p:nvPr/>
        </p:nvSpPr>
        <p:spPr>
          <a:xfrm>
            <a:off x="3406140" y="5120640"/>
            <a:ext cx="0" cy="-109728"/>
          </a:xfrm>
          <a:prstGeom prst="line">
            <a:avLst/>
          </a:prstGeom>
          <a:noFill/>
          <a:ln w="22225">
            <a:solidFill>
              <a:srgbClr val="8A93AB"/>
            </a:solidFill>
            <a:prstDash val="solid"/>
            <a:tailEnd type="triangle"/>
          </a:ln>
        </p:spPr>
      </p:sp>
      <p:sp>
        <p:nvSpPr>
          <p:cNvPr id="22" name="Shape 20"/>
          <p:cNvSpPr/>
          <p:nvPr/>
        </p:nvSpPr>
        <p:spPr>
          <a:xfrm>
            <a:off x="3406140" y="4462272"/>
            <a:ext cx="0" cy="-91440"/>
          </a:xfrm>
          <a:prstGeom prst="line">
            <a:avLst/>
          </a:prstGeom>
          <a:noFill/>
          <a:ln w="22225">
            <a:solidFill>
              <a:srgbClr val="8A93AB"/>
            </a:solidFill>
            <a:prstDash val="solid"/>
            <a:tailEnd type="triangle"/>
          </a:ln>
        </p:spPr>
      </p:sp>
      <p:sp>
        <p:nvSpPr>
          <p:cNvPr id="23" name="Shape 21"/>
          <p:cNvSpPr/>
          <p:nvPr/>
        </p:nvSpPr>
        <p:spPr>
          <a:xfrm>
            <a:off x="3406140" y="3776472"/>
            <a:ext cx="0" cy="-91440"/>
          </a:xfrm>
          <a:prstGeom prst="line">
            <a:avLst/>
          </a:prstGeom>
          <a:noFill/>
          <a:ln w="22225">
            <a:solidFill>
              <a:srgbClr val="8A93AB"/>
            </a:solidFill>
            <a:prstDash val="solid"/>
            <a:tailEnd type="triangle"/>
          </a:ln>
        </p:spPr>
      </p:sp>
      <p:sp>
        <p:nvSpPr>
          <p:cNvPr id="24" name="Shape 22"/>
          <p:cNvSpPr/>
          <p:nvPr/>
        </p:nvSpPr>
        <p:spPr>
          <a:xfrm>
            <a:off x="3406140" y="3044952"/>
            <a:ext cx="0" cy="-91440"/>
          </a:xfrm>
          <a:prstGeom prst="line">
            <a:avLst/>
          </a:prstGeom>
          <a:noFill/>
          <a:ln w="22225">
            <a:solidFill>
              <a:srgbClr val="8A93AB"/>
            </a:solidFill>
            <a:prstDash val="solid"/>
            <a:tailEnd type="triangle"/>
          </a:ln>
        </p:spPr>
      </p:sp>
      <p:sp>
        <p:nvSpPr>
          <p:cNvPr id="25" name="Shape 23"/>
          <p:cNvSpPr/>
          <p:nvPr/>
        </p:nvSpPr>
        <p:spPr>
          <a:xfrm>
            <a:off x="6949440" y="2331720"/>
            <a:ext cx="3520440" cy="530352"/>
          </a:xfrm>
          <a:prstGeom prst="roundRect">
            <a:avLst>
              <a:gd name="adj" fmla="val 10345"/>
            </a:avLst>
          </a:prstGeom>
          <a:solidFill>
            <a:srgbClr val="D9820A"/>
          </a:solidFill>
          <a:ln w="12700">
            <a:solidFill>
              <a:srgbClr val="DDE1EC"/>
            </a:solidFill>
            <a:prstDash val="solid"/>
          </a:ln>
        </p:spPr>
      </p:sp>
      <p:sp>
        <p:nvSpPr>
          <p:cNvPr id="26" name="Text 24"/>
          <p:cNvSpPr/>
          <p:nvPr/>
        </p:nvSpPr>
        <p:spPr>
          <a:xfrm>
            <a:off x="6949440" y="2331720"/>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Linear  →  Softmax  →  Output probabilities</a:t>
            </a:r>
            <a:endParaRPr lang="en-US" sz="1100" dirty="0"/>
          </a:p>
        </p:txBody>
      </p:sp>
      <p:sp>
        <p:nvSpPr>
          <p:cNvPr id="27" name="Shape 25"/>
          <p:cNvSpPr/>
          <p:nvPr/>
        </p:nvSpPr>
        <p:spPr>
          <a:xfrm>
            <a:off x="6949440" y="2971800"/>
            <a:ext cx="3520440" cy="502920"/>
          </a:xfrm>
          <a:prstGeom prst="roundRect">
            <a:avLst>
              <a:gd name="adj" fmla="val 10909"/>
            </a:avLst>
          </a:prstGeom>
          <a:solidFill>
            <a:srgbClr val="0E9E96"/>
          </a:solidFill>
          <a:ln w="12700">
            <a:solidFill>
              <a:srgbClr val="DDE1EC"/>
            </a:solidFill>
            <a:prstDash val="solid"/>
          </a:ln>
        </p:spPr>
      </p:sp>
      <p:sp>
        <p:nvSpPr>
          <p:cNvPr id="28" name="Text 26"/>
          <p:cNvSpPr/>
          <p:nvPr/>
        </p:nvSpPr>
        <p:spPr>
          <a:xfrm>
            <a:off x="6949440" y="2971800"/>
            <a:ext cx="352044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Feed-Forward  +  Add &amp; Norm</a:t>
            </a:r>
            <a:endParaRPr lang="en-US" sz="1100" dirty="0"/>
          </a:p>
        </p:txBody>
      </p:sp>
      <p:sp>
        <p:nvSpPr>
          <p:cNvPr id="29" name="Shape 27"/>
          <p:cNvSpPr/>
          <p:nvPr/>
        </p:nvSpPr>
        <p:spPr>
          <a:xfrm>
            <a:off x="6949440" y="3584448"/>
            <a:ext cx="3520440" cy="548640"/>
          </a:xfrm>
          <a:prstGeom prst="roundRect">
            <a:avLst>
              <a:gd name="adj" fmla="val 10000"/>
            </a:avLst>
          </a:prstGeom>
          <a:solidFill>
            <a:srgbClr val="0C8C85"/>
          </a:solidFill>
          <a:ln w="12700">
            <a:solidFill>
              <a:srgbClr val="DDE1EC"/>
            </a:solidFill>
            <a:prstDash val="solid"/>
          </a:ln>
        </p:spPr>
      </p:sp>
      <p:sp>
        <p:nvSpPr>
          <p:cNvPr id="30" name="Text 28"/>
          <p:cNvSpPr/>
          <p:nvPr/>
        </p:nvSpPr>
        <p:spPr>
          <a:xfrm>
            <a:off x="6949440" y="3584448"/>
            <a:ext cx="352044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Encoder–Decoder Cross-Attention</a:t>
            </a:r>
            <a:endParaRPr lang="en-US" sz="1100" dirty="0"/>
          </a:p>
        </p:txBody>
      </p:sp>
      <p:sp>
        <p:nvSpPr>
          <p:cNvPr id="31" name="Shape 29"/>
          <p:cNvSpPr/>
          <p:nvPr/>
        </p:nvSpPr>
        <p:spPr>
          <a:xfrm>
            <a:off x="6949440" y="4242816"/>
            <a:ext cx="3520440" cy="530352"/>
          </a:xfrm>
          <a:prstGeom prst="roundRect">
            <a:avLst>
              <a:gd name="adj" fmla="val 10345"/>
            </a:avLst>
          </a:prstGeom>
          <a:solidFill>
            <a:srgbClr val="0E9E96"/>
          </a:solidFill>
          <a:ln w="12700">
            <a:solidFill>
              <a:srgbClr val="DDE1EC"/>
            </a:solidFill>
            <a:prstDash val="solid"/>
          </a:ln>
        </p:spPr>
      </p:sp>
      <p:sp>
        <p:nvSpPr>
          <p:cNvPr id="32" name="Text 30"/>
          <p:cNvSpPr/>
          <p:nvPr/>
        </p:nvSpPr>
        <p:spPr>
          <a:xfrm>
            <a:off x="6949440" y="4242816"/>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Masked Multi-Head Self-Attention</a:t>
            </a:r>
            <a:endParaRPr lang="en-US" sz="1100" dirty="0"/>
          </a:p>
        </p:txBody>
      </p:sp>
      <p:sp>
        <p:nvSpPr>
          <p:cNvPr id="33" name="Shape 31"/>
          <p:cNvSpPr/>
          <p:nvPr/>
        </p:nvSpPr>
        <p:spPr>
          <a:xfrm>
            <a:off x="6949440" y="4882896"/>
            <a:ext cx="3520440" cy="420624"/>
          </a:xfrm>
          <a:prstGeom prst="roundRect">
            <a:avLst>
              <a:gd name="adj" fmla="val 13043"/>
            </a:avLst>
          </a:prstGeom>
          <a:solidFill>
            <a:srgbClr val="FFFFFF"/>
          </a:solidFill>
          <a:ln w="12700">
            <a:solidFill>
              <a:srgbClr val="DDE1EC"/>
            </a:solidFill>
            <a:prstDash val="solid"/>
          </a:ln>
        </p:spPr>
      </p:sp>
      <p:sp>
        <p:nvSpPr>
          <p:cNvPr id="34" name="Text 32"/>
          <p:cNvSpPr/>
          <p:nvPr/>
        </p:nvSpPr>
        <p:spPr>
          <a:xfrm>
            <a:off x="6949440" y="4882896"/>
            <a:ext cx="3520440" cy="420624"/>
          </a:xfrm>
          <a:prstGeom prst="rect">
            <a:avLst/>
          </a:prstGeom>
          <a:noFill/>
          <a:ln/>
        </p:spPr>
        <p:txBody>
          <a:bodyPr wrap="square" lIns="25400" tIns="25400" rIns="25400" bIns="25400" rtlCol="0" anchor="ctr"/>
          <a:lstStyle/>
          <a:p>
            <a:pPr algn="ctr" indent="0" marL="0">
              <a:lnSpc>
                <a:spcPct val="100000"/>
              </a:lnSpc>
              <a:buNone/>
            </a:pPr>
            <a:r>
              <a:rPr lang="en-US" sz="1050" b="1" dirty="0">
                <a:solidFill>
                  <a:srgbClr val="1B2440"/>
                </a:solidFill>
                <a:latin typeface="Calibri" pitchFamily="34" charset="0"/>
                <a:ea typeface="Calibri" pitchFamily="34" charset="-122"/>
                <a:cs typeface="Calibri" pitchFamily="34" charset="-120"/>
              </a:rPr>
              <a:t>⊕  Positional Encoding</a:t>
            </a:r>
            <a:endParaRPr lang="en-US" sz="1050" dirty="0"/>
          </a:p>
        </p:txBody>
      </p:sp>
      <p:sp>
        <p:nvSpPr>
          <p:cNvPr id="35" name="Shape 33"/>
          <p:cNvSpPr/>
          <p:nvPr/>
        </p:nvSpPr>
        <p:spPr>
          <a:xfrm>
            <a:off x="6949440" y="5376672"/>
            <a:ext cx="3520440" cy="457200"/>
          </a:xfrm>
          <a:prstGeom prst="roundRect">
            <a:avLst>
              <a:gd name="adj" fmla="val 12000"/>
            </a:avLst>
          </a:prstGeom>
          <a:solidFill>
            <a:srgbClr val="CDEBE8"/>
          </a:solidFill>
          <a:ln w="12700">
            <a:solidFill>
              <a:srgbClr val="DDE1EC"/>
            </a:solidFill>
            <a:prstDash val="solid"/>
          </a:ln>
        </p:spPr>
      </p:sp>
      <p:sp>
        <p:nvSpPr>
          <p:cNvPr id="36" name="Text 34"/>
          <p:cNvSpPr/>
          <p:nvPr/>
        </p:nvSpPr>
        <p:spPr>
          <a:xfrm>
            <a:off x="6949440" y="5376672"/>
            <a:ext cx="3520440" cy="457200"/>
          </a:xfrm>
          <a:prstGeom prst="rect">
            <a:avLst/>
          </a:prstGeom>
          <a:noFill/>
          <a:ln/>
        </p:spPr>
        <p:txBody>
          <a:bodyPr wrap="square" lIns="25400" tIns="25400" rIns="25400" bIns="25400" rtlCol="0" anchor="ctr"/>
          <a:lstStyle/>
          <a:p>
            <a:pPr algn="ctr" indent="0" marL="0">
              <a:lnSpc>
                <a:spcPct val="100000"/>
              </a:lnSpc>
              <a:buNone/>
            </a:pPr>
            <a:r>
              <a:rPr lang="en-US" sz="1050" dirty="0">
                <a:solidFill>
                  <a:srgbClr val="5A6685"/>
                </a:solidFill>
                <a:latin typeface="Calibri" pitchFamily="34" charset="0"/>
                <a:ea typeface="Calibri" pitchFamily="34" charset="-122"/>
                <a:cs typeface="Calibri" pitchFamily="34" charset="-120"/>
              </a:rPr>
              <a:t>Outputs (shifted right)</a:t>
            </a:r>
            <a:endParaRPr lang="en-US" sz="1050" dirty="0"/>
          </a:p>
        </p:txBody>
      </p:sp>
      <p:sp>
        <p:nvSpPr>
          <p:cNvPr id="37" name="Shape 35"/>
          <p:cNvSpPr/>
          <p:nvPr/>
        </p:nvSpPr>
        <p:spPr>
          <a:xfrm>
            <a:off x="8709660" y="5358384"/>
            <a:ext cx="0" cy="-91440"/>
          </a:xfrm>
          <a:prstGeom prst="line">
            <a:avLst/>
          </a:prstGeom>
          <a:noFill/>
          <a:ln w="22225">
            <a:solidFill>
              <a:srgbClr val="8A93AB"/>
            </a:solidFill>
            <a:prstDash val="solid"/>
            <a:tailEnd type="triangle"/>
          </a:ln>
        </p:spPr>
      </p:sp>
      <p:sp>
        <p:nvSpPr>
          <p:cNvPr id="38" name="Shape 36"/>
          <p:cNvSpPr/>
          <p:nvPr/>
        </p:nvSpPr>
        <p:spPr>
          <a:xfrm>
            <a:off x="8709660" y="4864608"/>
            <a:ext cx="0" cy="-91440"/>
          </a:xfrm>
          <a:prstGeom prst="line">
            <a:avLst/>
          </a:prstGeom>
          <a:noFill/>
          <a:ln w="22225">
            <a:solidFill>
              <a:srgbClr val="8A93AB"/>
            </a:solidFill>
            <a:prstDash val="solid"/>
            <a:tailEnd type="triangle"/>
          </a:ln>
        </p:spPr>
      </p:sp>
      <p:sp>
        <p:nvSpPr>
          <p:cNvPr id="39" name="Shape 37"/>
          <p:cNvSpPr/>
          <p:nvPr/>
        </p:nvSpPr>
        <p:spPr>
          <a:xfrm>
            <a:off x="8709660" y="4224528"/>
            <a:ext cx="0" cy="-91440"/>
          </a:xfrm>
          <a:prstGeom prst="line">
            <a:avLst/>
          </a:prstGeom>
          <a:noFill/>
          <a:ln w="22225">
            <a:solidFill>
              <a:srgbClr val="8A93AB"/>
            </a:solidFill>
            <a:prstDash val="solid"/>
            <a:tailEnd type="triangle"/>
          </a:ln>
        </p:spPr>
      </p:sp>
      <p:sp>
        <p:nvSpPr>
          <p:cNvPr id="40" name="Shape 38"/>
          <p:cNvSpPr/>
          <p:nvPr/>
        </p:nvSpPr>
        <p:spPr>
          <a:xfrm>
            <a:off x="8709660" y="3566160"/>
            <a:ext cx="0" cy="-91440"/>
          </a:xfrm>
          <a:prstGeom prst="line">
            <a:avLst/>
          </a:prstGeom>
          <a:noFill/>
          <a:ln w="22225">
            <a:solidFill>
              <a:srgbClr val="8A93AB"/>
            </a:solidFill>
            <a:prstDash val="solid"/>
            <a:tailEnd type="triangle"/>
          </a:ln>
        </p:spPr>
      </p:sp>
      <p:sp>
        <p:nvSpPr>
          <p:cNvPr id="41" name="Shape 39"/>
          <p:cNvSpPr/>
          <p:nvPr/>
        </p:nvSpPr>
        <p:spPr>
          <a:xfrm>
            <a:off x="8709660" y="2953512"/>
            <a:ext cx="0" cy="-91440"/>
          </a:xfrm>
          <a:prstGeom prst="line">
            <a:avLst/>
          </a:prstGeom>
          <a:noFill/>
          <a:ln w="22225">
            <a:solidFill>
              <a:srgbClr val="8A93AB"/>
            </a:solidFill>
            <a:prstDash val="solid"/>
            <a:tailEnd type="triangle"/>
          </a:ln>
        </p:spPr>
      </p:sp>
      <p:sp>
        <p:nvSpPr>
          <p:cNvPr id="42" name="Shape 40"/>
          <p:cNvSpPr/>
          <p:nvPr/>
        </p:nvSpPr>
        <p:spPr>
          <a:xfrm>
            <a:off x="5120640" y="3346704"/>
            <a:ext cx="1847088" cy="502920"/>
          </a:xfrm>
          <a:prstGeom prst="line">
            <a:avLst/>
          </a:prstGeom>
          <a:noFill/>
          <a:ln w="28575">
            <a:solidFill>
              <a:srgbClr val="E5484D"/>
            </a:solidFill>
            <a:prstDash val="solid"/>
            <a:tailEnd type="triangle"/>
          </a:ln>
        </p:spPr>
      </p:sp>
      <p:sp>
        <p:nvSpPr>
          <p:cNvPr id="43" name="Text 41"/>
          <p:cNvSpPr/>
          <p:nvPr/>
        </p:nvSpPr>
        <p:spPr>
          <a:xfrm>
            <a:off x="5166360" y="3017520"/>
            <a:ext cx="1554480" cy="274320"/>
          </a:xfrm>
          <a:prstGeom prst="rect">
            <a:avLst/>
          </a:prstGeom>
          <a:noFill/>
          <a:ln/>
        </p:spPr>
        <p:txBody>
          <a:bodyPr wrap="square" lIns="0" tIns="0" rIns="0" bIns="0" rtlCol="0" anchor="ctr"/>
          <a:lstStyle/>
          <a:p>
            <a:pPr algn="ctr" indent="0" marL="0">
              <a:buNone/>
            </a:pPr>
            <a:r>
              <a:rPr lang="en-US" sz="950" b="1" i="1" dirty="0">
                <a:solidFill>
                  <a:srgbClr val="E5484D"/>
                </a:solidFill>
                <a:latin typeface="Calibri" pitchFamily="34" charset="0"/>
                <a:ea typeface="Calibri" pitchFamily="34" charset="-122"/>
                <a:cs typeface="Calibri" pitchFamily="34" charset="-120"/>
              </a:rPr>
              <a:t>keys &amp; values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ENGINE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Self-attention: Query, Key, Value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'Attention in transformers, visually explained | Ch.6' · Vaswani et al., §3.2 (Scaled Dot-Product Attention)</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554480"/>
            <a:ext cx="566928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12064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A content-based look-up, for every token</a:t>
            </a:r>
            <a:endParaRPr lang="en-US" sz="1550" dirty="0"/>
          </a:p>
        </p:txBody>
      </p:sp>
      <p:sp>
        <p:nvSpPr>
          <p:cNvPr id="8" name="Shape 6"/>
          <p:cNvSpPr/>
          <p:nvPr/>
        </p:nvSpPr>
        <p:spPr>
          <a:xfrm>
            <a:off x="841248" y="2286000"/>
            <a:ext cx="566928" cy="566928"/>
          </a:xfrm>
          <a:prstGeom prst="roundRect">
            <a:avLst>
              <a:gd name="adj" fmla="val 12903"/>
            </a:avLst>
          </a:prstGeom>
          <a:solidFill>
            <a:srgbClr val="5B4BE0"/>
          </a:solidFill>
          <a:ln/>
        </p:spPr>
      </p:sp>
      <p:sp>
        <p:nvSpPr>
          <p:cNvPr id="9" name="Text 7"/>
          <p:cNvSpPr/>
          <p:nvPr/>
        </p:nvSpPr>
        <p:spPr>
          <a:xfrm>
            <a:off x="841248"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a:t>
            </a:r>
            <a:endParaRPr lang="en-US" sz="2200" dirty="0"/>
          </a:p>
        </p:txBody>
      </p:sp>
      <p:sp>
        <p:nvSpPr>
          <p:cNvPr id="10" name="Text 8"/>
          <p:cNvSpPr/>
          <p:nvPr/>
        </p:nvSpPr>
        <p:spPr>
          <a:xfrm>
            <a:off x="1572768" y="2304288"/>
            <a:ext cx="4389120" cy="292608"/>
          </a:xfrm>
          <a:prstGeom prst="rect">
            <a:avLst/>
          </a:prstGeom>
          <a:noFill/>
          <a:ln/>
        </p:spPr>
        <p:txBody>
          <a:bodyPr wrap="square" lIns="0" tIns="0" rIns="0" bIns="0" rtlCol="0" anchor="ctr"/>
          <a:lstStyle/>
          <a:p>
            <a:pPr indent="0" marL="0">
              <a:buNone/>
            </a:pPr>
            <a:r>
              <a:rPr lang="en-US" sz="1400" b="1" dirty="0">
                <a:solidFill>
                  <a:srgbClr val="5B4BE0"/>
                </a:solidFill>
                <a:latin typeface="Calibri" pitchFamily="34" charset="0"/>
                <a:ea typeface="Calibri" pitchFamily="34" charset="-122"/>
                <a:cs typeface="Calibri" pitchFamily="34" charset="-120"/>
              </a:rPr>
              <a:t>Query</a:t>
            </a:r>
            <a:endParaRPr lang="en-US" sz="1400" dirty="0"/>
          </a:p>
        </p:txBody>
      </p:sp>
      <p:sp>
        <p:nvSpPr>
          <p:cNvPr id="11" name="Text 9"/>
          <p:cNvSpPr/>
          <p:nvPr/>
        </p:nvSpPr>
        <p:spPr>
          <a:xfrm>
            <a:off x="1572768" y="2578608"/>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this token is looking for</a:t>
            </a:r>
            <a:endParaRPr lang="en-US" sz="1200" dirty="0"/>
          </a:p>
        </p:txBody>
      </p:sp>
      <p:sp>
        <p:nvSpPr>
          <p:cNvPr id="12" name="Shape 10"/>
          <p:cNvSpPr/>
          <p:nvPr/>
        </p:nvSpPr>
        <p:spPr>
          <a:xfrm>
            <a:off x="841248" y="2999232"/>
            <a:ext cx="566928" cy="566928"/>
          </a:xfrm>
          <a:prstGeom prst="roundRect">
            <a:avLst>
              <a:gd name="adj" fmla="val 12903"/>
            </a:avLst>
          </a:prstGeom>
          <a:solidFill>
            <a:srgbClr val="0E9E96"/>
          </a:solidFill>
          <a:ln/>
        </p:spPr>
      </p:sp>
      <p:sp>
        <p:nvSpPr>
          <p:cNvPr id="13" name="Text 11"/>
          <p:cNvSpPr/>
          <p:nvPr/>
        </p:nvSpPr>
        <p:spPr>
          <a:xfrm>
            <a:off x="841248" y="2999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K</a:t>
            </a:r>
            <a:endParaRPr lang="en-US" sz="2200" dirty="0"/>
          </a:p>
        </p:txBody>
      </p:sp>
      <p:sp>
        <p:nvSpPr>
          <p:cNvPr id="14" name="Text 12"/>
          <p:cNvSpPr/>
          <p:nvPr/>
        </p:nvSpPr>
        <p:spPr>
          <a:xfrm>
            <a:off x="1572768" y="3017520"/>
            <a:ext cx="4389120" cy="292608"/>
          </a:xfrm>
          <a:prstGeom prst="rect">
            <a:avLst/>
          </a:prstGeom>
          <a:noFill/>
          <a:ln/>
        </p:spPr>
        <p:txBody>
          <a:bodyPr wrap="square" lIns="0" tIns="0" rIns="0" bIns="0" rtlCol="0" anchor="ctr"/>
          <a:lstStyle/>
          <a:p>
            <a:pPr indent="0" marL="0">
              <a:buNone/>
            </a:pPr>
            <a:r>
              <a:rPr lang="en-US" sz="1400" b="1" dirty="0">
                <a:solidFill>
                  <a:srgbClr val="0E9E96"/>
                </a:solidFill>
                <a:latin typeface="Calibri" pitchFamily="34" charset="0"/>
                <a:ea typeface="Calibri" pitchFamily="34" charset="-122"/>
                <a:cs typeface="Calibri" pitchFamily="34" charset="-120"/>
              </a:rPr>
              <a:t>Key</a:t>
            </a:r>
            <a:endParaRPr lang="en-US" sz="1400" dirty="0"/>
          </a:p>
        </p:txBody>
      </p:sp>
      <p:sp>
        <p:nvSpPr>
          <p:cNvPr id="15" name="Text 13"/>
          <p:cNvSpPr/>
          <p:nvPr/>
        </p:nvSpPr>
        <p:spPr>
          <a:xfrm>
            <a:off x="1572768" y="3291840"/>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each token offers to be matched</a:t>
            </a:r>
            <a:endParaRPr lang="en-US" sz="1200" dirty="0"/>
          </a:p>
        </p:txBody>
      </p:sp>
      <p:sp>
        <p:nvSpPr>
          <p:cNvPr id="16" name="Shape 14"/>
          <p:cNvSpPr/>
          <p:nvPr/>
        </p:nvSpPr>
        <p:spPr>
          <a:xfrm>
            <a:off x="841248" y="3712464"/>
            <a:ext cx="566928" cy="566928"/>
          </a:xfrm>
          <a:prstGeom prst="roundRect">
            <a:avLst>
              <a:gd name="adj" fmla="val 12903"/>
            </a:avLst>
          </a:prstGeom>
          <a:solidFill>
            <a:srgbClr val="D9820A"/>
          </a:solidFill>
          <a:ln/>
        </p:spPr>
      </p:sp>
      <p:sp>
        <p:nvSpPr>
          <p:cNvPr id="17" name="Text 15"/>
          <p:cNvSpPr/>
          <p:nvPr/>
        </p:nvSpPr>
        <p:spPr>
          <a:xfrm>
            <a:off x="841248" y="37124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V</a:t>
            </a:r>
            <a:endParaRPr lang="en-US" sz="2200" dirty="0"/>
          </a:p>
        </p:txBody>
      </p:sp>
      <p:sp>
        <p:nvSpPr>
          <p:cNvPr id="18" name="Text 16"/>
          <p:cNvSpPr/>
          <p:nvPr/>
        </p:nvSpPr>
        <p:spPr>
          <a:xfrm>
            <a:off x="1572768" y="3730752"/>
            <a:ext cx="4389120" cy="292608"/>
          </a:xfrm>
          <a:prstGeom prst="rect">
            <a:avLst/>
          </a:prstGeom>
          <a:noFill/>
          <a:ln/>
        </p:spPr>
        <p:txBody>
          <a:bodyPr wrap="square" lIns="0" tIns="0" rIns="0" bIns="0" rtlCol="0" anchor="ctr"/>
          <a:lstStyle/>
          <a:p>
            <a:pPr indent="0" marL="0">
              <a:buNone/>
            </a:pPr>
            <a:r>
              <a:rPr lang="en-US" sz="1400" b="1" dirty="0">
                <a:solidFill>
                  <a:srgbClr val="D9820A"/>
                </a:solidFill>
                <a:latin typeface="Calibri" pitchFamily="34" charset="0"/>
                <a:ea typeface="Calibri" pitchFamily="34" charset="-122"/>
                <a:cs typeface="Calibri" pitchFamily="34" charset="-120"/>
              </a:rPr>
              <a:t>Value</a:t>
            </a:r>
            <a:endParaRPr lang="en-US" sz="1400" dirty="0"/>
          </a:p>
        </p:txBody>
      </p:sp>
      <p:sp>
        <p:nvSpPr>
          <p:cNvPr id="19" name="Text 17"/>
          <p:cNvSpPr/>
          <p:nvPr/>
        </p:nvSpPr>
        <p:spPr>
          <a:xfrm>
            <a:off x="1572768" y="4005072"/>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the information actually retrieved</a:t>
            </a:r>
            <a:endParaRPr lang="en-US" sz="1200" dirty="0"/>
          </a:p>
        </p:txBody>
      </p:sp>
      <p:sp>
        <p:nvSpPr>
          <p:cNvPr id="20" name="Text 18"/>
          <p:cNvSpPr/>
          <p:nvPr/>
        </p:nvSpPr>
        <p:spPr>
          <a:xfrm>
            <a:off x="841248" y="4572000"/>
            <a:ext cx="5166360" cy="1280160"/>
          </a:xfrm>
          <a:prstGeom prst="rect">
            <a:avLst/>
          </a:prstGeom>
          <a:noFill/>
          <a:ln/>
        </p:spPr>
        <p:txBody>
          <a:bodyPr wrap="square" lIns="0" tIns="0" rIns="0" bIns="0" rtlCol="0" anchor="t"/>
          <a:lstStyle/>
          <a:p>
            <a:pPr indent="0" marL="0">
              <a:lnSpc>
                <a:spcPct val="116000"/>
              </a:lnSpc>
              <a:buNone/>
            </a:pPr>
            <a:r>
              <a:rPr lang="en-US" sz="1250" dirty="0">
                <a:solidFill>
                  <a:srgbClr val="1B2440"/>
                </a:solidFill>
                <a:latin typeface="Calibri" pitchFamily="34" charset="0"/>
                <a:ea typeface="Calibri" pitchFamily="34" charset="-122"/>
                <a:cs typeface="Calibri" pitchFamily="34" charset="-120"/>
              </a:rPr>
              <a:t>Score every token against every token (Q·K), turn scores into weights (softmax), then blend the Values. Done once, in parallel, for the whole sequence.</a:t>
            </a:r>
            <a:endParaRPr lang="en-US" sz="1250" dirty="0"/>
          </a:p>
        </p:txBody>
      </p:sp>
      <p:sp>
        <p:nvSpPr>
          <p:cNvPr id="21" name="Shape 19"/>
          <p:cNvSpPr/>
          <p:nvPr/>
        </p:nvSpPr>
        <p:spPr>
          <a:xfrm>
            <a:off x="6537960" y="1554480"/>
            <a:ext cx="5074920" cy="1691640"/>
          </a:xfrm>
          <a:prstGeom prst="roundRect">
            <a:avLst>
              <a:gd name="adj" fmla="val 5405"/>
            </a:avLst>
          </a:prstGeom>
          <a:solidFill>
            <a:srgbClr val="16213E"/>
          </a:solidFill>
          <a:ln/>
          <a:effectLst>
            <a:outerShdw sx="100000" sy="100000" kx="0" ky="0" algn="bl" rotWithShape="0" blurRad="114300" dist="38100" dir="5400000">
              <a:srgbClr val="9AA2BC">
                <a:alpha val="16000"/>
              </a:srgbClr>
            </a:outerShdw>
          </a:effectLst>
        </p:spPr>
      </p:sp>
      <p:sp>
        <p:nvSpPr>
          <p:cNvPr id="22" name="Text 20"/>
          <p:cNvSpPr/>
          <p:nvPr/>
        </p:nvSpPr>
        <p:spPr>
          <a:xfrm>
            <a:off x="6812280" y="1737360"/>
            <a:ext cx="4526280" cy="310896"/>
          </a:xfrm>
          <a:prstGeom prst="rect">
            <a:avLst/>
          </a:prstGeom>
          <a:noFill/>
          <a:ln/>
        </p:spPr>
        <p:txBody>
          <a:bodyPr wrap="square" lIns="0" tIns="0" rIns="0" bIns="0" rtlCol="0" anchor="ctr"/>
          <a:lstStyle/>
          <a:p>
            <a:pPr indent="0" marL="0">
              <a:buNone/>
            </a:pPr>
            <a:r>
              <a:rPr lang="en-US" sz="1250" b="1" dirty="0">
                <a:solidFill>
                  <a:srgbClr val="7C6FF0"/>
                </a:solidFill>
                <a:latin typeface="Calibri" pitchFamily="34" charset="0"/>
                <a:ea typeface="Calibri" pitchFamily="34" charset="-122"/>
                <a:cs typeface="Calibri" pitchFamily="34" charset="-120"/>
              </a:rPr>
              <a:t>Scaled dot-product attention</a:t>
            </a:r>
            <a:endParaRPr lang="en-US" sz="1250" dirty="0"/>
          </a:p>
        </p:txBody>
      </p:sp>
      <p:sp>
        <p:nvSpPr>
          <p:cNvPr id="23" name="Text 21"/>
          <p:cNvSpPr/>
          <p:nvPr/>
        </p:nvSpPr>
        <p:spPr>
          <a:xfrm>
            <a:off x="6812280" y="2194560"/>
            <a:ext cx="4526280" cy="640080"/>
          </a:xfrm>
          <a:prstGeom prst="rect">
            <a:avLst/>
          </a:prstGeom>
          <a:noFill/>
          <a:ln/>
        </p:spPr>
        <p:txBody>
          <a:bodyPr wrap="square" lIns="0" tIns="0" rIns="0" bIns="0" rtlCol="0" anchor="ctr"/>
          <a:lstStyle/>
          <a:p>
            <a:pPr algn="ctr" indent="0" marL="0">
              <a:buNone/>
            </a:pPr>
            <a:r>
              <a:rPr lang="en-US" sz="1650" b="1" dirty="0">
                <a:solidFill>
                  <a:srgbClr val="FFFFFF"/>
                </a:solidFill>
                <a:latin typeface="Courier New" pitchFamily="34" charset="0"/>
                <a:ea typeface="Courier New" pitchFamily="34" charset="-122"/>
                <a:cs typeface="Courier New" pitchFamily="34" charset="-120"/>
              </a:rPr>
              <a:t>Attention(Q,K,V) = softmax( Q·Kᵀ / √d_k ) · V</a:t>
            </a:r>
            <a:endParaRPr lang="en-US" sz="1650" dirty="0"/>
          </a:p>
        </p:txBody>
      </p:sp>
      <p:sp>
        <p:nvSpPr>
          <p:cNvPr id="24" name="Text 22"/>
          <p:cNvSpPr/>
          <p:nvPr/>
        </p:nvSpPr>
        <p:spPr>
          <a:xfrm>
            <a:off x="6812280" y="2852928"/>
            <a:ext cx="4526280" cy="310896"/>
          </a:xfrm>
          <a:prstGeom prst="rect">
            <a:avLst/>
          </a:prstGeom>
          <a:noFill/>
          <a:ln/>
        </p:spPr>
        <p:txBody>
          <a:bodyPr wrap="square" lIns="0" tIns="0" rIns="0" bIns="0" rtlCol="0" anchor="ctr"/>
          <a:lstStyle/>
          <a:p>
            <a:pPr algn="ctr" indent="0" marL="0">
              <a:buNone/>
            </a:pPr>
            <a:r>
              <a:rPr lang="en-US" sz="1080" i="1" dirty="0">
                <a:solidFill>
                  <a:srgbClr val="AEB6D6"/>
                </a:solidFill>
                <a:latin typeface="Calibri" pitchFamily="34" charset="0"/>
                <a:ea typeface="Calibri" pitchFamily="34" charset="-122"/>
                <a:cs typeface="Calibri" pitchFamily="34" charset="-120"/>
              </a:rPr>
              <a:t>√d_k  keeps the dot-products from blowing up as dimension grows.</a:t>
            </a:r>
            <a:endParaRPr lang="en-US" sz="1080" dirty="0"/>
          </a:p>
        </p:txBody>
      </p:sp>
      <p:sp>
        <p:nvSpPr>
          <p:cNvPr id="25" name="Shape 23"/>
          <p:cNvSpPr/>
          <p:nvPr/>
        </p:nvSpPr>
        <p:spPr>
          <a:xfrm>
            <a:off x="6537960" y="3429000"/>
            <a:ext cx="5074920" cy="2606040"/>
          </a:xfrm>
          <a:prstGeom prst="roundRect">
            <a:avLst>
              <a:gd name="adj" fmla="val 3509"/>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Text 24"/>
          <p:cNvSpPr/>
          <p:nvPr/>
        </p:nvSpPr>
        <p:spPr>
          <a:xfrm>
            <a:off x="6812280" y="3611880"/>
            <a:ext cx="4526280" cy="310896"/>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Why it beats recurrence</a:t>
            </a:r>
            <a:endParaRPr lang="en-US" sz="1400" dirty="0"/>
          </a:p>
        </p:txBody>
      </p:sp>
      <p:sp>
        <p:nvSpPr>
          <p:cNvPr id="27" name="Text 25"/>
          <p:cNvSpPr/>
          <p:nvPr/>
        </p:nvSpPr>
        <p:spPr>
          <a:xfrm>
            <a:off x="6830568" y="4023360"/>
            <a:ext cx="4526280" cy="18745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Any two tokens are 1 hop apart → no long-range decay</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Entire sequence processed at once → GPU-parallel</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Weights are data-dependent → genuine, learned focus</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Self-attention: Q, K, V all come from the same sequence</a:t>
            </a:r>
            <a:endParaRPr lang="en-US" sz="12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TWO FINISHING TOUCHES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Multi-head attention &amp; positional encoding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§3.2.2 (Multi-Head Attention) &amp; §3.5 (Positional Encoding), arXiv:1706.03762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54480"/>
            <a:ext cx="557784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1977390"/>
            <a:ext cx="388620" cy="388620"/>
          </a:xfrm>
          <a:prstGeom prst="rect">
            <a:avLst/>
          </a:prstGeom>
        </p:spPr>
      </p:pic>
      <p:sp>
        <p:nvSpPr>
          <p:cNvPr id="9" name="Text 6"/>
          <p:cNvSpPr/>
          <p:nvPr/>
        </p:nvSpPr>
        <p:spPr>
          <a:xfrm>
            <a:off x="1755648" y="1810512"/>
            <a:ext cx="42062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Multi-Head Attention</a:t>
            </a:r>
            <a:endParaRPr lang="en-US" sz="1600" dirty="0"/>
          </a:p>
        </p:txBody>
      </p:sp>
      <p:sp>
        <p:nvSpPr>
          <p:cNvPr id="10" name="Text 7"/>
          <p:cNvSpPr/>
          <p:nvPr/>
        </p:nvSpPr>
        <p:spPr>
          <a:xfrm>
            <a:off x="1755648" y="2212848"/>
            <a:ext cx="4206240" cy="54864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Run attention h times in parallel with different learned projections, then concatenate.</a:t>
            </a:r>
            <a:endParaRPr lang="en-US" sz="1200" dirty="0"/>
          </a:p>
        </p:txBody>
      </p:sp>
      <p:sp>
        <p:nvSpPr>
          <p:cNvPr id="11" name="Shape 8"/>
          <p:cNvSpPr/>
          <p:nvPr/>
        </p:nvSpPr>
        <p:spPr>
          <a:xfrm>
            <a:off x="932688" y="3108960"/>
            <a:ext cx="1143000" cy="777240"/>
          </a:xfrm>
          <a:prstGeom prst="roundRect">
            <a:avLst>
              <a:gd name="adj" fmla="val 7059"/>
            </a:avLst>
          </a:prstGeom>
          <a:solidFill>
            <a:srgbClr val="EEECFB"/>
          </a:solidFill>
          <a:ln w="12700">
            <a:solidFill>
              <a:srgbClr val="DDE1EC"/>
            </a:solidFill>
            <a:prstDash val="solid"/>
          </a:ln>
        </p:spPr>
      </p:sp>
      <p:sp>
        <p:nvSpPr>
          <p:cNvPr id="12" name="Text 9"/>
          <p:cNvSpPr/>
          <p:nvPr/>
        </p:nvSpPr>
        <p:spPr>
          <a:xfrm>
            <a:off x="932688"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1</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syntax</a:t>
            </a:r>
            <a:endParaRPr lang="en-US" sz="1100" dirty="0"/>
          </a:p>
        </p:txBody>
      </p:sp>
      <p:sp>
        <p:nvSpPr>
          <p:cNvPr id="13" name="Shape 10"/>
          <p:cNvSpPr/>
          <p:nvPr/>
        </p:nvSpPr>
        <p:spPr>
          <a:xfrm>
            <a:off x="2194560" y="3108960"/>
            <a:ext cx="1143000" cy="777240"/>
          </a:xfrm>
          <a:prstGeom prst="roundRect">
            <a:avLst>
              <a:gd name="adj" fmla="val 7059"/>
            </a:avLst>
          </a:prstGeom>
          <a:solidFill>
            <a:srgbClr val="E2F4F2"/>
          </a:solidFill>
          <a:ln w="12700">
            <a:solidFill>
              <a:srgbClr val="DDE1EC"/>
            </a:solidFill>
            <a:prstDash val="solid"/>
          </a:ln>
        </p:spPr>
      </p:sp>
      <p:sp>
        <p:nvSpPr>
          <p:cNvPr id="14" name="Text 11"/>
          <p:cNvSpPr/>
          <p:nvPr/>
        </p:nvSpPr>
        <p:spPr>
          <a:xfrm>
            <a:off x="2194560"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2</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coref.</a:t>
            </a:r>
            <a:endParaRPr lang="en-US" sz="1100" dirty="0"/>
          </a:p>
        </p:txBody>
      </p:sp>
      <p:sp>
        <p:nvSpPr>
          <p:cNvPr id="15" name="Shape 12"/>
          <p:cNvSpPr/>
          <p:nvPr/>
        </p:nvSpPr>
        <p:spPr>
          <a:xfrm>
            <a:off x="3456432" y="3108960"/>
            <a:ext cx="1143000" cy="777240"/>
          </a:xfrm>
          <a:prstGeom prst="roundRect">
            <a:avLst>
              <a:gd name="adj" fmla="val 7059"/>
            </a:avLst>
          </a:prstGeom>
          <a:solidFill>
            <a:srgbClr val="FBEFD8"/>
          </a:solidFill>
          <a:ln w="12700">
            <a:solidFill>
              <a:srgbClr val="DDE1EC"/>
            </a:solidFill>
            <a:prstDash val="solid"/>
          </a:ln>
        </p:spPr>
      </p:sp>
      <p:sp>
        <p:nvSpPr>
          <p:cNvPr id="16" name="Text 13"/>
          <p:cNvSpPr/>
          <p:nvPr/>
        </p:nvSpPr>
        <p:spPr>
          <a:xfrm>
            <a:off x="3456432"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3</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tense</a:t>
            </a:r>
            <a:endParaRPr lang="en-US" sz="1100" dirty="0"/>
          </a:p>
        </p:txBody>
      </p:sp>
      <p:sp>
        <p:nvSpPr>
          <p:cNvPr id="17" name="Shape 14"/>
          <p:cNvSpPr/>
          <p:nvPr/>
        </p:nvSpPr>
        <p:spPr>
          <a:xfrm>
            <a:off x="4718304" y="3108960"/>
            <a:ext cx="1143000" cy="777240"/>
          </a:xfrm>
          <a:prstGeom prst="roundRect">
            <a:avLst>
              <a:gd name="adj" fmla="val 7059"/>
            </a:avLst>
          </a:prstGeom>
          <a:solidFill>
            <a:srgbClr val="E3F4EA"/>
          </a:solidFill>
          <a:ln w="12700">
            <a:solidFill>
              <a:srgbClr val="DDE1EC"/>
            </a:solidFill>
            <a:prstDash val="solid"/>
          </a:ln>
        </p:spPr>
      </p:sp>
      <p:sp>
        <p:nvSpPr>
          <p:cNvPr id="18" name="Text 15"/>
          <p:cNvSpPr/>
          <p:nvPr/>
        </p:nvSpPr>
        <p:spPr>
          <a:xfrm>
            <a:off x="4718304"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4</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topic</a:t>
            </a:r>
            <a:endParaRPr lang="en-US" sz="1100" dirty="0"/>
          </a:p>
        </p:txBody>
      </p:sp>
      <p:sp>
        <p:nvSpPr>
          <p:cNvPr id="19" name="Shape 16"/>
          <p:cNvSpPr/>
          <p:nvPr/>
        </p:nvSpPr>
        <p:spPr>
          <a:xfrm>
            <a:off x="1499616" y="3904488"/>
            <a:ext cx="0" cy="201168"/>
          </a:xfrm>
          <a:prstGeom prst="line">
            <a:avLst/>
          </a:prstGeom>
          <a:noFill/>
          <a:ln w="22225">
            <a:solidFill>
              <a:srgbClr val="8A93AB"/>
            </a:solidFill>
            <a:prstDash val="solid"/>
            <a:tailEnd type="triangle"/>
          </a:ln>
        </p:spPr>
      </p:sp>
      <p:sp>
        <p:nvSpPr>
          <p:cNvPr id="20" name="Shape 17"/>
          <p:cNvSpPr/>
          <p:nvPr/>
        </p:nvSpPr>
        <p:spPr>
          <a:xfrm>
            <a:off x="2761488" y="3904488"/>
            <a:ext cx="0" cy="201168"/>
          </a:xfrm>
          <a:prstGeom prst="line">
            <a:avLst/>
          </a:prstGeom>
          <a:noFill/>
          <a:ln w="22225">
            <a:solidFill>
              <a:srgbClr val="8A93AB"/>
            </a:solidFill>
            <a:prstDash val="solid"/>
            <a:tailEnd type="triangle"/>
          </a:ln>
        </p:spPr>
      </p:sp>
      <p:sp>
        <p:nvSpPr>
          <p:cNvPr id="21" name="Shape 18"/>
          <p:cNvSpPr/>
          <p:nvPr/>
        </p:nvSpPr>
        <p:spPr>
          <a:xfrm>
            <a:off x="4023360" y="3904488"/>
            <a:ext cx="0" cy="201168"/>
          </a:xfrm>
          <a:prstGeom prst="line">
            <a:avLst/>
          </a:prstGeom>
          <a:noFill/>
          <a:ln w="22225">
            <a:solidFill>
              <a:srgbClr val="8A93AB"/>
            </a:solidFill>
            <a:prstDash val="solid"/>
            <a:tailEnd type="triangle"/>
          </a:ln>
        </p:spPr>
      </p:sp>
      <p:sp>
        <p:nvSpPr>
          <p:cNvPr id="22" name="Shape 19"/>
          <p:cNvSpPr/>
          <p:nvPr/>
        </p:nvSpPr>
        <p:spPr>
          <a:xfrm>
            <a:off x="5285232" y="3904488"/>
            <a:ext cx="0" cy="201168"/>
          </a:xfrm>
          <a:prstGeom prst="line">
            <a:avLst/>
          </a:prstGeom>
          <a:noFill/>
          <a:ln w="22225">
            <a:solidFill>
              <a:srgbClr val="8A93AB"/>
            </a:solidFill>
            <a:prstDash val="solid"/>
            <a:tailEnd type="triangle"/>
          </a:ln>
        </p:spPr>
      </p:sp>
      <p:sp>
        <p:nvSpPr>
          <p:cNvPr id="23" name="Shape 20"/>
          <p:cNvSpPr/>
          <p:nvPr/>
        </p:nvSpPr>
        <p:spPr>
          <a:xfrm>
            <a:off x="1481328" y="4206240"/>
            <a:ext cx="3931920" cy="502920"/>
          </a:xfrm>
          <a:prstGeom prst="roundRect">
            <a:avLst>
              <a:gd name="adj" fmla="val 10909"/>
            </a:avLst>
          </a:prstGeom>
          <a:solidFill>
            <a:srgbClr val="5B4BE0"/>
          </a:solidFill>
          <a:ln w="12700">
            <a:solidFill>
              <a:srgbClr val="DDE1EC"/>
            </a:solidFill>
            <a:prstDash val="solid"/>
          </a:ln>
        </p:spPr>
      </p:sp>
      <p:sp>
        <p:nvSpPr>
          <p:cNvPr id="24" name="Text 21"/>
          <p:cNvSpPr/>
          <p:nvPr/>
        </p:nvSpPr>
        <p:spPr>
          <a:xfrm>
            <a:off x="1481328" y="4206240"/>
            <a:ext cx="39319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Concat  →  Linear</a:t>
            </a:r>
            <a:endParaRPr lang="en-US" sz="1200" dirty="0"/>
          </a:p>
        </p:txBody>
      </p:sp>
      <p:sp>
        <p:nvSpPr>
          <p:cNvPr id="25" name="Text 22"/>
          <p:cNvSpPr/>
          <p:nvPr/>
        </p:nvSpPr>
        <p:spPr>
          <a:xfrm>
            <a:off x="841248" y="4892040"/>
            <a:ext cx="5120640" cy="777240"/>
          </a:xfrm>
          <a:prstGeom prst="rect">
            <a:avLst/>
          </a:prstGeom>
          <a:noFill/>
          <a:ln/>
        </p:spPr>
        <p:txBody>
          <a:bodyPr wrap="square" lIns="0" tIns="0" rIns="0" bIns="0" rtlCol="0" anchor="ctr"/>
          <a:lstStyle/>
          <a:p>
            <a:pPr indent="0" marL="0">
              <a:lnSpc>
                <a:spcPct val="112000"/>
              </a:lnSpc>
              <a:buNone/>
            </a:pPr>
            <a:r>
              <a:rPr lang="en-US" sz="1160" i="1" dirty="0">
                <a:solidFill>
                  <a:srgbClr val="5A6685"/>
                </a:solidFill>
                <a:latin typeface="Calibri" pitchFamily="34" charset="0"/>
                <a:ea typeface="Calibri" pitchFamily="34" charset="-122"/>
                <a:cs typeface="Calibri" pitchFamily="34" charset="-120"/>
              </a:rPr>
              <a:t>Each head can specialise — one tracks grammar, another tracks who 'it' refers to, etc. (8 heads in the base model).</a:t>
            </a:r>
            <a:endParaRPr lang="en-US" sz="1160" dirty="0"/>
          </a:p>
        </p:txBody>
      </p:sp>
      <p:sp>
        <p:nvSpPr>
          <p:cNvPr id="26" name="Shape 23"/>
          <p:cNvSpPr/>
          <p:nvPr/>
        </p:nvSpPr>
        <p:spPr>
          <a:xfrm>
            <a:off x="6446520" y="1554480"/>
            <a:ext cx="516636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4"/>
          <p:cNvSpPr/>
          <p:nvPr/>
        </p:nvSpPr>
        <p:spPr>
          <a:xfrm>
            <a:off x="6720840" y="1783080"/>
            <a:ext cx="777240" cy="777240"/>
          </a:xfrm>
          <a:prstGeom prst="ellipse">
            <a:avLst/>
          </a:prstGeom>
          <a:solidFill>
            <a:srgbClr val="E2F4F2"/>
          </a:solidFill>
          <a:ln/>
        </p:spPr>
      </p:sp>
      <p:pic>
        <p:nvPicPr>
          <p:cNvPr id="28" name="Image 1" descr="preencoded.png">    </p:cNvPr>
          <p:cNvPicPr>
            <a:picLocks noChangeAspect="1"/>
          </p:cNvPicPr>
          <p:nvPr/>
        </p:nvPicPr>
        <p:blipFill>
          <a:blip r:embed="rId2"/>
          <a:stretch>
            <a:fillRect/>
          </a:stretch>
        </p:blipFill>
        <p:spPr>
          <a:xfrm>
            <a:off x="6915150" y="1977390"/>
            <a:ext cx="388620" cy="388620"/>
          </a:xfrm>
          <a:prstGeom prst="rect">
            <a:avLst/>
          </a:prstGeom>
        </p:spPr>
      </p:pic>
      <p:sp>
        <p:nvSpPr>
          <p:cNvPr id="29" name="Text 25"/>
          <p:cNvSpPr/>
          <p:nvPr/>
        </p:nvSpPr>
        <p:spPr>
          <a:xfrm>
            <a:off x="7635240" y="1810512"/>
            <a:ext cx="37490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Positional Encoding</a:t>
            </a:r>
            <a:endParaRPr lang="en-US" sz="1600" dirty="0"/>
          </a:p>
        </p:txBody>
      </p:sp>
      <p:sp>
        <p:nvSpPr>
          <p:cNvPr id="30" name="Text 26"/>
          <p:cNvSpPr/>
          <p:nvPr/>
        </p:nvSpPr>
        <p:spPr>
          <a:xfrm>
            <a:off x="7635240" y="2212848"/>
            <a:ext cx="3749040" cy="603504"/>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Attention is order-blind by itself — it sees a set, not a sequence. So position must be injected.</a:t>
            </a:r>
            <a:endParaRPr lang="en-US" sz="1200" dirty="0"/>
          </a:p>
        </p:txBody>
      </p:sp>
      <p:sp>
        <p:nvSpPr>
          <p:cNvPr id="31" name="Shape 27"/>
          <p:cNvSpPr/>
          <p:nvPr/>
        </p:nvSpPr>
        <p:spPr>
          <a:xfrm>
            <a:off x="6720840" y="3063240"/>
            <a:ext cx="4617720" cy="713232"/>
          </a:xfrm>
          <a:prstGeom prst="roundRect">
            <a:avLst>
              <a:gd name="adj" fmla="val 7692"/>
            </a:avLst>
          </a:prstGeom>
          <a:solidFill>
            <a:srgbClr val="16213E"/>
          </a:solidFill>
          <a:ln/>
        </p:spPr>
      </p:sp>
      <p:sp>
        <p:nvSpPr>
          <p:cNvPr id="32" name="Text 28"/>
          <p:cNvSpPr/>
          <p:nvPr/>
        </p:nvSpPr>
        <p:spPr>
          <a:xfrm>
            <a:off x="6812280" y="3063240"/>
            <a:ext cx="443484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PE(pos,2i) = sin(pos / 10000^(2i/d))</a:t>
            </a:r>
            <a:endParaRPr lang="en-US" sz="1350" dirty="0"/>
          </a:p>
        </p:txBody>
      </p:sp>
      <p:sp>
        <p:nvSpPr>
          <p:cNvPr id="33" name="Text 29"/>
          <p:cNvSpPr/>
          <p:nvPr/>
        </p:nvSpPr>
        <p:spPr>
          <a:xfrm>
            <a:off x="6766560" y="3977640"/>
            <a:ext cx="4572000" cy="19202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Original paper: fixed sinusoids of many frequencies</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Adds a unique, smooth 'timestamp' to each position</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Lets the model reason about relative distance</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This exact design is what RoPE later improves (Part 4)</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ONE ARCHITECTURE, THREE LINEAGES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Encoder-only · Decoder-only · Encoder–Decoder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GPT · Raffel et al., T5 (arXiv:1910.10683)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645920"/>
            <a:ext cx="3593592" cy="41605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868680" cy="86868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40130" y="2119122"/>
            <a:ext cx="434340" cy="434340"/>
          </a:xfrm>
          <a:prstGeom prst="rect">
            <a:avLst/>
          </a:prstGeom>
        </p:spPr>
      </p:pic>
      <p:sp>
        <p:nvSpPr>
          <p:cNvPr id="9" name="Text 6"/>
          <p:cNvSpPr/>
          <p:nvPr/>
        </p:nvSpPr>
        <p:spPr>
          <a:xfrm>
            <a:off x="2468880" y="2011680"/>
            <a:ext cx="1463040" cy="502920"/>
          </a:xfrm>
          <a:prstGeom prst="rect">
            <a:avLst/>
          </a:prstGeom>
          <a:noFill/>
          <a:ln/>
        </p:spPr>
        <p:txBody>
          <a:bodyPr wrap="square" lIns="0" tIns="0" rIns="0" bIns="0" rtlCol="0" anchor="ctr"/>
          <a:lstStyle/>
          <a:p>
            <a:pPr algn="r" indent="0" marL="0">
              <a:buNone/>
            </a:pPr>
            <a:endParaRPr lang="en-US" sz="1400" dirty="0"/>
          </a:p>
        </p:txBody>
      </p:sp>
      <p:sp>
        <p:nvSpPr>
          <p:cNvPr id="10" name="Text 7"/>
          <p:cNvSpPr/>
          <p:nvPr/>
        </p:nvSpPr>
        <p:spPr>
          <a:xfrm>
            <a:off x="822960" y="2926080"/>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Encoder-only</a:t>
            </a:r>
            <a:endParaRPr lang="en-US" sz="1800" dirty="0"/>
          </a:p>
        </p:txBody>
      </p:sp>
      <p:sp>
        <p:nvSpPr>
          <p:cNvPr id="11" name="Text 8"/>
          <p:cNvSpPr/>
          <p:nvPr/>
        </p:nvSpPr>
        <p:spPr>
          <a:xfrm>
            <a:off x="841248" y="3310128"/>
            <a:ext cx="3090672" cy="310896"/>
          </a:xfrm>
          <a:prstGeom prst="rect">
            <a:avLst/>
          </a:prstGeom>
          <a:noFill/>
          <a:ln/>
        </p:spPr>
        <p:txBody>
          <a:bodyPr wrap="square" lIns="0" tIns="0" rIns="0" bIns="0" rtlCol="0" anchor="ctr"/>
          <a:lstStyle/>
          <a:p>
            <a:pPr indent="0" marL="0">
              <a:buNone/>
            </a:pPr>
            <a:r>
              <a:rPr lang="en-US" sz="1150" b="1" i="1" dirty="0">
                <a:solidFill>
                  <a:srgbClr val="5B4BE0"/>
                </a:solidFill>
                <a:latin typeface="Calibri" pitchFamily="34" charset="0"/>
                <a:ea typeface="Calibri" pitchFamily="34" charset="-122"/>
                <a:cs typeface="Calibri" pitchFamily="34" charset="-120"/>
              </a:rPr>
              <a:t>BERT, RoBERTa, DeBERTa</a:t>
            </a:r>
            <a:endParaRPr lang="en-US" sz="1150" dirty="0"/>
          </a:p>
        </p:txBody>
      </p:sp>
      <p:sp>
        <p:nvSpPr>
          <p:cNvPr id="12" name="Text 9"/>
          <p:cNvSpPr/>
          <p:nvPr/>
        </p:nvSpPr>
        <p:spPr>
          <a:xfrm>
            <a:off x="841248" y="3749040"/>
            <a:ext cx="3090672" cy="182880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Sees the whole sentence at once (bidirectional)</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Great at understanding: classification, search, NER</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Not built to freely generate text</a:t>
            </a:r>
            <a:endParaRPr lang="en-US" sz="1220" dirty="0"/>
          </a:p>
        </p:txBody>
      </p:sp>
      <p:sp>
        <p:nvSpPr>
          <p:cNvPr id="13" name="Shape 10"/>
          <p:cNvSpPr/>
          <p:nvPr/>
        </p:nvSpPr>
        <p:spPr>
          <a:xfrm>
            <a:off x="4315968" y="1645920"/>
            <a:ext cx="3593592" cy="41605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4572000" y="1901952"/>
            <a:ext cx="868680" cy="868680"/>
          </a:xfrm>
          <a:prstGeom prst="ellipse">
            <a:avLst/>
          </a:prstGeom>
          <a:solidFill>
            <a:srgbClr val="E2F4F2"/>
          </a:solidFill>
          <a:ln/>
        </p:spPr>
      </p:sp>
      <p:pic>
        <p:nvPicPr>
          <p:cNvPr id="15" name="Image 1" descr="preencoded.png">    </p:cNvPr>
          <p:cNvPicPr>
            <a:picLocks noChangeAspect="1"/>
          </p:cNvPicPr>
          <p:nvPr/>
        </p:nvPicPr>
        <p:blipFill>
          <a:blip r:embed="rId2"/>
          <a:stretch>
            <a:fillRect/>
          </a:stretch>
        </p:blipFill>
        <p:spPr>
          <a:xfrm>
            <a:off x="4789170" y="2119122"/>
            <a:ext cx="434340" cy="434340"/>
          </a:xfrm>
          <a:prstGeom prst="rect">
            <a:avLst/>
          </a:prstGeom>
        </p:spPr>
      </p:pic>
      <p:sp>
        <p:nvSpPr>
          <p:cNvPr id="16" name="Text 12"/>
          <p:cNvSpPr/>
          <p:nvPr/>
        </p:nvSpPr>
        <p:spPr>
          <a:xfrm>
            <a:off x="6217920" y="2011680"/>
            <a:ext cx="1463040" cy="502920"/>
          </a:xfrm>
          <a:prstGeom prst="rect">
            <a:avLst/>
          </a:prstGeom>
          <a:noFill/>
          <a:ln/>
        </p:spPr>
        <p:txBody>
          <a:bodyPr wrap="square" lIns="0" tIns="0" rIns="0" bIns="0" rtlCol="0" anchor="ctr"/>
          <a:lstStyle/>
          <a:p>
            <a:pPr algn="r" indent="0" marL="0">
              <a:buNone/>
            </a:pPr>
            <a:endParaRPr lang="en-US" sz="1400" dirty="0"/>
          </a:p>
        </p:txBody>
      </p:sp>
      <p:sp>
        <p:nvSpPr>
          <p:cNvPr id="17" name="Text 13"/>
          <p:cNvSpPr/>
          <p:nvPr/>
        </p:nvSpPr>
        <p:spPr>
          <a:xfrm>
            <a:off x="4572000" y="2926080"/>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Decoder-only</a:t>
            </a:r>
            <a:endParaRPr lang="en-US" sz="1800" dirty="0"/>
          </a:p>
        </p:txBody>
      </p:sp>
      <p:sp>
        <p:nvSpPr>
          <p:cNvPr id="18" name="Text 14"/>
          <p:cNvSpPr/>
          <p:nvPr/>
        </p:nvSpPr>
        <p:spPr>
          <a:xfrm>
            <a:off x="4590288" y="3310128"/>
            <a:ext cx="3090672" cy="310896"/>
          </a:xfrm>
          <a:prstGeom prst="rect">
            <a:avLst/>
          </a:prstGeom>
          <a:noFill/>
          <a:ln/>
        </p:spPr>
        <p:txBody>
          <a:bodyPr wrap="square" lIns="0" tIns="0" rIns="0" bIns="0" rtlCol="0" anchor="ctr"/>
          <a:lstStyle/>
          <a:p>
            <a:pPr indent="0" marL="0">
              <a:buNone/>
            </a:pPr>
            <a:r>
              <a:rPr lang="en-US" sz="1150" b="1" i="1" dirty="0">
                <a:solidFill>
                  <a:srgbClr val="0E9E96"/>
                </a:solidFill>
                <a:latin typeface="Calibri" pitchFamily="34" charset="0"/>
                <a:ea typeface="Calibri" pitchFamily="34" charset="-122"/>
                <a:cs typeface="Calibri" pitchFamily="34" charset="-120"/>
              </a:rPr>
              <a:t>GPT, LLaMA, Claude, Gemini</a:t>
            </a:r>
            <a:endParaRPr lang="en-US" sz="1150" dirty="0"/>
          </a:p>
        </p:txBody>
      </p:sp>
      <p:sp>
        <p:nvSpPr>
          <p:cNvPr id="19" name="Text 15"/>
          <p:cNvSpPr/>
          <p:nvPr/>
        </p:nvSpPr>
        <p:spPr>
          <a:xfrm>
            <a:off x="4590288" y="3749040"/>
            <a:ext cx="3090672" cy="182880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Masked attention → predicts the next token</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Great at generation; scales beautifully</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The dominant design for modern LLMs</a:t>
            </a:r>
            <a:endParaRPr lang="en-US" sz="1220" dirty="0"/>
          </a:p>
        </p:txBody>
      </p:sp>
      <p:sp>
        <p:nvSpPr>
          <p:cNvPr id="20" name="Shape 16"/>
          <p:cNvSpPr/>
          <p:nvPr/>
        </p:nvSpPr>
        <p:spPr>
          <a:xfrm>
            <a:off x="8065008" y="1645920"/>
            <a:ext cx="3593592" cy="41605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7"/>
          <p:cNvSpPr/>
          <p:nvPr/>
        </p:nvSpPr>
        <p:spPr>
          <a:xfrm>
            <a:off x="8321040" y="1901952"/>
            <a:ext cx="868680" cy="868680"/>
          </a:xfrm>
          <a:prstGeom prst="ellipse">
            <a:avLst/>
          </a:prstGeom>
          <a:solidFill>
            <a:srgbClr val="FBEFD8"/>
          </a:solidFill>
          <a:ln/>
        </p:spPr>
      </p:sp>
      <p:pic>
        <p:nvPicPr>
          <p:cNvPr id="22" name="Image 2" descr="preencoded.png">    </p:cNvPr>
          <p:cNvPicPr>
            <a:picLocks noChangeAspect="1"/>
          </p:cNvPicPr>
          <p:nvPr/>
        </p:nvPicPr>
        <p:blipFill>
          <a:blip r:embed="rId3"/>
          <a:stretch>
            <a:fillRect/>
          </a:stretch>
        </p:blipFill>
        <p:spPr>
          <a:xfrm>
            <a:off x="8538210" y="2119122"/>
            <a:ext cx="434340" cy="434340"/>
          </a:xfrm>
          <a:prstGeom prst="rect">
            <a:avLst/>
          </a:prstGeom>
        </p:spPr>
      </p:pic>
      <p:sp>
        <p:nvSpPr>
          <p:cNvPr id="23" name="Text 18"/>
          <p:cNvSpPr/>
          <p:nvPr/>
        </p:nvSpPr>
        <p:spPr>
          <a:xfrm>
            <a:off x="9966960" y="2011680"/>
            <a:ext cx="1463040" cy="502920"/>
          </a:xfrm>
          <a:prstGeom prst="rect">
            <a:avLst/>
          </a:prstGeom>
          <a:noFill/>
          <a:ln/>
        </p:spPr>
        <p:txBody>
          <a:bodyPr wrap="square" lIns="0" tIns="0" rIns="0" bIns="0" rtlCol="0" anchor="ctr"/>
          <a:lstStyle/>
          <a:p>
            <a:pPr algn="r" indent="0" marL="0">
              <a:buNone/>
            </a:pPr>
            <a:endParaRPr lang="en-US" sz="1400" dirty="0"/>
          </a:p>
        </p:txBody>
      </p:sp>
      <p:sp>
        <p:nvSpPr>
          <p:cNvPr id="24" name="Text 19"/>
          <p:cNvSpPr/>
          <p:nvPr/>
        </p:nvSpPr>
        <p:spPr>
          <a:xfrm>
            <a:off x="8321040" y="2926080"/>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Encoder–Decoder</a:t>
            </a:r>
            <a:endParaRPr lang="en-US" sz="1800" dirty="0"/>
          </a:p>
        </p:txBody>
      </p:sp>
      <p:sp>
        <p:nvSpPr>
          <p:cNvPr id="25" name="Text 20"/>
          <p:cNvSpPr/>
          <p:nvPr/>
        </p:nvSpPr>
        <p:spPr>
          <a:xfrm>
            <a:off x="8339328" y="3310128"/>
            <a:ext cx="3090672" cy="310896"/>
          </a:xfrm>
          <a:prstGeom prst="rect">
            <a:avLst/>
          </a:prstGeom>
          <a:noFill/>
          <a:ln/>
        </p:spPr>
        <p:txBody>
          <a:bodyPr wrap="square" lIns="0" tIns="0" rIns="0" bIns="0" rtlCol="0" anchor="ctr"/>
          <a:lstStyle/>
          <a:p>
            <a:pPr indent="0" marL="0">
              <a:buNone/>
            </a:pPr>
            <a:r>
              <a:rPr lang="en-US" sz="1150" b="1" i="1" dirty="0">
                <a:solidFill>
                  <a:srgbClr val="D9820A"/>
                </a:solidFill>
                <a:latin typeface="Calibri" pitchFamily="34" charset="0"/>
                <a:ea typeface="Calibri" pitchFamily="34" charset="-122"/>
                <a:cs typeface="Calibri" pitchFamily="34" charset="-120"/>
              </a:rPr>
              <a:t>T5, BART, original Transformer</a:t>
            </a:r>
            <a:endParaRPr lang="en-US" sz="1150" dirty="0"/>
          </a:p>
        </p:txBody>
      </p:sp>
      <p:sp>
        <p:nvSpPr>
          <p:cNvPr id="26" name="Text 21"/>
          <p:cNvSpPr/>
          <p:nvPr/>
        </p:nvSpPr>
        <p:spPr>
          <a:xfrm>
            <a:off x="8339328" y="3749040"/>
            <a:ext cx="3090672" cy="182880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Reads input fully, then generates output</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Natural for translation &amp; summarisation</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Used in many seq-to-seq &amp; multimodal models</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3</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3</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Scaling Era (2018 – 2022)</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Take the decoder, add parameters, add data, add compute — and watch new abilities appear. This is the era of GPT-1 → GPT-3, the scaling laws that explained it, and the RLHF step that turned a predictor into an assistant.</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2018 · TWO BETS ARE PLACED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BERT and GPT-1: understanding vs. generation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'Improving Language Understanding by Generative Pre-Training'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874520"/>
            <a:ext cx="914400" cy="914400"/>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1069848" y="2103120"/>
            <a:ext cx="457200" cy="457200"/>
          </a:xfrm>
          <a:prstGeom prst="rect">
            <a:avLst/>
          </a:prstGeom>
        </p:spPr>
      </p:pic>
      <p:sp>
        <p:nvSpPr>
          <p:cNvPr id="9" name="Text 6"/>
          <p:cNvSpPr/>
          <p:nvPr/>
        </p:nvSpPr>
        <p:spPr>
          <a:xfrm>
            <a:off x="1892808" y="1874520"/>
            <a:ext cx="3840480" cy="457200"/>
          </a:xfrm>
          <a:prstGeom prst="rect">
            <a:avLst/>
          </a:prstGeom>
          <a:noFill/>
          <a:ln/>
        </p:spPr>
        <p:txBody>
          <a:bodyPr wrap="square" lIns="0" tIns="0" rIns="0" bIns="0" rtlCol="0" anchor="ctr"/>
          <a:lstStyle/>
          <a:p>
            <a:pPr indent="0" marL="0">
              <a:buNone/>
            </a:pPr>
            <a:r>
              <a:rPr lang="en-US" sz="2400" b="1" dirty="0">
                <a:solidFill>
                  <a:srgbClr val="0E9E96"/>
                </a:solidFill>
                <a:latin typeface="Cambria" pitchFamily="34" charset="0"/>
                <a:ea typeface="Cambria" pitchFamily="34" charset="-122"/>
                <a:cs typeface="Cambria" pitchFamily="34" charset="-120"/>
              </a:rPr>
              <a:t>GPT-1</a:t>
            </a:r>
            <a:endParaRPr lang="en-US" sz="2400" dirty="0"/>
          </a:p>
        </p:txBody>
      </p:sp>
      <p:sp>
        <p:nvSpPr>
          <p:cNvPr id="10" name="Text 7"/>
          <p:cNvSpPr/>
          <p:nvPr/>
        </p:nvSpPr>
        <p:spPr>
          <a:xfrm>
            <a:off x="189280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OpenAI · June 2018</a:t>
            </a:r>
            <a:endParaRPr lang="en-US" sz="1200" dirty="0"/>
          </a:p>
        </p:txBody>
      </p:sp>
      <p:sp>
        <p:nvSpPr>
          <p:cNvPr id="11" name="Shape 8"/>
          <p:cNvSpPr/>
          <p:nvPr/>
        </p:nvSpPr>
        <p:spPr>
          <a:xfrm>
            <a:off x="859536" y="2971800"/>
            <a:ext cx="4800600" cy="566928"/>
          </a:xfrm>
          <a:prstGeom prst="roundRect">
            <a:avLst>
              <a:gd name="adj" fmla="val 48387"/>
            </a:avLst>
          </a:prstGeom>
          <a:solidFill>
            <a:srgbClr val="E2F4F2"/>
          </a:solidFill>
          <a:ln/>
        </p:spPr>
      </p:sp>
      <p:sp>
        <p:nvSpPr>
          <p:cNvPr id="12" name="Text 9"/>
          <p:cNvSpPr/>
          <p:nvPr/>
        </p:nvSpPr>
        <p:spPr>
          <a:xfrm>
            <a:off x="859536" y="2971800"/>
            <a:ext cx="4800600" cy="566928"/>
          </a:xfrm>
          <a:prstGeom prst="rect">
            <a:avLst/>
          </a:prstGeom>
          <a:noFill/>
          <a:ln/>
        </p:spPr>
        <p:txBody>
          <a:bodyPr wrap="square" lIns="0" tIns="0" rIns="0" bIns="0" rtlCol="0" anchor="ctr"/>
          <a:lstStyle/>
          <a:p>
            <a:pPr algn="ctr" indent="0" marL="0">
              <a:buNone/>
            </a:pPr>
            <a:r>
              <a:rPr lang="en-US" sz="1500" b="1" dirty="0">
                <a:solidFill>
                  <a:srgbClr val="0E9E96"/>
                </a:solidFill>
                <a:latin typeface="Calibri" pitchFamily="34" charset="0"/>
                <a:ea typeface="Calibri" pitchFamily="34" charset="-122"/>
                <a:cs typeface="Calibri" pitchFamily="34" charset="-120"/>
              </a:rPr>
              <a:t>117M parameters</a:t>
            </a:r>
            <a:endParaRPr lang="en-US" sz="1500" dirty="0"/>
          </a:p>
        </p:txBody>
      </p:sp>
      <p:sp>
        <p:nvSpPr>
          <p:cNvPr id="13" name="Text 10"/>
          <p:cNvSpPr/>
          <p:nvPr/>
        </p:nvSpPr>
        <p:spPr>
          <a:xfrm>
            <a:off x="87782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Decoder-only Transformer, 12 layers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Generative pre-training, then fine-tune</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Proved one pre-trained model transfers to many tasks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The blueprint for the entire GPT line</a:t>
            </a:r>
            <a:endParaRPr lang="en-US" sz="1260" dirty="0"/>
          </a:p>
        </p:txBody>
      </p:sp>
      <p:sp>
        <p:nvSpPr>
          <p:cNvPr id="14" name="Shape 11"/>
          <p:cNvSpPr/>
          <p:nvPr/>
        </p:nvSpPr>
        <p:spPr>
          <a:xfrm>
            <a:off x="614476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6419088" y="1874520"/>
            <a:ext cx="914400" cy="914400"/>
          </a:xfrm>
          <a:prstGeom prst="ellipse">
            <a:avLst/>
          </a:prstGeom>
          <a:solidFill>
            <a:srgbClr val="EEECFB"/>
          </a:solidFill>
          <a:ln/>
        </p:spPr>
      </p:sp>
      <p:pic>
        <p:nvPicPr>
          <p:cNvPr id="16" name="Image 1" descr="preencoded.png">    </p:cNvPr>
          <p:cNvPicPr>
            <a:picLocks noChangeAspect="1"/>
          </p:cNvPicPr>
          <p:nvPr/>
        </p:nvPicPr>
        <p:blipFill>
          <a:blip r:embed="rId2"/>
          <a:stretch>
            <a:fillRect/>
          </a:stretch>
        </p:blipFill>
        <p:spPr>
          <a:xfrm>
            <a:off x="6647688" y="2103120"/>
            <a:ext cx="457200" cy="457200"/>
          </a:xfrm>
          <a:prstGeom prst="rect">
            <a:avLst/>
          </a:prstGeom>
        </p:spPr>
      </p:pic>
      <p:sp>
        <p:nvSpPr>
          <p:cNvPr id="17" name="Text 13"/>
          <p:cNvSpPr/>
          <p:nvPr/>
        </p:nvSpPr>
        <p:spPr>
          <a:xfrm>
            <a:off x="7470648" y="1874520"/>
            <a:ext cx="3840480" cy="457200"/>
          </a:xfrm>
          <a:prstGeom prst="rect">
            <a:avLst/>
          </a:prstGeom>
          <a:noFill/>
          <a:ln/>
        </p:spPr>
        <p:txBody>
          <a:bodyPr wrap="square" lIns="0" tIns="0" rIns="0" bIns="0" rtlCol="0" anchor="ctr"/>
          <a:lstStyle/>
          <a:p>
            <a:pPr indent="0" marL="0">
              <a:buNone/>
            </a:pPr>
            <a:r>
              <a:rPr lang="en-US" sz="2400" b="1" dirty="0">
                <a:solidFill>
                  <a:srgbClr val="5B4BE0"/>
                </a:solidFill>
                <a:latin typeface="Cambria" pitchFamily="34" charset="0"/>
                <a:ea typeface="Cambria" pitchFamily="34" charset="-122"/>
                <a:cs typeface="Cambria" pitchFamily="34" charset="-120"/>
              </a:rPr>
              <a:t>BERT</a:t>
            </a:r>
            <a:endParaRPr lang="en-US" sz="2400" dirty="0"/>
          </a:p>
        </p:txBody>
      </p:sp>
      <p:sp>
        <p:nvSpPr>
          <p:cNvPr id="18" name="Text 14"/>
          <p:cNvSpPr/>
          <p:nvPr/>
        </p:nvSpPr>
        <p:spPr>
          <a:xfrm>
            <a:off x="747064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Google · Oct 2018</a:t>
            </a:r>
            <a:endParaRPr lang="en-US" sz="1200" dirty="0"/>
          </a:p>
        </p:txBody>
      </p:sp>
      <p:sp>
        <p:nvSpPr>
          <p:cNvPr id="19" name="Shape 15"/>
          <p:cNvSpPr/>
          <p:nvPr/>
        </p:nvSpPr>
        <p:spPr>
          <a:xfrm>
            <a:off x="6437376" y="2971800"/>
            <a:ext cx="4800600" cy="566928"/>
          </a:xfrm>
          <a:prstGeom prst="roundRect">
            <a:avLst>
              <a:gd name="adj" fmla="val 48387"/>
            </a:avLst>
          </a:prstGeom>
          <a:solidFill>
            <a:srgbClr val="EEECFB"/>
          </a:solidFill>
          <a:ln/>
        </p:spPr>
      </p:sp>
      <p:sp>
        <p:nvSpPr>
          <p:cNvPr id="20" name="Text 16"/>
          <p:cNvSpPr/>
          <p:nvPr/>
        </p:nvSpPr>
        <p:spPr>
          <a:xfrm>
            <a:off x="6437376" y="2971800"/>
            <a:ext cx="4800600" cy="566928"/>
          </a:xfrm>
          <a:prstGeom prst="rect">
            <a:avLst/>
          </a:prstGeom>
          <a:noFill/>
          <a:ln/>
        </p:spPr>
        <p:txBody>
          <a:bodyPr wrap="square" lIns="0" tIns="0" rIns="0" bIns="0" rtlCol="0" anchor="ctr"/>
          <a:lstStyle/>
          <a:p>
            <a:pPr algn="ctr" indent="0" marL="0">
              <a:buNone/>
            </a:pPr>
            <a:r>
              <a:rPr lang="en-US" sz="1500" b="1" dirty="0">
                <a:solidFill>
                  <a:srgbClr val="5B4BE0"/>
                </a:solidFill>
                <a:latin typeface="Calibri" pitchFamily="34" charset="0"/>
                <a:ea typeface="Calibri" pitchFamily="34" charset="-122"/>
                <a:cs typeface="Calibri" pitchFamily="34" charset="-120"/>
              </a:rPr>
              <a:t>340M parameters (Large)</a:t>
            </a:r>
            <a:endParaRPr lang="en-US" sz="1500" dirty="0"/>
          </a:p>
        </p:txBody>
      </p:sp>
      <p:sp>
        <p:nvSpPr>
          <p:cNvPr id="21" name="Text 17"/>
          <p:cNvSpPr/>
          <p:nvPr/>
        </p:nvSpPr>
        <p:spPr>
          <a:xfrm>
            <a:off x="645566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Encoder-only, deeply bidirectional</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Masked-language-model pre-training</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Shattered NLP benchmarks; powered Google Search</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Defined 'understanding' models for years</a:t>
            </a:r>
            <a:endParaRPr lang="en-US" sz="12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2019 → 2020 · SCALE STARTS TO SURPRISE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GPT-2 to GPT-3: emergence of in-context learning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Radford et al., GPT-2 (2019) · Brown et al., 'Language Models are Few-Shot Learners', arXiv:2005.14165 (GPT-3)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6692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GPT-2 · 2019</a:t>
            </a:r>
            <a:endParaRPr lang="en-US" sz="1300" dirty="0"/>
          </a:p>
        </p:txBody>
      </p:sp>
      <p:sp>
        <p:nvSpPr>
          <p:cNvPr id="8" name="Text 6"/>
          <p:cNvSpPr/>
          <p:nvPr/>
        </p:nvSpPr>
        <p:spPr>
          <a:xfrm>
            <a:off x="822960" y="2011680"/>
            <a:ext cx="2331720" cy="868680"/>
          </a:xfrm>
          <a:prstGeom prst="rect">
            <a:avLst/>
          </a:prstGeom>
          <a:noFill/>
          <a:ln/>
        </p:spPr>
        <p:txBody>
          <a:bodyPr wrap="square" lIns="0" tIns="0" rIns="0" bIns="0" rtlCol="0" anchor="ctr"/>
          <a:lstStyle/>
          <a:p>
            <a:pPr indent="0" marL="0">
              <a:buNone/>
            </a:pPr>
            <a:r>
              <a:rPr lang="en-US" sz="3800" b="1" dirty="0">
                <a:solidFill>
                  <a:srgbClr val="0E9E96"/>
                </a:solidFill>
                <a:latin typeface="Cambria" pitchFamily="34" charset="0"/>
                <a:ea typeface="Cambria" pitchFamily="34" charset="-122"/>
                <a:cs typeface="Cambria" pitchFamily="34" charset="-120"/>
              </a:rPr>
              <a:t>1.5B</a:t>
            </a:r>
            <a:endParaRPr lang="en-US" sz="3800" dirty="0"/>
          </a:p>
        </p:txBody>
      </p:sp>
      <p:sp>
        <p:nvSpPr>
          <p:cNvPr id="9" name="Text 7"/>
          <p:cNvSpPr/>
          <p:nvPr/>
        </p:nvSpPr>
        <p:spPr>
          <a:xfrm>
            <a:off x="84124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0" name="Text 8"/>
          <p:cNvSpPr/>
          <p:nvPr/>
        </p:nvSpPr>
        <p:spPr>
          <a:xfrm>
            <a:off x="321868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≈10× GPT-1. Text so fluent OpenAI staged its release over misuse fears.</a:t>
            </a:r>
            <a:endParaRPr lang="en-US" sz="1200" dirty="0"/>
          </a:p>
        </p:txBody>
      </p:sp>
      <p:sp>
        <p:nvSpPr>
          <p:cNvPr id="11" name="Shape 9"/>
          <p:cNvSpPr/>
          <p:nvPr/>
        </p:nvSpPr>
        <p:spPr>
          <a:xfrm>
            <a:off x="614476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10"/>
          <p:cNvSpPr/>
          <p:nvPr/>
        </p:nvSpPr>
        <p:spPr>
          <a:xfrm>
            <a:off x="641908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GPT-3 · 2020</a:t>
            </a:r>
            <a:endParaRPr lang="en-US" sz="1300" dirty="0"/>
          </a:p>
        </p:txBody>
      </p:sp>
      <p:sp>
        <p:nvSpPr>
          <p:cNvPr id="13" name="Text 11"/>
          <p:cNvSpPr/>
          <p:nvPr/>
        </p:nvSpPr>
        <p:spPr>
          <a:xfrm>
            <a:off x="6400800" y="2011680"/>
            <a:ext cx="2331720" cy="868680"/>
          </a:xfrm>
          <a:prstGeom prst="rect">
            <a:avLst/>
          </a:prstGeom>
          <a:noFill/>
          <a:ln/>
        </p:spPr>
        <p:txBody>
          <a:bodyPr wrap="square" lIns="0" tIns="0" rIns="0" bIns="0" rtlCol="0" anchor="ctr"/>
          <a:lstStyle/>
          <a:p>
            <a:pPr indent="0" marL="0">
              <a:buNone/>
            </a:pPr>
            <a:r>
              <a:rPr lang="en-US" sz="3800" b="1" dirty="0">
                <a:solidFill>
                  <a:srgbClr val="5B4BE0"/>
                </a:solidFill>
                <a:latin typeface="Cambria" pitchFamily="34" charset="0"/>
                <a:ea typeface="Cambria" pitchFamily="34" charset="-122"/>
                <a:cs typeface="Cambria" pitchFamily="34" charset="-120"/>
              </a:rPr>
              <a:t>175B</a:t>
            </a:r>
            <a:endParaRPr lang="en-US" sz="3800" dirty="0"/>
          </a:p>
        </p:txBody>
      </p:sp>
      <p:sp>
        <p:nvSpPr>
          <p:cNvPr id="14" name="Text 12"/>
          <p:cNvSpPr/>
          <p:nvPr/>
        </p:nvSpPr>
        <p:spPr>
          <a:xfrm>
            <a:off x="641908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5" name="Text 13"/>
          <p:cNvSpPr/>
          <p:nvPr/>
        </p:nvSpPr>
        <p:spPr>
          <a:xfrm>
            <a:off x="879652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≈117× GPT-2. 96 layers, 12,288-dim, 2,048-token context.</a:t>
            </a:r>
            <a:endParaRPr lang="en-US" sz="1200" dirty="0"/>
          </a:p>
        </p:txBody>
      </p:sp>
      <p:sp>
        <p:nvSpPr>
          <p:cNvPr id="16" name="Shape 14"/>
          <p:cNvSpPr/>
          <p:nvPr/>
        </p:nvSpPr>
        <p:spPr>
          <a:xfrm>
            <a:off x="566928" y="3246120"/>
            <a:ext cx="11045952" cy="2743200"/>
          </a:xfrm>
          <a:prstGeom prst="roundRect">
            <a:avLst>
              <a:gd name="adj" fmla="val 3333"/>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5"/>
          <p:cNvSpPr/>
          <p:nvPr/>
        </p:nvSpPr>
        <p:spPr>
          <a:xfrm>
            <a:off x="886968" y="3520440"/>
            <a:ext cx="868680" cy="868680"/>
          </a:xfrm>
          <a:prstGeom prst="ellipse">
            <a:avLst/>
          </a:prstGeom>
          <a:solidFill>
            <a:srgbClr val="FBEFD8"/>
          </a:solidFill>
          <a:ln/>
        </p:spPr>
      </p:sp>
      <p:pic>
        <p:nvPicPr>
          <p:cNvPr id="18" name="Image 0" descr="preencoded.png">    </p:cNvPr>
          <p:cNvPicPr>
            <a:picLocks noChangeAspect="1"/>
          </p:cNvPicPr>
          <p:nvPr/>
        </p:nvPicPr>
        <p:blipFill>
          <a:blip r:embed="rId1"/>
          <a:stretch>
            <a:fillRect/>
          </a:stretch>
        </p:blipFill>
        <p:spPr>
          <a:xfrm>
            <a:off x="1104138" y="3737610"/>
            <a:ext cx="434340" cy="434340"/>
          </a:xfrm>
          <a:prstGeom prst="rect">
            <a:avLst/>
          </a:prstGeom>
        </p:spPr>
      </p:pic>
      <p:sp>
        <p:nvSpPr>
          <p:cNvPr id="19" name="Text 16"/>
          <p:cNvSpPr/>
          <p:nvPr/>
        </p:nvSpPr>
        <p:spPr>
          <a:xfrm>
            <a:off x="1938528" y="3520440"/>
            <a:ext cx="9326880" cy="411480"/>
          </a:xfrm>
          <a:prstGeom prst="rect">
            <a:avLst/>
          </a:prstGeom>
          <a:noFill/>
          <a:ln/>
        </p:spPr>
        <p:txBody>
          <a:bodyPr wrap="square" lIns="0" tIns="0" rIns="0" bIns="0" rtlCol="0" anchor="ctr"/>
          <a:lstStyle/>
          <a:p>
            <a:pPr indent="0" marL="0">
              <a:buNone/>
            </a:pPr>
            <a:r>
              <a:rPr lang="en-US" sz="1700" b="1" dirty="0">
                <a:solidFill>
                  <a:srgbClr val="1B2440"/>
                </a:solidFill>
                <a:latin typeface="Calibri" pitchFamily="34" charset="0"/>
                <a:ea typeface="Calibri" pitchFamily="34" charset="-122"/>
                <a:cs typeface="Calibri" pitchFamily="34" charset="-120"/>
              </a:rPr>
              <a:t>The breakthrough wasn't size — it was in-context learning</a:t>
            </a:r>
            <a:endParaRPr lang="en-US" sz="1700" dirty="0"/>
          </a:p>
        </p:txBody>
      </p:sp>
      <p:sp>
        <p:nvSpPr>
          <p:cNvPr id="20" name="Text 17"/>
          <p:cNvSpPr/>
          <p:nvPr/>
        </p:nvSpPr>
        <p:spPr>
          <a:xfrm>
            <a:off x="1938528" y="3950208"/>
            <a:ext cx="9326880" cy="868680"/>
          </a:xfrm>
          <a:prstGeom prst="rect">
            <a:avLst/>
          </a:prstGeom>
          <a:noFill/>
          <a:ln/>
        </p:spPr>
        <p:txBody>
          <a:bodyPr wrap="square" lIns="0" tIns="0" rIns="0" bIns="0" rtlCol="0" anchor="ctr"/>
          <a:lstStyle/>
          <a:p>
            <a:pPr indent="0" marL="0">
              <a:lnSpc>
                <a:spcPct val="116000"/>
              </a:lnSpc>
              <a:buNone/>
            </a:pPr>
            <a:r>
              <a:rPr lang="en-US" sz="1300" dirty="0">
                <a:solidFill>
                  <a:srgbClr val="5A6685"/>
                </a:solidFill>
                <a:latin typeface="Calibri" pitchFamily="34" charset="0"/>
                <a:ea typeface="Calibri" pitchFamily="34" charset="-122"/>
                <a:cs typeface="Calibri" pitchFamily="34" charset="-120"/>
              </a:rPr>
              <a:t>GPT-3 could perform a brand-new task from a few examples in the prompt — no weight updates, no fine-tuning. This 'few-shot' ability was an emergent property of scale, and it reframed the model from a tool you retrain into a tool you simply instruct.</a:t>
            </a:r>
            <a:endParaRPr lang="en-US" sz="1300" dirty="0"/>
          </a:p>
        </p:txBody>
      </p:sp>
      <p:sp>
        <p:nvSpPr>
          <p:cNvPr id="21" name="Shape 18"/>
          <p:cNvSpPr/>
          <p:nvPr/>
        </p:nvSpPr>
        <p:spPr>
          <a:xfrm>
            <a:off x="932688" y="4983480"/>
            <a:ext cx="3383280" cy="822960"/>
          </a:xfrm>
          <a:prstGeom prst="roundRect">
            <a:avLst>
              <a:gd name="adj" fmla="val 8889"/>
            </a:avLst>
          </a:prstGeom>
          <a:solidFill>
            <a:srgbClr val="FFFFFF"/>
          </a:solidFill>
          <a:ln w="15875">
            <a:solidFill>
              <a:srgbClr val="5B4BE0"/>
            </a:solidFill>
            <a:prstDash val="solid"/>
          </a:ln>
        </p:spPr>
      </p:sp>
      <p:sp>
        <p:nvSpPr>
          <p:cNvPr id="22" name="Text 19"/>
          <p:cNvSpPr/>
          <p:nvPr/>
        </p:nvSpPr>
        <p:spPr>
          <a:xfrm>
            <a:off x="111556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Zero-shot</a:t>
            </a:r>
            <a:endParaRPr lang="en-US" sz="1350" dirty="0"/>
          </a:p>
        </p:txBody>
      </p:sp>
      <p:sp>
        <p:nvSpPr>
          <p:cNvPr id="23" name="Text 20"/>
          <p:cNvSpPr/>
          <p:nvPr/>
        </p:nvSpPr>
        <p:spPr>
          <a:xfrm>
            <a:off x="111556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just the task description</a:t>
            </a:r>
            <a:endParaRPr lang="en-US" sz="1150" dirty="0"/>
          </a:p>
        </p:txBody>
      </p:sp>
      <p:sp>
        <p:nvSpPr>
          <p:cNvPr id="24" name="Shape 21"/>
          <p:cNvSpPr/>
          <p:nvPr/>
        </p:nvSpPr>
        <p:spPr>
          <a:xfrm>
            <a:off x="4544568" y="4983480"/>
            <a:ext cx="3383280" cy="822960"/>
          </a:xfrm>
          <a:prstGeom prst="roundRect">
            <a:avLst>
              <a:gd name="adj" fmla="val 8889"/>
            </a:avLst>
          </a:prstGeom>
          <a:solidFill>
            <a:srgbClr val="FFFFFF"/>
          </a:solidFill>
          <a:ln w="15875">
            <a:solidFill>
              <a:srgbClr val="5B4BE0"/>
            </a:solidFill>
            <a:prstDash val="solid"/>
          </a:ln>
        </p:spPr>
      </p:sp>
      <p:sp>
        <p:nvSpPr>
          <p:cNvPr id="25" name="Text 22"/>
          <p:cNvSpPr/>
          <p:nvPr/>
        </p:nvSpPr>
        <p:spPr>
          <a:xfrm>
            <a:off x="472744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One-shot</a:t>
            </a:r>
            <a:endParaRPr lang="en-US" sz="1350" dirty="0"/>
          </a:p>
        </p:txBody>
      </p:sp>
      <p:sp>
        <p:nvSpPr>
          <p:cNvPr id="26" name="Text 23"/>
          <p:cNvSpPr/>
          <p:nvPr/>
        </p:nvSpPr>
        <p:spPr>
          <a:xfrm>
            <a:off x="472744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one worked example</a:t>
            </a:r>
            <a:endParaRPr lang="en-US" sz="1150" dirty="0"/>
          </a:p>
        </p:txBody>
      </p:sp>
      <p:sp>
        <p:nvSpPr>
          <p:cNvPr id="27" name="Shape 24"/>
          <p:cNvSpPr/>
          <p:nvPr/>
        </p:nvSpPr>
        <p:spPr>
          <a:xfrm>
            <a:off x="8156448" y="4983480"/>
            <a:ext cx="3383280" cy="822960"/>
          </a:xfrm>
          <a:prstGeom prst="roundRect">
            <a:avLst>
              <a:gd name="adj" fmla="val 8889"/>
            </a:avLst>
          </a:prstGeom>
          <a:solidFill>
            <a:srgbClr val="FFFFFF"/>
          </a:solidFill>
          <a:ln w="15875">
            <a:solidFill>
              <a:srgbClr val="5B4BE0"/>
            </a:solidFill>
            <a:prstDash val="solid"/>
          </a:ln>
        </p:spPr>
      </p:sp>
      <p:sp>
        <p:nvSpPr>
          <p:cNvPr id="28" name="Text 25"/>
          <p:cNvSpPr/>
          <p:nvPr/>
        </p:nvSpPr>
        <p:spPr>
          <a:xfrm>
            <a:off x="833932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Few-shot</a:t>
            </a:r>
            <a:endParaRPr lang="en-US" sz="1350" dirty="0"/>
          </a:p>
        </p:txBody>
      </p:sp>
      <p:sp>
        <p:nvSpPr>
          <p:cNvPr id="29" name="Text 26"/>
          <p:cNvSpPr/>
          <p:nvPr/>
        </p:nvSpPr>
        <p:spPr>
          <a:xfrm>
            <a:off x="833932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a handful of examples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FIVE ORDERS OF MAGNITUDE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parameter explosion, 2017 → 2023</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Counts compiled from each model's paper/report; GPT-4 is a widely-cited estimate (OpenAI has not confirmed)</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Bar length is on a logarithmic scale — each major gridline is ≈10× more parameters.</a:t>
            </a:r>
            <a:endParaRPr lang="en-US" sz="1250" dirty="0"/>
          </a:p>
        </p:txBody>
      </p:sp>
      <p:sp>
        <p:nvSpPr>
          <p:cNvPr id="7" name="Shape 5"/>
          <p:cNvSpPr/>
          <p:nvPr/>
        </p:nvSpPr>
        <p:spPr>
          <a:xfrm>
            <a:off x="3708133" y="1920240"/>
            <a:ext cx="0" cy="3698748"/>
          </a:xfrm>
          <a:prstGeom prst="line">
            <a:avLst/>
          </a:prstGeom>
          <a:noFill/>
          <a:ln w="12700">
            <a:solidFill>
              <a:srgbClr val="DDE1EC"/>
            </a:solidFill>
            <a:prstDash val="dash"/>
          </a:ln>
        </p:spPr>
      </p:sp>
      <p:sp>
        <p:nvSpPr>
          <p:cNvPr id="8" name="Text 6"/>
          <p:cNvSpPr/>
          <p:nvPr/>
        </p:nvSpPr>
        <p:spPr>
          <a:xfrm>
            <a:off x="3342373"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100M</a:t>
            </a:r>
            <a:endParaRPr lang="en-US" sz="900" dirty="0"/>
          </a:p>
        </p:txBody>
      </p:sp>
      <p:sp>
        <p:nvSpPr>
          <p:cNvPr id="9" name="Shape 7"/>
          <p:cNvSpPr/>
          <p:nvPr/>
        </p:nvSpPr>
        <p:spPr>
          <a:xfrm>
            <a:off x="5248175" y="1920240"/>
            <a:ext cx="0" cy="3698748"/>
          </a:xfrm>
          <a:prstGeom prst="line">
            <a:avLst/>
          </a:prstGeom>
          <a:noFill/>
          <a:ln w="12700">
            <a:solidFill>
              <a:srgbClr val="DDE1EC"/>
            </a:solidFill>
            <a:prstDash val="dash"/>
          </a:ln>
        </p:spPr>
      </p:sp>
      <p:sp>
        <p:nvSpPr>
          <p:cNvPr id="10" name="Text 8"/>
          <p:cNvSpPr/>
          <p:nvPr/>
        </p:nvSpPr>
        <p:spPr>
          <a:xfrm>
            <a:off x="4882415"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1B</a:t>
            </a:r>
            <a:endParaRPr lang="en-US" sz="900" dirty="0"/>
          </a:p>
        </p:txBody>
      </p:sp>
      <p:sp>
        <p:nvSpPr>
          <p:cNvPr id="11" name="Shape 9"/>
          <p:cNvSpPr/>
          <p:nvPr/>
        </p:nvSpPr>
        <p:spPr>
          <a:xfrm>
            <a:off x="6788217" y="1920240"/>
            <a:ext cx="0" cy="3698748"/>
          </a:xfrm>
          <a:prstGeom prst="line">
            <a:avLst/>
          </a:prstGeom>
          <a:noFill/>
          <a:ln w="12700">
            <a:solidFill>
              <a:srgbClr val="DDE1EC"/>
            </a:solidFill>
            <a:prstDash val="dash"/>
          </a:ln>
        </p:spPr>
      </p:sp>
      <p:sp>
        <p:nvSpPr>
          <p:cNvPr id="12" name="Text 10"/>
          <p:cNvSpPr/>
          <p:nvPr/>
        </p:nvSpPr>
        <p:spPr>
          <a:xfrm>
            <a:off x="6422457"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10B</a:t>
            </a:r>
            <a:endParaRPr lang="en-US" sz="900" dirty="0"/>
          </a:p>
        </p:txBody>
      </p:sp>
      <p:sp>
        <p:nvSpPr>
          <p:cNvPr id="13" name="Shape 11"/>
          <p:cNvSpPr/>
          <p:nvPr/>
        </p:nvSpPr>
        <p:spPr>
          <a:xfrm>
            <a:off x="8328259" y="1920240"/>
            <a:ext cx="0" cy="3698748"/>
          </a:xfrm>
          <a:prstGeom prst="line">
            <a:avLst/>
          </a:prstGeom>
          <a:noFill/>
          <a:ln w="12700">
            <a:solidFill>
              <a:srgbClr val="DDE1EC"/>
            </a:solidFill>
            <a:prstDash val="dash"/>
          </a:ln>
        </p:spPr>
      </p:sp>
      <p:sp>
        <p:nvSpPr>
          <p:cNvPr id="14" name="Text 12"/>
          <p:cNvSpPr/>
          <p:nvPr/>
        </p:nvSpPr>
        <p:spPr>
          <a:xfrm>
            <a:off x="7962499"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100B</a:t>
            </a:r>
            <a:endParaRPr lang="en-US" sz="900" dirty="0"/>
          </a:p>
        </p:txBody>
      </p:sp>
      <p:sp>
        <p:nvSpPr>
          <p:cNvPr id="15" name="Shape 13"/>
          <p:cNvSpPr/>
          <p:nvPr/>
        </p:nvSpPr>
        <p:spPr>
          <a:xfrm>
            <a:off x="9868301" y="1920240"/>
            <a:ext cx="0" cy="3698748"/>
          </a:xfrm>
          <a:prstGeom prst="line">
            <a:avLst/>
          </a:prstGeom>
          <a:noFill/>
          <a:ln w="12700">
            <a:solidFill>
              <a:srgbClr val="DDE1EC"/>
            </a:solidFill>
            <a:prstDash val="dash"/>
          </a:ln>
        </p:spPr>
      </p:sp>
      <p:sp>
        <p:nvSpPr>
          <p:cNvPr id="16" name="Text 14"/>
          <p:cNvSpPr/>
          <p:nvPr/>
        </p:nvSpPr>
        <p:spPr>
          <a:xfrm>
            <a:off x="9502541"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1T</a:t>
            </a:r>
            <a:endParaRPr lang="en-US" sz="900" dirty="0"/>
          </a:p>
        </p:txBody>
      </p:sp>
      <p:sp>
        <p:nvSpPr>
          <p:cNvPr id="17" name="Text 15"/>
          <p:cNvSpPr/>
          <p:nvPr/>
        </p:nvSpPr>
        <p:spPr>
          <a:xfrm>
            <a:off x="566928" y="198424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Transformer (big)</a:t>
            </a:r>
            <a:endParaRPr lang="en-US" sz="1150" dirty="0"/>
          </a:p>
        </p:txBody>
      </p:sp>
      <p:sp>
        <p:nvSpPr>
          <p:cNvPr id="18" name="Text 16"/>
          <p:cNvSpPr/>
          <p:nvPr/>
        </p:nvSpPr>
        <p:spPr>
          <a:xfrm>
            <a:off x="548640" y="221284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2017</a:t>
            </a:r>
            <a:endParaRPr lang="en-US" sz="900" dirty="0"/>
          </a:p>
        </p:txBody>
      </p:sp>
      <p:sp>
        <p:nvSpPr>
          <p:cNvPr id="19" name="Shape 17"/>
          <p:cNvSpPr/>
          <p:nvPr/>
        </p:nvSpPr>
        <p:spPr>
          <a:xfrm>
            <a:off x="3246120" y="2002536"/>
            <a:ext cx="173891" cy="365760"/>
          </a:xfrm>
          <a:prstGeom prst="roundRect">
            <a:avLst>
              <a:gd name="adj" fmla="val 26292"/>
            </a:avLst>
          </a:prstGeom>
          <a:solidFill>
            <a:srgbClr val="8A93AB"/>
          </a:solidFill>
          <a:ln/>
        </p:spPr>
      </p:sp>
      <p:sp>
        <p:nvSpPr>
          <p:cNvPr id="20" name="Text 18"/>
          <p:cNvSpPr/>
          <p:nvPr/>
        </p:nvSpPr>
        <p:spPr>
          <a:xfrm>
            <a:off x="3493163" y="1984248"/>
            <a:ext cx="1280160" cy="365760"/>
          </a:xfrm>
          <a:prstGeom prst="rect">
            <a:avLst/>
          </a:prstGeom>
          <a:noFill/>
          <a:ln/>
        </p:spPr>
        <p:txBody>
          <a:bodyPr wrap="square" lIns="0" tIns="0" rIns="0" bIns="0" rtlCol="0" anchor="ctr"/>
          <a:lstStyle/>
          <a:p>
            <a:pPr indent="0" marL="0">
              <a:buNone/>
            </a:pPr>
            <a:r>
              <a:rPr lang="en-US" sz="1200" b="1" dirty="0">
                <a:solidFill>
                  <a:srgbClr val="8A93AB"/>
                </a:solidFill>
                <a:latin typeface="Calibri" pitchFamily="34" charset="0"/>
                <a:ea typeface="Calibri" pitchFamily="34" charset="-122"/>
                <a:cs typeface="Calibri" pitchFamily="34" charset="-120"/>
              </a:rPr>
              <a:t>65 M</a:t>
            </a:r>
            <a:endParaRPr lang="en-US" sz="1200" dirty="0"/>
          </a:p>
        </p:txBody>
      </p:sp>
      <p:sp>
        <p:nvSpPr>
          <p:cNvPr id="21" name="Text 19"/>
          <p:cNvSpPr/>
          <p:nvPr/>
        </p:nvSpPr>
        <p:spPr>
          <a:xfrm>
            <a:off x="566928" y="251917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GPT-1</a:t>
            </a:r>
            <a:endParaRPr lang="en-US" sz="1150" dirty="0"/>
          </a:p>
        </p:txBody>
      </p:sp>
      <p:sp>
        <p:nvSpPr>
          <p:cNvPr id="22" name="Text 20"/>
          <p:cNvSpPr/>
          <p:nvPr/>
        </p:nvSpPr>
        <p:spPr>
          <a:xfrm>
            <a:off x="548640" y="274777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3" name="Shape 21"/>
          <p:cNvSpPr/>
          <p:nvPr/>
        </p:nvSpPr>
        <p:spPr>
          <a:xfrm>
            <a:off x="3246120" y="2537460"/>
            <a:ext cx="567022" cy="365760"/>
          </a:xfrm>
          <a:prstGeom prst="roundRect">
            <a:avLst>
              <a:gd name="adj" fmla="val 12500"/>
            </a:avLst>
          </a:prstGeom>
          <a:solidFill>
            <a:srgbClr val="0E9E96"/>
          </a:solidFill>
          <a:ln/>
        </p:spPr>
      </p:sp>
      <p:sp>
        <p:nvSpPr>
          <p:cNvPr id="24" name="Text 22"/>
          <p:cNvSpPr/>
          <p:nvPr/>
        </p:nvSpPr>
        <p:spPr>
          <a:xfrm>
            <a:off x="3886294" y="2519172"/>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117 M</a:t>
            </a:r>
            <a:endParaRPr lang="en-US" sz="1200" dirty="0"/>
          </a:p>
        </p:txBody>
      </p:sp>
      <p:sp>
        <p:nvSpPr>
          <p:cNvPr id="25" name="Text 23"/>
          <p:cNvSpPr/>
          <p:nvPr/>
        </p:nvSpPr>
        <p:spPr>
          <a:xfrm>
            <a:off x="566928" y="3054096"/>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BERT-Large</a:t>
            </a:r>
            <a:endParaRPr lang="en-US" sz="1150" dirty="0"/>
          </a:p>
        </p:txBody>
      </p:sp>
      <p:sp>
        <p:nvSpPr>
          <p:cNvPr id="26" name="Text 24"/>
          <p:cNvSpPr/>
          <p:nvPr/>
        </p:nvSpPr>
        <p:spPr>
          <a:xfrm>
            <a:off x="548640" y="3282696"/>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7" name="Shape 25"/>
          <p:cNvSpPr/>
          <p:nvPr/>
        </p:nvSpPr>
        <p:spPr>
          <a:xfrm>
            <a:off x="3246120" y="3072384"/>
            <a:ext cx="1280513" cy="365760"/>
          </a:xfrm>
          <a:prstGeom prst="roundRect">
            <a:avLst>
              <a:gd name="adj" fmla="val 12500"/>
            </a:avLst>
          </a:prstGeom>
          <a:solidFill>
            <a:srgbClr val="7C6FF0"/>
          </a:solidFill>
          <a:ln/>
        </p:spPr>
      </p:sp>
      <p:sp>
        <p:nvSpPr>
          <p:cNvPr id="28" name="Text 26"/>
          <p:cNvSpPr/>
          <p:nvPr/>
        </p:nvSpPr>
        <p:spPr>
          <a:xfrm>
            <a:off x="4599785" y="3054096"/>
            <a:ext cx="1280160" cy="365760"/>
          </a:xfrm>
          <a:prstGeom prst="rect">
            <a:avLst/>
          </a:prstGeom>
          <a:noFill/>
          <a:ln/>
        </p:spPr>
        <p:txBody>
          <a:bodyPr wrap="square" lIns="0" tIns="0" rIns="0" bIns="0" rtlCol="0" anchor="ctr"/>
          <a:lstStyle/>
          <a:p>
            <a:pPr indent="0" marL="0">
              <a:buNone/>
            </a:pPr>
            <a:r>
              <a:rPr lang="en-US" sz="1200" b="1" dirty="0">
                <a:solidFill>
                  <a:srgbClr val="7C6FF0"/>
                </a:solidFill>
                <a:latin typeface="Calibri" pitchFamily="34" charset="0"/>
                <a:ea typeface="Calibri" pitchFamily="34" charset="-122"/>
                <a:cs typeface="Calibri" pitchFamily="34" charset="-120"/>
              </a:rPr>
              <a:t>340 M</a:t>
            </a:r>
            <a:endParaRPr lang="en-US" sz="1200" dirty="0"/>
          </a:p>
        </p:txBody>
      </p:sp>
      <p:sp>
        <p:nvSpPr>
          <p:cNvPr id="29" name="Text 27"/>
          <p:cNvSpPr/>
          <p:nvPr/>
        </p:nvSpPr>
        <p:spPr>
          <a:xfrm>
            <a:off x="566928" y="3589020"/>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GPT-2</a:t>
            </a:r>
            <a:endParaRPr lang="en-US" sz="1150" dirty="0"/>
          </a:p>
        </p:txBody>
      </p:sp>
      <p:sp>
        <p:nvSpPr>
          <p:cNvPr id="30" name="Text 28"/>
          <p:cNvSpPr/>
          <p:nvPr/>
        </p:nvSpPr>
        <p:spPr>
          <a:xfrm>
            <a:off x="548640" y="3817620"/>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2019</a:t>
            </a:r>
            <a:endParaRPr lang="en-US" sz="900" dirty="0"/>
          </a:p>
        </p:txBody>
      </p:sp>
      <p:sp>
        <p:nvSpPr>
          <p:cNvPr id="31" name="Shape 29"/>
          <p:cNvSpPr/>
          <p:nvPr/>
        </p:nvSpPr>
        <p:spPr>
          <a:xfrm>
            <a:off x="3246120" y="3607308"/>
            <a:ext cx="2273243" cy="365760"/>
          </a:xfrm>
          <a:prstGeom prst="roundRect">
            <a:avLst>
              <a:gd name="adj" fmla="val 12500"/>
            </a:avLst>
          </a:prstGeom>
          <a:solidFill>
            <a:srgbClr val="0E9E96"/>
          </a:solidFill>
          <a:ln/>
        </p:spPr>
      </p:sp>
      <p:sp>
        <p:nvSpPr>
          <p:cNvPr id="32" name="Text 30"/>
          <p:cNvSpPr/>
          <p:nvPr/>
        </p:nvSpPr>
        <p:spPr>
          <a:xfrm>
            <a:off x="5592515" y="3589020"/>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1.5 B</a:t>
            </a:r>
            <a:endParaRPr lang="en-US" sz="1200" dirty="0"/>
          </a:p>
        </p:txBody>
      </p:sp>
      <p:sp>
        <p:nvSpPr>
          <p:cNvPr id="33" name="Text 31"/>
          <p:cNvSpPr/>
          <p:nvPr/>
        </p:nvSpPr>
        <p:spPr>
          <a:xfrm>
            <a:off x="566928" y="4123944"/>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GPT-3</a:t>
            </a:r>
            <a:endParaRPr lang="en-US" sz="1150" dirty="0"/>
          </a:p>
        </p:txBody>
      </p:sp>
      <p:sp>
        <p:nvSpPr>
          <p:cNvPr id="34" name="Text 32"/>
          <p:cNvSpPr/>
          <p:nvPr/>
        </p:nvSpPr>
        <p:spPr>
          <a:xfrm>
            <a:off x="548640" y="4352544"/>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2020</a:t>
            </a:r>
            <a:endParaRPr lang="en-US" sz="900" dirty="0"/>
          </a:p>
        </p:txBody>
      </p:sp>
      <p:sp>
        <p:nvSpPr>
          <p:cNvPr id="35" name="Shape 33"/>
          <p:cNvSpPr/>
          <p:nvPr/>
        </p:nvSpPr>
        <p:spPr>
          <a:xfrm>
            <a:off x="3246120" y="4142232"/>
            <a:ext cx="5456428" cy="365760"/>
          </a:xfrm>
          <a:prstGeom prst="roundRect">
            <a:avLst>
              <a:gd name="adj" fmla="val 12500"/>
            </a:avLst>
          </a:prstGeom>
          <a:solidFill>
            <a:srgbClr val="5B4BE0"/>
          </a:solidFill>
          <a:ln/>
        </p:spPr>
      </p:sp>
      <p:sp>
        <p:nvSpPr>
          <p:cNvPr id="36" name="Text 34"/>
          <p:cNvSpPr/>
          <p:nvPr/>
        </p:nvSpPr>
        <p:spPr>
          <a:xfrm>
            <a:off x="8775700" y="4123944"/>
            <a:ext cx="1280160" cy="365760"/>
          </a:xfrm>
          <a:prstGeom prst="rect">
            <a:avLst/>
          </a:prstGeom>
          <a:noFill/>
          <a:ln/>
        </p:spPr>
        <p:txBody>
          <a:bodyPr wrap="square" lIns="0" tIns="0" rIns="0" bIns="0" rtlCol="0" anchor="ctr"/>
          <a:lstStyle/>
          <a:p>
            <a:pPr indent="0" marL="0">
              <a:buNone/>
            </a:pPr>
            <a:r>
              <a:rPr lang="en-US" sz="1200" b="1" dirty="0">
                <a:solidFill>
                  <a:srgbClr val="5B4BE0"/>
                </a:solidFill>
                <a:latin typeface="Calibri" pitchFamily="34" charset="0"/>
                <a:ea typeface="Calibri" pitchFamily="34" charset="-122"/>
                <a:cs typeface="Calibri" pitchFamily="34" charset="-120"/>
              </a:rPr>
              <a:t>175 B</a:t>
            </a:r>
            <a:endParaRPr lang="en-US" sz="1200" dirty="0"/>
          </a:p>
        </p:txBody>
      </p:sp>
      <p:sp>
        <p:nvSpPr>
          <p:cNvPr id="37" name="Text 35"/>
          <p:cNvSpPr/>
          <p:nvPr/>
        </p:nvSpPr>
        <p:spPr>
          <a:xfrm>
            <a:off x="566928" y="465886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PaLM</a:t>
            </a:r>
            <a:endParaRPr lang="en-US" sz="1150" dirty="0"/>
          </a:p>
        </p:txBody>
      </p:sp>
      <p:sp>
        <p:nvSpPr>
          <p:cNvPr id="38" name="Text 36"/>
          <p:cNvSpPr/>
          <p:nvPr/>
        </p:nvSpPr>
        <p:spPr>
          <a:xfrm>
            <a:off x="548640" y="488746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2022</a:t>
            </a:r>
            <a:endParaRPr lang="en-US" sz="900" dirty="0"/>
          </a:p>
        </p:txBody>
      </p:sp>
      <p:sp>
        <p:nvSpPr>
          <p:cNvPr id="39" name="Shape 37"/>
          <p:cNvSpPr/>
          <p:nvPr/>
        </p:nvSpPr>
        <p:spPr>
          <a:xfrm>
            <a:off x="3246120" y="4677156"/>
            <a:ext cx="6210056" cy="365760"/>
          </a:xfrm>
          <a:prstGeom prst="roundRect">
            <a:avLst>
              <a:gd name="adj" fmla="val 12500"/>
            </a:avLst>
          </a:prstGeom>
          <a:solidFill>
            <a:srgbClr val="D9820A"/>
          </a:solidFill>
          <a:ln/>
        </p:spPr>
      </p:sp>
      <p:sp>
        <p:nvSpPr>
          <p:cNvPr id="40" name="Text 38"/>
          <p:cNvSpPr/>
          <p:nvPr/>
        </p:nvSpPr>
        <p:spPr>
          <a:xfrm>
            <a:off x="9529328" y="4658868"/>
            <a:ext cx="1280160" cy="365760"/>
          </a:xfrm>
          <a:prstGeom prst="rect">
            <a:avLst/>
          </a:prstGeom>
          <a:noFill/>
          <a:ln/>
        </p:spPr>
        <p:txBody>
          <a:bodyPr wrap="square" lIns="0" tIns="0" rIns="0" bIns="0" rtlCol="0" anchor="ctr"/>
          <a:lstStyle/>
          <a:p>
            <a:pPr indent="0" marL="0">
              <a:buNone/>
            </a:pPr>
            <a:r>
              <a:rPr lang="en-US" sz="1200" b="1" dirty="0">
                <a:solidFill>
                  <a:srgbClr val="D9820A"/>
                </a:solidFill>
                <a:latin typeface="Calibri" pitchFamily="34" charset="0"/>
                <a:ea typeface="Calibri" pitchFamily="34" charset="-122"/>
                <a:cs typeface="Calibri" pitchFamily="34" charset="-120"/>
              </a:rPr>
              <a:t>540 B</a:t>
            </a:r>
            <a:endParaRPr lang="en-US" sz="1200" dirty="0"/>
          </a:p>
        </p:txBody>
      </p:sp>
      <p:sp>
        <p:nvSpPr>
          <p:cNvPr id="41" name="Text 39"/>
          <p:cNvSpPr/>
          <p:nvPr/>
        </p:nvSpPr>
        <p:spPr>
          <a:xfrm>
            <a:off x="566928" y="519379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GPT-4 (est.)</a:t>
            </a:r>
            <a:endParaRPr lang="en-US" sz="1150" dirty="0"/>
          </a:p>
        </p:txBody>
      </p:sp>
      <p:sp>
        <p:nvSpPr>
          <p:cNvPr id="42" name="Text 40"/>
          <p:cNvSpPr/>
          <p:nvPr/>
        </p:nvSpPr>
        <p:spPr>
          <a:xfrm>
            <a:off x="548640" y="542239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2023</a:t>
            </a:r>
            <a:endParaRPr lang="en-US" sz="900" dirty="0"/>
          </a:p>
        </p:txBody>
      </p:sp>
      <p:sp>
        <p:nvSpPr>
          <p:cNvPr id="43" name="Shape 41"/>
          <p:cNvSpPr/>
          <p:nvPr/>
        </p:nvSpPr>
        <p:spPr>
          <a:xfrm>
            <a:off x="3246120" y="5212080"/>
            <a:ext cx="7015311" cy="365760"/>
          </a:xfrm>
          <a:prstGeom prst="roundRect">
            <a:avLst>
              <a:gd name="adj" fmla="val 12500"/>
            </a:avLst>
          </a:prstGeom>
          <a:solidFill>
            <a:srgbClr val="E5484D"/>
          </a:solidFill>
          <a:ln/>
        </p:spPr>
      </p:sp>
      <p:sp>
        <p:nvSpPr>
          <p:cNvPr id="44" name="Text 42"/>
          <p:cNvSpPr/>
          <p:nvPr/>
        </p:nvSpPr>
        <p:spPr>
          <a:xfrm>
            <a:off x="10334583" y="5193792"/>
            <a:ext cx="1280160" cy="365760"/>
          </a:xfrm>
          <a:prstGeom prst="rect">
            <a:avLst/>
          </a:prstGeom>
          <a:noFill/>
          <a:ln/>
        </p:spPr>
        <p:txBody>
          <a:bodyPr wrap="square" lIns="0" tIns="0" rIns="0" bIns="0" rtlCol="0" anchor="ctr"/>
          <a:lstStyle/>
          <a:p>
            <a:pPr indent="0" marL="0">
              <a:buNone/>
            </a:pPr>
            <a:r>
              <a:rPr lang="en-US" sz="1200" b="1" dirty="0">
                <a:solidFill>
                  <a:srgbClr val="E5484D"/>
                </a:solidFill>
                <a:latin typeface="Calibri" pitchFamily="34" charset="0"/>
                <a:ea typeface="Calibri" pitchFamily="34" charset="-122"/>
                <a:cs typeface="Calibri" pitchFamily="34" charset="-120"/>
              </a:rPr>
              <a:t>≈1.8 T</a:t>
            </a:r>
            <a:endParaRPr lang="en-US" sz="1200" dirty="0"/>
          </a:p>
        </p:txBody>
      </p:sp>
      <p:sp>
        <p:nvSpPr>
          <p:cNvPr id="45" name="Text 43"/>
          <p:cNvSpPr/>
          <p:nvPr/>
        </p:nvSpPr>
        <p:spPr>
          <a:xfrm>
            <a:off x="566928" y="5897880"/>
            <a:ext cx="11064240" cy="502920"/>
          </a:xfrm>
          <a:prstGeom prst="rect">
            <a:avLst/>
          </a:prstGeom>
          <a:noFill/>
          <a:ln/>
        </p:spPr>
        <p:txBody>
          <a:bodyPr wrap="square" lIns="0" tIns="0" rIns="0" bIns="0" rtlCol="0" anchor="ctr"/>
          <a:lstStyle/>
          <a:p>
            <a:pPr indent="0" marL="0">
              <a:lnSpc>
                <a:spcPct val="110000"/>
              </a:lnSpc>
              <a:buNone/>
            </a:pPr>
            <a:r>
              <a:rPr lang="en-US" sz="1250" b="1" dirty="0">
                <a:solidFill>
                  <a:srgbClr val="5B4BE0"/>
                </a:solidFill>
                <a:latin typeface="Calibri" pitchFamily="34" charset="0"/>
                <a:ea typeface="Calibri" pitchFamily="34" charset="-122"/>
                <a:cs typeface="Calibri" pitchFamily="34" charset="-120"/>
              </a:rPr>
              <a:t>Take-away:  </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~5 orders of magnitude in 6 years. But notice GPT-4 is a Mixture-of-Experts estimate — after 2022 the field stops chasing raw parameter count and starts chasing </a:t>
            </a:r>
            <a:pPr indent="0" marL="0">
              <a:lnSpc>
                <a:spcPct val="110000"/>
              </a:lnSpc>
              <a:buNone/>
            </a:pPr>
            <a:r>
              <a:rPr lang="en-US" sz="1250" b="1" dirty="0">
                <a:solidFill>
                  <a:srgbClr val="1B2440"/>
                </a:solidFill>
                <a:latin typeface="Calibri" pitchFamily="34" charset="0"/>
                <a:ea typeface="Calibri" pitchFamily="34" charset="-122"/>
                <a:cs typeface="Calibri" pitchFamily="34" charset="-120"/>
              </a:rPr>
              <a:t>smarter scaling</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 (next slide).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SCIENCE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Scaling laws: from 'bigger' to 'compute-optimal'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Kaplan et al., arXiv:2001.08361 · Hoffmann et al. (Chinchilla), 'Training Compute-Optimal LLMs', arXiv:2203.15556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66928" y="1645920"/>
            <a:ext cx="548640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828800"/>
            <a:ext cx="493776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Kaplan et al. · 2020</a:t>
            </a:r>
            <a:endParaRPr lang="en-US" sz="1500" dirty="0"/>
          </a:p>
        </p:txBody>
      </p:sp>
      <p:sp>
        <p:nvSpPr>
          <p:cNvPr id="8" name="Text 6"/>
          <p:cNvSpPr/>
          <p:nvPr/>
        </p:nvSpPr>
        <p:spPr>
          <a:xfrm>
            <a:off x="841248" y="2157984"/>
            <a:ext cx="493776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"Bigger is better"</a:t>
            </a:r>
            <a:endParaRPr lang="en-US" sz="1350" dirty="0"/>
          </a:p>
        </p:txBody>
      </p:sp>
      <p:sp>
        <p:nvSpPr>
          <p:cNvPr id="9" name="Text 7"/>
          <p:cNvSpPr/>
          <p:nvPr/>
        </p:nvSpPr>
        <p:spPr>
          <a:xfrm>
            <a:off x="859536" y="2606040"/>
            <a:ext cx="4937760" cy="155448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Loss falls as a smooth power-law in parameters, data &amp; compute</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Predictable: you can forecast a model's loss before training</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Early reading emphasised pouring budget into model size</a:t>
            </a:r>
            <a:endParaRPr lang="en-US" sz="1240" dirty="0"/>
          </a:p>
        </p:txBody>
      </p:sp>
      <p:sp>
        <p:nvSpPr>
          <p:cNvPr id="10" name="Shape 8"/>
          <p:cNvSpPr/>
          <p:nvPr/>
        </p:nvSpPr>
        <p:spPr>
          <a:xfrm>
            <a:off x="841248" y="4297680"/>
            <a:ext cx="4937760" cy="1463040"/>
          </a:xfrm>
          <a:prstGeom prst="roundRect">
            <a:avLst>
              <a:gd name="adj" fmla="val 5000"/>
            </a:avLst>
          </a:prstGeom>
          <a:solidFill>
            <a:srgbClr val="16213E"/>
          </a:solidFill>
          <a:ln/>
        </p:spPr>
      </p:sp>
      <p:sp>
        <p:nvSpPr>
          <p:cNvPr id="11" name="Text 9"/>
          <p:cNvSpPr/>
          <p:nvPr/>
        </p:nvSpPr>
        <p:spPr>
          <a:xfrm>
            <a:off x="841248" y="4407408"/>
            <a:ext cx="4937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L(N,D) = E + A/Nᵅ + B/Dᵝ</a:t>
            </a:r>
            <a:endParaRPr lang="en-US" sz="1500" dirty="0"/>
          </a:p>
        </p:txBody>
      </p:sp>
      <p:sp>
        <p:nvSpPr>
          <p:cNvPr id="12" name="Text 10"/>
          <p:cNvSpPr/>
          <p:nvPr/>
        </p:nvSpPr>
        <p:spPr>
          <a:xfrm>
            <a:off x="841248" y="4919472"/>
            <a:ext cx="4937760" cy="274320"/>
          </a:xfrm>
          <a:prstGeom prst="rect">
            <a:avLst/>
          </a:prstGeom>
          <a:noFill/>
          <a:ln/>
        </p:spPr>
        <p:txBody>
          <a:bodyPr wrap="square" lIns="0" tIns="0" rIns="0" bIns="0" rtlCol="0" anchor="ctr"/>
          <a:lstStyle/>
          <a:p>
            <a:pPr algn="ctr" indent="0" marL="0">
              <a:buNone/>
            </a:pPr>
            <a:r>
              <a:rPr lang="en-US" sz="1000" i="1" dirty="0">
                <a:solidFill>
                  <a:srgbClr val="AEB6D6"/>
                </a:solidFill>
                <a:latin typeface="Calibri" pitchFamily="34" charset="0"/>
                <a:ea typeface="Calibri" pitchFamily="34" charset="-122"/>
                <a:cs typeface="Calibri" pitchFamily="34" charset="-120"/>
              </a:rPr>
              <a:t>loss decomposes into irreducible + model-size + data terms</a:t>
            </a:r>
            <a:endParaRPr lang="en-US" sz="1000" dirty="0"/>
          </a:p>
        </p:txBody>
      </p:sp>
      <p:sp>
        <p:nvSpPr>
          <p:cNvPr id="13" name="Text 11"/>
          <p:cNvSpPr/>
          <p:nvPr/>
        </p:nvSpPr>
        <p:spPr>
          <a:xfrm>
            <a:off x="841248" y="5248656"/>
            <a:ext cx="4937760" cy="411480"/>
          </a:xfrm>
          <a:prstGeom prst="rect">
            <a:avLst/>
          </a:prstGeom>
          <a:noFill/>
          <a:ln/>
        </p:spPr>
        <p:txBody>
          <a:bodyPr wrap="square" lIns="0" tIns="0" rIns="0" bIns="0" rtlCol="0" anchor="ctr"/>
          <a:lstStyle/>
          <a:p>
            <a:pPr algn="ctr" indent="0" marL="0">
              <a:buNone/>
            </a:pPr>
            <a:r>
              <a:rPr lang="en-US" sz="1400" b="1" dirty="0">
                <a:solidFill>
                  <a:srgbClr val="7C6FF0"/>
                </a:solidFill>
                <a:latin typeface="Courier New" pitchFamily="34" charset="0"/>
                <a:ea typeface="Courier New" pitchFamily="34" charset="-122"/>
                <a:cs typeface="Courier New" pitchFamily="34" charset="-120"/>
              </a:rPr>
              <a:t>compute  C ≈ 6 · N · D</a:t>
            </a:r>
            <a:endParaRPr lang="en-US" sz="1400" dirty="0"/>
          </a:p>
        </p:txBody>
      </p:sp>
      <p:sp>
        <p:nvSpPr>
          <p:cNvPr id="14" name="Shape 12"/>
          <p:cNvSpPr/>
          <p:nvPr/>
        </p:nvSpPr>
        <p:spPr>
          <a:xfrm>
            <a:off x="6400800" y="1645920"/>
            <a:ext cx="5212080" cy="4343400"/>
          </a:xfrm>
          <a:prstGeom prst="roundRect">
            <a:avLst>
              <a:gd name="adj" fmla="val 2105"/>
            </a:avLst>
          </a:prstGeom>
          <a:solidFill>
            <a:srgbClr val="EEECFB"/>
          </a:solidFill>
          <a:ln/>
          <a:effectLst>
            <a:outerShdw sx="100000" sy="100000" kx="0" ky="0" algn="bl" rotWithShape="0" blurRad="114300" dist="38100" dir="5400000">
              <a:srgbClr val="9AA2BC">
                <a:alpha val="16000"/>
              </a:srgbClr>
            </a:outerShdw>
          </a:effectLst>
        </p:spPr>
      </p:sp>
      <p:sp>
        <p:nvSpPr>
          <p:cNvPr id="15" name="Text 13"/>
          <p:cNvSpPr/>
          <p:nvPr/>
        </p:nvSpPr>
        <p:spPr>
          <a:xfrm>
            <a:off x="6675120" y="1828800"/>
            <a:ext cx="466344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Hoffmann et al. (Chinchilla) · 2022</a:t>
            </a:r>
            <a:endParaRPr lang="en-US" sz="1500" dirty="0"/>
          </a:p>
        </p:txBody>
      </p:sp>
      <p:sp>
        <p:nvSpPr>
          <p:cNvPr id="16" name="Text 14"/>
          <p:cNvSpPr/>
          <p:nvPr/>
        </p:nvSpPr>
        <p:spPr>
          <a:xfrm>
            <a:off x="6675120" y="2157984"/>
            <a:ext cx="466344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"Most big models were under-trained"</a:t>
            </a:r>
            <a:endParaRPr lang="en-US" sz="1350" dirty="0"/>
          </a:p>
        </p:txBody>
      </p:sp>
      <p:sp>
        <p:nvSpPr>
          <p:cNvPr id="17" name="Text 15"/>
          <p:cNvSpPr/>
          <p:nvPr/>
        </p:nvSpPr>
        <p:spPr>
          <a:xfrm>
            <a:off x="6693408" y="2606040"/>
            <a:ext cx="4663440" cy="160020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Over 400 runs → model size and tokens should scale equally</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Compute-optimal ratio ≈ 20 training tokens per parameter</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Chinchilla 70B beat Gopher 280B at equal compute</a:t>
            </a:r>
            <a:endParaRPr lang="en-US" sz="1260" dirty="0"/>
          </a:p>
        </p:txBody>
      </p:sp>
      <p:sp>
        <p:nvSpPr>
          <p:cNvPr id="18" name="Shape 16"/>
          <p:cNvSpPr/>
          <p:nvPr/>
        </p:nvSpPr>
        <p:spPr>
          <a:xfrm>
            <a:off x="6675120" y="4297680"/>
            <a:ext cx="4663440" cy="1463040"/>
          </a:xfrm>
          <a:prstGeom prst="roundRect">
            <a:avLst>
              <a:gd name="adj" fmla="val 6250"/>
            </a:avLst>
          </a:prstGeom>
          <a:solidFill>
            <a:srgbClr val="FFFFFF"/>
          </a:solidFill>
          <a:ln w="15875">
            <a:solidFill>
              <a:srgbClr val="5B4BE0"/>
            </a:solidFill>
            <a:prstDash val="solid"/>
          </a:ln>
        </p:spPr>
      </p:sp>
      <p:sp>
        <p:nvSpPr>
          <p:cNvPr id="19" name="Text 17"/>
          <p:cNvSpPr/>
          <p:nvPr/>
        </p:nvSpPr>
        <p:spPr>
          <a:xfrm>
            <a:off x="6675120" y="4370832"/>
            <a:ext cx="4663440" cy="777240"/>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20 : 1</a:t>
            </a:r>
            <a:endParaRPr lang="en-US" sz="4000" dirty="0"/>
          </a:p>
        </p:txBody>
      </p:sp>
      <p:sp>
        <p:nvSpPr>
          <p:cNvPr id="20" name="Text 18"/>
          <p:cNvSpPr/>
          <p:nvPr/>
        </p:nvSpPr>
        <p:spPr>
          <a:xfrm>
            <a:off x="6812280" y="5138928"/>
            <a:ext cx="4389120" cy="566928"/>
          </a:xfrm>
          <a:prstGeom prst="rect">
            <a:avLst/>
          </a:prstGeom>
          <a:noFill/>
          <a:ln/>
        </p:spPr>
        <p:txBody>
          <a:bodyPr wrap="square" lIns="0" tIns="0" rIns="0" bIns="0" rtlCol="0" anchor="ctr"/>
          <a:lstStyle/>
          <a:p>
            <a:pPr algn="ctr" indent="0" marL="0">
              <a:lnSpc>
                <a:spcPct val="108000"/>
              </a:lnSpc>
              <a:buNone/>
            </a:pPr>
            <a:r>
              <a:rPr lang="en-US" sz="1100" dirty="0">
                <a:solidFill>
                  <a:srgbClr val="5A6685"/>
                </a:solidFill>
                <a:latin typeface="Calibri" pitchFamily="34" charset="0"/>
                <a:ea typeface="Calibri" pitchFamily="34" charset="-122"/>
                <a:cs typeface="Calibri" pitchFamily="34" charset="-120"/>
              </a:rPr>
              <a:t>tokens : parameters  —  the rule of thumb that reshaped how every lab budgets training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2022 · THE ALIGNMENT STEP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RLHF &amp; ChatGPT: from predictor to assistant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Ouyang et al., 'Training language models to follow instructions' (InstructGPT), arXiv:2203.02155 · OpenAI, ChatGPT (Nov 2022)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00" dirty="0">
                <a:solidFill>
                  <a:srgbClr val="5A6685"/>
                </a:solidFill>
                <a:latin typeface="Calibri" pitchFamily="34" charset="0"/>
                <a:ea typeface="Calibri" pitchFamily="34" charset="-122"/>
                <a:cs typeface="Calibri" pitchFamily="34" charset="-120"/>
              </a:rPr>
              <a:t>A raw language model predicts plausible text — not necessarily helpful, honest, or safe text. RLHF closes that gap.</a:t>
            </a:r>
            <a:endParaRPr lang="en-US" sz="1300" dirty="0"/>
          </a:p>
        </p:txBody>
      </p:sp>
      <p:sp>
        <p:nvSpPr>
          <p:cNvPr id="7" name="Shape 5"/>
          <p:cNvSpPr/>
          <p:nvPr/>
        </p:nvSpPr>
        <p:spPr>
          <a:xfrm>
            <a:off x="566928"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1417320" y="2313432"/>
            <a:ext cx="914400" cy="914400"/>
          </a:xfrm>
          <a:prstGeom prst="ellipse">
            <a:avLst/>
          </a:prstGeom>
          <a:solidFill>
            <a:srgbClr val="EEECFB"/>
          </a:solidFill>
          <a:ln/>
        </p:spPr>
      </p:sp>
      <p:pic>
        <p:nvPicPr>
          <p:cNvPr id="9" name="Image 0" descr="preencoded.png">    </p:cNvPr>
          <p:cNvPicPr>
            <a:picLocks noChangeAspect="1"/>
          </p:cNvPicPr>
          <p:nvPr/>
        </p:nvPicPr>
        <p:blipFill>
          <a:blip r:embed="rId1"/>
          <a:stretch>
            <a:fillRect/>
          </a:stretch>
        </p:blipFill>
        <p:spPr>
          <a:xfrm>
            <a:off x="1645920" y="2542032"/>
            <a:ext cx="457200" cy="457200"/>
          </a:xfrm>
          <a:prstGeom prst="rect">
            <a:avLst/>
          </a:prstGeom>
        </p:spPr>
      </p:pic>
      <p:sp>
        <p:nvSpPr>
          <p:cNvPr id="10" name="Text 7"/>
          <p:cNvSpPr/>
          <p:nvPr/>
        </p:nvSpPr>
        <p:spPr>
          <a:xfrm>
            <a:off x="749808" y="2240280"/>
            <a:ext cx="548640" cy="36576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Pre-training</a:t>
            </a:r>
            <a:endParaRPr lang="en-US" sz="1400" dirty="0"/>
          </a:p>
        </p:txBody>
      </p:sp>
      <p:sp>
        <p:nvSpPr>
          <p:cNvPr id="12" name="Text 9"/>
          <p:cNvSpPr/>
          <p:nvPr/>
        </p:nvSpPr>
        <p:spPr>
          <a:xfrm>
            <a:off x="768096"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Learn language from trillions of tokens (next-token prediction)</a:t>
            </a:r>
            <a:endParaRPr lang="en-US" sz="1130" dirty="0"/>
          </a:p>
        </p:txBody>
      </p:sp>
      <p:sp>
        <p:nvSpPr>
          <p:cNvPr id="13" name="Shape 10"/>
          <p:cNvSpPr/>
          <p:nvPr/>
        </p:nvSpPr>
        <p:spPr>
          <a:xfrm>
            <a:off x="3191256" y="3406140"/>
            <a:ext cx="146304" cy="0"/>
          </a:xfrm>
          <a:prstGeom prst="line">
            <a:avLst/>
          </a:prstGeom>
          <a:noFill/>
          <a:ln w="22225">
            <a:solidFill>
              <a:srgbClr val="8A93AB"/>
            </a:solidFill>
            <a:prstDash val="solid"/>
            <a:tailEnd type="triangle"/>
          </a:ln>
        </p:spPr>
      </p:sp>
      <p:sp>
        <p:nvSpPr>
          <p:cNvPr id="14" name="Shape 11"/>
          <p:cNvSpPr/>
          <p:nvPr/>
        </p:nvSpPr>
        <p:spPr>
          <a:xfrm>
            <a:off x="3346704"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4197096" y="2313432"/>
            <a:ext cx="914400" cy="914400"/>
          </a:xfrm>
          <a:prstGeom prst="ellipse">
            <a:avLst/>
          </a:prstGeom>
          <a:solidFill>
            <a:srgbClr val="E2F4F2"/>
          </a:solidFill>
          <a:ln/>
        </p:spPr>
      </p:sp>
      <p:pic>
        <p:nvPicPr>
          <p:cNvPr id="16" name="Image 1" descr="preencoded.png">    </p:cNvPr>
          <p:cNvPicPr>
            <a:picLocks noChangeAspect="1"/>
          </p:cNvPicPr>
          <p:nvPr/>
        </p:nvPicPr>
        <p:blipFill>
          <a:blip r:embed="rId2"/>
          <a:stretch>
            <a:fillRect/>
          </a:stretch>
        </p:blipFill>
        <p:spPr>
          <a:xfrm>
            <a:off x="4425696" y="2542032"/>
            <a:ext cx="457200" cy="457200"/>
          </a:xfrm>
          <a:prstGeom prst="rect">
            <a:avLst/>
          </a:prstGeom>
        </p:spPr>
      </p:pic>
      <p:sp>
        <p:nvSpPr>
          <p:cNvPr id="17" name="Text 13"/>
          <p:cNvSpPr/>
          <p:nvPr/>
        </p:nvSpPr>
        <p:spPr>
          <a:xfrm>
            <a:off x="3529584" y="2240280"/>
            <a:ext cx="548640" cy="365760"/>
          </a:xfrm>
          <a:prstGeom prst="rect">
            <a:avLst/>
          </a:prstGeom>
          <a:noFill/>
          <a:ln/>
        </p:spPr>
        <p:txBody>
          <a:bodyPr wrap="square" lIns="0" tIns="0" rIns="0" bIns="0" rtlCol="0" anchor="ctr"/>
          <a:lstStyle/>
          <a:p>
            <a:pPr indent="0" marL="0">
              <a:buNone/>
            </a:pPr>
            <a:r>
              <a:rPr lang="en-US" sz="1600" b="1" dirty="0">
                <a:solidFill>
                  <a:srgbClr val="0E9E96"/>
                </a:solidFill>
                <a:latin typeface="Cambria" pitchFamily="34" charset="0"/>
                <a:ea typeface="Cambria" pitchFamily="34" charset="-122"/>
                <a:cs typeface="Cambria" pitchFamily="34" charset="-120"/>
              </a:rPr>
              <a:t>2</a:t>
            </a:r>
            <a:endParaRPr lang="en-US" sz="1600" dirty="0"/>
          </a:p>
        </p:txBody>
      </p:sp>
      <p:sp>
        <p:nvSpPr>
          <p:cNvPr id="18" name="Text 14"/>
          <p:cNvSpPr/>
          <p:nvPr/>
        </p:nvSpPr>
        <p:spPr>
          <a:xfrm>
            <a:off x="3511296"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Supervised fine-tuning</a:t>
            </a:r>
            <a:endParaRPr lang="en-US" sz="1400" dirty="0"/>
          </a:p>
        </p:txBody>
      </p:sp>
      <p:sp>
        <p:nvSpPr>
          <p:cNvPr id="19" name="Text 15"/>
          <p:cNvSpPr/>
          <p:nvPr/>
        </p:nvSpPr>
        <p:spPr>
          <a:xfrm>
            <a:off x="3547872"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write ideal answers; model imitates the desired style</a:t>
            </a:r>
            <a:endParaRPr lang="en-US" sz="1130" dirty="0"/>
          </a:p>
        </p:txBody>
      </p:sp>
      <p:sp>
        <p:nvSpPr>
          <p:cNvPr id="20" name="Shape 16"/>
          <p:cNvSpPr/>
          <p:nvPr/>
        </p:nvSpPr>
        <p:spPr>
          <a:xfrm>
            <a:off x="5971032" y="3406140"/>
            <a:ext cx="146304" cy="0"/>
          </a:xfrm>
          <a:prstGeom prst="line">
            <a:avLst/>
          </a:prstGeom>
          <a:noFill/>
          <a:ln w="22225">
            <a:solidFill>
              <a:srgbClr val="8A93AB"/>
            </a:solidFill>
            <a:prstDash val="solid"/>
            <a:tailEnd type="triangle"/>
          </a:ln>
        </p:spPr>
      </p:sp>
      <p:sp>
        <p:nvSpPr>
          <p:cNvPr id="21" name="Shape 17"/>
          <p:cNvSpPr/>
          <p:nvPr/>
        </p:nvSpPr>
        <p:spPr>
          <a:xfrm>
            <a:off x="6126480"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8"/>
          <p:cNvSpPr/>
          <p:nvPr/>
        </p:nvSpPr>
        <p:spPr>
          <a:xfrm>
            <a:off x="6976872" y="2313432"/>
            <a:ext cx="914400" cy="914400"/>
          </a:xfrm>
          <a:prstGeom prst="ellipse">
            <a:avLst/>
          </a:prstGeom>
          <a:solidFill>
            <a:srgbClr val="FBEFD8"/>
          </a:solidFill>
          <a:ln/>
        </p:spPr>
      </p:sp>
      <p:pic>
        <p:nvPicPr>
          <p:cNvPr id="23" name="Image 2" descr="preencoded.png">    </p:cNvPr>
          <p:cNvPicPr>
            <a:picLocks noChangeAspect="1"/>
          </p:cNvPicPr>
          <p:nvPr/>
        </p:nvPicPr>
        <p:blipFill>
          <a:blip r:embed="rId3"/>
          <a:stretch>
            <a:fillRect/>
          </a:stretch>
        </p:blipFill>
        <p:spPr>
          <a:xfrm>
            <a:off x="7205472" y="2542032"/>
            <a:ext cx="457200" cy="457200"/>
          </a:xfrm>
          <a:prstGeom prst="rect">
            <a:avLst/>
          </a:prstGeom>
        </p:spPr>
      </p:pic>
      <p:sp>
        <p:nvSpPr>
          <p:cNvPr id="24" name="Text 19"/>
          <p:cNvSpPr/>
          <p:nvPr/>
        </p:nvSpPr>
        <p:spPr>
          <a:xfrm>
            <a:off x="6309360" y="2240280"/>
            <a:ext cx="548640" cy="365760"/>
          </a:xfrm>
          <a:prstGeom prst="rect">
            <a:avLst/>
          </a:prstGeom>
          <a:noFill/>
          <a:ln/>
        </p:spPr>
        <p:txBody>
          <a:bodyPr wrap="square" lIns="0" tIns="0" rIns="0" bIns="0" rtlCol="0" anchor="ctr"/>
          <a:lstStyle/>
          <a:p>
            <a:pPr indent="0" marL="0">
              <a:buNone/>
            </a:pPr>
            <a:r>
              <a:rPr lang="en-US" sz="1600" b="1" dirty="0">
                <a:solidFill>
                  <a:srgbClr val="D9820A"/>
                </a:solidFill>
                <a:latin typeface="Cambria" pitchFamily="34" charset="0"/>
                <a:ea typeface="Cambria" pitchFamily="34" charset="-122"/>
                <a:cs typeface="Cambria" pitchFamily="34" charset="-120"/>
              </a:rPr>
              <a:t>3</a:t>
            </a:r>
            <a:endParaRPr lang="en-US" sz="1600" dirty="0"/>
          </a:p>
        </p:txBody>
      </p:sp>
      <p:sp>
        <p:nvSpPr>
          <p:cNvPr id="25" name="Text 20"/>
          <p:cNvSpPr/>
          <p:nvPr/>
        </p:nvSpPr>
        <p:spPr>
          <a:xfrm>
            <a:off x="6291072"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Reward model</a:t>
            </a:r>
            <a:endParaRPr lang="en-US" sz="1400" dirty="0"/>
          </a:p>
        </p:txBody>
      </p:sp>
      <p:sp>
        <p:nvSpPr>
          <p:cNvPr id="26" name="Text 21"/>
          <p:cNvSpPr/>
          <p:nvPr/>
        </p:nvSpPr>
        <p:spPr>
          <a:xfrm>
            <a:off x="6327648"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rank outputs; train a model to predict their preferences</a:t>
            </a:r>
            <a:endParaRPr lang="en-US" sz="1130" dirty="0"/>
          </a:p>
        </p:txBody>
      </p:sp>
      <p:sp>
        <p:nvSpPr>
          <p:cNvPr id="27" name="Shape 22"/>
          <p:cNvSpPr/>
          <p:nvPr/>
        </p:nvSpPr>
        <p:spPr>
          <a:xfrm>
            <a:off x="8750808" y="3406140"/>
            <a:ext cx="146304" cy="0"/>
          </a:xfrm>
          <a:prstGeom prst="line">
            <a:avLst/>
          </a:prstGeom>
          <a:noFill/>
          <a:ln w="22225">
            <a:solidFill>
              <a:srgbClr val="8A93AB"/>
            </a:solidFill>
            <a:prstDash val="solid"/>
            <a:tailEnd type="triangle"/>
          </a:ln>
        </p:spPr>
      </p:sp>
      <p:sp>
        <p:nvSpPr>
          <p:cNvPr id="28" name="Shape 23"/>
          <p:cNvSpPr/>
          <p:nvPr/>
        </p:nvSpPr>
        <p:spPr>
          <a:xfrm>
            <a:off x="8906256"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Shape 24"/>
          <p:cNvSpPr/>
          <p:nvPr/>
        </p:nvSpPr>
        <p:spPr>
          <a:xfrm>
            <a:off x="9756648" y="2313432"/>
            <a:ext cx="914400" cy="914400"/>
          </a:xfrm>
          <a:prstGeom prst="ellipse">
            <a:avLst/>
          </a:prstGeom>
          <a:solidFill>
            <a:srgbClr val="E3F4EA"/>
          </a:solidFill>
          <a:ln/>
        </p:spPr>
      </p:sp>
      <p:pic>
        <p:nvPicPr>
          <p:cNvPr id="30" name="Image 3" descr="preencoded.png">    </p:cNvPr>
          <p:cNvPicPr>
            <a:picLocks noChangeAspect="1"/>
          </p:cNvPicPr>
          <p:nvPr/>
        </p:nvPicPr>
        <p:blipFill>
          <a:blip r:embed="rId4"/>
          <a:stretch>
            <a:fillRect/>
          </a:stretch>
        </p:blipFill>
        <p:spPr>
          <a:xfrm>
            <a:off x="9985248" y="2542032"/>
            <a:ext cx="457200" cy="457200"/>
          </a:xfrm>
          <a:prstGeom prst="rect">
            <a:avLst/>
          </a:prstGeom>
        </p:spPr>
      </p:pic>
      <p:sp>
        <p:nvSpPr>
          <p:cNvPr id="31" name="Text 25"/>
          <p:cNvSpPr/>
          <p:nvPr/>
        </p:nvSpPr>
        <p:spPr>
          <a:xfrm>
            <a:off x="9089136" y="2240280"/>
            <a:ext cx="548640" cy="365760"/>
          </a:xfrm>
          <a:prstGeom prst="rect">
            <a:avLst/>
          </a:prstGeom>
          <a:noFill/>
          <a:ln/>
        </p:spPr>
        <p:txBody>
          <a:bodyPr wrap="square" lIns="0" tIns="0" rIns="0" bIns="0" rtlCol="0" anchor="ctr"/>
          <a:lstStyle/>
          <a:p>
            <a:pPr indent="0" marL="0">
              <a:buNone/>
            </a:pPr>
            <a:r>
              <a:rPr lang="en-US" sz="1600" b="1" dirty="0">
                <a:solidFill>
                  <a:srgbClr val="1B9C5A"/>
                </a:solidFill>
                <a:latin typeface="Cambria" pitchFamily="34" charset="0"/>
                <a:ea typeface="Cambria" pitchFamily="34" charset="-122"/>
                <a:cs typeface="Cambria" pitchFamily="34" charset="-120"/>
              </a:rPr>
              <a:t>4</a:t>
            </a:r>
            <a:endParaRPr lang="en-US" sz="1600" dirty="0"/>
          </a:p>
        </p:txBody>
      </p:sp>
      <p:sp>
        <p:nvSpPr>
          <p:cNvPr id="32" name="Text 26"/>
          <p:cNvSpPr/>
          <p:nvPr/>
        </p:nvSpPr>
        <p:spPr>
          <a:xfrm>
            <a:off x="9070848"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RL optimisation</a:t>
            </a:r>
            <a:endParaRPr lang="en-US" sz="1400" dirty="0"/>
          </a:p>
        </p:txBody>
      </p:sp>
      <p:sp>
        <p:nvSpPr>
          <p:cNvPr id="33" name="Text 27"/>
          <p:cNvSpPr/>
          <p:nvPr/>
        </p:nvSpPr>
        <p:spPr>
          <a:xfrm>
            <a:off x="9107424"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Policy is optimised (PPO) against the reward model</a:t>
            </a:r>
            <a:endParaRPr lang="en-US" sz="1130" dirty="0"/>
          </a:p>
        </p:txBody>
      </p:sp>
      <p:sp>
        <p:nvSpPr>
          <p:cNvPr id="34" name="Shape 28"/>
          <p:cNvSpPr/>
          <p:nvPr/>
        </p:nvSpPr>
        <p:spPr>
          <a:xfrm>
            <a:off x="566928" y="5029200"/>
            <a:ext cx="11045952" cy="960120"/>
          </a:xfrm>
          <a:prstGeom prst="roundRect">
            <a:avLst>
              <a:gd name="adj" fmla="val 9524"/>
            </a:avLst>
          </a:prstGeom>
          <a:solidFill>
            <a:srgbClr val="16213E"/>
          </a:solidFill>
          <a:ln/>
          <a:effectLst>
            <a:outerShdw sx="100000" sy="100000" kx="0" ky="0" algn="bl" rotWithShape="0" blurRad="114300" dist="38100" dir="5400000">
              <a:srgbClr val="9AA2BC">
                <a:alpha val="16000"/>
              </a:srgbClr>
            </a:outerShdw>
          </a:effectLst>
        </p:spPr>
      </p:sp>
      <p:sp>
        <p:nvSpPr>
          <p:cNvPr id="35" name="Shape 29"/>
          <p:cNvSpPr/>
          <p:nvPr/>
        </p:nvSpPr>
        <p:spPr>
          <a:xfrm>
            <a:off x="841248" y="5166360"/>
            <a:ext cx="658368" cy="658368"/>
          </a:xfrm>
          <a:prstGeom prst="ellipse">
            <a:avLst/>
          </a:prstGeom>
          <a:solidFill>
            <a:srgbClr val="5B4BE0"/>
          </a:solidFill>
          <a:ln/>
        </p:spPr>
      </p:sp>
      <p:pic>
        <p:nvPicPr>
          <p:cNvPr id="36" name="Image 4" descr="preencoded.png">    </p:cNvPr>
          <p:cNvPicPr>
            <a:picLocks noChangeAspect="1"/>
          </p:cNvPicPr>
          <p:nvPr/>
        </p:nvPicPr>
        <p:blipFill>
          <a:blip r:embed="rId5"/>
          <a:stretch>
            <a:fillRect/>
          </a:stretch>
        </p:blipFill>
        <p:spPr>
          <a:xfrm>
            <a:off x="1005840" y="5330952"/>
            <a:ext cx="329184" cy="329184"/>
          </a:xfrm>
          <a:prstGeom prst="rect">
            <a:avLst/>
          </a:prstGeom>
        </p:spPr>
      </p:pic>
      <p:sp>
        <p:nvSpPr>
          <p:cNvPr id="37" name="Text 30"/>
          <p:cNvSpPr/>
          <p:nvPr/>
        </p:nvSpPr>
        <p:spPr>
          <a:xfrm>
            <a:off x="1709928" y="5138928"/>
            <a:ext cx="10607040" cy="777240"/>
          </a:xfrm>
          <a:prstGeom prst="rect">
            <a:avLst/>
          </a:prstGeom>
          <a:noFill/>
          <a:ln/>
        </p:spPr>
        <p:txBody>
          <a:bodyPr wrap="square" lIns="0" tIns="0" rIns="0" bIns="0" rtlCol="0" anchor="ctr"/>
          <a:lstStyle/>
          <a:p>
            <a:pPr indent="0" marL="0">
              <a:lnSpc>
                <a:spcPct val="112000"/>
              </a:lnSpc>
              <a:buNone/>
            </a:pPr>
            <a:r>
              <a:rPr lang="en-US" sz="1260" b="1" dirty="0">
                <a:solidFill>
                  <a:srgbClr val="7C6FF0"/>
                </a:solidFill>
                <a:latin typeface="Calibri" pitchFamily="34" charset="0"/>
                <a:ea typeface="Calibri" pitchFamily="34" charset="-122"/>
                <a:cs typeface="Calibri" pitchFamily="34" charset="-120"/>
              </a:rPr>
              <a:t>The ChatGPT moment (Nov 2022):  </a:t>
            </a:r>
            <a:pPr indent="0" marL="0">
              <a:lnSpc>
                <a:spcPct val="112000"/>
              </a:lnSpc>
              <a:buNone/>
            </a:pPr>
            <a:r>
              <a:rPr lang="en-US" sz="1260" dirty="0">
                <a:solidFill>
                  <a:srgbClr val="D8DCEC"/>
                </a:solidFill>
                <a:latin typeface="Calibri" pitchFamily="34" charset="0"/>
                <a:ea typeface="Calibri" pitchFamily="34" charset="-122"/>
                <a:cs typeface="Calibri" pitchFamily="34" charset="-120"/>
              </a:rPr>
              <a:t>this recipe — applied on top of GPT-3.5 — produced a model people could simply talk to. It reached 100M users in ~2 months, the fastest-growing consumer app in history, and put LLMs in front of the whole world.</a:t>
            </a:r>
            <a:endParaRPr lang="en-US" sz="12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4</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4</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Architectural Innovations</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The vanilla 2017 Transformer is expensive: attention is quadratic, the KV cache eats memory, positions don't extrapolate, and dense models waste compute. These four ideas — RoPE, GQA, FlashAttention and MoE — are why 2024-era models are fast, long-context and affordable.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WHAT NEEDED FIXING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bottlenecks of the vanilla Transformer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et al., FlashAttention (arXiv:2205.14135) · Shazeer, MQA (arXiv:1911.02150) · Su et al., RoFormer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6692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03604" y="1965960"/>
            <a:ext cx="1005840" cy="1005840"/>
          </a:xfrm>
          <a:prstGeom prst="ellipse">
            <a:avLst/>
          </a:prstGeom>
          <a:solidFill>
            <a:srgbClr val="FBE7E7"/>
          </a:solidFill>
          <a:ln/>
        </p:spPr>
      </p:sp>
      <p:pic>
        <p:nvPicPr>
          <p:cNvPr id="8" name="Image 0" descr="preencoded.png">    </p:cNvPr>
          <p:cNvPicPr>
            <a:picLocks noChangeAspect="1"/>
          </p:cNvPicPr>
          <p:nvPr/>
        </p:nvPicPr>
        <p:blipFill>
          <a:blip r:embed="rId1"/>
          <a:stretch>
            <a:fillRect/>
          </a:stretch>
        </p:blipFill>
        <p:spPr>
          <a:xfrm>
            <a:off x="1655064" y="2217420"/>
            <a:ext cx="502920" cy="502920"/>
          </a:xfrm>
          <a:prstGeom prst="rect">
            <a:avLst/>
          </a:prstGeom>
        </p:spPr>
      </p:pic>
      <p:sp>
        <p:nvSpPr>
          <p:cNvPr id="9" name="Text 6"/>
          <p:cNvSpPr/>
          <p:nvPr/>
        </p:nvSpPr>
        <p:spPr>
          <a:xfrm>
            <a:off x="73152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Quadratic attention</a:t>
            </a:r>
            <a:endParaRPr lang="en-US" sz="1500" dirty="0"/>
          </a:p>
        </p:txBody>
      </p:sp>
      <p:sp>
        <p:nvSpPr>
          <p:cNvPr id="10" name="Text 7"/>
          <p:cNvSpPr/>
          <p:nvPr/>
        </p:nvSpPr>
        <p:spPr>
          <a:xfrm>
            <a:off x="76809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Attention cost grows with the square of sequence length — doubling context ≈ 4× the work and memory.</a:t>
            </a:r>
            <a:endParaRPr lang="en-US" sz="1150" dirty="0"/>
          </a:p>
        </p:txBody>
      </p:sp>
      <p:sp>
        <p:nvSpPr>
          <p:cNvPr id="11" name="Shape 8"/>
          <p:cNvSpPr/>
          <p:nvPr/>
        </p:nvSpPr>
        <p:spPr>
          <a:xfrm>
            <a:off x="841248" y="5193792"/>
            <a:ext cx="2130552" cy="411480"/>
          </a:xfrm>
          <a:prstGeom prst="roundRect">
            <a:avLst>
              <a:gd name="adj" fmla="val 48889"/>
            </a:avLst>
          </a:prstGeom>
          <a:solidFill>
            <a:srgbClr val="FBE7E7"/>
          </a:solidFill>
          <a:ln/>
        </p:spPr>
      </p:sp>
      <p:sp>
        <p:nvSpPr>
          <p:cNvPr id="12" name="Text 9"/>
          <p:cNvSpPr/>
          <p:nvPr/>
        </p:nvSpPr>
        <p:spPr>
          <a:xfrm>
            <a:off x="841248" y="5193792"/>
            <a:ext cx="2130552" cy="411480"/>
          </a:xfrm>
          <a:prstGeom prst="rect">
            <a:avLst/>
          </a:prstGeom>
          <a:noFill/>
          <a:ln/>
        </p:spPr>
        <p:txBody>
          <a:bodyPr wrap="square" lIns="0" tIns="0" rIns="0" bIns="0"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RoPE-adjacent · FlashAttention</a:t>
            </a:r>
            <a:endParaRPr lang="en-US" sz="1000" dirty="0"/>
          </a:p>
        </p:txBody>
      </p:sp>
      <p:sp>
        <p:nvSpPr>
          <p:cNvPr id="13" name="Shape 10"/>
          <p:cNvSpPr/>
          <p:nvPr/>
        </p:nvSpPr>
        <p:spPr>
          <a:xfrm>
            <a:off x="340156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4238244" y="1965960"/>
            <a:ext cx="1005840" cy="1005840"/>
          </a:xfrm>
          <a:prstGeom prst="ellipse">
            <a:avLst/>
          </a:prstGeom>
          <a:solidFill>
            <a:srgbClr val="FBEFD8"/>
          </a:solidFill>
          <a:ln/>
        </p:spPr>
      </p:sp>
      <p:pic>
        <p:nvPicPr>
          <p:cNvPr id="15" name="Image 1" descr="preencoded.png">    </p:cNvPr>
          <p:cNvPicPr>
            <a:picLocks noChangeAspect="1"/>
          </p:cNvPicPr>
          <p:nvPr/>
        </p:nvPicPr>
        <p:blipFill>
          <a:blip r:embed="rId2"/>
          <a:stretch>
            <a:fillRect/>
          </a:stretch>
        </p:blipFill>
        <p:spPr>
          <a:xfrm>
            <a:off x="4489704" y="2217420"/>
            <a:ext cx="502920" cy="502920"/>
          </a:xfrm>
          <a:prstGeom prst="rect">
            <a:avLst/>
          </a:prstGeom>
        </p:spPr>
      </p:pic>
      <p:sp>
        <p:nvSpPr>
          <p:cNvPr id="16" name="Text 12"/>
          <p:cNvSpPr/>
          <p:nvPr/>
        </p:nvSpPr>
        <p:spPr>
          <a:xfrm>
            <a:off x="356616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The KV cache</a:t>
            </a:r>
            <a:endParaRPr lang="en-US" sz="1500" dirty="0"/>
          </a:p>
        </p:txBody>
      </p:sp>
      <p:sp>
        <p:nvSpPr>
          <p:cNvPr id="17" name="Text 13"/>
          <p:cNvSpPr/>
          <p:nvPr/>
        </p:nvSpPr>
        <p:spPr>
          <a:xfrm>
            <a:off x="360273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During generation, keys &amp; values for every past token are cached. At long context this dominates GPU memory.</a:t>
            </a:r>
            <a:endParaRPr lang="en-US" sz="1150" dirty="0"/>
          </a:p>
        </p:txBody>
      </p:sp>
      <p:sp>
        <p:nvSpPr>
          <p:cNvPr id="18" name="Shape 14"/>
          <p:cNvSpPr/>
          <p:nvPr/>
        </p:nvSpPr>
        <p:spPr>
          <a:xfrm>
            <a:off x="3675888" y="5193792"/>
            <a:ext cx="2130552" cy="411480"/>
          </a:xfrm>
          <a:prstGeom prst="roundRect">
            <a:avLst>
              <a:gd name="adj" fmla="val 48889"/>
            </a:avLst>
          </a:prstGeom>
          <a:solidFill>
            <a:srgbClr val="FBEFD8"/>
          </a:solidFill>
          <a:ln/>
        </p:spPr>
      </p:sp>
      <p:sp>
        <p:nvSpPr>
          <p:cNvPr id="19" name="Text 15"/>
          <p:cNvSpPr/>
          <p:nvPr/>
        </p:nvSpPr>
        <p:spPr>
          <a:xfrm>
            <a:off x="3675888" y="5193792"/>
            <a:ext cx="2130552" cy="411480"/>
          </a:xfrm>
          <a:prstGeom prst="rect">
            <a:avLst/>
          </a:prstGeom>
          <a:noFill/>
          <a:ln/>
        </p:spPr>
        <p:txBody>
          <a:bodyPr wrap="square" lIns="0" tIns="0" rIns="0" bIns="0" rtlCol="0" anchor="ctr"/>
          <a:lstStyle/>
          <a:p>
            <a:pPr algn="ctr" indent="0" marL="0">
              <a:buNone/>
            </a:pPr>
            <a:r>
              <a:rPr lang="en-US" sz="1000" b="1" dirty="0">
                <a:solidFill>
                  <a:srgbClr val="D9820A"/>
                </a:solidFill>
                <a:latin typeface="Calibri" pitchFamily="34" charset="0"/>
                <a:ea typeface="Calibri" pitchFamily="34" charset="-122"/>
                <a:cs typeface="Calibri" pitchFamily="34" charset="-120"/>
              </a:rPr>
              <a:t>MQA / GQA</a:t>
            </a:r>
            <a:endParaRPr lang="en-US" sz="1000" dirty="0"/>
          </a:p>
        </p:txBody>
      </p:sp>
      <p:sp>
        <p:nvSpPr>
          <p:cNvPr id="20" name="Shape 16"/>
          <p:cNvSpPr/>
          <p:nvPr/>
        </p:nvSpPr>
        <p:spPr>
          <a:xfrm>
            <a:off x="623620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7"/>
          <p:cNvSpPr/>
          <p:nvPr/>
        </p:nvSpPr>
        <p:spPr>
          <a:xfrm>
            <a:off x="7072884" y="1965960"/>
            <a:ext cx="1005840" cy="1005840"/>
          </a:xfrm>
          <a:prstGeom prst="ellipse">
            <a:avLst/>
          </a:prstGeom>
          <a:solidFill>
            <a:srgbClr val="EEECFB"/>
          </a:solidFill>
          <a:ln/>
        </p:spPr>
      </p:sp>
      <p:pic>
        <p:nvPicPr>
          <p:cNvPr id="22" name="Image 2" descr="preencoded.png">    </p:cNvPr>
          <p:cNvPicPr>
            <a:picLocks noChangeAspect="1"/>
          </p:cNvPicPr>
          <p:nvPr/>
        </p:nvPicPr>
        <p:blipFill>
          <a:blip r:embed="rId3"/>
          <a:stretch>
            <a:fillRect/>
          </a:stretch>
        </p:blipFill>
        <p:spPr>
          <a:xfrm>
            <a:off x="7324344" y="2217420"/>
            <a:ext cx="502920" cy="502920"/>
          </a:xfrm>
          <a:prstGeom prst="rect">
            <a:avLst/>
          </a:prstGeom>
        </p:spPr>
      </p:pic>
      <p:sp>
        <p:nvSpPr>
          <p:cNvPr id="23" name="Text 18"/>
          <p:cNvSpPr/>
          <p:nvPr/>
        </p:nvSpPr>
        <p:spPr>
          <a:xfrm>
            <a:off x="640080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Position extrapolation</a:t>
            </a:r>
            <a:endParaRPr lang="en-US" sz="1500" dirty="0"/>
          </a:p>
        </p:txBody>
      </p:sp>
      <p:sp>
        <p:nvSpPr>
          <p:cNvPr id="24" name="Text 19"/>
          <p:cNvSpPr/>
          <p:nvPr/>
        </p:nvSpPr>
        <p:spPr>
          <a:xfrm>
            <a:off x="643737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Absolute sinusoids don't generalise well beyond the training length — models break on longer inputs.</a:t>
            </a:r>
            <a:endParaRPr lang="en-US" sz="1150" dirty="0"/>
          </a:p>
        </p:txBody>
      </p:sp>
      <p:sp>
        <p:nvSpPr>
          <p:cNvPr id="25" name="Shape 20"/>
          <p:cNvSpPr/>
          <p:nvPr/>
        </p:nvSpPr>
        <p:spPr>
          <a:xfrm>
            <a:off x="6510528" y="5193792"/>
            <a:ext cx="2130552" cy="411480"/>
          </a:xfrm>
          <a:prstGeom prst="roundRect">
            <a:avLst>
              <a:gd name="adj" fmla="val 48889"/>
            </a:avLst>
          </a:prstGeom>
          <a:solidFill>
            <a:srgbClr val="EEECFB"/>
          </a:solidFill>
          <a:ln/>
        </p:spPr>
      </p:sp>
      <p:sp>
        <p:nvSpPr>
          <p:cNvPr id="26" name="Text 21"/>
          <p:cNvSpPr/>
          <p:nvPr/>
        </p:nvSpPr>
        <p:spPr>
          <a:xfrm>
            <a:off x="6510528" y="5193792"/>
            <a:ext cx="2130552" cy="411480"/>
          </a:xfrm>
          <a:prstGeom prst="rect">
            <a:avLst/>
          </a:prstGeom>
          <a:noFill/>
          <a:ln/>
        </p:spPr>
        <p:txBody>
          <a:bodyPr wrap="square" lIns="0" tIns="0" rIns="0" bIns="0" rtlCol="0" anchor="ctr"/>
          <a:lstStyle/>
          <a:p>
            <a:pPr algn="ctr" indent="0" marL="0">
              <a:buNone/>
            </a:pPr>
            <a:r>
              <a:rPr lang="en-US" sz="1000" b="1" dirty="0">
                <a:solidFill>
                  <a:srgbClr val="5B4BE0"/>
                </a:solidFill>
                <a:latin typeface="Calibri" pitchFamily="34" charset="0"/>
                <a:ea typeface="Calibri" pitchFamily="34" charset="-122"/>
                <a:cs typeface="Calibri" pitchFamily="34" charset="-120"/>
              </a:rPr>
              <a:t>RoPE</a:t>
            </a:r>
            <a:endParaRPr lang="en-US" sz="1000" dirty="0"/>
          </a:p>
        </p:txBody>
      </p:sp>
      <p:sp>
        <p:nvSpPr>
          <p:cNvPr id="27" name="Shape 22"/>
          <p:cNvSpPr/>
          <p:nvPr/>
        </p:nvSpPr>
        <p:spPr>
          <a:xfrm>
            <a:off x="907084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3"/>
          <p:cNvSpPr/>
          <p:nvPr/>
        </p:nvSpPr>
        <p:spPr>
          <a:xfrm>
            <a:off x="9907524" y="1965960"/>
            <a:ext cx="1005840" cy="1005840"/>
          </a:xfrm>
          <a:prstGeom prst="ellipse">
            <a:avLst/>
          </a:prstGeom>
          <a:solidFill>
            <a:srgbClr val="E2F4F2"/>
          </a:solidFill>
          <a:ln/>
        </p:spPr>
      </p:sp>
      <p:pic>
        <p:nvPicPr>
          <p:cNvPr id="29" name="Image 3" descr="preencoded.png">    </p:cNvPr>
          <p:cNvPicPr>
            <a:picLocks noChangeAspect="1"/>
          </p:cNvPicPr>
          <p:nvPr/>
        </p:nvPicPr>
        <p:blipFill>
          <a:blip r:embed="rId4"/>
          <a:stretch>
            <a:fillRect/>
          </a:stretch>
        </p:blipFill>
        <p:spPr>
          <a:xfrm>
            <a:off x="10158984" y="2217420"/>
            <a:ext cx="502920" cy="502920"/>
          </a:xfrm>
          <a:prstGeom prst="rect">
            <a:avLst/>
          </a:prstGeom>
        </p:spPr>
      </p:pic>
      <p:sp>
        <p:nvSpPr>
          <p:cNvPr id="30" name="Text 24"/>
          <p:cNvSpPr/>
          <p:nvPr/>
        </p:nvSpPr>
        <p:spPr>
          <a:xfrm>
            <a:off x="923544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Dense compute waste</a:t>
            </a:r>
            <a:endParaRPr lang="en-US" sz="1500" dirty="0"/>
          </a:p>
        </p:txBody>
      </p:sp>
      <p:sp>
        <p:nvSpPr>
          <p:cNvPr id="31" name="Text 25"/>
          <p:cNvSpPr/>
          <p:nvPr/>
        </p:nvSpPr>
        <p:spPr>
          <a:xfrm>
            <a:off x="927201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 dense model runs every parameter for every token, even when most aren't relevant — costly to scale.</a:t>
            </a:r>
            <a:endParaRPr lang="en-US" sz="1150" dirty="0"/>
          </a:p>
        </p:txBody>
      </p:sp>
      <p:sp>
        <p:nvSpPr>
          <p:cNvPr id="32" name="Shape 26"/>
          <p:cNvSpPr/>
          <p:nvPr/>
        </p:nvSpPr>
        <p:spPr>
          <a:xfrm>
            <a:off x="9345168" y="5193792"/>
            <a:ext cx="2130552" cy="411480"/>
          </a:xfrm>
          <a:prstGeom prst="roundRect">
            <a:avLst>
              <a:gd name="adj" fmla="val 48889"/>
            </a:avLst>
          </a:prstGeom>
          <a:solidFill>
            <a:srgbClr val="E2F4F2"/>
          </a:solidFill>
          <a:ln/>
        </p:spPr>
      </p:sp>
      <p:sp>
        <p:nvSpPr>
          <p:cNvPr id="33" name="Text 27"/>
          <p:cNvSpPr/>
          <p:nvPr/>
        </p:nvSpPr>
        <p:spPr>
          <a:xfrm>
            <a:off x="9345168" y="5193792"/>
            <a:ext cx="2130552" cy="411480"/>
          </a:xfrm>
          <a:prstGeom prst="rect">
            <a:avLst/>
          </a:prstGeom>
          <a:noFill/>
          <a:ln/>
        </p:spPr>
        <p:txBody>
          <a:bodyPr wrap="square" lIns="0" tIns="0" rIns="0" bIns="0" rtlCol="0" anchor="ctr"/>
          <a:lstStyle/>
          <a:p>
            <a:pPr algn="ctr" indent="0" marL="0">
              <a:buNone/>
            </a:pPr>
            <a:r>
              <a:rPr lang="en-US" sz="1000" b="1" dirty="0">
                <a:solidFill>
                  <a:srgbClr val="0E9E96"/>
                </a:solidFill>
                <a:latin typeface="Calibri" pitchFamily="34" charset="0"/>
                <a:ea typeface="Calibri" pitchFamily="34" charset="-122"/>
                <a:cs typeface="Calibri" pitchFamily="34" charset="-120"/>
              </a:rPr>
              <a:t>Mixture-of-Experts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1 · POSITIONS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RoPE — Rotary Position Embedding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Su et al., 'RoFormer: Enhanced Transformer with Rotary Position Embedding',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66928" y="1600200"/>
            <a:ext cx="557784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Encode position by rotating, not adding</a:t>
            </a:r>
            <a:endParaRPr lang="en-US" sz="1550" dirty="0"/>
          </a:p>
        </p:txBody>
      </p:sp>
      <p:sp>
        <p:nvSpPr>
          <p:cNvPr id="8" name="Text 6"/>
          <p:cNvSpPr/>
          <p:nvPr/>
        </p:nvSpPr>
        <p:spPr>
          <a:xfrm>
            <a:off x="841248" y="2157984"/>
            <a:ext cx="5074920" cy="86868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Each token's query/key vector is rotated by an angle proportional to its position. The dot-product between two tokens then depends only on their relative distance.</a:t>
            </a:r>
            <a:endParaRPr lang="en-US" sz="1240" dirty="0"/>
          </a:p>
        </p:txBody>
      </p:sp>
      <p:sp>
        <p:nvSpPr>
          <p:cNvPr id="9" name="Shape 7"/>
          <p:cNvSpPr/>
          <p:nvPr/>
        </p:nvSpPr>
        <p:spPr>
          <a:xfrm>
            <a:off x="841248" y="3063240"/>
            <a:ext cx="5074920" cy="713232"/>
          </a:xfrm>
          <a:prstGeom prst="roundRect">
            <a:avLst>
              <a:gd name="adj" fmla="val 7692"/>
            </a:avLst>
          </a:prstGeom>
          <a:solidFill>
            <a:srgbClr val="16213E"/>
          </a:solidFill>
          <a:ln/>
        </p:spPr>
      </p:sp>
      <p:sp>
        <p:nvSpPr>
          <p:cNvPr id="10" name="Text 8"/>
          <p:cNvSpPr/>
          <p:nvPr/>
        </p:nvSpPr>
        <p:spPr>
          <a:xfrm>
            <a:off x="841248" y="3063240"/>
            <a:ext cx="5074920" cy="713232"/>
          </a:xfrm>
          <a:prstGeom prst="rect">
            <a:avLst/>
          </a:prstGeom>
          <a:noFill/>
          <a:ln/>
        </p:spPr>
        <p:txBody>
          <a:bodyPr wrap="square" lIns="0" tIns="0" rIns="0" bIns="0" rtlCol="0" anchor="ctr"/>
          <a:lstStyle/>
          <a:p>
            <a:pPr algn="ctr" indent="0" marL="0">
              <a:buNone/>
            </a:pPr>
            <a:r>
              <a:rPr lang="en-US" sz="1450" b="1" dirty="0">
                <a:solidFill>
                  <a:srgbClr val="FFFFFF"/>
                </a:solidFill>
                <a:latin typeface="Courier New" pitchFamily="34" charset="0"/>
                <a:ea typeface="Courier New" pitchFamily="34" charset="-122"/>
                <a:cs typeface="Courier New" pitchFamily="34" charset="-120"/>
              </a:rPr>
              <a:t>⟨ R(m)·q ,  R(n)·k ⟩  =  qᵀ · R(n−m) · k</a:t>
            </a:r>
            <a:endParaRPr lang="en-US" sz="1450" dirty="0"/>
          </a:p>
        </p:txBody>
      </p:sp>
      <p:sp>
        <p:nvSpPr>
          <p:cNvPr id="11" name="Text 9"/>
          <p:cNvSpPr/>
          <p:nvPr/>
        </p:nvSpPr>
        <p:spPr>
          <a:xfrm>
            <a:off x="841248" y="3794760"/>
            <a:ext cx="5074920" cy="274320"/>
          </a:xfrm>
          <a:prstGeom prst="rect">
            <a:avLst/>
          </a:prstGeom>
          <a:noFill/>
          <a:ln/>
        </p:spPr>
        <p:txBody>
          <a:bodyPr wrap="square" lIns="0" tIns="0" rIns="0" bIns="0" rtlCol="0" anchor="ctr"/>
          <a:lstStyle/>
          <a:p>
            <a:pPr algn="ctr" indent="0" marL="0">
              <a:buNone/>
            </a:pPr>
            <a:r>
              <a:rPr lang="en-US" sz="1050" i="1" dirty="0">
                <a:solidFill>
                  <a:srgbClr val="5B4BE0"/>
                </a:solidFill>
                <a:latin typeface="Calibri" pitchFamily="34" charset="0"/>
                <a:ea typeface="Calibri" pitchFamily="34" charset="-122"/>
                <a:cs typeface="Calibri" pitchFamily="34" charset="-120"/>
              </a:rPr>
              <a:t>the score sees only (n − m): the relative position</a:t>
            </a:r>
            <a:endParaRPr lang="en-US" sz="1050" dirty="0"/>
          </a:p>
        </p:txBody>
      </p:sp>
      <p:sp>
        <p:nvSpPr>
          <p:cNvPr id="12" name="Text 10"/>
          <p:cNvSpPr/>
          <p:nvPr/>
        </p:nvSpPr>
        <p:spPr>
          <a:xfrm>
            <a:off x="859536" y="4160520"/>
            <a:ext cx="5029200" cy="178308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 learned position parameters — pure geometry</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Attention naturally decays with distance</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Extrapolates to longer sequences far better</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Now standard: LLaMA, GPT-NeoX, PaLM, Qwen, DeepSeek…</a:t>
            </a:r>
            <a:endParaRPr lang="en-US" sz="1180" dirty="0"/>
          </a:p>
        </p:txBody>
      </p:sp>
      <p:sp>
        <p:nvSpPr>
          <p:cNvPr id="13" name="Shape 11"/>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Text 12"/>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Same vector, rotated by position</a:t>
            </a:r>
            <a:endParaRPr lang="en-US" sz="1300" dirty="0"/>
          </a:p>
        </p:txBody>
      </p:sp>
      <p:sp>
        <p:nvSpPr>
          <p:cNvPr id="15" name="Shape 13"/>
          <p:cNvSpPr/>
          <p:nvPr/>
        </p:nvSpPr>
        <p:spPr>
          <a:xfrm>
            <a:off x="6995160" y="2468880"/>
            <a:ext cx="1828800" cy="1828800"/>
          </a:xfrm>
          <a:prstGeom prst="ellipse">
            <a:avLst/>
          </a:prstGeom>
          <a:solidFill>
            <a:srgbClr val="F4F5F9"/>
          </a:solidFill>
          <a:ln w="12700">
            <a:solidFill>
              <a:srgbClr val="DDE1EC"/>
            </a:solidFill>
            <a:prstDash val="solid"/>
          </a:ln>
        </p:spPr>
      </p:sp>
      <p:sp>
        <p:nvSpPr>
          <p:cNvPr id="16" name="Shape 14"/>
          <p:cNvSpPr/>
          <p:nvPr/>
        </p:nvSpPr>
        <p:spPr>
          <a:xfrm>
            <a:off x="7909560" y="3383280"/>
            <a:ext cx="793534" cy="-454347"/>
          </a:xfrm>
          <a:prstGeom prst="line">
            <a:avLst/>
          </a:prstGeom>
          <a:noFill/>
          <a:ln w="38100">
            <a:solidFill>
              <a:srgbClr val="5B4BE0"/>
            </a:solidFill>
            <a:prstDash val="solid"/>
            <a:tailEnd type="triangle"/>
          </a:ln>
        </p:spPr>
      </p:sp>
      <p:sp>
        <p:nvSpPr>
          <p:cNvPr id="17" name="Shape 15"/>
          <p:cNvSpPr/>
          <p:nvPr/>
        </p:nvSpPr>
        <p:spPr>
          <a:xfrm>
            <a:off x="6995160" y="3383280"/>
            <a:ext cx="1828800" cy="0"/>
          </a:xfrm>
          <a:prstGeom prst="line">
            <a:avLst/>
          </a:prstGeom>
          <a:noFill/>
          <a:ln w="9525">
            <a:solidFill>
              <a:srgbClr val="8A93AB"/>
            </a:solidFill>
            <a:prstDash val="dash"/>
          </a:ln>
        </p:spPr>
      </p:sp>
      <p:sp>
        <p:nvSpPr>
          <p:cNvPr id="18" name="Text 16"/>
          <p:cNvSpPr/>
          <p:nvPr/>
        </p:nvSpPr>
        <p:spPr>
          <a:xfrm>
            <a:off x="6995160" y="4370832"/>
            <a:ext cx="1828800" cy="274320"/>
          </a:xfrm>
          <a:prstGeom prst="rect">
            <a:avLst/>
          </a:prstGeom>
          <a:noFill/>
          <a:ln/>
        </p:spPr>
        <p:txBody>
          <a:bodyPr wrap="square" lIns="0" tIns="0" rIns="0" bIns="0" rtlCol="0" anchor="ctr"/>
          <a:lstStyle/>
          <a:p>
            <a:pPr algn="ctr" indent="0" marL="0">
              <a:buNone/>
            </a:pPr>
            <a:r>
              <a:rPr lang="en-US" sz="1150" b="1" dirty="0">
                <a:solidFill>
                  <a:srgbClr val="5B4BE0"/>
                </a:solidFill>
                <a:latin typeface="Calibri" pitchFamily="34" charset="0"/>
                <a:ea typeface="Calibri" pitchFamily="34" charset="-122"/>
                <a:cs typeface="Calibri" pitchFamily="34" charset="-120"/>
              </a:rPr>
              <a:t>position m</a:t>
            </a:r>
            <a:endParaRPr lang="en-US" sz="1150" dirty="0"/>
          </a:p>
        </p:txBody>
      </p:sp>
      <p:sp>
        <p:nvSpPr>
          <p:cNvPr id="19" name="Text 17"/>
          <p:cNvSpPr/>
          <p:nvPr/>
        </p:nvSpPr>
        <p:spPr>
          <a:xfrm>
            <a:off x="699516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30°</a:t>
            </a:r>
            <a:endParaRPr lang="en-US" sz="1000" dirty="0"/>
          </a:p>
        </p:txBody>
      </p:sp>
      <p:sp>
        <p:nvSpPr>
          <p:cNvPr id="20" name="Shape 18"/>
          <p:cNvSpPr/>
          <p:nvPr/>
        </p:nvSpPr>
        <p:spPr>
          <a:xfrm>
            <a:off x="9372600" y="2468880"/>
            <a:ext cx="1828800" cy="1828800"/>
          </a:xfrm>
          <a:prstGeom prst="ellipse">
            <a:avLst/>
          </a:prstGeom>
          <a:solidFill>
            <a:srgbClr val="F4F5F9"/>
          </a:solidFill>
          <a:ln w="12700">
            <a:solidFill>
              <a:srgbClr val="DDE1EC"/>
            </a:solidFill>
            <a:prstDash val="solid"/>
          </a:ln>
        </p:spPr>
      </p:sp>
      <p:sp>
        <p:nvSpPr>
          <p:cNvPr id="21" name="Shape 19"/>
          <p:cNvSpPr/>
          <p:nvPr/>
        </p:nvSpPr>
        <p:spPr>
          <a:xfrm>
            <a:off x="10287000" y="3383280"/>
            <a:ext cx="-312862" cy="-859212"/>
          </a:xfrm>
          <a:prstGeom prst="line">
            <a:avLst/>
          </a:prstGeom>
          <a:noFill/>
          <a:ln w="38100">
            <a:solidFill>
              <a:srgbClr val="0E9E96"/>
            </a:solidFill>
            <a:prstDash val="solid"/>
            <a:tailEnd type="triangle"/>
          </a:ln>
        </p:spPr>
      </p:sp>
      <p:sp>
        <p:nvSpPr>
          <p:cNvPr id="22" name="Shape 20"/>
          <p:cNvSpPr/>
          <p:nvPr/>
        </p:nvSpPr>
        <p:spPr>
          <a:xfrm>
            <a:off x="9372600" y="3383280"/>
            <a:ext cx="1828800" cy="0"/>
          </a:xfrm>
          <a:prstGeom prst="line">
            <a:avLst/>
          </a:prstGeom>
          <a:noFill/>
          <a:ln w="9525">
            <a:solidFill>
              <a:srgbClr val="8A93AB"/>
            </a:solidFill>
            <a:prstDash val="dash"/>
          </a:ln>
        </p:spPr>
      </p:sp>
      <p:sp>
        <p:nvSpPr>
          <p:cNvPr id="23" name="Text 21"/>
          <p:cNvSpPr/>
          <p:nvPr/>
        </p:nvSpPr>
        <p:spPr>
          <a:xfrm>
            <a:off x="9372600" y="4370832"/>
            <a:ext cx="1828800" cy="274320"/>
          </a:xfrm>
          <a:prstGeom prst="rect">
            <a:avLst/>
          </a:prstGeom>
          <a:noFill/>
          <a:ln/>
        </p:spPr>
        <p:txBody>
          <a:bodyPr wrap="square" lIns="0" tIns="0" rIns="0" bIns="0" rtlCol="0" anchor="ctr"/>
          <a:lstStyle/>
          <a:p>
            <a:pPr algn="ctr" indent="0" marL="0">
              <a:buNone/>
            </a:pPr>
            <a:r>
              <a:rPr lang="en-US" sz="1150" b="1" dirty="0">
                <a:solidFill>
                  <a:srgbClr val="0E9E96"/>
                </a:solidFill>
                <a:latin typeface="Calibri" pitchFamily="34" charset="0"/>
                <a:ea typeface="Calibri" pitchFamily="34" charset="-122"/>
                <a:cs typeface="Calibri" pitchFamily="34" charset="-120"/>
              </a:rPr>
              <a:t>position n</a:t>
            </a:r>
            <a:endParaRPr lang="en-US" sz="1150" dirty="0"/>
          </a:p>
        </p:txBody>
      </p:sp>
      <p:sp>
        <p:nvSpPr>
          <p:cNvPr id="24" name="Text 22"/>
          <p:cNvSpPr/>
          <p:nvPr/>
        </p:nvSpPr>
        <p:spPr>
          <a:xfrm>
            <a:off x="937260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110°</a:t>
            </a:r>
            <a:endParaRPr lang="en-US" sz="1000" dirty="0"/>
          </a:p>
        </p:txBody>
      </p:sp>
      <p:sp>
        <p:nvSpPr>
          <p:cNvPr id="25" name="Text 23"/>
          <p:cNvSpPr/>
          <p:nvPr/>
        </p:nvSpPr>
        <p:spPr>
          <a:xfrm>
            <a:off x="6858000" y="5074920"/>
            <a:ext cx="4480560" cy="822960"/>
          </a:xfrm>
          <a:prstGeom prst="rect">
            <a:avLst/>
          </a:prstGeom>
          <a:noFill/>
          <a:ln/>
        </p:spPr>
        <p:txBody>
          <a:bodyPr wrap="square" lIns="0" tIns="0" rIns="0" bIns="0" rtlCol="0" anchor="ctr"/>
          <a:lstStyle/>
          <a:p>
            <a:pPr algn="ctr" indent="0" marL="0">
              <a:lnSpc>
                <a:spcPct val="112000"/>
              </a:lnSpc>
              <a:buNone/>
            </a:pPr>
            <a:r>
              <a:rPr lang="en-US" sz="1150" i="1" dirty="0">
                <a:solidFill>
                  <a:srgbClr val="5A6685"/>
                </a:solidFill>
                <a:latin typeface="Calibri" pitchFamily="34" charset="0"/>
                <a:ea typeface="Calibri" pitchFamily="34" charset="-122"/>
                <a:cs typeface="Calibri" pitchFamily="34" charset="-120"/>
              </a:rPr>
              <a:t>Different positions → different rotation angles. Their relative angle (n−m) is what attention actually 'feels'.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2 · MEMORY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MQA &amp; GQA — shrinking the KV cache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MQA (arXiv:1911.02150) · Ainslie et al., GQA (arXiv:2305.13245)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66928" y="1463040"/>
            <a:ext cx="10972800" cy="310896"/>
          </a:xfrm>
          <a:prstGeom prst="rect">
            <a:avLst/>
          </a:prstGeom>
          <a:noFill/>
          <a:ln/>
        </p:spPr>
        <p:txBody>
          <a:bodyPr wrap="square" lIns="0" tIns="0" rIns="0" bIns="0" rtlCol="0" anchor="ctr"/>
          <a:lstStyle/>
          <a:p>
            <a:pPr indent="0" marL="0">
              <a:buNone/>
            </a:pPr>
            <a:r>
              <a:rPr lang="en-US" sz="1280" dirty="0">
                <a:solidFill>
                  <a:srgbClr val="5A6685"/>
                </a:solidFill>
                <a:latin typeface="Calibri" pitchFamily="34" charset="0"/>
                <a:ea typeface="Calibri" pitchFamily="34" charset="-122"/>
                <a:cs typeface="Calibri" pitchFamily="34" charset="-120"/>
              </a:rPr>
              <a:t>Multiple query heads can share a smaller set of key/value heads — cutting the cache that dominates long-context inference.</a:t>
            </a:r>
            <a:endParaRPr lang="en-US" sz="1280" dirty="0"/>
          </a:p>
        </p:txBody>
      </p:sp>
      <p:sp>
        <p:nvSpPr>
          <p:cNvPr id="7" name="Shape 5"/>
          <p:cNvSpPr/>
          <p:nvPr/>
        </p:nvSpPr>
        <p:spPr>
          <a:xfrm>
            <a:off x="56692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79552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Multi-Head (MHA)</a:t>
            </a:r>
            <a:endParaRPr lang="en-US" sz="1550" dirty="0"/>
          </a:p>
        </p:txBody>
      </p:sp>
      <p:sp>
        <p:nvSpPr>
          <p:cNvPr id="9" name="Text 7"/>
          <p:cNvSpPr/>
          <p:nvPr/>
        </p:nvSpPr>
        <p:spPr>
          <a:xfrm>
            <a:off x="79552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Every head has its own K &amp; V</a:t>
            </a:r>
            <a:endParaRPr lang="en-US" sz="1150" dirty="0"/>
          </a:p>
        </p:txBody>
      </p:sp>
      <p:sp>
        <p:nvSpPr>
          <p:cNvPr id="10" name="Shape 8"/>
          <p:cNvSpPr/>
          <p:nvPr/>
        </p:nvSpPr>
        <p:spPr>
          <a:xfrm>
            <a:off x="886968" y="3108960"/>
            <a:ext cx="329184" cy="329184"/>
          </a:xfrm>
          <a:prstGeom prst="rect">
            <a:avLst/>
          </a:prstGeom>
          <a:solidFill>
            <a:srgbClr val="5B4BE0"/>
          </a:solidFill>
          <a:ln w="12700">
            <a:solidFill>
              <a:srgbClr val="FFFFFF"/>
            </a:solidFill>
            <a:prstDash val="solid"/>
          </a:ln>
        </p:spPr>
      </p:sp>
      <p:sp>
        <p:nvSpPr>
          <p:cNvPr id="11" name="Shape 9"/>
          <p:cNvSpPr/>
          <p:nvPr/>
        </p:nvSpPr>
        <p:spPr>
          <a:xfrm>
            <a:off x="1284732" y="3108960"/>
            <a:ext cx="329184" cy="329184"/>
          </a:xfrm>
          <a:prstGeom prst="rect">
            <a:avLst/>
          </a:prstGeom>
          <a:solidFill>
            <a:srgbClr val="5B4BE0"/>
          </a:solidFill>
          <a:ln w="12700">
            <a:solidFill>
              <a:srgbClr val="FFFFFF"/>
            </a:solidFill>
            <a:prstDash val="solid"/>
          </a:ln>
        </p:spPr>
      </p:sp>
      <p:sp>
        <p:nvSpPr>
          <p:cNvPr id="12" name="Shape 10"/>
          <p:cNvSpPr/>
          <p:nvPr/>
        </p:nvSpPr>
        <p:spPr>
          <a:xfrm>
            <a:off x="1682496" y="3108960"/>
            <a:ext cx="329184" cy="329184"/>
          </a:xfrm>
          <a:prstGeom prst="rect">
            <a:avLst/>
          </a:prstGeom>
          <a:solidFill>
            <a:srgbClr val="5B4BE0"/>
          </a:solidFill>
          <a:ln w="12700">
            <a:solidFill>
              <a:srgbClr val="FFFFFF"/>
            </a:solidFill>
            <a:prstDash val="solid"/>
          </a:ln>
        </p:spPr>
      </p:sp>
      <p:sp>
        <p:nvSpPr>
          <p:cNvPr id="13" name="Shape 11"/>
          <p:cNvSpPr/>
          <p:nvPr/>
        </p:nvSpPr>
        <p:spPr>
          <a:xfrm>
            <a:off x="2080260" y="3108960"/>
            <a:ext cx="329184" cy="329184"/>
          </a:xfrm>
          <a:prstGeom prst="rect">
            <a:avLst/>
          </a:prstGeom>
          <a:solidFill>
            <a:srgbClr val="5B4BE0"/>
          </a:solidFill>
          <a:ln w="12700">
            <a:solidFill>
              <a:srgbClr val="FFFFFF"/>
            </a:solidFill>
            <a:prstDash val="solid"/>
          </a:ln>
        </p:spPr>
      </p:sp>
      <p:sp>
        <p:nvSpPr>
          <p:cNvPr id="14" name="Shape 12"/>
          <p:cNvSpPr/>
          <p:nvPr/>
        </p:nvSpPr>
        <p:spPr>
          <a:xfrm>
            <a:off x="2478024" y="3108960"/>
            <a:ext cx="329184" cy="329184"/>
          </a:xfrm>
          <a:prstGeom prst="rect">
            <a:avLst/>
          </a:prstGeom>
          <a:solidFill>
            <a:srgbClr val="5B4BE0"/>
          </a:solidFill>
          <a:ln w="12700">
            <a:solidFill>
              <a:srgbClr val="FFFFFF"/>
            </a:solidFill>
            <a:prstDash val="solid"/>
          </a:ln>
        </p:spPr>
      </p:sp>
      <p:sp>
        <p:nvSpPr>
          <p:cNvPr id="15" name="Shape 13"/>
          <p:cNvSpPr/>
          <p:nvPr/>
        </p:nvSpPr>
        <p:spPr>
          <a:xfrm>
            <a:off x="2875788" y="3108960"/>
            <a:ext cx="329184" cy="329184"/>
          </a:xfrm>
          <a:prstGeom prst="rect">
            <a:avLst/>
          </a:prstGeom>
          <a:solidFill>
            <a:srgbClr val="5B4BE0"/>
          </a:solidFill>
          <a:ln w="12700">
            <a:solidFill>
              <a:srgbClr val="FFFFFF"/>
            </a:solidFill>
            <a:prstDash val="solid"/>
          </a:ln>
        </p:spPr>
      </p:sp>
      <p:sp>
        <p:nvSpPr>
          <p:cNvPr id="16" name="Shape 14"/>
          <p:cNvSpPr/>
          <p:nvPr/>
        </p:nvSpPr>
        <p:spPr>
          <a:xfrm>
            <a:off x="3273552" y="3108960"/>
            <a:ext cx="329184" cy="329184"/>
          </a:xfrm>
          <a:prstGeom prst="rect">
            <a:avLst/>
          </a:prstGeom>
          <a:solidFill>
            <a:srgbClr val="5B4BE0"/>
          </a:solidFill>
          <a:ln w="12700">
            <a:solidFill>
              <a:srgbClr val="FFFFFF"/>
            </a:solidFill>
            <a:prstDash val="solid"/>
          </a:ln>
        </p:spPr>
      </p:sp>
      <p:sp>
        <p:nvSpPr>
          <p:cNvPr id="17" name="Shape 15"/>
          <p:cNvSpPr/>
          <p:nvPr/>
        </p:nvSpPr>
        <p:spPr>
          <a:xfrm>
            <a:off x="3671316" y="3108960"/>
            <a:ext cx="329184" cy="329184"/>
          </a:xfrm>
          <a:prstGeom prst="rect">
            <a:avLst/>
          </a:prstGeom>
          <a:solidFill>
            <a:srgbClr val="5B4BE0"/>
          </a:solidFill>
          <a:ln w="12700">
            <a:solidFill>
              <a:srgbClr val="FFFFFF"/>
            </a:solidFill>
            <a:prstDash val="solid"/>
          </a:ln>
        </p:spPr>
      </p:sp>
      <p:sp>
        <p:nvSpPr>
          <p:cNvPr id="18" name="Text 16"/>
          <p:cNvSpPr/>
          <p:nvPr/>
        </p:nvSpPr>
        <p:spPr>
          <a:xfrm>
            <a:off x="3657600" y="3108960"/>
            <a:ext cx="365760" cy="329184"/>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Q</a:t>
            </a:r>
            <a:endParaRPr lang="en-US" sz="1100" dirty="0"/>
          </a:p>
        </p:txBody>
      </p:sp>
      <p:sp>
        <p:nvSpPr>
          <p:cNvPr id="19" name="Shape 17"/>
          <p:cNvSpPr/>
          <p:nvPr/>
        </p:nvSpPr>
        <p:spPr>
          <a:xfrm>
            <a:off x="886968" y="3794760"/>
            <a:ext cx="329184" cy="329184"/>
          </a:xfrm>
          <a:prstGeom prst="rect">
            <a:avLst/>
          </a:prstGeom>
          <a:solidFill>
            <a:srgbClr val="EEECFB"/>
          </a:solidFill>
          <a:ln w="15875">
            <a:solidFill>
              <a:srgbClr val="5B4BE0"/>
            </a:solidFill>
            <a:prstDash val="solid"/>
          </a:ln>
        </p:spPr>
      </p:sp>
      <p:sp>
        <p:nvSpPr>
          <p:cNvPr id="20" name="Shape 18"/>
          <p:cNvSpPr/>
          <p:nvPr/>
        </p:nvSpPr>
        <p:spPr>
          <a:xfrm>
            <a:off x="1284732" y="3794760"/>
            <a:ext cx="329184" cy="329184"/>
          </a:xfrm>
          <a:prstGeom prst="rect">
            <a:avLst/>
          </a:prstGeom>
          <a:solidFill>
            <a:srgbClr val="EEECFB"/>
          </a:solidFill>
          <a:ln w="15875">
            <a:solidFill>
              <a:srgbClr val="5B4BE0"/>
            </a:solidFill>
            <a:prstDash val="solid"/>
          </a:ln>
        </p:spPr>
      </p:sp>
      <p:sp>
        <p:nvSpPr>
          <p:cNvPr id="21" name="Shape 19"/>
          <p:cNvSpPr/>
          <p:nvPr/>
        </p:nvSpPr>
        <p:spPr>
          <a:xfrm>
            <a:off x="1682496" y="3794760"/>
            <a:ext cx="329184" cy="329184"/>
          </a:xfrm>
          <a:prstGeom prst="rect">
            <a:avLst/>
          </a:prstGeom>
          <a:solidFill>
            <a:srgbClr val="EEECFB"/>
          </a:solidFill>
          <a:ln w="15875">
            <a:solidFill>
              <a:srgbClr val="5B4BE0"/>
            </a:solidFill>
            <a:prstDash val="solid"/>
          </a:ln>
        </p:spPr>
      </p:sp>
      <p:sp>
        <p:nvSpPr>
          <p:cNvPr id="22" name="Shape 20"/>
          <p:cNvSpPr/>
          <p:nvPr/>
        </p:nvSpPr>
        <p:spPr>
          <a:xfrm>
            <a:off x="2080260" y="3794760"/>
            <a:ext cx="329184" cy="329184"/>
          </a:xfrm>
          <a:prstGeom prst="rect">
            <a:avLst/>
          </a:prstGeom>
          <a:solidFill>
            <a:srgbClr val="EEECFB"/>
          </a:solidFill>
          <a:ln w="15875">
            <a:solidFill>
              <a:srgbClr val="5B4BE0"/>
            </a:solidFill>
            <a:prstDash val="solid"/>
          </a:ln>
        </p:spPr>
      </p:sp>
      <p:sp>
        <p:nvSpPr>
          <p:cNvPr id="23" name="Shape 21"/>
          <p:cNvSpPr/>
          <p:nvPr/>
        </p:nvSpPr>
        <p:spPr>
          <a:xfrm>
            <a:off x="2478024" y="3794760"/>
            <a:ext cx="329184" cy="329184"/>
          </a:xfrm>
          <a:prstGeom prst="rect">
            <a:avLst/>
          </a:prstGeom>
          <a:solidFill>
            <a:srgbClr val="EEECFB"/>
          </a:solidFill>
          <a:ln w="15875">
            <a:solidFill>
              <a:srgbClr val="5B4BE0"/>
            </a:solidFill>
            <a:prstDash val="solid"/>
          </a:ln>
        </p:spPr>
      </p:sp>
      <p:sp>
        <p:nvSpPr>
          <p:cNvPr id="24" name="Shape 22"/>
          <p:cNvSpPr/>
          <p:nvPr/>
        </p:nvSpPr>
        <p:spPr>
          <a:xfrm>
            <a:off x="2875788" y="3794760"/>
            <a:ext cx="329184" cy="329184"/>
          </a:xfrm>
          <a:prstGeom prst="rect">
            <a:avLst/>
          </a:prstGeom>
          <a:solidFill>
            <a:srgbClr val="EEECFB"/>
          </a:solidFill>
          <a:ln w="15875">
            <a:solidFill>
              <a:srgbClr val="5B4BE0"/>
            </a:solidFill>
            <a:prstDash val="solid"/>
          </a:ln>
        </p:spPr>
      </p:sp>
      <p:sp>
        <p:nvSpPr>
          <p:cNvPr id="25" name="Shape 23"/>
          <p:cNvSpPr/>
          <p:nvPr/>
        </p:nvSpPr>
        <p:spPr>
          <a:xfrm>
            <a:off x="3273552" y="3794760"/>
            <a:ext cx="329184" cy="329184"/>
          </a:xfrm>
          <a:prstGeom prst="rect">
            <a:avLst/>
          </a:prstGeom>
          <a:solidFill>
            <a:srgbClr val="EEECFB"/>
          </a:solidFill>
          <a:ln w="15875">
            <a:solidFill>
              <a:srgbClr val="5B4BE0"/>
            </a:solidFill>
            <a:prstDash val="solid"/>
          </a:ln>
        </p:spPr>
      </p:sp>
      <p:sp>
        <p:nvSpPr>
          <p:cNvPr id="26" name="Shape 24"/>
          <p:cNvSpPr/>
          <p:nvPr/>
        </p:nvSpPr>
        <p:spPr>
          <a:xfrm>
            <a:off x="3671316" y="3794760"/>
            <a:ext cx="329184" cy="329184"/>
          </a:xfrm>
          <a:prstGeom prst="rect">
            <a:avLst/>
          </a:prstGeom>
          <a:solidFill>
            <a:srgbClr val="EEECFB"/>
          </a:solidFill>
          <a:ln w="15875">
            <a:solidFill>
              <a:srgbClr val="5B4BE0"/>
            </a:solidFill>
            <a:prstDash val="solid"/>
          </a:ln>
        </p:spPr>
      </p:sp>
      <p:sp>
        <p:nvSpPr>
          <p:cNvPr id="27" name="Text 25"/>
          <p:cNvSpPr/>
          <p:nvPr/>
        </p:nvSpPr>
        <p:spPr>
          <a:xfrm>
            <a:off x="3657600" y="3794760"/>
            <a:ext cx="411480" cy="32918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KV</a:t>
            </a:r>
            <a:endParaRPr lang="en-US" sz="1000" dirty="0"/>
          </a:p>
        </p:txBody>
      </p:sp>
      <p:sp>
        <p:nvSpPr>
          <p:cNvPr id="28" name="Shape 26"/>
          <p:cNvSpPr/>
          <p:nvPr/>
        </p:nvSpPr>
        <p:spPr>
          <a:xfrm>
            <a:off x="1051560" y="3447288"/>
            <a:ext cx="0" cy="329184"/>
          </a:xfrm>
          <a:prstGeom prst="line">
            <a:avLst/>
          </a:prstGeom>
          <a:noFill/>
          <a:ln w="6350">
            <a:solidFill>
              <a:srgbClr val="8A93AB"/>
            </a:solidFill>
            <a:prstDash val="solid"/>
          </a:ln>
        </p:spPr>
      </p:sp>
      <p:sp>
        <p:nvSpPr>
          <p:cNvPr id="29" name="Shape 27"/>
          <p:cNvSpPr/>
          <p:nvPr/>
        </p:nvSpPr>
        <p:spPr>
          <a:xfrm>
            <a:off x="1449324" y="3447288"/>
            <a:ext cx="0" cy="329184"/>
          </a:xfrm>
          <a:prstGeom prst="line">
            <a:avLst/>
          </a:prstGeom>
          <a:noFill/>
          <a:ln w="6350">
            <a:solidFill>
              <a:srgbClr val="8A93AB"/>
            </a:solidFill>
            <a:prstDash val="solid"/>
          </a:ln>
        </p:spPr>
      </p:sp>
      <p:sp>
        <p:nvSpPr>
          <p:cNvPr id="30" name="Shape 28"/>
          <p:cNvSpPr/>
          <p:nvPr/>
        </p:nvSpPr>
        <p:spPr>
          <a:xfrm>
            <a:off x="1847088" y="3447288"/>
            <a:ext cx="0" cy="329184"/>
          </a:xfrm>
          <a:prstGeom prst="line">
            <a:avLst/>
          </a:prstGeom>
          <a:noFill/>
          <a:ln w="6350">
            <a:solidFill>
              <a:srgbClr val="8A93AB"/>
            </a:solidFill>
            <a:prstDash val="solid"/>
          </a:ln>
        </p:spPr>
      </p:sp>
      <p:sp>
        <p:nvSpPr>
          <p:cNvPr id="31" name="Shape 29"/>
          <p:cNvSpPr/>
          <p:nvPr/>
        </p:nvSpPr>
        <p:spPr>
          <a:xfrm>
            <a:off x="2244852" y="3447288"/>
            <a:ext cx="0" cy="329184"/>
          </a:xfrm>
          <a:prstGeom prst="line">
            <a:avLst/>
          </a:prstGeom>
          <a:noFill/>
          <a:ln w="6350">
            <a:solidFill>
              <a:srgbClr val="8A93AB"/>
            </a:solidFill>
            <a:prstDash val="solid"/>
          </a:ln>
        </p:spPr>
      </p:sp>
      <p:sp>
        <p:nvSpPr>
          <p:cNvPr id="32" name="Shape 30"/>
          <p:cNvSpPr/>
          <p:nvPr/>
        </p:nvSpPr>
        <p:spPr>
          <a:xfrm>
            <a:off x="2642616" y="3447288"/>
            <a:ext cx="0" cy="329184"/>
          </a:xfrm>
          <a:prstGeom prst="line">
            <a:avLst/>
          </a:prstGeom>
          <a:noFill/>
          <a:ln w="6350">
            <a:solidFill>
              <a:srgbClr val="8A93AB"/>
            </a:solidFill>
            <a:prstDash val="solid"/>
          </a:ln>
        </p:spPr>
      </p:sp>
      <p:sp>
        <p:nvSpPr>
          <p:cNvPr id="33" name="Shape 31"/>
          <p:cNvSpPr/>
          <p:nvPr/>
        </p:nvSpPr>
        <p:spPr>
          <a:xfrm>
            <a:off x="3040380" y="3447288"/>
            <a:ext cx="0" cy="329184"/>
          </a:xfrm>
          <a:prstGeom prst="line">
            <a:avLst/>
          </a:prstGeom>
          <a:noFill/>
          <a:ln w="6350">
            <a:solidFill>
              <a:srgbClr val="8A93AB"/>
            </a:solidFill>
            <a:prstDash val="solid"/>
          </a:ln>
        </p:spPr>
      </p:sp>
      <p:sp>
        <p:nvSpPr>
          <p:cNvPr id="34" name="Shape 32"/>
          <p:cNvSpPr/>
          <p:nvPr/>
        </p:nvSpPr>
        <p:spPr>
          <a:xfrm>
            <a:off x="3438144" y="3447288"/>
            <a:ext cx="0" cy="329184"/>
          </a:xfrm>
          <a:prstGeom prst="line">
            <a:avLst/>
          </a:prstGeom>
          <a:noFill/>
          <a:ln w="6350">
            <a:solidFill>
              <a:srgbClr val="8A93AB"/>
            </a:solidFill>
            <a:prstDash val="solid"/>
          </a:ln>
        </p:spPr>
      </p:sp>
      <p:sp>
        <p:nvSpPr>
          <p:cNvPr id="35" name="Shape 33"/>
          <p:cNvSpPr/>
          <p:nvPr/>
        </p:nvSpPr>
        <p:spPr>
          <a:xfrm>
            <a:off x="3835908" y="3447288"/>
            <a:ext cx="0" cy="329184"/>
          </a:xfrm>
          <a:prstGeom prst="line">
            <a:avLst/>
          </a:prstGeom>
          <a:noFill/>
          <a:ln w="6350">
            <a:solidFill>
              <a:srgbClr val="8A93AB"/>
            </a:solidFill>
            <a:prstDash val="solid"/>
          </a:ln>
        </p:spPr>
      </p:sp>
      <p:sp>
        <p:nvSpPr>
          <p:cNvPr id="36" name="Shape 34"/>
          <p:cNvSpPr/>
          <p:nvPr/>
        </p:nvSpPr>
        <p:spPr>
          <a:xfrm>
            <a:off x="795528" y="4663440"/>
            <a:ext cx="1417320" cy="384048"/>
          </a:xfrm>
          <a:prstGeom prst="roundRect">
            <a:avLst>
              <a:gd name="adj" fmla="val 50000"/>
            </a:avLst>
          </a:prstGeom>
          <a:solidFill>
            <a:srgbClr val="EEECFB"/>
          </a:solidFill>
          <a:ln/>
        </p:spPr>
      </p:sp>
      <p:sp>
        <p:nvSpPr>
          <p:cNvPr id="37" name="Text 35"/>
          <p:cNvSpPr/>
          <p:nvPr/>
        </p:nvSpPr>
        <p:spPr>
          <a:xfrm>
            <a:off x="795528" y="4663440"/>
            <a:ext cx="1417320" cy="384048"/>
          </a:xfrm>
          <a:prstGeom prst="rect">
            <a:avLst/>
          </a:prstGeom>
          <a:noFill/>
          <a:ln/>
        </p:spPr>
        <p:txBody>
          <a:bodyPr wrap="square" lIns="0" tIns="0" rIns="0" bIns="0" rtlCol="0" anchor="ctr"/>
          <a:lstStyle/>
          <a:p>
            <a:pPr algn="ctr" indent="0" marL="0">
              <a:buNone/>
            </a:pPr>
            <a:r>
              <a:rPr lang="en-US" sz="1100" b="1" dirty="0">
                <a:solidFill>
                  <a:srgbClr val="5B4BE0"/>
                </a:solidFill>
                <a:latin typeface="Calibri" pitchFamily="34" charset="0"/>
                <a:ea typeface="Calibri" pitchFamily="34" charset="-122"/>
                <a:cs typeface="Calibri" pitchFamily="34" charset="-120"/>
              </a:rPr>
              <a:t>8 Q · 8 K/V</a:t>
            </a:r>
            <a:endParaRPr lang="en-US" sz="1100" dirty="0"/>
          </a:p>
        </p:txBody>
      </p:sp>
      <p:sp>
        <p:nvSpPr>
          <p:cNvPr id="38" name="Text 36"/>
          <p:cNvSpPr/>
          <p:nvPr/>
        </p:nvSpPr>
        <p:spPr>
          <a:xfrm>
            <a:off x="79552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Best quality, biggest cache</a:t>
            </a:r>
            <a:endParaRPr lang="en-US" sz="1150" dirty="0"/>
          </a:p>
        </p:txBody>
      </p:sp>
      <p:sp>
        <p:nvSpPr>
          <p:cNvPr id="39" name="Shape 37"/>
          <p:cNvSpPr/>
          <p:nvPr/>
        </p:nvSpPr>
        <p:spPr>
          <a:xfrm>
            <a:off x="431596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0" name="Text 38"/>
          <p:cNvSpPr/>
          <p:nvPr/>
        </p:nvSpPr>
        <p:spPr>
          <a:xfrm>
            <a:off x="454456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Grouped-Query (GQA)</a:t>
            </a:r>
            <a:endParaRPr lang="en-US" sz="1550" dirty="0"/>
          </a:p>
        </p:txBody>
      </p:sp>
      <p:sp>
        <p:nvSpPr>
          <p:cNvPr id="41" name="Text 39"/>
          <p:cNvSpPr/>
          <p:nvPr/>
        </p:nvSpPr>
        <p:spPr>
          <a:xfrm>
            <a:off x="454456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Heads share K/V in groups</a:t>
            </a:r>
            <a:endParaRPr lang="en-US" sz="1150" dirty="0"/>
          </a:p>
        </p:txBody>
      </p:sp>
      <p:sp>
        <p:nvSpPr>
          <p:cNvPr id="42" name="Shape 40"/>
          <p:cNvSpPr/>
          <p:nvPr/>
        </p:nvSpPr>
        <p:spPr>
          <a:xfrm>
            <a:off x="4636008" y="3108960"/>
            <a:ext cx="329184" cy="329184"/>
          </a:xfrm>
          <a:prstGeom prst="rect">
            <a:avLst/>
          </a:prstGeom>
          <a:solidFill>
            <a:srgbClr val="0E9E96"/>
          </a:solidFill>
          <a:ln w="12700">
            <a:solidFill>
              <a:srgbClr val="FFFFFF"/>
            </a:solidFill>
            <a:prstDash val="solid"/>
          </a:ln>
        </p:spPr>
      </p:sp>
      <p:sp>
        <p:nvSpPr>
          <p:cNvPr id="43" name="Shape 41"/>
          <p:cNvSpPr/>
          <p:nvPr/>
        </p:nvSpPr>
        <p:spPr>
          <a:xfrm>
            <a:off x="5033772" y="3108960"/>
            <a:ext cx="329184" cy="329184"/>
          </a:xfrm>
          <a:prstGeom prst="rect">
            <a:avLst/>
          </a:prstGeom>
          <a:solidFill>
            <a:srgbClr val="0E9E96"/>
          </a:solidFill>
          <a:ln w="12700">
            <a:solidFill>
              <a:srgbClr val="FFFFFF"/>
            </a:solidFill>
            <a:prstDash val="solid"/>
          </a:ln>
        </p:spPr>
      </p:sp>
      <p:sp>
        <p:nvSpPr>
          <p:cNvPr id="44" name="Shape 42"/>
          <p:cNvSpPr/>
          <p:nvPr/>
        </p:nvSpPr>
        <p:spPr>
          <a:xfrm>
            <a:off x="5431536" y="3108960"/>
            <a:ext cx="329184" cy="329184"/>
          </a:xfrm>
          <a:prstGeom prst="rect">
            <a:avLst/>
          </a:prstGeom>
          <a:solidFill>
            <a:srgbClr val="0E9E96"/>
          </a:solidFill>
          <a:ln w="12700">
            <a:solidFill>
              <a:srgbClr val="FFFFFF"/>
            </a:solidFill>
            <a:prstDash val="solid"/>
          </a:ln>
        </p:spPr>
      </p:sp>
      <p:sp>
        <p:nvSpPr>
          <p:cNvPr id="45" name="Shape 43"/>
          <p:cNvSpPr/>
          <p:nvPr/>
        </p:nvSpPr>
        <p:spPr>
          <a:xfrm>
            <a:off x="5829300" y="3108960"/>
            <a:ext cx="329184" cy="329184"/>
          </a:xfrm>
          <a:prstGeom prst="rect">
            <a:avLst/>
          </a:prstGeom>
          <a:solidFill>
            <a:srgbClr val="0E9E96"/>
          </a:solidFill>
          <a:ln w="12700">
            <a:solidFill>
              <a:srgbClr val="FFFFFF"/>
            </a:solidFill>
            <a:prstDash val="solid"/>
          </a:ln>
        </p:spPr>
      </p:sp>
      <p:sp>
        <p:nvSpPr>
          <p:cNvPr id="46" name="Shape 44"/>
          <p:cNvSpPr/>
          <p:nvPr/>
        </p:nvSpPr>
        <p:spPr>
          <a:xfrm>
            <a:off x="6227064" y="3108960"/>
            <a:ext cx="329184" cy="329184"/>
          </a:xfrm>
          <a:prstGeom prst="rect">
            <a:avLst/>
          </a:prstGeom>
          <a:solidFill>
            <a:srgbClr val="0E9E96"/>
          </a:solidFill>
          <a:ln w="12700">
            <a:solidFill>
              <a:srgbClr val="FFFFFF"/>
            </a:solidFill>
            <a:prstDash val="solid"/>
          </a:ln>
        </p:spPr>
      </p:sp>
      <p:sp>
        <p:nvSpPr>
          <p:cNvPr id="47" name="Shape 45"/>
          <p:cNvSpPr/>
          <p:nvPr/>
        </p:nvSpPr>
        <p:spPr>
          <a:xfrm>
            <a:off x="6624828" y="3108960"/>
            <a:ext cx="329184" cy="329184"/>
          </a:xfrm>
          <a:prstGeom prst="rect">
            <a:avLst/>
          </a:prstGeom>
          <a:solidFill>
            <a:srgbClr val="0E9E96"/>
          </a:solidFill>
          <a:ln w="12700">
            <a:solidFill>
              <a:srgbClr val="FFFFFF"/>
            </a:solidFill>
            <a:prstDash val="solid"/>
          </a:ln>
        </p:spPr>
      </p:sp>
      <p:sp>
        <p:nvSpPr>
          <p:cNvPr id="48" name="Shape 46"/>
          <p:cNvSpPr/>
          <p:nvPr/>
        </p:nvSpPr>
        <p:spPr>
          <a:xfrm>
            <a:off x="7022592" y="3108960"/>
            <a:ext cx="329184" cy="329184"/>
          </a:xfrm>
          <a:prstGeom prst="rect">
            <a:avLst/>
          </a:prstGeom>
          <a:solidFill>
            <a:srgbClr val="0E9E96"/>
          </a:solidFill>
          <a:ln w="12700">
            <a:solidFill>
              <a:srgbClr val="FFFFFF"/>
            </a:solidFill>
            <a:prstDash val="solid"/>
          </a:ln>
        </p:spPr>
      </p:sp>
      <p:sp>
        <p:nvSpPr>
          <p:cNvPr id="49" name="Shape 47"/>
          <p:cNvSpPr/>
          <p:nvPr/>
        </p:nvSpPr>
        <p:spPr>
          <a:xfrm>
            <a:off x="7420356" y="3108960"/>
            <a:ext cx="329184" cy="329184"/>
          </a:xfrm>
          <a:prstGeom prst="rect">
            <a:avLst/>
          </a:prstGeom>
          <a:solidFill>
            <a:srgbClr val="0E9E96"/>
          </a:solidFill>
          <a:ln w="12700">
            <a:solidFill>
              <a:srgbClr val="FFFFFF"/>
            </a:solidFill>
            <a:prstDash val="solid"/>
          </a:ln>
        </p:spPr>
      </p:sp>
      <p:sp>
        <p:nvSpPr>
          <p:cNvPr id="50" name="Text 48"/>
          <p:cNvSpPr/>
          <p:nvPr/>
        </p:nvSpPr>
        <p:spPr>
          <a:xfrm>
            <a:off x="7406640" y="3108960"/>
            <a:ext cx="365760" cy="329184"/>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Q</a:t>
            </a:r>
            <a:endParaRPr lang="en-US" sz="1100" dirty="0"/>
          </a:p>
        </p:txBody>
      </p:sp>
      <p:sp>
        <p:nvSpPr>
          <p:cNvPr id="51" name="Shape 49"/>
          <p:cNvSpPr/>
          <p:nvPr/>
        </p:nvSpPr>
        <p:spPr>
          <a:xfrm>
            <a:off x="4636008" y="3794760"/>
            <a:ext cx="1522476" cy="329184"/>
          </a:xfrm>
          <a:prstGeom prst="rect">
            <a:avLst/>
          </a:prstGeom>
          <a:solidFill>
            <a:srgbClr val="E2F4F2"/>
          </a:solidFill>
          <a:ln w="15875">
            <a:solidFill>
              <a:srgbClr val="0E9E96"/>
            </a:solidFill>
            <a:prstDash val="solid"/>
          </a:ln>
        </p:spPr>
      </p:sp>
      <p:sp>
        <p:nvSpPr>
          <p:cNvPr id="52" name="Shape 50"/>
          <p:cNvSpPr/>
          <p:nvPr/>
        </p:nvSpPr>
        <p:spPr>
          <a:xfrm>
            <a:off x="6227064" y="3794760"/>
            <a:ext cx="1522476" cy="329184"/>
          </a:xfrm>
          <a:prstGeom prst="rect">
            <a:avLst/>
          </a:prstGeom>
          <a:solidFill>
            <a:srgbClr val="E2F4F2"/>
          </a:solidFill>
          <a:ln w="15875">
            <a:solidFill>
              <a:srgbClr val="0E9E96"/>
            </a:solidFill>
            <a:prstDash val="solid"/>
          </a:ln>
        </p:spPr>
      </p:sp>
      <p:sp>
        <p:nvSpPr>
          <p:cNvPr id="53" name="Text 51"/>
          <p:cNvSpPr/>
          <p:nvPr/>
        </p:nvSpPr>
        <p:spPr>
          <a:xfrm>
            <a:off x="7406640" y="3794760"/>
            <a:ext cx="411480" cy="32918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KV</a:t>
            </a:r>
            <a:endParaRPr lang="en-US" sz="1000" dirty="0"/>
          </a:p>
        </p:txBody>
      </p:sp>
      <p:sp>
        <p:nvSpPr>
          <p:cNvPr id="54" name="Shape 52"/>
          <p:cNvSpPr/>
          <p:nvPr/>
        </p:nvSpPr>
        <p:spPr>
          <a:xfrm>
            <a:off x="4800600" y="3447288"/>
            <a:ext cx="596646" cy="329184"/>
          </a:xfrm>
          <a:prstGeom prst="line">
            <a:avLst/>
          </a:prstGeom>
          <a:noFill/>
          <a:ln w="6350">
            <a:solidFill>
              <a:srgbClr val="8A93AB"/>
            </a:solidFill>
            <a:prstDash val="solid"/>
          </a:ln>
        </p:spPr>
      </p:sp>
      <p:sp>
        <p:nvSpPr>
          <p:cNvPr id="55" name="Shape 53"/>
          <p:cNvSpPr/>
          <p:nvPr/>
        </p:nvSpPr>
        <p:spPr>
          <a:xfrm>
            <a:off x="5198364" y="3447288"/>
            <a:ext cx="198882" cy="329184"/>
          </a:xfrm>
          <a:prstGeom prst="line">
            <a:avLst/>
          </a:prstGeom>
          <a:noFill/>
          <a:ln w="6350">
            <a:solidFill>
              <a:srgbClr val="8A93AB"/>
            </a:solidFill>
            <a:prstDash val="solid"/>
          </a:ln>
        </p:spPr>
      </p:sp>
      <p:sp>
        <p:nvSpPr>
          <p:cNvPr id="56" name="Shape 54"/>
          <p:cNvSpPr/>
          <p:nvPr/>
        </p:nvSpPr>
        <p:spPr>
          <a:xfrm>
            <a:off x="5596128" y="3447288"/>
            <a:ext cx="-198882" cy="329184"/>
          </a:xfrm>
          <a:prstGeom prst="line">
            <a:avLst/>
          </a:prstGeom>
          <a:noFill/>
          <a:ln w="6350">
            <a:solidFill>
              <a:srgbClr val="8A93AB"/>
            </a:solidFill>
            <a:prstDash val="solid"/>
          </a:ln>
        </p:spPr>
      </p:sp>
      <p:sp>
        <p:nvSpPr>
          <p:cNvPr id="57" name="Shape 55"/>
          <p:cNvSpPr/>
          <p:nvPr/>
        </p:nvSpPr>
        <p:spPr>
          <a:xfrm>
            <a:off x="5993892" y="3447288"/>
            <a:ext cx="-596646" cy="329184"/>
          </a:xfrm>
          <a:prstGeom prst="line">
            <a:avLst/>
          </a:prstGeom>
          <a:noFill/>
          <a:ln w="6350">
            <a:solidFill>
              <a:srgbClr val="8A93AB"/>
            </a:solidFill>
            <a:prstDash val="solid"/>
          </a:ln>
        </p:spPr>
      </p:sp>
      <p:sp>
        <p:nvSpPr>
          <p:cNvPr id="58" name="Shape 56"/>
          <p:cNvSpPr/>
          <p:nvPr/>
        </p:nvSpPr>
        <p:spPr>
          <a:xfrm>
            <a:off x="6391656" y="3447288"/>
            <a:ext cx="596646" cy="329184"/>
          </a:xfrm>
          <a:prstGeom prst="line">
            <a:avLst/>
          </a:prstGeom>
          <a:noFill/>
          <a:ln w="6350">
            <a:solidFill>
              <a:srgbClr val="8A93AB"/>
            </a:solidFill>
            <a:prstDash val="solid"/>
          </a:ln>
        </p:spPr>
      </p:sp>
      <p:sp>
        <p:nvSpPr>
          <p:cNvPr id="59" name="Shape 57"/>
          <p:cNvSpPr/>
          <p:nvPr/>
        </p:nvSpPr>
        <p:spPr>
          <a:xfrm>
            <a:off x="6789420" y="3447288"/>
            <a:ext cx="198882" cy="329184"/>
          </a:xfrm>
          <a:prstGeom prst="line">
            <a:avLst/>
          </a:prstGeom>
          <a:noFill/>
          <a:ln w="6350">
            <a:solidFill>
              <a:srgbClr val="8A93AB"/>
            </a:solidFill>
            <a:prstDash val="solid"/>
          </a:ln>
        </p:spPr>
      </p:sp>
      <p:sp>
        <p:nvSpPr>
          <p:cNvPr id="60" name="Shape 58"/>
          <p:cNvSpPr/>
          <p:nvPr/>
        </p:nvSpPr>
        <p:spPr>
          <a:xfrm>
            <a:off x="7187184" y="3447288"/>
            <a:ext cx="-198882" cy="329184"/>
          </a:xfrm>
          <a:prstGeom prst="line">
            <a:avLst/>
          </a:prstGeom>
          <a:noFill/>
          <a:ln w="6350">
            <a:solidFill>
              <a:srgbClr val="8A93AB"/>
            </a:solidFill>
            <a:prstDash val="solid"/>
          </a:ln>
        </p:spPr>
      </p:sp>
      <p:sp>
        <p:nvSpPr>
          <p:cNvPr id="61" name="Shape 59"/>
          <p:cNvSpPr/>
          <p:nvPr/>
        </p:nvSpPr>
        <p:spPr>
          <a:xfrm>
            <a:off x="7584948" y="3447288"/>
            <a:ext cx="-596646" cy="329184"/>
          </a:xfrm>
          <a:prstGeom prst="line">
            <a:avLst/>
          </a:prstGeom>
          <a:noFill/>
          <a:ln w="6350">
            <a:solidFill>
              <a:srgbClr val="8A93AB"/>
            </a:solidFill>
            <a:prstDash val="solid"/>
          </a:ln>
        </p:spPr>
      </p:sp>
      <p:sp>
        <p:nvSpPr>
          <p:cNvPr id="62" name="Shape 60"/>
          <p:cNvSpPr/>
          <p:nvPr/>
        </p:nvSpPr>
        <p:spPr>
          <a:xfrm>
            <a:off x="4544568" y="4663440"/>
            <a:ext cx="1417320" cy="384048"/>
          </a:xfrm>
          <a:prstGeom prst="roundRect">
            <a:avLst>
              <a:gd name="adj" fmla="val 50000"/>
            </a:avLst>
          </a:prstGeom>
          <a:solidFill>
            <a:srgbClr val="E2F4F2"/>
          </a:solidFill>
          <a:ln/>
        </p:spPr>
      </p:sp>
      <p:sp>
        <p:nvSpPr>
          <p:cNvPr id="63" name="Text 61"/>
          <p:cNvSpPr/>
          <p:nvPr/>
        </p:nvSpPr>
        <p:spPr>
          <a:xfrm>
            <a:off x="4544568" y="4663440"/>
            <a:ext cx="1417320" cy="384048"/>
          </a:xfrm>
          <a:prstGeom prst="rect">
            <a:avLst/>
          </a:prstGeom>
          <a:noFill/>
          <a:ln/>
        </p:spPr>
        <p:txBody>
          <a:bodyPr wrap="square" lIns="0" tIns="0" rIns="0" bIns="0" rtlCol="0" anchor="ctr"/>
          <a:lstStyle/>
          <a:p>
            <a:pPr algn="ctr" indent="0" marL="0">
              <a:buNone/>
            </a:pPr>
            <a:r>
              <a:rPr lang="en-US" sz="1100" b="1" dirty="0">
                <a:solidFill>
                  <a:srgbClr val="0E9E96"/>
                </a:solidFill>
                <a:latin typeface="Calibri" pitchFamily="34" charset="0"/>
                <a:ea typeface="Calibri" pitchFamily="34" charset="-122"/>
                <a:cs typeface="Calibri" pitchFamily="34" charset="-120"/>
              </a:rPr>
              <a:t>8 Q · 2 K/V</a:t>
            </a:r>
            <a:endParaRPr lang="en-US" sz="1100" dirty="0"/>
          </a:p>
        </p:txBody>
      </p:sp>
      <p:sp>
        <p:nvSpPr>
          <p:cNvPr id="64" name="Text 62"/>
          <p:cNvSpPr/>
          <p:nvPr/>
        </p:nvSpPr>
        <p:spPr>
          <a:xfrm>
            <a:off x="454456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The modern sweet spot</a:t>
            </a:r>
            <a:endParaRPr lang="en-US" sz="1150" dirty="0"/>
          </a:p>
        </p:txBody>
      </p:sp>
      <p:sp>
        <p:nvSpPr>
          <p:cNvPr id="65" name="Shape 63"/>
          <p:cNvSpPr/>
          <p:nvPr/>
        </p:nvSpPr>
        <p:spPr>
          <a:xfrm>
            <a:off x="806500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6" name="Text 64"/>
          <p:cNvSpPr/>
          <p:nvPr/>
        </p:nvSpPr>
        <p:spPr>
          <a:xfrm>
            <a:off x="829360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Multi-Query (MQA)</a:t>
            </a:r>
            <a:endParaRPr lang="en-US" sz="1550" dirty="0"/>
          </a:p>
        </p:txBody>
      </p:sp>
      <p:sp>
        <p:nvSpPr>
          <p:cNvPr id="67" name="Text 65"/>
          <p:cNvSpPr/>
          <p:nvPr/>
        </p:nvSpPr>
        <p:spPr>
          <a:xfrm>
            <a:off x="829360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All heads share one K &amp; V</a:t>
            </a:r>
            <a:endParaRPr lang="en-US" sz="1150" dirty="0"/>
          </a:p>
        </p:txBody>
      </p:sp>
      <p:sp>
        <p:nvSpPr>
          <p:cNvPr id="68" name="Shape 66"/>
          <p:cNvSpPr/>
          <p:nvPr/>
        </p:nvSpPr>
        <p:spPr>
          <a:xfrm>
            <a:off x="8385048" y="3108960"/>
            <a:ext cx="329184" cy="329184"/>
          </a:xfrm>
          <a:prstGeom prst="rect">
            <a:avLst/>
          </a:prstGeom>
          <a:solidFill>
            <a:srgbClr val="D9820A"/>
          </a:solidFill>
          <a:ln w="12700">
            <a:solidFill>
              <a:srgbClr val="FFFFFF"/>
            </a:solidFill>
            <a:prstDash val="solid"/>
          </a:ln>
        </p:spPr>
      </p:sp>
      <p:sp>
        <p:nvSpPr>
          <p:cNvPr id="69" name="Shape 67"/>
          <p:cNvSpPr/>
          <p:nvPr/>
        </p:nvSpPr>
        <p:spPr>
          <a:xfrm>
            <a:off x="8782812" y="3108960"/>
            <a:ext cx="329184" cy="329184"/>
          </a:xfrm>
          <a:prstGeom prst="rect">
            <a:avLst/>
          </a:prstGeom>
          <a:solidFill>
            <a:srgbClr val="D9820A"/>
          </a:solidFill>
          <a:ln w="12700">
            <a:solidFill>
              <a:srgbClr val="FFFFFF"/>
            </a:solidFill>
            <a:prstDash val="solid"/>
          </a:ln>
        </p:spPr>
      </p:sp>
      <p:sp>
        <p:nvSpPr>
          <p:cNvPr id="70" name="Shape 68"/>
          <p:cNvSpPr/>
          <p:nvPr/>
        </p:nvSpPr>
        <p:spPr>
          <a:xfrm>
            <a:off x="9180576" y="3108960"/>
            <a:ext cx="329184" cy="329184"/>
          </a:xfrm>
          <a:prstGeom prst="rect">
            <a:avLst/>
          </a:prstGeom>
          <a:solidFill>
            <a:srgbClr val="D9820A"/>
          </a:solidFill>
          <a:ln w="12700">
            <a:solidFill>
              <a:srgbClr val="FFFFFF"/>
            </a:solidFill>
            <a:prstDash val="solid"/>
          </a:ln>
        </p:spPr>
      </p:sp>
      <p:sp>
        <p:nvSpPr>
          <p:cNvPr id="71" name="Shape 69"/>
          <p:cNvSpPr/>
          <p:nvPr/>
        </p:nvSpPr>
        <p:spPr>
          <a:xfrm>
            <a:off x="9578340" y="3108960"/>
            <a:ext cx="329184" cy="329184"/>
          </a:xfrm>
          <a:prstGeom prst="rect">
            <a:avLst/>
          </a:prstGeom>
          <a:solidFill>
            <a:srgbClr val="D9820A"/>
          </a:solidFill>
          <a:ln w="12700">
            <a:solidFill>
              <a:srgbClr val="FFFFFF"/>
            </a:solidFill>
            <a:prstDash val="solid"/>
          </a:ln>
        </p:spPr>
      </p:sp>
      <p:sp>
        <p:nvSpPr>
          <p:cNvPr id="72" name="Shape 70"/>
          <p:cNvSpPr/>
          <p:nvPr/>
        </p:nvSpPr>
        <p:spPr>
          <a:xfrm>
            <a:off x="9976104" y="3108960"/>
            <a:ext cx="329184" cy="329184"/>
          </a:xfrm>
          <a:prstGeom prst="rect">
            <a:avLst/>
          </a:prstGeom>
          <a:solidFill>
            <a:srgbClr val="D9820A"/>
          </a:solidFill>
          <a:ln w="12700">
            <a:solidFill>
              <a:srgbClr val="FFFFFF"/>
            </a:solidFill>
            <a:prstDash val="solid"/>
          </a:ln>
        </p:spPr>
      </p:sp>
      <p:sp>
        <p:nvSpPr>
          <p:cNvPr id="73" name="Shape 71"/>
          <p:cNvSpPr/>
          <p:nvPr/>
        </p:nvSpPr>
        <p:spPr>
          <a:xfrm>
            <a:off x="10373868" y="3108960"/>
            <a:ext cx="329184" cy="329184"/>
          </a:xfrm>
          <a:prstGeom prst="rect">
            <a:avLst/>
          </a:prstGeom>
          <a:solidFill>
            <a:srgbClr val="D9820A"/>
          </a:solidFill>
          <a:ln w="12700">
            <a:solidFill>
              <a:srgbClr val="FFFFFF"/>
            </a:solidFill>
            <a:prstDash val="solid"/>
          </a:ln>
        </p:spPr>
      </p:sp>
      <p:sp>
        <p:nvSpPr>
          <p:cNvPr id="74" name="Shape 72"/>
          <p:cNvSpPr/>
          <p:nvPr/>
        </p:nvSpPr>
        <p:spPr>
          <a:xfrm>
            <a:off x="10771632" y="3108960"/>
            <a:ext cx="329184" cy="329184"/>
          </a:xfrm>
          <a:prstGeom prst="rect">
            <a:avLst/>
          </a:prstGeom>
          <a:solidFill>
            <a:srgbClr val="D9820A"/>
          </a:solidFill>
          <a:ln w="12700">
            <a:solidFill>
              <a:srgbClr val="FFFFFF"/>
            </a:solidFill>
            <a:prstDash val="solid"/>
          </a:ln>
        </p:spPr>
      </p:sp>
      <p:sp>
        <p:nvSpPr>
          <p:cNvPr id="75" name="Shape 73"/>
          <p:cNvSpPr/>
          <p:nvPr/>
        </p:nvSpPr>
        <p:spPr>
          <a:xfrm>
            <a:off x="11169396" y="3108960"/>
            <a:ext cx="329184" cy="329184"/>
          </a:xfrm>
          <a:prstGeom prst="rect">
            <a:avLst/>
          </a:prstGeom>
          <a:solidFill>
            <a:srgbClr val="D9820A"/>
          </a:solidFill>
          <a:ln w="12700">
            <a:solidFill>
              <a:srgbClr val="FFFFFF"/>
            </a:solidFill>
            <a:prstDash val="solid"/>
          </a:ln>
        </p:spPr>
      </p:sp>
      <p:sp>
        <p:nvSpPr>
          <p:cNvPr id="76" name="Text 74"/>
          <p:cNvSpPr/>
          <p:nvPr/>
        </p:nvSpPr>
        <p:spPr>
          <a:xfrm>
            <a:off x="11155680" y="3108960"/>
            <a:ext cx="365760" cy="329184"/>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Q</a:t>
            </a:r>
            <a:endParaRPr lang="en-US" sz="1100" dirty="0"/>
          </a:p>
        </p:txBody>
      </p:sp>
      <p:sp>
        <p:nvSpPr>
          <p:cNvPr id="77" name="Shape 75"/>
          <p:cNvSpPr/>
          <p:nvPr/>
        </p:nvSpPr>
        <p:spPr>
          <a:xfrm>
            <a:off x="8385048" y="3794760"/>
            <a:ext cx="3113532" cy="329184"/>
          </a:xfrm>
          <a:prstGeom prst="rect">
            <a:avLst/>
          </a:prstGeom>
          <a:solidFill>
            <a:srgbClr val="FBEFD8"/>
          </a:solidFill>
          <a:ln w="15875">
            <a:solidFill>
              <a:srgbClr val="D9820A"/>
            </a:solidFill>
            <a:prstDash val="solid"/>
          </a:ln>
        </p:spPr>
      </p:sp>
      <p:sp>
        <p:nvSpPr>
          <p:cNvPr id="78" name="Text 76"/>
          <p:cNvSpPr/>
          <p:nvPr/>
        </p:nvSpPr>
        <p:spPr>
          <a:xfrm>
            <a:off x="11155680" y="3794760"/>
            <a:ext cx="411480" cy="32918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KV</a:t>
            </a:r>
            <a:endParaRPr lang="en-US" sz="1000" dirty="0"/>
          </a:p>
        </p:txBody>
      </p:sp>
      <p:sp>
        <p:nvSpPr>
          <p:cNvPr id="79" name="Shape 77"/>
          <p:cNvSpPr/>
          <p:nvPr/>
        </p:nvSpPr>
        <p:spPr>
          <a:xfrm>
            <a:off x="8549640" y="3447288"/>
            <a:ext cx="1392174" cy="329184"/>
          </a:xfrm>
          <a:prstGeom prst="line">
            <a:avLst/>
          </a:prstGeom>
          <a:noFill/>
          <a:ln w="6350">
            <a:solidFill>
              <a:srgbClr val="8A93AB"/>
            </a:solidFill>
            <a:prstDash val="solid"/>
          </a:ln>
        </p:spPr>
      </p:sp>
      <p:sp>
        <p:nvSpPr>
          <p:cNvPr id="80" name="Shape 78"/>
          <p:cNvSpPr/>
          <p:nvPr/>
        </p:nvSpPr>
        <p:spPr>
          <a:xfrm>
            <a:off x="8947404" y="3447288"/>
            <a:ext cx="994410" cy="329184"/>
          </a:xfrm>
          <a:prstGeom prst="line">
            <a:avLst/>
          </a:prstGeom>
          <a:noFill/>
          <a:ln w="6350">
            <a:solidFill>
              <a:srgbClr val="8A93AB"/>
            </a:solidFill>
            <a:prstDash val="solid"/>
          </a:ln>
        </p:spPr>
      </p:sp>
      <p:sp>
        <p:nvSpPr>
          <p:cNvPr id="81" name="Shape 79"/>
          <p:cNvSpPr/>
          <p:nvPr/>
        </p:nvSpPr>
        <p:spPr>
          <a:xfrm>
            <a:off x="9345168" y="3447288"/>
            <a:ext cx="596646" cy="329184"/>
          </a:xfrm>
          <a:prstGeom prst="line">
            <a:avLst/>
          </a:prstGeom>
          <a:noFill/>
          <a:ln w="6350">
            <a:solidFill>
              <a:srgbClr val="8A93AB"/>
            </a:solidFill>
            <a:prstDash val="solid"/>
          </a:ln>
        </p:spPr>
      </p:sp>
      <p:sp>
        <p:nvSpPr>
          <p:cNvPr id="82" name="Shape 80"/>
          <p:cNvSpPr/>
          <p:nvPr/>
        </p:nvSpPr>
        <p:spPr>
          <a:xfrm>
            <a:off x="9742932" y="3447288"/>
            <a:ext cx="198882" cy="329184"/>
          </a:xfrm>
          <a:prstGeom prst="line">
            <a:avLst/>
          </a:prstGeom>
          <a:noFill/>
          <a:ln w="6350">
            <a:solidFill>
              <a:srgbClr val="8A93AB"/>
            </a:solidFill>
            <a:prstDash val="solid"/>
          </a:ln>
        </p:spPr>
      </p:sp>
      <p:sp>
        <p:nvSpPr>
          <p:cNvPr id="83" name="Shape 81"/>
          <p:cNvSpPr/>
          <p:nvPr/>
        </p:nvSpPr>
        <p:spPr>
          <a:xfrm>
            <a:off x="10140696" y="3447288"/>
            <a:ext cx="-198882" cy="329184"/>
          </a:xfrm>
          <a:prstGeom prst="line">
            <a:avLst/>
          </a:prstGeom>
          <a:noFill/>
          <a:ln w="6350">
            <a:solidFill>
              <a:srgbClr val="8A93AB"/>
            </a:solidFill>
            <a:prstDash val="solid"/>
          </a:ln>
        </p:spPr>
      </p:sp>
      <p:sp>
        <p:nvSpPr>
          <p:cNvPr id="84" name="Shape 82"/>
          <p:cNvSpPr/>
          <p:nvPr/>
        </p:nvSpPr>
        <p:spPr>
          <a:xfrm>
            <a:off x="10538460" y="3447288"/>
            <a:ext cx="-596646" cy="329184"/>
          </a:xfrm>
          <a:prstGeom prst="line">
            <a:avLst/>
          </a:prstGeom>
          <a:noFill/>
          <a:ln w="6350">
            <a:solidFill>
              <a:srgbClr val="8A93AB"/>
            </a:solidFill>
            <a:prstDash val="solid"/>
          </a:ln>
        </p:spPr>
      </p:sp>
      <p:sp>
        <p:nvSpPr>
          <p:cNvPr id="85" name="Shape 83"/>
          <p:cNvSpPr/>
          <p:nvPr/>
        </p:nvSpPr>
        <p:spPr>
          <a:xfrm>
            <a:off x="10936224" y="3447288"/>
            <a:ext cx="-994410" cy="329184"/>
          </a:xfrm>
          <a:prstGeom prst="line">
            <a:avLst/>
          </a:prstGeom>
          <a:noFill/>
          <a:ln w="6350">
            <a:solidFill>
              <a:srgbClr val="8A93AB"/>
            </a:solidFill>
            <a:prstDash val="solid"/>
          </a:ln>
        </p:spPr>
      </p:sp>
      <p:sp>
        <p:nvSpPr>
          <p:cNvPr id="86" name="Shape 84"/>
          <p:cNvSpPr/>
          <p:nvPr/>
        </p:nvSpPr>
        <p:spPr>
          <a:xfrm>
            <a:off x="11333988" y="3447288"/>
            <a:ext cx="-1392174" cy="329184"/>
          </a:xfrm>
          <a:prstGeom prst="line">
            <a:avLst/>
          </a:prstGeom>
          <a:noFill/>
          <a:ln w="6350">
            <a:solidFill>
              <a:srgbClr val="8A93AB"/>
            </a:solidFill>
            <a:prstDash val="solid"/>
          </a:ln>
        </p:spPr>
      </p:sp>
      <p:sp>
        <p:nvSpPr>
          <p:cNvPr id="87" name="Shape 85"/>
          <p:cNvSpPr/>
          <p:nvPr/>
        </p:nvSpPr>
        <p:spPr>
          <a:xfrm>
            <a:off x="8293608" y="4663440"/>
            <a:ext cx="1417320" cy="384048"/>
          </a:xfrm>
          <a:prstGeom prst="roundRect">
            <a:avLst>
              <a:gd name="adj" fmla="val 50000"/>
            </a:avLst>
          </a:prstGeom>
          <a:solidFill>
            <a:srgbClr val="FBEFD8"/>
          </a:solidFill>
          <a:ln/>
        </p:spPr>
      </p:sp>
      <p:sp>
        <p:nvSpPr>
          <p:cNvPr id="88" name="Text 86"/>
          <p:cNvSpPr/>
          <p:nvPr/>
        </p:nvSpPr>
        <p:spPr>
          <a:xfrm>
            <a:off x="8293608" y="4663440"/>
            <a:ext cx="1417320" cy="384048"/>
          </a:xfrm>
          <a:prstGeom prst="rect">
            <a:avLst/>
          </a:prstGeom>
          <a:noFill/>
          <a:ln/>
        </p:spPr>
        <p:txBody>
          <a:bodyPr wrap="square" lIns="0" tIns="0" rIns="0" bIns="0" rtlCol="0" anchor="ctr"/>
          <a:lstStyle/>
          <a:p>
            <a:pPr algn="ctr" indent="0" marL="0">
              <a:buNone/>
            </a:pPr>
            <a:r>
              <a:rPr lang="en-US" sz="1100" b="1" dirty="0">
                <a:solidFill>
                  <a:srgbClr val="D9820A"/>
                </a:solidFill>
                <a:latin typeface="Calibri" pitchFamily="34" charset="0"/>
                <a:ea typeface="Calibri" pitchFamily="34" charset="-122"/>
                <a:cs typeface="Calibri" pitchFamily="34" charset="-120"/>
              </a:rPr>
              <a:t>8 Q · 1 K/V</a:t>
            </a:r>
            <a:endParaRPr lang="en-US" sz="1100" dirty="0"/>
          </a:p>
        </p:txBody>
      </p:sp>
      <p:sp>
        <p:nvSpPr>
          <p:cNvPr id="89" name="Text 87"/>
          <p:cNvSpPr/>
          <p:nvPr/>
        </p:nvSpPr>
        <p:spPr>
          <a:xfrm>
            <a:off x="829360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Smallest cache, fastest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3 · SPEED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FlashAttention — make attention IO-aware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Fu, Ermon, Rudra &amp; Ré, 'FlashAttention', arXiv:2205.14135 · FlashAttention-2 (arXiv:2307.08691)</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Same maths, smarter memory movement</a:t>
            </a:r>
            <a:endParaRPr lang="en-US" sz="1550" dirty="0"/>
          </a:p>
        </p:txBody>
      </p:sp>
      <p:sp>
        <p:nvSpPr>
          <p:cNvPr id="8" name="Text 6"/>
          <p:cNvSpPr/>
          <p:nvPr/>
        </p:nvSpPr>
        <p:spPr>
          <a:xfrm>
            <a:off x="841248" y="2176272"/>
            <a:ext cx="5120640" cy="91440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The bottleneck in attention isn't FLOPs — it's shuttling the huge N×N score matrix to and from slow GPU memory (HBM). FlashAttention never materialises that matrix.</a:t>
            </a:r>
            <a:endParaRPr lang="en-US" sz="1240" dirty="0"/>
          </a:p>
        </p:txBody>
      </p:sp>
      <p:sp>
        <p:nvSpPr>
          <p:cNvPr id="9" name="Text 7"/>
          <p:cNvSpPr/>
          <p:nvPr/>
        </p:nvSpPr>
        <p:spPr>
          <a:xfrm>
            <a:off x="859536" y="3108960"/>
            <a:ext cx="5074920" cy="182880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Tiles Q, K, V into blocks that fit in fast on-chip SRAM</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Computes attention block-by-block (online softmax)</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Exact result — no approximation, just better IO</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Memory grows linearly, not quadratically, with length</a:t>
            </a:r>
            <a:endParaRPr lang="en-US" sz="1190" dirty="0"/>
          </a:p>
        </p:txBody>
      </p:sp>
      <p:sp>
        <p:nvSpPr>
          <p:cNvPr id="10" name="Shape 8"/>
          <p:cNvSpPr/>
          <p:nvPr/>
        </p:nvSpPr>
        <p:spPr>
          <a:xfrm>
            <a:off x="841248" y="5074920"/>
            <a:ext cx="5074920" cy="777240"/>
          </a:xfrm>
          <a:prstGeom prst="roundRect">
            <a:avLst>
              <a:gd name="adj" fmla="val 11765"/>
            </a:avLst>
          </a:prstGeom>
          <a:solidFill>
            <a:srgbClr val="FFFFFF"/>
          </a:solidFill>
          <a:ln w="15875">
            <a:solidFill>
              <a:srgbClr val="0E9E96"/>
            </a:solidFill>
            <a:prstDash val="solid"/>
          </a:ln>
        </p:spPr>
      </p:sp>
      <p:sp>
        <p:nvSpPr>
          <p:cNvPr id="11" name="Text 9"/>
          <p:cNvSpPr/>
          <p:nvPr/>
        </p:nvSpPr>
        <p:spPr>
          <a:xfrm>
            <a:off x="1024128" y="5074920"/>
            <a:ext cx="4754880" cy="777240"/>
          </a:xfrm>
          <a:prstGeom prst="rect">
            <a:avLst/>
          </a:prstGeom>
          <a:noFill/>
          <a:ln/>
        </p:spPr>
        <p:txBody>
          <a:bodyPr wrap="square" lIns="0" tIns="0" rIns="0" bIns="0" rtlCol="0" anchor="ctr"/>
          <a:lstStyle/>
          <a:p>
            <a:pPr indent="0" marL="0">
              <a:lnSpc>
                <a:spcPct val="110000"/>
              </a:lnSpc>
              <a:buNone/>
            </a:pPr>
            <a:r>
              <a:rPr lang="en-US" sz="1200" b="1" dirty="0">
                <a:solidFill>
                  <a:srgbClr val="0E9E96"/>
                </a:solidFill>
                <a:latin typeface="Calibri" pitchFamily="34" charset="0"/>
                <a:ea typeface="Calibri" pitchFamily="34" charset="-122"/>
                <a:cs typeface="Calibri" pitchFamily="34" charset="-120"/>
              </a:rPr>
              <a:t>Result:  </a:t>
            </a:r>
            <a:pPr indent="0" marL="0">
              <a:lnSpc>
                <a:spcPct val="110000"/>
              </a:lnSpc>
              <a:buNone/>
            </a:pPr>
            <a:r>
              <a:rPr lang="en-US" sz="1200" dirty="0">
                <a:solidFill>
                  <a:srgbClr val="1B2440"/>
                </a:solidFill>
                <a:latin typeface="Calibri" pitchFamily="34" charset="0"/>
                <a:ea typeface="Calibri" pitchFamily="34" charset="-122"/>
                <a:cs typeface="Calibri" pitchFamily="34" charset="-120"/>
              </a:rPr>
              <a:t>multiple-× faster training &amp; inference and the practical enabler of today's long context windows.</a:t>
            </a:r>
            <a:endParaRPr lang="en-US" sz="1200" dirty="0"/>
          </a:p>
        </p:txBody>
      </p:sp>
      <p:sp>
        <p:nvSpPr>
          <p:cNvPr id="12" name="Shape 10"/>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GPU memory hierarchy</a:t>
            </a:r>
            <a:endParaRPr lang="en-US" sz="1300" dirty="0"/>
          </a:p>
        </p:txBody>
      </p:sp>
      <p:sp>
        <p:nvSpPr>
          <p:cNvPr id="14" name="Shape 12"/>
          <p:cNvSpPr/>
          <p:nvPr/>
        </p:nvSpPr>
        <p:spPr>
          <a:xfrm>
            <a:off x="6995160" y="2240280"/>
            <a:ext cx="4206240" cy="841248"/>
          </a:xfrm>
          <a:prstGeom prst="roundRect">
            <a:avLst>
              <a:gd name="adj" fmla="val 8696"/>
            </a:avLst>
          </a:prstGeom>
          <a:solidFill>
            <a:srgbClr val="0E9E96"/>
          </a:solidFill>
          <a:ln/>
        </p:spPr>
      </p:sp>
      <p:sp>
        <p:nvSpPr>
          <p:cNvPr id="15" name="Text 13"/>
          <p:cNvSpPr/>
          <p:nvPr/>
        </p:nvSpPr>
        <p:spPr>
          <a:xfrm>
            <a:off x="6995160" y="2331720"/>
            <a:ext cx="42062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SRAM (on-chip)</a:t>
            </a:r>
            <a:endParaRPr lang="en-US" sz="1300" dirty="0"/>
          </a:p>
        </p:txBody>
      </p:sp>
      <p:sp>
        <p:nvSpPr>
          <p:cNvPr id="16" name="Text 14"/>
          <p:cNvSpPr/>
          <p:nvPr/>
        </p:nvSpPr>
        <p:spPr>
          <a:xfrm>
            <a:off x="6995160" y="2642616"/>
            <a:ext cx="420624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~19 TB/s · tiny</a:t>
            </a:r>
            <a:endParaRPr lang="en-US" sz="1050" dirty="0"/>
          </a:p>
        </p:txBody>
      </p:sp>
      <p:sp>
        <p:nvSpPr>
          <p:cNvPr id="17" name="Text 15"/>
          <p:cNvSpPr/>
          <p:nvPr/>
        </p:nvSpPr>
        <p:spPr>
          <a:xfrm>
            <a:off x="6766560" y="2807208"/>
            <a:ext cx="4663440" cy="274320"/>
          </a:xfrm>
          <a:prstGeom prst="rect">
            <a:avLst/>
          </a:prstGeom>
          <a:noFill/>
          <a:ln/>
        </p:spPr>
        <p:txBody>
          <a:bodyPr wrap="square" lIns="0" tIns="0" rIns="0" bIns="0" rtlCol="0" anchor="ctr"/>
          <a:lstStyle/>
          <a:p>
            <a:pPr algn="ctr" indent="0" marL="0">
              <a:buNone/>
            </a:pPr>
            <a:r>
              <a:rPr lang="en-US" sz="950" b="1" i="1" dirty="0">
                <a:solidFill>
                  <a:srgbClr val="0E9E96"/>
                </a:solidFill>
                <a:latin typeface="Calibri" pitchFamily="34" charset="0"/>
                <a:ea typeface="Calibri" pitchFamily="34" charset="-122"/>
                <a:cs typeface="Calibri" pitchFamily="34" charset="-120"/>
              </a:rPr>
              <a:t>FlashAttention keeps work HERE</a:t>
            </a:r>
            <a:endParaRPr lang="en-US" sz="950" dirty="0"/>
          </a:p>
        </p:txBody>
      </p:sp>
      <p:sp>
        <p:nvSpPr>
          <p:cNvPr id="18" name="Shape 16"/>
          <p:cNvSpPr/>
          <p:nvPr/>
        </p:nvSpPr>
        <p:spPr>
          <a:xfrm>
            <a:off x="7726680" y="3291840"/>
            <a:ext cx="2743200" cy="841248"/>
          </a:xfrm>
          <a:prstGeom prst="roundRect">
            <a:avLst>
              <a:gd name="adj" fmla="val 8696"/>
            </a:avLst>
          </a:prstGeom>
          <a:solidFill>
            <a:srgbClr val="D9820A"/>
          </a:solidFill>
          <a:ln/>
        </p:spPr>
      </p:sp>
      <p:sp>
        <p:nvSpPr>
          <p:cNvPr id="19" name="Text 17"/>
          <p:cNvSpPr/>
          <p:nvPr/>
        </p:nvSpPr>
        <p:spPr>
          <a:xfrm>
            <a:off x="7726680" y="3383280"/>
            <a:ext cx="27432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HBM (GPU RAM)</a:t>
            </a:r>
            <a:endParaRPr lang="en-US" sz="1300" dirty="0"/>
          </a:p>
        </p:txBody>
      </p:sp>
      <p:sp>
        <p:nvSpPr>
          <p:cNvPr id="20" name="Text 18"/>
          <p:cNvSpPr/>
          <p:nvPr/>
        </p:nvSpPr>
        <p:spPr>
          <a:xfrm>
            <a:off x="7726680" y="3694176"/>
            <a:ext cx="274320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~1.5 TB/s · GBs</a:t>
            </a:r>
            <a:endParaRPr lang="en-US" sz="1050" dirty="0"/>
          </a:p>
        </p:txBody>
      </p:sp>
      <p:sp>
        <p:nvSpPr>
          <p:cNvPr id="21" name="Text 19"/>
          <p:cNvSpPr/>
          <p:nvPr/>
        </p:nvSpPr>
        <p:spPr>
          <a:xfrm>
            <a:off x="6766560" y="3858768"/>
            <a:ext cx="4663440" cy="274320"/>
          </a:xfrm>
          <a:prstGeom prst="rect">
            <a:avLst/>
          </a:prstGeom>
          <a:noFill/>
          <a:ln/>
        </p:spPr>
        <p:txBody>
          <a:bodyPr wrap="square" lIns="0" tIns="0" rIns="0" bIns="0" rtlCol="0" anchor="ctr"/>
          <a:lstStyle/>
          <a:p>
            <a:pPr algn="ctr" indent="0" marL="0">
              <a:buNone/>
            </a:pPr>
            <a:r>
              <a:rPr lang="en-US" sz="950" b="1" i="1" dirty="0">
                <a:solidFill>
                  <a:srgbClr val="D9820A"/>
                </a:solidFill>
                <a:latin typeface="Calibri" pitchFamily="34" charset="0"/>
                <a:ea typeface="Calibri" pitchFamily="34" charset="-122"/>
                <a:cs typeface="Calibri" pitchFamily="34" charset="-120"/>
              </a:rPr>
              <a:t>naive attention thrashes HERE</a:t>
            </a:r>
            <a:endParaRPr lang="en-US" sz="950" dirty="0"/>
          </a:p>
        </p:txBody>
      </p:sp>
      <p:sp>
        <p:nvSpPr>
          <p:cNvPr id="22" name="Shape 20"/>
          <p:cNvSpPr/>
          <p:nvPr/>
        </p:nvSpPr>
        <p:spPr>
          <a:xfrm>
            <a:off x="8503920" y="4343400"/>
            <a:ext cx="1188720" cy="841248"/>
          </a:xfrm>
          <a:prstGeom prst="roundRect">
            <a:avLst>
              <a:gd name="adj" fmla="val 8696"/>
            </a:avLst>
          </a:prstGeom>
          <a:solidFill>
            <a:srgbClr val="8A93AB"/>
          </a:solidFill>
          <a:ln/>
        </p:spPr>
      </p:sp>
      <p:sp>
        <p:nvSpPr>
          <p:cNvPr id="23" name="Text 21"/>
          <p:cNvSpPr/>
          <p:nvPr/>
        </p:nvSpPr>
        <p:spPr>
          <a:xfrm>
            <a:off x="8503920" y="4434840"/>
            <a:ext cx="118872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DRAM (CPU)</a:t>
            </a:r>
            <a:endParaRPr lang="en-US" sz="1300" dirty="0"/>
          </a:p>
        </p:txBody>
      </p:sp>
      <p:sp>
        <p:nvSpPr>
          <p:cNvPr id="24" name="Text 22"/>
          <p:cNvSpPr/>
          <p:nvPr/>
        </p:nvSpPr>
        <p:spPr>
          <a:xfrm>
            <a:off x="8503920" y="4745736"/>
            <a:ext cx="118872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~12 GB/s · huge</a:t>
            </a:r>
            <a:endParaRPr lang="en-US" sz="1050" dirty="0"/>
          </a:p>
        </p:txBody>
      </p:sp>
      <p:sp>
        <p:nvSpPr>
          <p:cNvPr id="25" name="Text 23"/>
          <p:cNvSpPr/>
          <p:nvPr/>
        </p:nvSpPr>
        <p:spPr>
          <a:xfrm>
            <a:off x="6858000" y="5532120"/>
            <a:ext cx="4480560" cy="457200"/>
          </a:xfrm>
          <a:prstGeom prst="rect">
            <a:avLst/>
          </a:prstGeom>
          <a:noFill/>
          <a:ln/>
        </p:spPr>
        <p:txBody>
          <a:bodyPr wrap="square" lIns="0" tIns="0" rIns="0" bIns="0" rtlCol="0" anchor="ctr"/>
          <a:lstStyle/>
          <a:p>
            <a:pPr algn="ctr" indent="0" marL="0">
              <a:lnSpc>
                <a:spcPct val="108000"/>
              </a:lnSpc>
              <a:buNone/>
            </a:pPr>
            <a:r>
              <a:rPr lang="en-US" sz="1050" i="1" dirty="0">
                <a:solidFill>
                  <a:srgbClr val="5A6685"/>
                </a:solidFill>
                <a:latin typeface="Calibri" pitchFamily="34" charset="0"/>
                <a:ea typeface="Calibri" pitchFamily="34" charset="-122"/>
                <a:cs typeface="Calibri" pitchFamily="34" charset="-120"/>
              </a:rPr>
              <a:t>Faster + smaller as you go up. The trick is doing more work in SRAM and touching HBM as little as possible.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4 · SCALE ECONOMICS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Mixture-of-Experts — scale params, not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et al., Sparsely-Gated MoE (arXiv:1701.06538) · Jiang et al., Mixtral · DeepSeek-V3 (arXiv:2412.19437)</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 router sends each token to a few experts</a:t>
            </a:r>
            <a:endParaRPr lang="en-US" sz="1500" dirty="0"/>
          </a:p>
        </p:txBody>
      </p:sp>
      <p:sp>
        <p:nvSpPr>
          <p:cNvPr id="8" name="Shape 6"/>
          <p:cNvSpPr/>
          <p:nvPr/>
        </p:nvSpPr>
        <p:spPr>
          <a:xfrm>
            <a:off x="2624328" y="2331720"/>
            <a:ext cx="1828800" cy="457200"/>
          </a:xfrm>
          <a:prstGeom prst="roundRect">
            <a:avLst>
              <a:gd name="adj" fmla="val 12000"/>
            </a:avLst>
          </a:prstGeom>
          <a:solidFill>
            <a:srgbClr val="16213E"/>
          </a:solidFill>
          <a:ln/>
        </p:spPr>
      </p:sp>
      <p:sp>
        <p:nvSpPr>
          <p:cNvPr id="9" name="Text 7"/>
          <p:cNvSpPr/>
          <p:nvPr/>
        </p:nvSpPr>
        <p:spPr>
          <a:xfrm>
            <a:off x="2624328" y="2331720"/>
            <a:ext cx="182880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token</a:t>
            </a:r>
            <a:endParaRPr lang="en-US" sz="1150" dirty="0"/>
          </a:p>
        </p:txBody>
      </p:sp>
      <p:sp>
        <p:nvSpPr>
          <p:cNvPr id="10" name="Shape 8"/>
          <p:cNvSpPr/>
          <p:nvPr/>
        </p:nvSpPr>
        <p:spPr>
          <a:xfrm>
            <a:off x="2487168" y="3017520"/>
            <a:ext cx="2103120" cy="502920"/>
          </a:xfrm>
          <a:prstGeom prst="roundRect">
            <a:avLst>
              <a:gd name="adj" fmla="val 10909"/>
            </a:avLst>
          </a:prstGeom>
          <a:solidFill>
            <a:srgbClr val="5B4BE0"/>
          </a:solidFill>
          <a:ln/>
        </p:spPr>
      </p:sp>
      <p:sp>
        <p:nvSpPr>
          <p:cNvPr id="11" name="Text 9"/>
          <p:cNvSpPr/>
          <p:nvPr/>
        </p:nvSpPr>
        <p:spPr>
          <a:xfrm>
            <a:off x="2487168" y="3017520"/>
            <a:ext cx="21031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Router (gate)</a:t>
            </a:r>
            <a:endParaRPr lang="en-US" sz="1200" dirty="0"/>
          </a:p>
        </p:txBody>
      </p:sp>
      <p:sp>
        <p:nvSpPr>
          <p:cNvPr id="12" name="Shape 10"/>
          <p:cNvSpPr/>
          <p:nvPr/>
        </p:nvSpPr>
        <p:spPr>
          <a:xfrm>
            <a:off x="3538728" y="2788920"/>
            <a:ext cx="0" cy="201168"/>
          </a:xfrm>
          <a:prstGeom prst="line">
            <a:avLst/>
          </a:prstGeom>
          <a:noFill/>
          <a:ln w="22225">
            <a:solidFill>
              <a:srgbClr val="8A93AB"/>
            </a:solidFill>
            <a:prstDash val="solid"/>
            <a:tailEnd type="triangle"/>
          </a:ln>
        </p:spPr>
      </p:sp>
      <p:sp>
        <p:nvSpPr>
          <p:cNvPr id="13" name="Shape 11"/>
          <p:cNvSpPr/>
          <p:nvPr/>
        </p:nvSpPr>
        <p:spPr>
          <a:xfrm>
            <a:off x="1069848" y="3931920"/>
            <a:ext cx="713232" cy="566928"/>
          </a:xfrm>
          <a:prstGeom prst="roundRect">
            <a:avLst>
              <a:gd name="adj" fmla="val 9677"/>
            </a:avLst>
          </a:prstGeom>
          <a:solidFill>
            <a:srgbClr val="0E9E96"/>
          </a:solidFill>
          <a:ln w="15875">
            <a:solidFill>
              <a:srgbClr val="0E9E96"/>
            </a:solidFill>
            <a:prstDash val="solid"/>
          </a:ln>
        </p:spPr>
      </p:sp>
      <p:sp>
        <p:nvSpPr>
          <p:cNvPr id="14" name="Text 12"/>
          <p:cNvSpPr/>
          <p:nvPr/>
        </p:nvSpPr>
        <p:spPr>
          <a:xfrm>
            <a:off x="1069848"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E1</a:t>
            </a:r>
            <a:endParaRPr lang="en-US" sz="1200" dirty="0"/>
          </a:p>
        </p:txBody>
      </p:sp>
      <p:sp>
        <p:nvSpPr>
          <p:cNvPr id="15" name="Shape 13"/>
          <p:cNvSpPr/>
          <p:nvPr/>
        </p:nvSpPr>
        <p:spPr>
          <a:xfrm>
            <a:off x="3538728" y="3520440"/>
            <a:ext cx="-2112264" cy="393192"/>
          </a:xfrm>
          <a:prstGeom prst="line">
            <a:avLst/>
          </a:prstGeom>
          <a:noFill/>
          <a:ln w="22225">
            <a:solidFill>
              <a:srgbClr val="0E9E96"/>
            </a:solidFill>
            <a:prstDash val="solid"/>
            <a:tailEnd type="triangle"/>
          </a:ln>
        </p:spPr>
      </p:sp>
      <p:sp>
        <p:nvSpPr>
          <p:cNvPr id="16" name="Shape 14"/>
          <p:cNvSpPr/>
          <p:nvPr/>
        </p:nvSpPr>
        <p:spPr>
          <a:xfrm>
            <a:off x="1920240" y="3931920"/>
            <a:ext cx="713232" cy="566928"/>
          </a:xfrm>
          <a:prstGeom prst="roundRect">
            <a:avLst>
              <a:gd name="adj" fmla="val 9677"/>
            </a:avLst>
          </a:prstGeom>
          <a:solidFill>
            <a:srgbClr val="F4F5F9"/>
          </a:solidFill>
          <a:ln w="15875">
            <a:solidFill>
              <a:srgbClr val="DDE1EC"/>
            </a:solidFill>
            <a:prstDash val="solid"/>
          </a:ln>
        </p:spPr>
      </p:sp>
      <p:sp>
        <p:nvSpPr>
          <p:cNvPr id="17" name="Text 15"/>
          <p:cNvSpPr/>
          <p:nvPr/>
        </p:nvSpPr>
        <p:spPr>
          <a:xfrm>
            <a:off x="1920240"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E2</a:t>
            </a:r>
            <a:endParaRPr lang="en-US" sz="1200" dirty="0"/>
          </a:p>
        </p:txBody>
      </p:sp>
      <p:sp>
        <p:nvSpPr>
          <p:cNvPr id="18" name="Shape 16"/>
          <p:cNvSpPr/>
          <p:nvPr/>
        </p:nvSpPr>
        <p:spPr>
          <a:xfrm>
            <a:off x="2770632" y="3931920"/>
            <a:ext cx="713232" cy="566928"/>
          </a:xfrm>
          <a:prstGeom prst="roundRect">
            <a:avLst>
              <a:gd name="adj" fmla="val 9677"/>
            </a:avLst>
          </a:prstGeom>
          <a:solidFill>
            <a:srgbClr val="D9820A"/>
          </a:solidFill>
          <a:ln w="15875">
            <a:solidFill>
              <a:srgbClr val="D9820A"/>
            </a:solidFill>
            <a:prstDash val="solid"/>
          </a:ln>
        </p:spPr>
      </p:sp>
      <p:sp>
        <p:nvSpPr>
          <p:cNvPr id="19" name="Text 17"/>
          <p:cNvSpPr/>
          <p:nvPr/>
        </p:nvSpPr>
        <p:spPr>
          <a:xfrm>
            <a:off x="2770632"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E3</a:t>
            </a:r>
            <a:endParaRPr lang="en-US" sz="1200" dirty="0"/>
          </a:p>
        </p:txBody>
      </p:sp>
      <p:sp>
        <p:nvSpPr>
          <p:cNvPr id="20" name="Shape 18"/>
          <p:cNvSpPr/>
          <p:nvPr/>
        </p:nvSpPr>
        <p:spPr>
          <a:xfrm>
            <a:off x="3538728" y="3520440"/>
            <a:ext cx="-411480" cy="393192"/>
          </a:xfrm>
          <a:prstGeom prst="line">
            <a:avLst/>
          </a:prstGeom>
          <a:noFill/>
          <a:ln w="22225">
            <a:solidFill>
              <a:srgbClr val="D9820A"/>
            </a:solidFill>
            <a:prstDash val="solid"/>
            <a:tailEnd type="triangle"/>
          </a:ln>
        </p:spPr>
      </p:sp>
      <p:sp>
        <p:nvSpPr>
          <p:cNvPr id="21" name="Shape 19"/>
          <p:cNvSpPr/>
          <p:nvPr/>
        </p:nvSpPr>
        <p:spPr>
          <a:xfrm>
            <a:off x="3621024" y="3931920"/>
            <a:ext cx="713232" cy="566928"/>
          </a:xfrm>
          <a:prstGeom prst="roundRect">
            <a:avLst>
              <a:gd name="adj" fmla="val 9677"/>
            </a:avLst>
          </a:prstGeom>
          <a:solidFill>
            <a:srgbClr val="F4F5F9"/>
          </a:solidFill>
          <a:ln w="15875">
            <a:solidFill>
              <a:srgbClr val="DDE1EC"/>
            </a:solidFill>
            <a:prstDash val="solid"/>
          </a:ln>
        </p:spPr>
      </p:sp>
      <p:sp>
        <p:nvSpPr>
          <p:cNvPr id="22" name="Text 20"/>
          <p:cNvSpPr/>
          <p:nvPr/>
        </p:nvSpPr>
        <p:spPr>
          <a:xfrm>
            <a:off x="3621024"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E4</a:t>
            </a:r>
            <a:endParaRPr lang="en-US" sz="1200" dirty="0"/>
          </a:p>
        </p:txBody>
      </p:sp>
      <p:sp>
        <p:nvSpPr>
          <p:cNvPr id="23" name="Shape 21"/>
          <p:cNvSpPr/>
          <p:nvPr/>
        </p:nvSpPr>
        <p:spPr>
          <a:xfrm>
            <a:off x="4471416" y="3931920"/>
            <a:ext cx="713232" cy="566928"/>
          </a:xfrm>
          <a:prstGeom prst="roundRect">
            <a:avLst>
              <a:gd name="adj" fmla="val 9677"/>
            </a:avLst>
          </a:prstGeom>
          <a:solidFill>
            <a:srgbClr val="F4F5F9"/>
          </a:solidFill>
          <a:ln w="15875">
            <a:solidFill>
              <a:srgbClr val="DDE1EC"/>
            </a:solidFill>
            <a:prstDash val="solid"/>
          </a:ln>
        </p:spPr>
      </p:sp>
      <p:sp>
        <p:nvSpPr>
          <p:cNvPr id="24" name="Text 22"/>
          <p:cNvSpPr/>
          <p:nvPr/>
        </p:nvSpPr>
        <p:spPr>
          <a:xfrm>
            <a:off x="4471416"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E5</a:t>
            </a:r>
            <a:endParaRPr lang="en-US" sz="1200" dirty="0"/>
          </a:p>
        </p:txBody>
      </p:sp>
      <p:sp>
        <p:nvSpPr>
          <p:cNvPr id="25" name="Shape 23"/>
          <p:cNvSpPr/>
          <p:nvPr/>
        </p:nvSpPr>
        <p:spPr>
          <a:xfrm>
            <a:off x="5321808" y="3931920"/>
            <a:ext cx="713232" cy="566928"/>
          </a:xfrm>
          <a:prstGeom prst="roundRect">
            <a:avLst>
              <a:gd name="adj" fmla="val 9677"/>
            </a:avLst>
          </a:prstGeom>
          <a:solidFill>
            <a:srgbClr val="F4F5F9"/>
          </a:solidFill>
          <a:ln w="15875">
            <a:solidFill>
              <a:srgbClr val="DDE1EC"/>
            </a:solidFill>
            <a:prstDash val="solid"/>
          </a:ln>
        </p:spPr>
      </p:sp>
      <p:sp>
        <p:nvSpPr>
          <p:cNvPr id="26" name="Text 24"/>
          <p:cNvSpPr/>
          <p:nvPr/>
        </p:nvSpPr>
        <p:spPr>
          <a:xfrm>
            <a:off x="5321808"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E6</a:t>
            </a:r>
            <a:endParaRPr lang="en-US" sz="1200" dirty="0"/>
          </a:p>
        </p:txBody>
      </p:sp>
      <p:sp>
        <p:nvSpPr>
          <p:cNvPr id="27" name="Text 25"/>
          <p:cNvSpPr/>
          <p:nvPr/>
        </p:nvSpPr>
        <p:spPr>
          <a:xfrm>
            <a:off x="1069848" y="4617720"/>
            <a:ext cx="4754880" cy="274320"/>
          </a:xfrm>
          <a:prstGeom prst="rect">
            <a:avLst/>
          </a:prstGeom>
          <a:noFill/>
          <a:ln/>
        </p:spPr>
        <p:txBody>
          <a:bodyPr wrap="square" lIns="0" tIns="0" rIns="0" bIns="0" rtlCol="0" anchor="ctr"/>
          <a:lstStyle/>
          <a:p>
            <a:pPr algn="ctr" indent="0" marL="0">
              <a:buNone/>
            </a:pPr>
            <a:r>
              <a:rPr lang="en-US" sz="1050" i="1" dirty="0">
                <a:solidFill>
                  <a:srgbClr val="5A6685"/>
                </a:solidFill>
                <a:latin typeface="Calibri" pitchFamily="34" charset="0"/>
                <a:ea typeface="Calibri" pitchFamily="34" charset="-122"/>
                <a:cs typeface="Calibri" pitchFamily="34" charset="-120"/>
              </a:rPr>
              <a:t>Only the 2 selected experts (green/amber) run for this token</a:t>
            </a:r>
            <a:endParaRPr lang="en-US" sz="1050" dirty="0"/>
          </a:p>
        </p:txBody>
      </p:sp>
      <p:sp>
        <p:nvSpPr>
          <p:cNvPr id="28" name="Text 26"/>
          <p:cNvSpPr/>
          <p:nvPr/>
        </p:nvSpPr>
        <p:spPr>
          <a:xfrm>
            <a:off x="859536" y="5074920"/>
            <a:ext cx="5074920" cy="914400"/>
          </a:xfrm>
          <a:prstGeom prst="rect">
            <a:avLst/>
          </a:prstGeom>
          <a:noFill/>
          <a:ln/>
        </p:spPr>
        <p:txBody>
          <a:bodyPr wrap="square" lIns="25400" tIns="25400" rIns="25400" bIns="25400" rtlCol="0" anchor="t"/>
          <a:lstStyle/>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Huge total capacity, but only top-k experts activate per token</a:t>
            </a:r>
            <a:endParaRPr lang="en-US" sz="1180" dirty="0"/>
          </a:p>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Decouples knowledge (total params) from cost (active params)</a:t>
            </a:r>
            <a:endParaRPr lang="en-US" sz="1180" dirty="0"/>
          </a:p>
        </p:txBody>
      </p:sp>
      <p:sp>
        <p:nvSpPr>
          <p:cNvPr id="29" name="Shape 27"/>
          <p:cNvSpPr/>
          <p:nvPr/>
        </p:nvSpPr>
        <p:spPr>
          <a:xfrm>
            <a:off x="6583680" y="1600200"/>
            <a:ext cx="5029200" cy="2103120"/>
          </a:xfrm>
          <a:prstGeom prst="roundRect">
            <a:avLst>
              <a:gd name="adj" fmla="val 4348"/>
            </a:avLst>
          </a:prstGeom>
          <a:solidFill>
            <a:srgbClr val="16213E"/>
          </a:solidFill>
          <a:ln/>
          <a:effectLst>
            <a:outerShdw sx="100000" sy="100000" kx="0" ky="0" algn="bl" rotWithShape="0" blurRad="114300" dist="38100" dir="5400000">
              <a:srgbClr val="9AA2BC">
                <a:alpha val="16000"/>
              </a:srgbClr>
            </a:outerShdw>
          </a:effectLst>
        </p:spPr>
      </p:sp>
      <p:sp>
        <p:nvSpPr>
          <p:cNvPr id="30" name="Text 28"/>
          <p:cNvSpPr/>
          <p:nvPr/>
        </p:nvSpPr>
        <p:spPr>
          <a:xfrm>
            <a:off x="6858000" y="1783080"/>
            <a:ext cx="4480560" cy="310896"/>
          </a:xfrm>
          <a:prstGeom prst="rect">
            <a:avLst/>
          </a:prstGeom>
          <a:noFill/>
          <a:ln/>
        </p:spPr>
        <p:txBody>
          <a:bodyPr wrap="square" lIns="0" tIns="0" rIns="0" bIns="0" rtlCol="0" anchor="ctr"/>
          <a:lstStyle/>
          <a:p>
            <a:pPr indent="0" marL="0">
              <a:buNone/>
            </a:pPr>
            <a:r>
              <a:rPr lang="en-US" sz="1350" b="1" dirty="0">
                <a:solidFill>
                  <a:srgbClr val="7C6FF0"/>
                </a:solidFill>
                <a:latin typeface="Calibri" pitchFamily="34" charset="0"/>
                <a:ea typeface="Calibri" pitchFamily="34" charset="-122"/>
                <a:cs typeface="Calibri" pitchFamily="34" charset="-120"/>
              </a:rPr>
              <a:t>DeepSeek-V3 (Dec 2024)</a:t>
            </a:r>
            <a:endParaRPr lang="en-US" sz="1350" dirty="0"/>
          </a:p>
        </p:txBody>
      </p:sp>
      <p:sp>
        <p:nvSpPr>
          <p:cNvPr id="31" name="Text 29"/>
          <p:cNvSpPr/>
          <p:nvPr/>
        </p:nvSpPr>
        <p:spPr>
          <a:xfrm>
            <a:off x="6858000" y="2194560"/>
            <a:ext cx="44805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671B</a:t>
            </a:r>
            <a:pPr algn="l" indent="0" marL="0">
              <a:buNone/>
            </a:pPr>
            <a:r>
              <a:rPr lang="en-US" sz="1500" dirty="0">
                <a:solidFill>
                  <a:srgbClr val="AEB6D6"/>
                </a:solidFill>
                <a:latin typeface="Cambria" pitchFamily="34" charset="0"/>
                <a:ea typeface="Cambria" pitchFamily="34" charset="-122"/>
                <a:cs typeface="Cambria" pitchFamily="34" charset="-120"/>
              </a:rPr>
              <a:t>  total   →   </a:t>
            </a:r>
            <a:pPr algn="l" indent="0" marL="0">
              <a:buNone/>
            </a:pPr>
            <a:r>
              <a:rPr lang="en-US" sz="3400" b="1" dirty="0">
                <a:solidFill>
                  <a:srgbClr val="0E9E96"/>
                </a:solidFill>
                <a:latin typeface="Cambria" pitchFamily="34" charset="0"/>
                <a:ea typeface="Cambria" pitchFamily="34" charset="-122"/>
                <a:cs typeface="Cambria" pitchFamily="34" charset="-120"/>
              </a:rPr>
              <a:t>37B</a:t>
            </a:r>
            <a:pPr algn="l" indent="0" marL="0">
              <a:buNone/>
            </a:pPr>
            <a:r>
              <a:rPr lang="en-US" sz="1500" dirty="0">
                <a:solidFill>
                  <a:srgbClr val="AEB6D6"/>
                </a:solidFill>
                <a:latin typeface="Cambria" pitchFamily="34" charset="0"/>
                <a:ea typeface="Cambria" pitchFamily="34" charset="-122"/>
                <a:cs typeface="Cambria" pitchFamily="34" charset="-120"/>
              </a:rPr>
              <a:t>  active</a:t>
            </a:r>
            <a:endParaRPr lang="en-US" sz="3400" dirty="0"/>
          </a:p>
        </p:txBody>
      </p:sp>
      <p:sp>
        <p:nvSpPr>
          <p:cNvPr id="32" name="Text 30"/>
          <p:cNvSpPr/>
          <p:nvPr/>
        </p:nvSpPr>
        <p:spPr>
          <a:xfrm>
            <a:off x="6858000" y="2971800"/>
            <a:ext cx="4480560" cy="640080"/>
          </a:xfrm>
          <a:prstGeom prst="rect">
            <a:avLst/>
          </a:prstGeom>
          <a:noFill/>
          <a:ln/>
        </p:spPr>
        <p:txBody>
          <a:bodyPr wrap="square" lIns="0" tIns="0" rIns="0" bIns="0" rtlCol="0" anchor="ctr"/>
          <a:lstStyle/>
          <a:p>
            <a:pPr indent="0" marL="0">
              <a:lnSpc>
                <a:spcPct val="112000"/>
              </a:lnSpc>
              <a:buNone/>
            </a:pPr>
            <a:r>
              <a:rPr lang="en-US" sz="1180" dirty="0">
                <a:solidFill>
                  <a:srgbClr val="D8DCEC"/>
                </a:solidFill>
                <a:latin typeface="Calibri" pitchFamily="34" charset="0"/>
                <a:ea typeface="Calibri" pitchFamily="34" charset="-122"/>
                <a:cs typeface="Calibri" pitchFamily="34" charset="-120"/>
              </a:rPr>
              <a:t>Only ~5.5% of parameters run per token — frontier quality, trained for an estimated ~$5.6M.</a:t>
            </a:r>
            <a:endParaRPr lang="en-US" sz="1180" dirty="0"/>
          </a:p>
        </p:txBody>
      </p:sp>
      <p:sp>
        <p:nvSpPr>
          <p:cNvPr id="33" name="Shape 31"/>
          <p:cNvSpPr/>
          <p:nvPr/>
        </p:nvSpPr>
        <p:spPr>
          <a:xfrm>
            <a:off x="6583680" y="3886200"/>
            <a:ext cx="5029200" cy="2148840"/>
          </a:xfrm>
          <a:prstGeom prst="roundRect">
            <a:avLst>
              <a:gd name="adj" fmla="val 4255"/>
            </a:avLst>
          </a:prstGeom>
          <a:solidFill>
            <a:srgbClr val="E2F4F2"/>
          </a:solidFill>
          <a:ln/>
          <a:effectLst>
            <a:outerShdw sx="100000" sy="100000" kx="0" ky="0" algn="bl" rotWithShape="0" blurRad="114300" dist="38100" dir="5400000">
              <a:srgbClr val="9AA2BC">
                <a:alpha val="16000"/>
              </a:srgbClr>
            </a:outerShdw>
          </a:effectLst>
        </p:spPr>
      </p:sp>
      <p:sp>
        <p:nvSpPr>
          <p:cNvPr id="34" name="Text 32"/>
          <p:cNvSpPr/>
          <p:nvPr/>
        </p:nvSpPr>
        <p:spPr>
          <a:xfrm>
            <a:off x="6858000" y="4069080"/>
            <a:ext cx="4480560" cy="310896"/>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Why MoE took over the frontier</a:t>
            </a:r>
            <a:endParaRPr lang="en-US" sz="1350" dirty="0"/>
          </a:p>
        </p:txBody>
      </p:sp>
      <p:sp>
        <p:nvSpPr>
          <p:cNvPr id="35" name="Text 33"/>
          <p:cNvSpPr/>
          <p:nvPr/>
        </p:nvSpPr>
        <p:spPr>
          <a:xfrm>
            <a:off x="6876288" y="4480560"/>
            <a:ext cx="4480560" cy="14630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Mixtral 8×7B matched a 70B dense model ~6× faster</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DeepSeek-V3, Llama 4, Qwen3, GPT-4 (reported) are MoE</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Often paired with Multi-head Latent Attention (MLA)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PART 4 IN ONE VIEW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innovation stack: problem → fix → where it lives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Primary sources: arXiv 2104.09864 (RoPE) · 2305.13245 (GQA) · 2205.14135 (Flash) · 2412.19437 (DeepSeek-V3 MoE)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45952" cy="914400"/>
        </p:xfrm>
        <a:graphic>
          <a:graphicData uri="http://schemas.openxmlformats.org/drawingml/2006/table">
            <a:tbl>
              <a:tblPr/>
              <a:tblGrid>
                <a:gridCol w="1965960"/>
                <a:gridCol w="3246120"/>
                <a:gridCol w="3520440"/>
                <a:gridCol w="2313432"/>
              </a:tblGrid>
              <a:tr h="420624">
                <a:tc>
                  <a:txBody>
                    <a:bodyPr/>
                    <a:lstStyle/>
                    <a:p>
                      <a:pPr algn="l" indent="0" marL="0">
                        <a:buNone/>
                      </a:pPr>
                      <a:r>
                        <a:rPr lang="en-US" sz="1250" b="1" dirty="0">
                          <a:solidFill>
                            <a:srgbClr val="FFFFFF"/>
                          </a:solidFill>
                        </a:rPr>
                        <a:t>Innovation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Problem it attacks</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Core idea</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Seen in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r>
              <a:tr h="731520">
                <a:tc>
                  <a:txBody>
                    <a:bodyPr/>
                    <a:lstStyle/>
                    <a:p>
                      <a:pPr algn="l" indent="0" marL="0">
                        <a:buNone/>
                      </a:pPr>
                      <a:r>
                        <a:rPr lang="en-US" sz="1100" b="1" dirty="0">
                          <a:solidFill>
                            <a:srgbClr val="5B4BE0"/>
                          </a:solidFill>
                        </a:rPr>
                        <a:t>RoPE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Positions don't extrapolate; absolute encodings are rigid</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Rotate Q/K by position → score depends on relative distance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LLaMA, Qwen, DeepSeek, PaLM, Mistral</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GQA / MQA</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KV cache dominates memory at long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Share K/V heads across query heads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LLaMA-2/3, Mistral, Gemini-class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FlashAttention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Attention is memory-bound; N×N matrix thrashes HBM</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Tile into SRAM, online softmax, exact result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Virtually all modern training stacks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Mixture-of-Experts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Dense models burn compute on every parameter</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Route tokens to top-k experts; sparse activation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DeepSeek-V3, Mixtral, Llama 4, Qwen3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MLA / KV-compression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Even GQA's cache is large at 100K+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Compress K/V into a low-rank latent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DeepSeek-V2/V3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053328"/>
            <a:ext cx="11045952"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Big picture: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the 2024–2026 model is not a bigger 2017 Transformer — it is the same skeleton wearing four upgrades that fix position, memory, speed and compute-efficiency.</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5</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5</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Modern Era (2023 – 2026)</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From a single chatbot to a planetary platform: GPT-4 and the open-weight wave, multimodal and MoE at scale, the rise of reasoning models that 'think' before they answer, and the 2026 frontier landscape.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2023 · THE INFLECTION</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GPT-4 and the open-weight wave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GPT-4 Technical Report (arXiv:2303.08774) · Touvron et al., LLaMA / Llama 2 (arXiv:2302.13971, 2307.09288)</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600200"/>
            <a:ext cx="5577840" cy="2148840"/>
          </a:xfrm>
          <a:prstGeom prst="roundRect">
            <a:avLst>
              <a:gd name="adj" fmla="val 4255"/>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59536" y="187452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65276" y="2080260"/>
            <a:ext cx="411480" cy="411480"/>
          </a:xfrm>
          <a:prstGeom prst="rect">
            <a:avLst/>
          </a:prstGeom>
        </p:spPr>
      </p:pic>
      <p:sp>
        <p:nvSpPr>
          <p:cNvPr id="9" name="Text 6"/>
          <p:cNvSpPr/>
          <p:nvPr/>
        </p:nvSpPr>
        <p:spPr>
          <a:xfrm>
            <a:off x="1847088" y="1874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GPT-4 — the closed frontier</a:t>
            </a:r>
            <a:endParaRPr lang="en-US" sz="1600" dirty="0"/>
          </a:p>
        </p:txBody>
      </p:sp>
      <p:sp>
        <p:nvSpPr>
          <p:cNvPr id="10" name="Text 7"/>
          <p:cNvSpPr/>
          <p:nvPr/>
        </p:nvSpPr>
        <p:spPr>
          <a:xfrm>
            <a:off x="1847088" y="2286000"/>
            <a:ext cx="4069080" cy="128016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Multimodal (text + image), human-level on many professional exams, and the first model to feel broadly reliable. Architecture undisclosed — widely believed to be a large Mixture-of-Experts.</a:t>
            </a:r>
            <a:endParaRPr lang="en-US" sz="1200" dirty="0"/>
          </a:p>
        </p:txBody>
      </p:sp>
      <p:sp>
        <p:nvSpPr>
          <p:cNvPr id="11" name="Shape 8"/>
          <p:cNvSpPr/>
          <p:nvPr/>
        </p:nvSpPr>
        <p:spPr>
          <a:xfrm>
            <a:off x="566928" y="3886200"/>
            <a:ext cx="5577840" cy="2148840"/>
          </a:xfrm>
          <a:prstGeom prst="roundRect">
            <a:avLst>
              <a:gd name="adj" fmla="val 4255"/>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859536" y="4160520"/>
            <a:ext cx="822960" cy="822960"/>
          </a:xfrm>
          <a:prstGeom prst="ellipse">
            <a:avLst/>
          </a:prstGeom>
          <a:solidFill>
            <a:srgbClr val="0E9E96"/>
          </a:solidFill>
          <a:ln/>
        </p:spPr>
      </p:sp>
      <p:pic>
        <p:nvPicPr>
          <p:cNvPr id="13" name="Image 1" descr="preencoded.png">    </p:cNvPr>
          <p:cNvPicPr>
            <a:picLocks noChangeAspect="1"/>
          </p:cNvPicPr>
          <p:nvPr/>
        </p:nvPicPr>
        <p:blipFill>
          <a:blip r:embed="rId2"/>
          <a:stretch>
            <a:fillRect/>
          </a:stretch>
        </p:blipFill>
        <p:spPr>
          <a:xfrm>
            <a:off x="1065276" y="4366260"/>
            <a:ext cx="411480" cy="411480"/>
          </a:xfrm>
          <a:prstGeom prst="rect">
            <a:avLst/>
          </a:prstGeom>
        </p:spPr>
      </p:pic>
      <p:sp>
        <p:nvSpPr>
          <p:cNvPr id="14" name="Text 10"/>
          <p:cNvSpPr/>
          <p:nvPr/>
        </p:nvSpPr>
        <p:spPr>
          <a:xfrm>
            <a:off x="1847088" y="4160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LLaMA — weights in the wild</a:t>
            </a:r>
            <a:endParaRPr lang="en-US" sz="1600" dirty="0"/>
          </a:p>
        </p:txBody>
      </p:sp>
      <p:sp>
        <p:nvSpPr>
          <p:cNvPr id="15" name="Text 11"/>
          <p:cNvSpPr/>
          <p:nvPr/>
        </p:nvSpPr>
        <p:spPr>
          <a:xfrm>
            <a:off x="1847088" y="4572000"/>
            <a:ext cx="4069080" cy="132588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Meta released capable open weights. Within months: instruction-tuned forks, quantised models on laptops, and a Cambrian explosion of fine-tunes. The frontier was no longer only behind an API.</a:t>
            </a:r>
            <a:endParaRPr lang="en-US" sz="1200" dirty="0"/>
          </a:p>
        </p:txBody>
      </p:sp>
      <p:sp>
        <p:nvSpPr>
          <p:cNvPr id="16" name="Shape 12"/>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Text 13"/>
          <p:cNvSpPr/>
          <p:nvPr/>
        </p:nvSpPr>
        <p:spPr>
          <a:xfrm>
            <a:off x="6858000" y="1783080"/>
            <a:ext cx="4480560" cy="365760"/>
          </a:xfrm>
          <a:prstGeom prst="rect">
            <a:avLst/>
          </a:prstGeom>
          <a:noFill/>
          <a:ln/>
        </p:spPr>
        <p:txBody>
          <a:bodyPr wrap="square" lIns="0" tIns="0" rIns="0" bIns="0" rtlCol="0" anchor="ctr"/>
          <a:lstStyle/>
          <a:p>
            <a:pPr algn="ctr" indent="0" marL="0">
              <a:buNone/>
            </a:pPr>
            <a:r>
              <a:rPr lang="en-US" sz="1550" b="1" dirty="0">
                <a:solidFill>
                  <a:srgbClr val="1B2440"/>
                </a:solidFill>
                <a:latin typeface="Calibri" pitchFamily="34" charset="0"/>
                <a:ea typeface="Calibri" pitchFamily="34" charset="-122"/>
                <a:cs typeface="Calibri" pitchFamily="34" charset="-120"/>
              </a:rPr>
              <a:t>Two ecosystems form</a:t>
            </a:r>
            <a:endParaRPr lang="en-US" sz="1550" dirty="0"/>
          </a:p>
        </p:txBody>
      </p:sp>
      <p:sp>
        <p:nvSpPr>
          <p:cNvPr id="18" name="Shape 14"/>
          <p:cNvSpPr/>
          <p:nvPr/>
        </p:nvSpPr>
        <p:spPr>
          <a:xfrm>
            <a:off x="6903720" y="2286000"/>
            <a:ext cx="4389120" cy="1600200"/>
          </a:xfrm>
          <a:prstGeom prst="roundRect">
            <a:avLst>
              <a:gd name="adj" fmla="val 4571"/>
            </a:avLst>
          </a:prstGeom>
          <a:solidFill>
            <a:srgbClr val="EEECFB"/>
          </a:solidFill>
          <a:ln/>
        </p:spPr>
      </p:sp>
      <p:sp>
        <p:nvSpPr>
          <p:cNvPr id="19" name="Text 15"/>
          <p:cNvSpPr/>
          <p:nvPr/>
        </p:nvSpPr>
        <p:spPr>
          <a:xfrm>
            <a:off x="7132320" y="2468880"/>
            <a:ext cx="3931920" cy="365760"/>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Closed / API</a:t>
            </a:r>
            <a:endParaRPr lang="en-US" sz="1500" dirty="0"/>
          </a:p>
        </p:txBody>
      </p:sp>
      <p:sp>
        <p:nvSpPr>
          <p:cNvPr id="20" name="Text 16"/>
          <p:cNvSpPr/>
          <p:nvPr/>
        </p:nvSpPr>
        <p:spPr>
          <a:xfrm>
            <a:off x="7132320" y="28529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GPT-4 · Claude · Gemini</a:t>
            </a:r>
            <a:endParaRPr lang="en-US" sz="1250" dirty="0"/>
          </a:p>
        </p:txBody>
      </p:sp>
      <p:sp>
        <p:nvSpPr>
          <p:cNvPr id="21" name="Text 17"/>
          <p:cNvSpPr/>
          <p:nvPr/>
        </p:nvSpPr>
        <p:spPr>
          <a:xfrm>
            <a:off x="7132320" y="31821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Best frontier capability, hosted, safety-tuned, pay-per-token</a:t>
            </a:r>
            <a:endParaRPr lang="en-US" sz="1150" dirty="0"/>
          </a:p>
        </p:txBody>
      </p:sp>
      <p:sp>
        <p:nvSpPr>
          <p:cNvPr id="22" name="Shape 18"/>
          <p:cNvSpPr/>
          <p:nvPr/>
        </p:nvSpPr>
        <p:spPr>
          <a:xfrm>
            <a:off x="6903720" y="4114800"/>
            <a:ext cx="4389120" cy="1600200"/>
          </a:xfrm>
          <a:prstGeom prst="roundRect">
            <a:avLst>
              <a:gd name="adj" fmla="val 4571"/>
            </a:avLst>
          </a:prstGeom>
          <a:solidFill>
            <a:srgbClr val="E2F4F2"/>
          </a:solidFill>
          <a:ln/>
        </p:spPr>
      </p:sp>
      <p:sp>
        <p:nvSpPr>
          <p:cNvPr id="23" name="Text 19"/>
          <p:cNvSpPr/>
          <p:nvPr/>
        </p:nvSpPr>
        <p:spPr>
          <a:xfrm>
            <a:off x="7132320" y="4297680"/>
            <a:ext cx="3931920" cy="365760"/>
          </a:xfrm>
          <a:prstGeom prst="rect">
            <a:avLst/>
          </a:prstGeom>
          <a:noFill/>
          <a:ln/>
        </p:spPr>
        <p:txBody>
          <a:bodyPr wrap="square" lIns="0" tIns="0" rIns="0" bIns="0" rtlCol="0" anchor="ctr"/>
          <a:lstStyle/>
          <a:p>
            <a:pPr indent="0" marL="0">
              <a:buNone/>
            </a:pPr>
            <a:r>
              <a:rPr lang="en-US" sz="1500" b="1" dirty="0">
                <a:solidFill>
                  <a:srgbClr val="0E9E96"/>
                </a:solidFill>
                <a:latin typeface="Calibri" pitchFamily="34" charset="0"/>
                <a:ea typeface="Calibri" pitchFamily="34" charset="-122"/>
                <a:cs typeface="Calibri" pitchFamily="34" charset="-120"/>
              </a:rPr>
              <a:t>Open / weights</a:t>
            </a:r>
            <a:endParaRPr lang="en-US" sz="1500" dirty="0"/>
          </a:p>
        </p:txBody>
      </p:sp>
      <p:sp>
        <p:nvSpPr>
          <p:cNvPr id="24" name="Text 20"/>
          <p:cNvSpPr/>
          <p:nvPr/>
        </p:nvSpPr>
        <p:spPr>
          <a:xfrm>
            <a:off x="7132320" y="46817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LLaMA · Mistral · Qwen</a:t>
            </a:r>
            <a:endParaRPr lang="en-US" sz="1250" dirty="0"/>
          </a:p>
        </p:txBody>
      </p:sp>
      <p:sp>
        <p:nvSpPr>
          <p:cNvPr id="25" name="Text 21"/>
          <p:cNvSpPr/>
          <p:nvPr/>
        </p:nvSpPr>
        <p:spPr>
          <a:xfrm>
            <a:off x="7132320" y="50109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Self-host, fine-tune, run private — the builder's playground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2024 · EFFICIENCY WINS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DeepSeek-V3 — frontier quality, fraction of the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DeepSeek-AI, 'DeepSeek-V3 Technical Report', arXiv:2412.19437 (Dec 2024)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600200"/>
            <a:ext cx="4937760" cy="4434840"/>
          </a:xfrm>
          <a:prstGeom prst="roundRect">
            <a:avLst>
              <a:gd name="adj" fmla="val 2062"/>
            </a:avLst>
          </a:prstGeom>
          <a:solidFill>
            <a:srgbClr val="16213E"/>
          </a:solidFill>
          <a:ln/>
        </p:spPr>
      </p:sp>
      <p:sp>
        <p:nvSpPr>
          <p:cNvPr id="7" name="Text 5"/>
          <p:cNvSpPr/>
          <p:nvPr/>
        </p:nvSpPr>
        <p:spPr>
          <a:xfrm>
            <a:off x="932688" y="1828800"/>
            <a:ext cx="420624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DeepSeek-V3</a:t>
            </a:r>
            <a:endParaRPr lang="en-US" sz="2100" dirty="0"/>
          </a:p>
        </p:txBody>
      </p:sp>
      <p:sp>
        <p:nvSpPr>
          <p:cNvPr id="8" name="Text 6"/>
          <p:cNvSpPr/>
          <p:nvPr/>
        </p:nvSpPr>
        <p:spPr>
          <a:xfrm>
            <a:off x="932688" y="2286000"/>
            <a:ext cx="4206240" cy="640080"/>
          </a:xfrm>
          <a:prstGeom prst="rect">
            <a:avLst/>
          </a:prstGeom>
          <a:noFill/>
          <a:ln/>
        </p:spPr>
        <p:txBody>
          <a:bodyPr wrap="square" lIns="0" tIns="0" rIns="0" bIns="0" rtlCol="0" anchor="ctr"/>
          <a:lstStyle/>
          <a:p>
            <a:pPr indent="0" marL="0">
              <a:lnSpc>
                <a:spcPct val="116000"/>
              </a:lnSpc>
              <a:buNone/>
            </a:pPr>
            <a:r>
              <a:rPr lang="en-US" sz="1250" dirty="0">
                <a:solidFill>
                  <a:srgbClr val="C6CCE0"/>
                </a:solidFill>
                <a:latin typeface="Calibri" pitchFamily="34" charset="0"/>
                <a:ea typeface="Calibri" pitchFamily="34" charset="-122"/>
                <a:cs typeface="Calibri" pitchFamily="34" charset="-120"/>
              </a:rPr>
              <a:t>A 671B-parameter Mixture-of-Experts that activates only 37B per token.</a:t>
            </a:r>
            <a:endParaRPr lang="en-US" sz="1250" dirty="0"/>
          </a:p>
        </p:txBody>
      </p:sp>
      <p:sp>
        <p:nvSpPr>
          <p:cNvPr id="9" name="Text 7"/>
          <p:cNvSpPr/>
          <p:nvPr/>
        </p:nvSpPr>
        <p:spPr>
          <a:xfrm>
            <a:off x="932688" y="3063240"/>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671B</a:t>
            </a:r>
            <a:endParaRPr lang="en-US" sz="2500" dirty="0"/>
          </a:p>
        </p:txBody>
      </p:sp>
      <p:sp>
        <p:nvSpPr>
          <p:cNvPr id="10" name="Text 8"/>
          <p:cNvSpPr/>
          <p:nvPr/>
        </p:nvSpPr>
        <p:spPr>
          <a:xfrm>
            <a:off x="2807208" y="3063240"/>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total parameters</a:t>
            </a:r>
            <a:endParaRPr lang="en-US" sz="1200" dirty="0"/>
          </a:p>
        </p:txBody>
      </p:sp>
      <p:sp>
        <p:nvSpPr>
          <p:cNvPr id="11" name="Text 9"/>
          <p:cNvSpPr/>
          <p:nvPr/>
        </p:nvSpPr>
        <p:spPr>
          <a:xfrm>
            <a:off x="932688" y="3776472"/>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37B</a:t>
            </a:r>
            <a:endParaRPr lang="en-US" sz="2500" dirty="0"/>
          </a:p>
        </p:txBody>
      </p:sp>
      <p:sp>
        <p:nvSpPr>
          <p:cNvPr id="12" name="Text 10"/>
          <p:cNvSpPr/>
          <p:nvPr/>
        </p:nvSpPr>
        <p:spPr>
          <a:xfrm>
            <a:off x="2807208" y="3776472"/>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active per token</a:t>
            </a:r>
            <a:endParaRPr lang="en-US" sz="1200" dirty="0"/>
          </a:p>
        </p:txBody>
      </p:sp>
      <p:sp>
        <p:nvSpPr>
          <p:cNvPr id="13" name="Text 11"/>
          <p:cNvSpPr/>
          <p:nvPr/>
        </p:nvSpPr>
        <p:spPr>
          <a:xfrm>
            <a:off x="932688" y="4489704"/>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14.8T</a:t>
            </a:r>
            <a:endParaRPr lang="en-US" sz="2500" dirty="0"/>
          </a:p>
        </p:txBody>
      </p:sp>
      <p:sp>
        <p:nvSpPr>
          <p:cNvPr id="14" name="Text 12"/>
          <p:cNvSpPr/>
          <p:nvPr/>
        </p:nvSpPr>
        <p:spPr>
          <a:xfrm>
            <a:off x="2807208" y="4489704"/>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training tokens</a:t>
            </a:r>
            <a:endParaRPr lang="en-US" sz="1200" dirty="0"/>
          </a:p>
        </p:txBody>
      </p:sp>
      <p:sp>
        <p:nvSpPr>
          <p:cNvPr id="15" name="Text 13"/>
          <p:cNvSpPr/>
          <p:nvPr/>
        </p:nvSpPr>
        <p:spPr>
          <a:xfrm>
            <a:off x="932688" y="5202936"/>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 $5.6M</a:t>
            </a:r>
            <a:endParaRPr lang="en-US" sz="2500" dirty="0"/>
          </a:p>
        </p:txBody>
      </p:sp>
      <p:sp>
        <p:nvSpPr>
          <p:cNvPr id="16" name="Text 14"/>
          <p:cNvSpPr/>
          <p:nvPr/>
        </p:nvSpPr>
        <p:spPr>
          <a:xfrm>
            <a:off x="2807208" y="5202936"/>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reported compute cost</a:t>
            </a:r>
            <a:endParaRPr lang="en-US" sz="1200" dirty="0"/>
          </a:p>
        </p:txBody>
      </p:sp>
      <p:sp>
        <p:nvSpPr>
          <p:cNvPr id="17" name="Shape 15"/>
          <p:cNvSpPr/>
          <p:nvPr/>
        </p:nvSpPr>
        <p:spPr>
          <a:xfrm>
            <a:off x="5806440" y="1600200"/>
            <a:ext cx="5806440" cy="2331720"/>
          </a:xfrm>
          <a:prstGeom prst="roundRect">
            <a:avLst>
              <a:gd name="adj" fmla="val 392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6"/>
          <p:cNvSpPr/>
          <p:nvPr/>
        </p:nvSpPr>
        <p:spPr>
          <a:xfrm>
            <a:off x="6080760" y="1755648"/>
            <a:ext cx="5257800" cy="329184"/>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Three efficiency levers</a:t>
            </a:r>
            <a:endParaRPr lang="en-US" sz="1450" dirty="0"/>
          </a:p>
        </p:txBody>
      </p:sp>
      <p:sp>
        <p:nvSpPr>
          <p:cNvPr id="19" name="Shape 17"/>
          <p:cNvSpPr/>
          <p:nvPr/>
        </p:nvSpPr>
        <p:spPr>
          <a:xfrm>
            <a:off x="6080760" y="2103120"/>
            <a:ext cx="1051560" cy="457200"/>
          </a:xfrm>
          <a:prstGeom prst="roundRect">
            <a:avLst>
              <a:gd name="adj" fmla="val 14000"/>
            </a:avLst>
          </a:prstGeom>
          <a:solidFill>
            <a:srgbClr val="0E9E96"/>
          </a:solidFill>
          <a:ln/>
        </p:spPr>
      </p:sp>
      <p:sp>
        <p:nvSpPr>
          <p:cNvPr id="20" name="Text 18"/>
          <p:cNvSpPr/>
          <p:nvPr/>
        </p:nvSpPr>
        <p:spPr>
          <a:xfrm>
            <a:off x="6080760" y="2103120"/>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MoE</a:t>
            </a:r>
            <a:endParaRPr lang="en-US" sz="1150" dirty="0"/>
          </a:p>
        </p:txBody>
      </p:sp>
      <p:sp>
        <p:nvSpPr>
          <p:cNvPr id="21" name="Text 19"/>
          <p:cNvSpPr/>
          <p:nvPr/>
        </p:nvSpPr>
        <p:spPr>
          <a:xfrm>
            <a:off x="7269480" y="2103120"/>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sparse activation — pay for 37B, know 671B</a:t>
            </a:r>
            <a:endParaRPr lang="en-US" sz="1150" dirty="0"/>
          </a:p>
        </p:txBody>
      </p:sp>
      <p:sp>
        <p:nvSpPr>
          <p:cNvPr id="22" name="Shape 20"/>
          <p:cNvSpPr/>
          <p:nvPr/>
        </p:nvSpPr>
        <p:spPr>
          <a:xfrm>
            <a:off x="6080760" y="2679192"/>
            <a:ext cx="1051560" cy="457200"/>
          </a:xfrm>
          <a:prstGeom prst="roundRect">
            <a:avLst>
              <a:gd name="adj" fmla="val 14000"/>
            </a:avLst>
          </a:prstGeom>
          <a:solidFill>
            <a:srgbClr val="5B4BE0"/>
          </a:solidFill>
          <a:ln/>
        </p:spPr>
      </p:sp>
      <p:sp>
        <p:nvSpPr>
          <p:cNvPr id="23" name="Text 21"/>
          <p:cNvSpPr/>
          <p:nvPr/>
        </p:nvSpPr>
        <p:spPr>
          <a:xfrm>
            <a:off x="6080760" y="2679192"/>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MLA</a:t>
            </a:r>
            <a:endParaRPr lang="en-US" sz="1150" dirty="0"/>
          </a:p>
        </p:txBody>
      </p:sp>
      <p:sp>
        <p:nvSpPr>
          <p:cNvPr id="24" name="Text 22"/>
          <p:cNvSpPr/>
          <p:nvPr/>
        </p:nvSpPr>
        <p:spPr>
          <a:xfrm>
            <a:off x="7269480" y="2679192"/>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multi-head latent attention compresses the KV cache</a:t>
            </a:r>
            <a:endParaRPr lang="en-US" sz="1150" dirty="0"/>
          </a:p>
        </p:txBody>
      </p:sp>
      <p:sp>
        <p:nvSpPr>
          <p:cNvPr id="25" name="Shape 23"/>
          <p:cNvSpPr/>
          <p:nvPr/>
        </p:nvSpPr>
        <p:spPr>
          <a:xfrm>
            <a:off x="6080760" y="3255264"/>
            <a:ext cx="1051560" cy="457200"/>
          </a:xfrm>
          <a:prstGeom prst="roundRect">
            <a:avLst>
              <a:gd name="adj" fmla="val 14000"/>
            </a:avLst>
          </a:prstGeom>
          <a:solidFill>
            <a:srgbClr val="D9820A"/>
          </a:solidFill>
          <a:ln/>
        </p:spPr>
      </p:sp>
      <p:sp>
        <p:nvSpPr>
          <p:cNvPr id="26" name="Text 24"/>
          <p:cNvSpPr/>
          <p:nvPr/>
        </p:nvSpPr>
        <p:spPr>
          <a:xfrm>
            <a:off x="6080760" y="3255264"/>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FP8 + MTP</a:t>
            </a:r>
            <a:endParaRPr lang="en-US" sz="1150" dirty="0"/>
          </a:p>
        </p:txBody>
      </p:sp>
      <p:sp>
        <p:nvSpPr>
          <p:cNvPr id="27" name="Text 25"/>
          <p:cNvSpPr/>
          <p:nvPr/>
        </p:nvSpPr>
        <p:spPr>
          <a:xfrm>
            <a:off x="7269480" y="3255264"/>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8-bit training &amp; multi-token prediction for throughput</a:t>
            </a:r>
            <a:endParaRPr lang="en-US" sz="1150" dirty="0"/>
          </a:p>
        </p:txBody>
      </p:sp>
      <p:sp>
        <p:nvSpPr>
          <p:cNvPr id="28" name="Shape 26"/>
          <p:cNvSpPr/>
          <p:nvPr/>
        </p:nvSpPr>
        <p:spPr>
          <a:xfrm>
            <a:off x="5806440" y="4114800"/>
            <a:ext cx="5806440" cy="1920240"/>
          </a:xfrm>
          <a:prstGeom prst="roundRect">
            <a:avLst>
              <a:gd name="adj" fmla="val 47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Text 27"/>
          <p:cNvSpPr/>
          <p:nvPr/>
        </p:nvSpPr>
        <p:spPr>
          <a:xfrm>
            <a:off x="6080760" y="4251960"/>
            <a:ext cx="5257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Benchmarks (V3, reported)</a:t>
            </a:r>
            <a:endParaRPr lang="en-US" sz="1350" dirty="0"/>
          </a:p>
        </p:txBody>
      </p:sp>
      <p:sp>
        <p:nvSpPr>
          <p:cNvPr id="30" name="Shape 28"/>
          <p:cNvSpPr/>
          <p:nvPr/>
        </p:nvSpPr>
        <p:spPr>
          <a:xfrm>
            <a:off x="6099048" y="4663440"/>
            <a:ext cx="1234440" cy="1143000"/>
          </a:xfrm>
          <a:prstGeom prst="roundRect">
            <a:avLst>
              <a:gd name="adj" fmla="val 6400"/>
            </a:avLst>
          </a:prstGeom>
          <a:solidFill>
            <a:srgbClr val="FFFFFF"/>
          </a:solidFill>
          <a:ln w="12700">
            <a:solidFill>
              <a:srgbClr val="DDE1EC"/>
            </a:solidFill>
            <a:prstDash val="solid"/>
          </a:ln>
        </p:spPr>
      </p:sp>
      <p:sp>
        <p:nvSpPr>
          <p:cNvPr id="31" name="Text 29"/>
          <p:cNvSpPr/>
          <p:nvPr/>
        </p:nvSpPr>
        <p:spPr>
          <a:xfrm>
            <a:off x="60990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88.5</a:t>
            </a:r>
            <a:endParaRPr lang="en-US" sz="2300" dirty="0"/>
          </a:p>
        </p:txBody>
      </p:sp>
      <p:sp>
        <p:nvSpPr>
          <p:cNvPr id="32" name="Text 30"/>
          <p:cNvSpPr/>
          <p:nvPr/>
        </p:nvSpPr>
        <p:spPr>
          <a:xfrm>
            <a:off x="60990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a:t>
            </a:r>
            <a:endParaRPr lang="en-US" sz="1000" dirty="0"/>
          </a:p>
        </p:txBody>
      </p:sp>
      <p:sp>
        <p:nvSpPr>
          <p:cNvPr id="33" name="Shape 31"/>
          <p:cNvSpPr/>
          <p:nvPr/>
        </p:nvSpPr>
        <p:spPr>
          <a:xfrm>
            <a:off x="7470648" y="4663440"/>
            <a:ext cx="1234440" cy="1143000"/>
          </a:xfrm>
          <a:prstGeom prst="roundRect">
            <a:avLst>
              <a:gd name="adj" fmla="val 6400"/>
            </a:avLst>
          </a:prstGeom>
          <a:solidFill>
            <a:srgbClr val="FFFFFF"/>
          </a:solidFill>
          <a:ln w="12700">
            <a:solidFill>
              <a:srgbClr val="DDE1EC"/>
            </a:solidFill>
            <a:prstDash val="solid"/>
          </a:ln>
        </p:spPr>
      </p:sp>
      <p:sp>
        <p:nvSpPr>
          <p:cNvPr id="34" name="Text 32"/>
          <p:cNvSpPr/>
          <p:nvPr/>
        </p:nvSpPr>
        <p:spPr>
          <a:xfrm>
            <a:off x="74706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75.9</a:t>
            </a:r>
            <a:endParaRPr lang="en-US" sz="2300" dirty="0"/>
          </a:p>
        </p:txBody>
      </p:sp>
      <p:sp>
        <p:nvSpPr>
          <p:cNvPr id="35" name="Text 33"/>
          <p:cNvSpPr/>
          <p:nvPr/>
        </p:nvSpPr>
        <p:spPr>
          <a:xfrm>
            <a:off x="74706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MMLU-Pro</a:t>
            </a:r>
            <a:endParaRPr lang="en-US" sz="1000" dirty="0"/>
          </a:p>
        </p:txBody>
      </p:sp>
      <p:sp>
        <p:nvSpPr>
          <p:cNvPr id="36" name="Shape 34"/>
          <p:cNvSpPr/>
          <p:nvPr/>
        </p:nvSpPr>
        <p:spPr>
          <a:xfrm>
            <a:off x="8842248" y="4663440"/>
            <a:ext cx="1234440" cy="1143000"/>
          </a:xfrm>
          <a:prstGeom prst="roundRect">
            <a:avLst>
              <a:gd name="adj" fmla="val 6400"/>
            </a:avLst>
          </a:prstGeom>
          <a:solidFill>
            <a:srgbClr val="FFFFFF"/>
          </a:solidFill>
          <a:ln w="12700">
            <a:solidFill>
              <a:srgbClr val="DDE1EC"/>
            </a:solidFill>
            <a:prstDash val="solid"/>
          </a:ln>
        </p:spPr>
      </p:sp>
      <p:sp>
        <p:nvSpPr>
          <p:cNvPr id="37" name="Text 35"/>
          <p:cNvSpPr/>
          <p:nvPr/>
        </p:nvSpPr>
        <p:spPr>
          <a:xfrm>
            <a:off x="88422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90.2</a:t>
            </a:r>
            <a:endParaRPr lang="en-US" sz="2300" dirty="0"/>
          </a:p>
        </p:txBody>
      </p:sp>
      <p:sp>
        <p:nvSpPr>
          <p:cNvPr id="38" name="Text 36"/>
          <p:cNvSpPr/>
          <p:nvPr/>
        </p:nvSpPr>
        <p:spPr>
          <a:xfrm>
            <a:off x="88422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MATH-500</a:t>
            </a:r>
            <a:endParaRPr lang="en-US" sz="1000" dirty="0"/>
          </a:p>
        </p:txBody>
      </p:sp>
      <p:sp>
        <p:nvSpPr>
          <p:cNvPr id="39" name="Shape 37"/>
          <p:cNvSpPr/>
          <p:nvPr/>
        </p:nvSpPr>
        <p:spPr>
          <a:xfrm>
            <a:off x="10213848" y="4663440"/>
            <a:ext cx="1234440" cy="1143000"/>
          </a:xfrm>
          <a:prstGeom prst="roundRect">
            <a:avLst>
              <a:gd name="adj" fmla="val 6400"/>
            </a:avLst>
          </a:prstGeom>
          <a:solidFill>
            <a:srgbClr val="FFFFFF"/>
          </a:solidFill>
          <a:ln w="12700">
            <a:solidFill>
              <a:srgbClr val="DDE1EC"/>
            </a:solidFill>
            <a:prstDash val="solid"/>
          </a:ln>
        </p:spPr>
      </p:sp>
      <p:sp>
        <p:nvSpPr>
          <p:cNvPr id="40" name="Text 38"/>
          <p:cNvSpPr/>
          <p:nvPr/>
        </p:nvSpPr>
        <p:spPr>
          <a:xfrm>
            <a:off x="102138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59.1</a:t>
            </a:r>
            <a:endParaRPr lang="en-US" sz="2300" dirty="0"/>
          </a:p>
        </p:txBody>
      </p:sp>
      <p:sp>
        <p:nvSpPr>
          <p:cNvPr id="41" name="Text 39"/>
          <p:cNvSpPr/>
          <p:nvPr/>
        </p:nvSpPr>
        <p:spPr>
          <a:xfrm>
            <a:off x="102138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GPQA</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2025 · A NEW AXIS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Reasoning models — scaling test-time compute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o1 (System Card, 2024) · DeepSeek-AI, 'DeepSeek-R1', arXiv:2501.12948 (Jan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50" dirty="0">
                <a:solidFill>
                  <a:srgbClr val="5A6685"/>
                </a:solidFill>
                <a:latin typeface="Calibri" pitchFamily="34" charset="0"/>
                <a:ea typeface="Calibri" pitchFamily="34" charset="-122"/>
                <a:cs typeface="Calibri" pitchFamily="34" charset="-120"/>
              </a:rPr>
              <a:t>The breakthrough of 2025 wasn't a bigger model — it was letting the model think longer at inference, trained with reinforcement learning to reason step-by-step.</a:t>
            </a:r>
            <a:endParaRPr lang="en-US" sz="1350" dirty="0"/>
          </a:p>
        </p:txBody>
      </p:sp>
      <p:sp>
        <p:nvSpPr>
          <p:cNvPr id="7" name="Shape 5"/>
          <p:cNvSpPr/>
          <p:nvPr/>
        </p:nvSpPr>
        <p:spPr>
          <a:xfrm>
            <a:off x="566928" y="2103120"/>
            <a:ext cx="5577840" cy="3931920"/>
          </a:xfrm>
          <a:prstGeom prst="roundRect">
            <a:avLst>
              <a:gd name="adj" fmla="val 2326"/>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841248" y="2286000"/>
            <a:ext cx="502920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Train-time vs test-time compute</a:t>
            </a:r>
            <a:endParaRPr lang="en-US" sz="1550" dirty="0"/>
          </a:p>
        </p:txBody>
      </p:sp>
      <p:sp>
        <p:nvSpPr>
          <p:cNvPr id="9" name="Text 7"/>
          <p:cNvSpPr/>
          <p:nvPr/>
        </p:nvSpPr>
        <p:spPr>
          <a:xfrm>
            <a:off x="859536" y="2697480"/>
            <a:ext cx="5029200" cy="31089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Old axis: spend compute during training (more params, more data)</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New axis: spend compute during inference — generate a long chain-of-thought, explore, self-check, then answer</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Trained via RL (DeepSeek-R1 uses GRPO) to reward correct reasoning, not just the final token</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Reasoning trace lives between &lt;think&gt; … &lt;/think&gt; tags before the answer</a:t>
            </a:r>
            <a:endParaRPr lang="en-US" sz="1220" dirty="0"/>
          </a:p>
        </p:txBody>
      </p:sp>
      <p:sp>
        <p:nvSpPr>
          <p:cNvPr id="10" name="Shape 8"/>
          <p:cNvSpPr/>
          <p:nvPr/>
        </p:nvSpPr>
        <p:spPr>
          <a:xfrm>
            <a:off x="6583680" y="2103120"/>
            <a:ext cx="5029200" cy="3931920"/>
          </a:xfrm>
          <a:prstGeom prst="roundRect">
            <a:avLst>
              <a:gd name="adj" fmla="val 2326"/>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Text 9"/>
          <p:cNvSpPr/>
          <p:nvPr/>
        </p:nvSpPr>
        <p:spPr>
          <a:xfrm>
            <a:off x="6858000" y="2286000"/>
            <a:ext cx="4480560" cy="329184"/>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How a reasoning model answers</a:t>
            </a:r>
            <a:endParaRPr lang="en-US" sz="1400" dirty="0"/>
          </a:p>
        </p:txBody>
      </p:sp>
      <p:sp>
        <p:nvSpPr>
          <p:cNvPr id="12" name="Shape 10"/>
          <p:cNvSpPr/>
          <p:nvPr/>
        </p:nvSpPr>
        <p:spPr>
          <a:xfrm>
            <a:off x="6949440" y="2697480"/>
            <a:ext cx="4297680" cy="603504"/>
          </a:xfrm>
          <a:prstGeom prst="roundRect">
            <a:avLst>
              <a:gd name="adj" fmla="val 12121"/>
            </a:avLst>
          </a:prstGeom>
          <a:solidFill>
            <a:srgbClr val="F4F5F9"/>
          </a:solidFill>
          <a:ln w="15875">
            <a:solidFill>
              <a:srgbClr val="8A93AB"/>
            </a:solidFill>
            <a:prstDash val="solid"/>
          </a:ln>
        </p:spPr>
      </p:sp>
      <p:sp>
        <p:nvSpPr>
          <p:cNvPr id="13" name="Text 11"/>
          <p:cNvSpPr/>
          <p:nvPr/>
        </p:nvSpPr>
        <p:spPr>
          <a:xfrm>
            <a:off x="7132320" y="2697480"/>
            <a:ext cx="1920240" cy="603504"/>
          </a:xfrm>
          <a:prstGeom prst="rect">
            <a:avLst/>
          </a:prstGeom>
          <a:noFill/>
          <a:ln/>
        </p:spPr>
        <p:txBody>
          <a:bodyPr wrap="square" lIns="0" tIns="0" rIns="0" bIns="0" rtlCol="0" anchor="ctr"/>
          <a:lstStyle/>
          <a:p>
            <a:pPr indent="0" marL="0">
              <a:buNone/>
            </a:pPr>
            <a:r>
              <a:rPr lang="en-US" sz="1250" b="1" dirty="0">
                <a:solidFill>
                  <a:srgbClr val="8A93AB"/>
                </a:solidFill>
                <a:latin typeface="Courier New" pitchFamily="34" charset="0"/>
                <a:ea typeface="Courier New" pitchFamily="34" charset="-122"/>
                <a:cs typeface="Courier New" pitchFamily="34" charset="-120"/>
              </a:rPr>
              <a:t>Prompt</a:t>
            </a:r>
            <a:endParaRPr lang="en-US" sz="1250" dirty="0"/>
          </a:p>
        </p:txBody>
      </p:sp>
      <p:sp>
        <p:nvSpPr>
          <p:cNvPr id="14" name="Text 12"/>
          <p:cNvSpPr/>
          <p:nvPr/>
        </p:nvSpPr>
        <p:spPr>
          <a:xfrm>
            <a:off x="8869680" y="269748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a hard question arrives</a:t>
            </a:r>
            <a:endParaRPr lang="en-US" sz="1080" dirty="0"/>
          </a:p>
        </p:txBody>
      </p:sp>
      <p:sp>
        <p:nvSpPr>
          <p:cNvPr id="15" name="Shape 13"/>
          <p:cNvSpPr/>
          <p:nvPr/>
        </p:nvSpPr>
        <p:spPr>
          <a:xfrm>
            <a:off x="9098280" y="3300984"/>
            <a:ext cx="0" cy="173736"/>
          </a:xfrm>
          <a:prstGeom prst="line">
            <a:avLst/>
          </a:prstGeom>
          <a:noFill/>
          <a:ln w="19050">
            <a:solidFill>
              <a:srgbClr val="8A93AB"/>
            </a:solidFill>
            <a:prstDash val="solid"/>
            <a:tailEnd type="triangle"/>
          </a:ln>
        </p:spPr>
      </p:sp>
      <p:sp>
        <p:nvSpPr>
          <p:cNvPr id="16" name="Shape 14"/>
          <p:cNvSpPr/>
          <p:nvPr/>
        </p:nvSpPr>
        <p:spPr>
          <a:xfrm>
            <a:off x="6949440" y="3474720"/>
            <a:ext cx="4297680" cy="603504"/>
          </a:xfrm>
          <a:prstGeom prst="roundRect">
            <a:avLst>
              <a:gd name="adj" fmla="val 12121"/>
            </a:avLst>
          </a:prstGeom>
          <a:solidFill>
            <a:srgbClr val="EEECFB"/>
          </a:solidFill>
          <a:ln w="15875">
            <a:solidFill>
              <a:srgbClr val="5B4BE0"/>
            </a:solidFill>
            <a:prstDash val="solid"/>
          </a:ln>
        </p:spPr>
      </p:sp>
      <p:sp>
        <p:nvSpPr>
          <p:cNvPr id="17" name="Text 15"/>
          <p:cNvSpPr/>
          <p:nvPr/>
        </p:nvSpPr>
        <p:spPr>
          <a:xfrm>
            <a:off x="7132320" y="3474720"/>
            <a:ext cx="1920240" cy="603504"/>
          </a:xfrm>
          <a:prstGeom prst="rect">
            <a:avLst/>
          </a:prstGeom>
          <a:noFill/>
          <a:ln/>
        </p:spPr>
        <p:txBody>
          <a:bodyPr wrap="square" lIns="0" tIns="0" rIns="0" bIns="0" rtlCol="0" anchor="ctr"/>
          <a:lstStyle/>
          <a:p>
            <a:pPr indent="0" marL="0">
              <a:buNone/>
            </a:pPr>
            <a:r>
              <a:rPr lang="en-US" sz="1250" b="1" dirty="0">
                <a:solidFill>
                  <a:srgbClr val="5B4BE0"/>
                </a:solidFill>
                <a:latin typeface="Courier New" pitchFamily="34" charset="0"/>
                <a:ea typeface="Courier New" pitchFamily="34" charset="-122"/>
                <a:cs typeface="Courier New" pitchFamily="34" charset="-120"/>
              </a:rPr>
              <a:t>&lt;think&gt;</a:t>
            </a:r>
            <a:endParaRPr lang="en-US" sz="1250" dirty="0"/>
          </a:p>
        </p:txBody>
      </p:sp>
      <p:sp>
        <p:nvSpPr>
          <p:cNvPr id="18" name="Text 16"/>
          <p:cNvSpPr/>
          <p:nvPr/>
        </p:nvSpPr>
        <p:spPr>
          <a:xfrm>
            <a:off x="8869680" y="347472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draft, branch, verify, backtrack — a long internal chain</a:t>
            </a:r>
            <a:endParaRPr lang="en-US" sz="1080" dirty="0"/>
          </a:p>
        </p:txBody>
      </p:sp>
      <p:sp>
        <p:nvSpPr>
          <p:cNvPr id="19" name="Shape 17"/>
          <p:cNvSpPr/>
          <p:nvPr/>
        </p:nvSpPr>
        <p:spPr>
          <a:xfrm>
            <a:off x="9098280" y="4078224"/>
            <a:ext cx="0" cy="173736"/>
          </a:xfrm>
          <a:prstGeom prst="line">
            <a:avLst/>
          </a:prstGeom>
          <a:noFill/>
          <a:ln w="19050">
            <a:solidFill>
              <a:srgbClr val="8A93AB"/>
            </a:solidFill>
            <a:prstDash val="solid"/>
            <a:tailEnd type="triangle"/>
          </a:ln>
        </p:spPr>
      </p:sp>
      <p:sp>
        <p:nvSpPr>
          <p:cNvPr id="20" name="Shape 18"/>
          <p:cNvSpPr/>
          <p:nvPr/>
        </p:nvSpPr>
        <p:spPr>
          <a:xfrm>
            <a:off x="6949440" y="4251960"/>
            <a:ext cx="4297680" cy="603504"/>
          </a:xfrm>
          <a:prstGeom prst="roundRect">
            <a:avLst>
              <a:gd name="adj" fmla="val 12121"/>
            </a:avLst>
          </a:prstGeom>
          <a:solidFill>
            <a:srgbClr val="F4F5F9"/>
          </a:solidFill>
          <a:ln w="15875">
            <a:solidFill>
              <a:srgbClr val="D9820A"/>
            </a:solidFill>
            <a:prstDash val="solid"/>
          </a:ln>
        </p:spPr>
      </p:sp>
      <p:sp>
        <p:nvSpPr>
          <p:cNvPr id="21" name="Text 19"/>
          <p:cNvSpPr/>
          <p:nvPr/>
        </p:nvSpPr>
        <p:spPr>
          <a:xfrm>
            <a:off x="7132320" y="4251960"/>
            <a:ext cx="1920240" cy="603504"/>
          </a:xfrm>
          <a:prstGeom prst="rect">
            <a:avLst/>
          </a:prstGeom>
          <a:noFill/>
          <a:ln/>
        </p:spPr>
        <p:txBody>
          <a:bodyPr wrap="square" lIns="0" tIns="0" rIns="0" bIns="0" rtlCol="0" anchor="ctr"/>
          <a:lstStyle/>
          <a:p>
            <a:pPr indent="0" marL="0">
              <a:buNone/>
            </a:pPr>
            <a:r>
              <a:rPr lang="en-US" sz="1250" b="1" dirty="0">
                <a:solidFill>
                  <a:srgbClr val="D9820A"/>
                </a:solidFill>
                <a:latin typeface="Courier New" pitchFamily="34" charset="0"/>
                <a:ea typeface="Courier New" pitchFamily="34" charset="-122"/>
                <a:cs typeface="Courier New" pitchFamily="34" charset="-120"/>
              </a:rPr>
              <a:t>self-check</a:t>
            </a:r>
            <a:endParaRPr lang="en-US" sz="1250" dirty="0"/>
          </a:p>
        </p:txBody>
      </p:sp>
      <p:sp>
        <p:nvSpPr>
          <p:cNvPr id="22" name="Text 20"/>
          <p:cNvSpPr/>
          <p:nvPr/>
        </p:nvSpPr>
        <p:spPr>
          <a:xfrm>
            <a:off x="8869680" y="425196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catch its own errors mid-reasoning</a:t>
            </a:r>
            <a:endParaRPr lang="en-US" sz="1080" dirty="0"/>
          </a:p>
        </p:txBody>
      </p:sp>
      <p:sp>
        <p:nvSpPr>
          <p:cNvPr id="23" name="Shape 21"/>
          <p:cNvSpPr/>
          <p:nvPr/>
        </p:nvSpPr>
        <p:spPr>
          <a:xfrm>
            <a:off x="9098280" y="4855464"/>
            <a:ext cx="0" cy="173736"/>
          </a:xfrm>
          <a:prstGeom prst="line">
            <a:avLst/>
          </a:prstGeom>
          <a:noFill/>
          <a:ln w="19050">
            <a:solidFill>
              <a:srgbClr val="8A93AB"/>
            </a:solidFill>
            <a:prstDash val="solid"/>
            <a:tailEnd type="triangle"/>
          </a:ln>
        </p:spPr>
      </p:sp>
      <p:sp>
        <p:nvSpPr>
          <p:cNvPr id="24" name="Shape 22"/>
          <p:cNvSpPr/>
          <p:nvPr/>
        </p:nvSpPr>
        <p:spPr>
          <a:xfrm>
            <a:off x="6949440" y="5029200"/>
            <a:ext cx="4297680" cy="603504"/>
          </a:xfrm>
          <a:prstGeom prst="roundRect">
            <a:avLst>
              <a:gd name="adj" fmla="val 12121"/>
            </a:avLst>
          </a:prstGeom>
          <a:solidFill>
            <a:srgbClr val="F4F5F9"/>
          </a:solidFill>
          <a:ln w="15875">
            <a:solidFill>
              <a:srgbClr val="0E9E96"/>
            </a:solidFill>
            <a:prstDash val="solid"/>
          </a:ln>
        </p:spPr>
      </p:sp>
      <p:sp>
        <p:nvSpPr>
          <p:cNvPr id="25" name="Text 23"/>
          <p:cNvSpPr/>
          <p:nvPr/>
        </p:nvSpPr>
        <p:spPr>
          <a:xfrm>
            <a:off x="7132320" y="5029200"/>
            <a:ext cx="1920240" cy="603504"/>
          </a:xfrm>
          <a:prstGeom prst="rect">
            <a:avLst/>
          </a:prstGeom>
          <a:noFill/>
          <a:ln/>
        </p:spPr>
        <p:txBody>
          <a:bodyPr wrap="square" lIns="0" tIns="0" rIns="0" bIns="0" rtlCol="0" anchor="ctr"/>
          <a:lstStyle/>
          <a:p>
            <a:pPr indent="0" marL="0">
              <a:buNone/>
            </a:pPr>
            <a:r>
              <a:rPr lang="en-US" sz="1250" b="1" dirty="0">
                <a:solidFill>
                  <a:srgbClr val="0E9E96"/>
                </a:solidFill>
                <a:latin typeface="Courier New" pitchFamily="34" charset="0"/>
                <a:ea typeface="Courier New" pitchFamily="34" charset="-122"/>
                <a:cs typeface="Courier New" pitchFamily="34" charset="-120"/>
              </a:rPr>
              <a:t>&lt;/think&gt; → answer</a:t>
            </a:r>
            <a:endParaRPr lang="en-US" sz="1250" dirty="0"/>
          </a:p>
        </p:txBody>
      </p:sp>
      <p:sp>
        <p:nvSpPr>
          <p:cNvPr id="26" name="Text 24"/>
          <p:cNvSpPr/>
          <p:nvPr/>
        </p:nvSpPr>
        <p:spPr>
          <a:xfrm>
            <a:off x="8869680" y="502920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commit only after reasoning</a:t>
            </a:r>
            <a:endParaRPr lang="en-US" sz="10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2026 · THE FRONTIER TODAY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current landscape — families, not just models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Vendor model cards &amp; docs, 2025–2026 (Anthropic, OpenAI, Google, Meta, DeepSeek, Alibaba, Mistral)</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00" i="1" dirty="0">
                <a:solidFill>
                  <a:srgbClr val="5A6685"/>
                </a:solidFill>
                <a:latin typeface="Calibri" pitchFamily="34" charset="0"/>
                <a:ea typeface="Calibri" pitchFamily="34" charset="-122"/>
                <a:cs typeface="Calibri" pitchFamily="34" charset="-120"/>
              </a:rPr>
              <a:t>By 2026 the frontier is a handful of model families, each spanning fast/cheap to deep-reasoning tiers. Naming churns monthly — think in families and capabilities, not version numbers.</a:t>
            </a:r>
            <a:endParaRPr lang="en-US" sz="1300" dirty="0"/>
          </a:p>
        </p:txBody>
      </p:sp>
      <p:sp>
        <p:nvSpPr>
          <p:cNvPr id="7" name="Shape 5"/>
          <p:cNvSpPr/>
          <p:nvPr/>
        </p:nvSpPr>
        <p:spPr>
          <a:xfrm>
            <a:off x="56692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566928" y="2103120"/>
            <a:ext cx="128016" cy="1783080"/>
          </a:xfrm>
          <a:prstGeom prst="roundRect">
            <a:avLst>
              <a:gd name="adj" fmla="val 28571"/>
            </a:avLst>
          </a:prstGeom>
          <a:solidFill>
            <a:srgbClr val="D9820A"/>
          </a:solidFill>
          <a:ln/>
        </p:spPr>
      </p:sp>
      <p:sp>
        <p:nvSpPr>
          <p:cNvPr id="9" name="Text 7"/>
          <p:cNvSpPr/>
          <p:nvPr/>
        </p:nvSpPr>
        <p:spPr>
          <a:xfrm>
            <a:off x="87782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Claude</a:t>
            </a:r>
            <a:endParaRPr lang="en-US" sz="1800" dirty="0"/>
          </a:p>
        </p:txBody>
      </p:sp>
      <p:sp>
        <p:nvSpPr>
          <p:cNvPr id="10" name="Text 8"/>
          <p:cNvSpPr/>
          <p:nvPr/>
        </p:nvSpPr>
        <p:spPr>
          <a:xfrm>
            <a:off x="877824" y="2688336"/>
            <a:ext cx="3044952" cy="274320"/>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Anthropic</a:t>
            </a:r>
            <a:endParaRPr lang="en-US" sz="1100" dirty="0"/>
          </a:p>
        </p:txBody>
      </p:sp>
      <p:sp>
        <p:nvSpPr>
          <p:cNvPr id="11" name="Text 9"/>
          <p:cNvSpPr/>
          <p:nvPr/>
        </p:nvSpPr>
        <p:spPr>
          <a:xfrm>
            <a:off x="87782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Opus · Sonnet · Haiku tiers; long-context, strong coding &amp; agentic use</a:t>
            </a:r>
            <a:endParaRPr lang="en-US" sz="1100" dirty="0"/>
          </a:p>
        </p:txBody>
      </p:sp>
      <p:sp>
        <p:nvSpPr>
          <p:cNvPr id="12" name="Shape 10"/>
          <p:cNvSpPr/>
          <p:nvPr/>
        </p:nvSpPr>
        <p:spPr>
          <a:xfrm>
            <a:off x="431596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1"/>
          <p:cNvSpPr/>
          <p:nvPr/>
        </p:nvSpPr>
        <p:spPr>
          <a:xfrm>
            <a:off x="4315968" y="2103120"/>
            <a:ext cx="128016" cy="1783080"/>
          </a:xfrm>
          <a:prstGeom prst="roundRect">
            <a:avLst>
              <a:gd name="adj" fmla="val 28571"/>
            </a:avLst>
          </a:prstGeom>
          <a:solidFill>
            <a:srgbClr val="1B9C5A"/>
          </a:solidFill>
          <a:ln/>
        </p:spPr>
      </p:sp>
      <p:sp>
        <p:nvSpPr>
          <p:cNvPr id="14" name="Text 12"/>
          <p:cNvSpPr/>
          <p:nvPr/>
        </p:nvSpPr>
        <p:spPr>
          <a:xfrm>
            <a:off x="462686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GPT</a:t>
            </a:r>
            <a:endParaRPr lang="en-US" sz="1800" dirty="0"/>
          </a:p>
        </p:txBody>
      </p:sp>
      <p:sp>
        <p:nvSpPr>
          <p:cNvPr id="15" name="Text 13"/>
          <p:cNvSpPr/>
          <p:nvPr/>
        </p:nvSpPr>
        <p:spPr>
          <a:xfrm>
            <a:off x="4626864" y="2688336"/>
            <a:ext cx="3044952" cy="274320"/>
          </a:xfrm>
          <a:prstGeom prst="rect">
            <a:avLst/>
          </a:prstGeom>
          <a:noFill/>
          <a:ln/>
        </p:spPr>
        <p:txBody>
          <a:bodyPr wrap="square" lIns="0" tIns="0" rIns="0" bIns="0" rtlCol="0" anchor="ctr"/>
          <a:lstStyle/>
          <a:p>
            <a:pPr indent="0" marL="0">
              <a:buNone/>
            </a:pPr>
            <a:r>
              <a:rPr lang="en-US" sz="1100" b="1" dirty="0">
                <a:solidFill>
                  <a:srgbClr val="1B9C5A"/>
                </a:solidFill>
                <a:latin typeface="Calibri" pitchFamily="34" charset="0"/>
                <a:ea typeface="Calibri" pitchFamily="34" charset="-122"/>
                <a:cs typeface="Calibri" pitchFamily="34" charset="-120"/>
              </a:rPr>
              <a:t>OpenAI</a:t>
            </a:r>
            <a:endParaRPr lang="en-US" sz="1100" dirty="0"/>
          </a:p>
        </p:txBody>
      </p:sp>
      <p:sp>
        <p:nvSpPr>
          <p:cNvPr id="16" name="Text 14"/>
          <p:cNvSpPr/>
          <p:nvPr/>
        </p:nvSpPr>
        <p:spPr>
          <a:xfrm>
            <a:off x="462686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Flagship + reasoning ('o'-series) lines; broad multimodal ecosystem</a:t>
            </a:r>
            <a:endParaRPr lang="en-US" sz="1100" dirty="0"/>
          </a:p>
        </p:txBody>
      </p:sp>
      <p:sp>
        <p:nvSpPr>
          <p:cNvPr id="17" name="Shape 15"/>
          <p:cNvSpPr/>
          <p:nvPr/>
        </p:nvSpPr>
        <p:spPr>
          <a:xfrm>
            <a:off x="806500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6"/>
          <p:cNvSpPr/>
          <p:nvPr/>
        </p:nvSpPr>
        <p:spPr>
          <a:xfrm>
            <a:off x="8065008" y="2103120"/>
            <a:ext cx="128016" cy="1783080"/>
          </a:xfrm>
          <a:prstGeom prst="roundRect">
            <a:avLst>
              <a:gd name="adj" fmla="val 28571"/>
            </a:avLst>
          </a:prstGeom>
          <a:solidFill>
            <a:srgbClr val="5B4BE0"/>
          </a:solidFill>
          <a:ln/>
        </p:spPr>
      </p:sp>
      <p:sp>
        <p:nvSpPr>
          <p:cNvPr id="19" name="Text 17"/>
          <p:cNvSpPr/>
          <p:nvPr/>
        </p:nvSpPr>
        <p:spPr>
          <a:xfrm>
            <a:off x="837590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Gemini</a:t>
            </a:r>
            <a:endParaRPr lang="en-US" sz="1800" dirty="0"/>
          </a:p>
        </p:txBody>
      </p:sp>
      <p:sp>
        <p:nvSpPr>
          <p:cNvPr id="20" name="Text 18"/>
          <p:cNvSpPr/>
          <p:nvPr/>
        </p:nvSpPr>
        <p:spPr>
          <a:xfrm>
            <a:off x="8375904" y="2688336"/>
            <a:ext cx="3044952" cy="274320"/>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Google DeepMind</a:t>
            </a:r>
            <a:endParaRPr lang="en-US" sz="1100" dirty="0"/>
          </a:p>
        </p:txBody>
      </p:sp>
      <p:sp>
        <p:nvSpPr>
          <p:cNvPr id="21" name="Text 19"/>
          <p:cNvSpPr/>
          <p:nvPr/>
        </p:nvSpPr>
        <p:spPr>
          <a:xfrm>
            <a:off x="837590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Natively multimodal, very long context, tight Google integration</a:t>
            </a:r>
            <a:endParaRPr lang="en-US" sz="1100" dirty="0"/>
          </a:p>
        </p:txBody>
      </p:sp>
      <p:sp>
        <p:nvSpPr>
          <p:cNvPr id="22" name="Shape 20"/>
          <p:cNvSpPr/>
          <p:nvPr/>
        </p:nvSpPr>
        <p:spPr>
          <a:xfrm>
            <a:off x="56692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21"/>
          <p:cNvSpPr/>
          <p:nvPr/>
        </p:nvSpPr>
        <p:spPr>
          <a:xfrm>
            <a:off x="566928" y="4069080"/>
            <a:ext cx="128016" cy="1783080"/>
          </a:xfrm>
          <a:prstGeom prst="roundRect">
            <a:avLst>
              <a:gd name="adj" fmla="val 28571"/>
            </a:avLst>
          </a:prstGeom>
          <a:solidFill>
            <a:srgbClr val="0E9E96"/>
          </a:solidFill>
          <a:ln/>
        </p:spPr>
      </p:sp>
      <p:sp>
        <p:nvSpPr>
          <p:cNvPr id="24" name="Text 22"/>
          <p:cNvSpPr/>
          <p:nvPr/>
        </p:nvSpPr>
        <p:spPr>
          <a:xfrm>
            <a:off x="87782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Llama</a:t>
            </a:r>
            <a:endParaRPr lang="en-US" sz="1800" dirty="0"/>
          </a:p>
        </p:txBody>
      </p:sp>
      <p:sp>
        <p:nvSpPr>
          <p:cNvPr id="25" name="Text 23"/>
          <p:cNvSpPr/>
          <p:nvPr/>
        </p:nvSpPr>
        <p:spPr>
          <a:xfrm>
            <a:off x="877824" y="4654296"/>
            <a:ext cx="3044952" cy="274320"/>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Meta</a:t>
            </a:r>
            <a:endParaRPr lang="en-US" sz="1100" dirty="0"/>
          </a:p>
        </p:txBody>
      </p:sp>
      <p:sp>
        <p:nvSpPr>
          <p:cNvPr id="26" name="Text 24"/>
          <p:cNvSpPr/>
          <p:nvPr/>
        </p:nvSpPr>
        <p:spPr>
          <a:xfrm>
            <a:off x="87782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Open-weight frontier; Llama 4 MoE (Scout / Maverick), huge context</a:t>
            </a:r>
            <a:endParaRPr lang="en-US" sz="1100" dirty="0"/>
          </a:p>
        </p:txBody>
      </p:sp>
      <p:sp>
        <p:nvSpPr>
          <p:cNvPr id="27" name="Shape 25"/>
          <p:cNvSpPr/>
          <p:nvPr/>
        </p:nvSpPr>
        <p:spPr>
          <a:xfrm>
            <a:off x="431596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6"/>
          <p:cNvSpPr/>
          <p:nvPr/>
        </p:nvSpPr>
        <p:spPr>
          <a:xfrm>
            <a:off x="4315968" y="4069080"/>
            <a:ext cx="128016" cy="1783080"/>
          </a:xfrm>
          <a:prstGeom prst="roundRect">
            <a:avLst>
              <a:gd name="adj" fmla="val 28571"/>
            </a:avLst>
          </a:prstGeom>
          <a:solidFill>
            <a:srgbClr val="E5484D"/>
          </a:solidFill>
          <a:ln/>
        </p:spPr>
      </p:sp>
      <p:sp>
        <p:nvSpPr>
          <p:cNvPr id="29" name="Text 27"/>
          <p:cNvSpPr/>
          <p:nvPr/>
        </p:nvSpPr>
        <p:spPr>
          <a:xfrm>
            <a:off x="462686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DeepSeek</a:t>
            </a:r>
            <a:endParaRPr lang="en-US" sz="1800" dirty="0"/>
          </a:p>
        </p:txBody>
      </p:sp>
      <p:sp>
        <p:nvSpPr>
          <p:cNvPr id="30" name="Text 28"/>
          <p:cNvSpPr/>
          <p:nvPr/>
        </p:nvSpPr>
        <p:spPr>
          <a:xfrm>
            <a:off x="4626864" y="4654296"/>
            <a:ext cx="3044952" cy="27432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DeepSeek-AI</a:t>
            </a:r>
            <a:endParaRPr lang="en-US" sz="1100" dirty="0"/>
          </a:p>
        </p:txBody>
      </p:sp>
      <p:sp>
        <p:nvSpPr>
          <p:cNvPr id="31" name="Text 29"/>
          <p:cNvSpPr/>
          <p:nvPr/>
        </p:nvSpPr>
        <p:spPr>
          <a:xfrm>
            <a:off x="462686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 MoE + reasoning (V3 / R1); cost-efficiency leader</a:t>
            </a:r>
            <a:endParaRPr lang="en-US" sz="1100" dirty="0"/>
          </a:p>
        </p:txBody>
      </p:sp>
      <p:sp>
        <p:nvSpPr>
          <p:cNvPr id="32" name="Shape 30"/>
          <p:cNvSpPr/>
          <p:nvPr/>
        </p:nvSpPr>
        <p:spPr>
          <a:xfrm>
            <a:off x="806500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31"/>
          <p:cNvSpPr/>
          <p:nvPr/>
        </p:nvSpPr>
        <p:spPr>
          <a:xfrm>
            <a:off x="8065008" y="4069080"/>
            <a:ext cx="128016" cy="1783080"/>
          </a:xfrm>
          <a:prstGeom prst="roundRect">
            <a:avLst>
              <a:gd name="adj" fmla="val 28571"/>
            </a:avLst>
          </a:prstGeom>
          <a:solidFill>
            <a:srgbClr val="7C6FF0"/>
          </a:solidFill>
          <a:ln/>
        </p:spPr>
      </p:sp>
      <p:sp>
        <p:nvSpPr>
          <p:cNvPr id="34" name="Text 32"/>
          <p:cNvSpPr/>
          <p:nvPr/>
        </p:nvSpPr>
        <p:spPr>
          <a:xfrm>
            <a:off x="837590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Qwen / Mistral</a:t>
            </a:r>
            <a:endParaRPr lang="en-US" sz="1800" dirty="0"/>
          </a:p>
        </p:txBody>
      </p:sp>
      <p:sp>
        <p:nvSpPr>
          <p:cNvPr id="35" name="Text 33"/>
          <p:cNvSpPr/>
          <p:nvPr/>
        </p:nvSpPr>
        <p:spPr>
          <a:xfrm>
            <a:off x="8375904" y="4654296"/>
            <a:ext cx="3044952" cy="274320"/>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Alibaba · Mistral</a:t>
            </a:r>
            <a:endParaRPr lang="en-US" sz="1100" dirty="0"/>
          </a:p>
        </p:txBody>
      </p:sp>
      <p:sp>
        <p:nvSpPr>
          <p:cNvPr id="36" name="Text 34"/>
          <p:cNvSpPr/>
          <p:nvPr/>
        </p:nvSpPr>
        <p:spPr>
          <a:xfrm>
            <a:off x="837590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Strong open families; dense + MoE, multilingual, edge-friendly</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PROGRESS, QUANTIFIED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Six years of MMLU — the capability curve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Scores from each model's paper/report; MMLU = 57-subject knowledge &amp; reasoning benchmark (Hendrycks et al., arXiv:2009.03300)</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35</a:t>
            </a:r>
            <a:endParaRPr lang="en-US" sz="900" dirty="0"/>
          </a:p>
        </p:txBody>
      </p:sp>
      <p:graphicFrame>
        <p:nvGraphicFramePr>
          <p:cNvPr id="6" name="Chart 0" descr=""/>
          <p:cNvGraphicFramePr/>
          <p:nvPr/>
        </p:nvGraphicFramePr>
        <p:xfrm>
          <a:off x="566928" y="16916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38160" y="1691640"/>
            <a:ext cx="3474720" cy="4297680"/>
          </a:xfrm>
          <a:prstGeom prst="roundRect">
            <a:avLst>
              <a:gd name="adj" fmla="val 263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5"/>
          <p:cNvSpPr/>
          <p:nvPr/>
        </p:nvSpPr>
        <p:spPr>
          <a:xfrm>
            <a:off x="8366760" y="1874520"/>
            <a:ext cx="30175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Reading the curve</a:t>
            </a:r>
            <a:endParaRPr lang="en-US" sz="1500" dirty="0"/>
          </a:p>
        </p:txBody>
      </p:sp>
      <p:sp>
        <p:nvSpPr>
          <p:cNvPr id="9" name="Text 6"/>
          <p:cNvSpPr/>
          <p:nvPr/>
        </p:nvSpPr>
        <p:spPr>
          <a:xfrm>
            <a:off x="8366760" y="2286000"/>
            <a:ext cx="3063240" cy="3566160"/>
          </a:xfrm>
          <a:prstGeom prst="rect">
            <a:avLst/>
          </a:prstGeom>
          <a:noFill/>
          <a:ln/>
        </p:spPr>
        <p:txBody>
          <a:bodyPr wrap="square" lIns="25400" tIns="25400" rIns="25400" bIns="25400" rtlCol="0" anchor="t"/>
          <a:lstStyle/>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GPT-3 (2020) sat near 44% — barely above random on many subjects</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GPT-4 (2023) leapt past 86% — into expert range</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Human expert baseline ≈ 89.8% (Hendrycks et al.)</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The curve is now flattening near the test's ceiling — newer benchmarks (MMLU-Pro, GPQA) take over</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A FIELD GUIDE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Types of models you'll meet in 2026</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survey literature (2024–2026)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92024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2114550"/>
            <a:ext cx="388620" cy="388620"/>
          </a:xfrm>
          <a:prstGeom prst="rect">
            <a:avLst/>
          </a:prstGeom>
        </p:spPr>
      </p:pic>
      <p:sp>
        <p:nvSpPr>
          <p:cNvPr id="9" name="Text 6"/>
          <p:cNvSpPr/>
          <p:nvPr/>
        </p:nvSpPr>
        <p:spPr>
          <a:xfrm>
            <a:off x="175564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Open ↔ Closed</a:t>
            </a:r>
            <a:endParaRPr lang="en-US" sz="1450" dirty="0"/>
          </a:p>
        </p:txBody>
      </p:sp>
      <p:sp>
        <p:nvSpPr>
          <p:cNvPr id="10" name="Text 7"/>
          <p:cNvSpPr/>
          <p:nvPr/>
        </p:nvSpPr>
        <p:spPr>
          <a:xfrm>
            <a:off x="85953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Open-weight (Llama, Mistral, Qwen, DeepSeek) you can host &amp; fine-tune  vs  closed/API frontier (GPT, Claude, Gemini).</a:t>
            </a:r>
            <a:endParaRPr lang="en-US" sz="1100" dirty="0"/>
          </a:p>
        </p:txBody>
      </p:sp>
      <p:sp>
        <p:nvSpPr>
          <p:cNvPr id="11" name="Shape 8"/>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590288" y="1920240"/>
            <a:ext cx="777240" cy="777240"/>
          </a:xfrm>
          <a:prstGeom prst="ellipse">
            <a:avLst/>
          </a:prstGeom>
          <a:solidFill>
            <a:srgbClr val="E2F4F2"/>
          </a:solidFill>
          <a:ln/>
        </p:spPr>
      </p:sp>
      <p:pic>
        <p:nvPicPr>
          <p:cNvPr id="13" name="Image 1" descr="preencoded.png">    </p:cNvPr>
          <p:cNvPicPr>
            <a:picLocks noChangeAspect="1"/>
          </p:cNvPicPr>
          <p:nvPr/>
        </p:nvPicPr>
        <p:blipFill>
          <a:blip r:embed="rId2"/>
          <a:stretch>
            <a:fillRect/>
          </a:stretch>
        </p:blipFill>
        <p:spPr>
          <a:xfrm>
            <a:off x="4784598" y="2114550"/>
            <a:ext cx="388620" cy="388620"/>
          </a:xfrm>
          <a:prstGeom prst="rect">
            <a:avLst/>
          </a:prstGeom>
        </p:spPr>
      </p:pic>
      <p:sp>
        <p:nvSpPr>
          <p:cNvPr id="14" name="Text 10"/>
          <p:cNvSpPr/>
          <p:nvPr/>
        </p:nvSpPr>
        <p:spPr>
          <a:xfrm>
            <a:off x="550468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Dense ↔ MoE</a:t>
            </a:r>
            <a:endParaRPr lang="en-US" sz="1450" dirty="0"/>
          </a:p>
        </p:txBody>
      </p:sp>
      <p:sp>
        <p:nvSpPr>
          <p:cNvPr id="15" name="Text 11"/>
          <p:cNvSpPr/>
          <p:nvPr/>
        </p:nvSpPr>
        <p:spPr>
          <a:xfrm>
            <a:off x="460857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Dense runs every weight per token; Mixture-of-Experts activates a sparse subset — more capacity per unit compute.</a:t>
            </a:r>
            <a:endParaRPr lang="en-US" sz="1100" dirty="0"/>
          </a:p>
        </p:txBody>
      </p:sp>
      <p:sp>
        <p:nvSpPr>
          <p:cNvPr id="16" name="Shape 12"/>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8339328" y="1920240"/>
            <a:ext cx="777240" cy="777240"/>
          </a:xfrm>
          <a:prstGeom prst="ellipse">
            <a:avLst/>
          </a:prstGeom>
          <a:solidFill>
            <a:srgbClr val="FBEFD8"/>
          </a:solidFill>
          <a:ln/>
        </p:spPr>
      </p:sp>
      <p:pic>
        <p:nvPicPr>
          <p:cNvPr id="18" name="Image 2" descr="preencoded.png">    </p:cNvPr>
          <p:cNvPicPr>
            <a:picLocks noChangeAspect="1"/>
          </p:cNvPicPr>
          <p:nvPr/>
        </p:nvPicPr>
        <p:blipFill>
          <a:blip r:embed="rId3"/>
          <a:stretch>
            <a:fillRect/>
          </a:stretch>
        </p:blipFill>
        <p:spPr>
          <a:xfrm>
            <a:off x="8533638" y="2114550"/>
            <a:ext cx="388620" cy="388620"/>
          </a:xfrm>
          <a:prstGeom prst="rect">
            <a:avLst/>
          </a:prstGeom>
        </p:spPr>
      </p:pic>
      <p:sp>
        <p:nvSpPr>
          <p:cNvPr id="19" name="Text 14"/>
          <p:cNvSpPr/>
          <p:nvPr/>
        </p:nvSpPr>
        <p:spPr>
          <a:xfrm>
            <a:off x="925372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SLM ↔ Frontier</a:t>
            </a:r>
            <a:endParaRPr lang="en-US" sz="1450" dirty="0"/>
          </a:p>
        </p:txBody>
      </p:sp>
      <p:sp>
        <p:nvSpPr>
          <p:cNvPr id="20" name="Text 15"/>
          <p:cNvSpPr/>
          <p:nvPr/>
        </p:nvSpPr>
        <p:spPr>
          <a:xfrm>
            <a:off x="835761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Small Language Models (1–8B) run on a laptop/phone; frontier models (100B–1T+) run in datacentres.</a:t>
            </a:r>
            <a:endParaRPr lang="en-US" sz="1100" dirty="0"/>
          </a:p>
        </p:txBody>
      </p:sp>
      <p:sp>
        <p:nvSpPr>
          <p:cNvPr id="21" name="Shape 16"/>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841248" y="4096512"/>
            <a:ext cx="777240" cy="777240"/>
          </a:xfrm>
          <a:prstGeom prst="ellipse">
            <a:avLst/>
          </a:prstGeom>
          <a:solidFill>
            <a:srgbClr val="FBE7E7"/>
          </a:solidFill>
          <a:ln/>
        </p:spPr>
      </p:sp>
      <p:pic>
        <p:nvPicPr>
          <p:cNvPr id="23" name="Image 3" descr="preencoded.png">    </p:cNvPr>
          <p:cNvPicPr>
            <a:picLocks noChangeAspect="1"/>
          </p:cNvPicPr>
          <p:nvPr/>
        </p:nvPicPr>
        <p:blipFill>
          <a:blip r:embed="rId4"/>
          <a:stretch>
            <a:fillRect/>
          </a:stretch>
        </p:blipFill>
        <p:spPr>
          <a:xfrm>
            <a:off x="1035558" y="4290822"/>
            <a:ext cx="388620" cy="388620"/>
          </a:xfrm>
          <a:prstGeom prst="rect">
            <a:avLst/>
          </a:prstGeom>
        </p:spPr>
      </p:pic>
      <p:sp>
        <p:nvSpPr>
          <p:cNvPr id="24" name="Text 18"/>
          <p:cNvSpPr/>
          <p:nvPr/>
        </p:nvSpPr>
        <p:spPr>
          <a:xfrm>
            <a:off x="175564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Standard ↔ Reasoning</a:t>
            </a:r>
            <a:endParaRPr lang="en-US" sz="1450" dirty="0"/>
          </a:p>
        </p:txBody>
      </p:sp>
      <p:sp>
        <p:nvSpPr>
          <p:cNvPr id="25" name="Text 19"/>
          <p:cNvSpPr/>
          <p:nvPr/>
        </p:nvSpPr>
        <p:spPr>
          <a:xfrm>
            <a:off x="85953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Standard models answer directly; reasoning models spend test-time compute on an explicit chain-of-thought.</a:t>
            </a:r>
            <a:endParaRPr lang="en-US" sz="1100" dirty="0"/>
          </a:p>
        </p:txBody>
      </p:sp>
      <p:sp>
        <p:nvSpPr>
          <p:cNvPr id="26" name="Shape 20"/>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4590288" y="4096512"/>
            <a:ext cx="777240" cy="777240"/>
          </a:xfrm>
          <a:prstGeom prst="ellipse">
            <a:avLst/>
          </a:prstGeom>
          <a:solidFill>
            <a:srgbClr val="E3F4EA"/>
          </a:solidFill>
          <a:ln/>
        </p:spPr>
      </p:sp>
      <p:pic>
        <p:nvPicPr>
          <p:cNvPr id="28" name="Image 4" descr="preencoded.png">    </p:cNvPr>
          <p:cNvPicPr>
            <a:picLocks noChangeAspect="1"/>
          </p:cNvPicPr>
          <p:nvPr/>
        </p:nvPicPr>
        <p:blipFill>
          <a:blip r:embed="rId5"/>
          <a:stretch>
            <a:fillRect/>
          </a:stretch>
        </p:blipFill>
        <p:spPr>
          <a:xfrm>
            <a:off x="4784598" y="4290822"/>
            <a:ext cx="388620" cy="388620"/>
          </a:xfrm>
          <a:prstGeom prst="rect">
            <a:avLst/>
          </a:prstGeom>
        </p:spPr>
      </p:pic>
      <p:sp>
        <p:nvSpPr>
          <p:cNvPr id="29" name="Text 22"/>
          <p:cNvSpPr/>
          <p:nvPr/>
        </p:nvSpPr>
        <p:spPr>
          <a:xfrm>
            <a:off x="550468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Text ↔ Multimodal</a:t>
            </a:r>
            <a:endParaRPr lang="en-US" sz="1450" dirty="0"/>
          </a:p>
        </p:txBody>
      </p:sp>
      <p:sp>
        <p:nvSpPr>
          <p:cNvPr id="30" name="Text 23"/>
          <p:cNvSpPr/>
          <p:nvPr/>
        </p:nvSpPr>
        <p:spPr>
          <a:xfrm>
            <a:off x="460857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Text-only vs models that natively take/produce images, audio and video alongside text.</a:t>
            </a:r>
            <a:endParaRPr lang="en-US" sz="1100" dirty="0"/>
          </a:p>
        </p:txBody>
      </p:sp>
      <p:sp>
        <p:nvSpPr>
          <p:cNvPr id="31" name="Shape 24"/>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8339328" y="4096512"/>
            <a:ext cx="777240" cy="777240"/>
          </a:xfrm>
          <a:prstGeom prst="ellipse">
            <a:avLst/>
          </a:prstGeom>
          <a:solidFill>
            <a:srgbClr val="EEECFB"/>
          </a:solidFill>
          <a:ln/>
        </p:spPr>
      </p:sp>
      <p:pic>
        <p:nvPicPr>
          <p:cNvPr id="33" name="Image 5" descr="preencoded.png">    </p:cNvPr>
          <p:cNvPicPr>
            <a:picLocks noChangeAspect="1"/>
          </p:cNvPicPr>
          <p:nvPr/>
        </p:nvPicPr>
        <p:blipFill>
          <a:blip r:embed="rId6"/>
          <a:stretch>
            <a:fillRect/>
          </a:stretch>
        </p:blipFill>
        <p:spPr>
          <a:xfrm>
            <a:off x="8533638" y="4290822"/>
            <a:ext cx="388620" cy="388620"/>
          </a:xfrm>
          <a:prstGeom prst="rect">
            <a:avLst/>
          </a:prstGeom>
        </p:spPr>
      </p:pic>
      <p:sp>
        <p:nvSpPr>
          <p:cNvPr id="34" name="Text 26"/>
          <p:cNvSpPr/>
          <p:nvPr/>
        </p:nvSpPr>
        <p:spPr>
          <a:xfrm>
            <a:off x="925372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Chat ↔ Agentic</a:t>
            </a:r>
            <a:endParaRPr lang="en-US" sz="1450" dirty="0"/>
          </a:p>
        </p:txBody>
      </p:sp>
      <p:sp>
        <p:nvSpPr>
          <p:cNvPr id="35" name="Text 27"/>
          <p:cNvSpPr/>
          <p:nvPr/>
        </p:nvSpPr>
        <p:spPr>
          <a:xfrm>
            <a:off x="835761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A single reply vs an agent that plans, calls tools, and acts over many steps toward a goal.</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IT CHANGED EVERYTHING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LLMs ruled the world — the application layer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Industry usage 2023–2026; arXiv survey literature on LLM applications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66928" y="1645920"/>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95044" y="1901952"/>
            <a:ext cx="822960" cy="82296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700784" y="2107692"/>
            <a:ext cx="411480" cy="411480"/>
          </a:xfrm>
          <a:prstGeom prst="rect">
            <a:avLst/>
          </a:prstGeom>
        </p:spPr>
      </p:pic>
      <p:sp>
        <p:nvSpPr>
          <p:cNvPr id="9" name="Text 6"/>
          <p:cNvSpPr/>
          <p:nvPr/>
        </p:nvSpPr>
        <p:spPr>
          <a:xfrm>
            <a:off x="74980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Software</a:t>
            </a:r>
            <a:endParaRPr lang="en-US" sz="1450" dirty="0"/>
          </a:p>
        </p:txBody>
      </p:sp>
      <p:sp>
        <p:nvSpPr>
          <p:cNvPr id="10" name="Text 7"/>
          <p:cNvSpPr/>
          <p:nvPr/>
        </p:nvSpPr>
        <p:spPr>
          <a:xfrm>
            <a:off x="76809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Copilots, code-gen, autonomous coding agents</a:t>
            </a:r>
            <a:endParaRPr lang="en-US" sz="1100" dirty="0"/>
          </a:p>
        </p:txBody>
      </p:sp>
      <p:sp>
        <p:nvSpPr>
          <p:cNvPr id="11" name="Shape 8"/>
          <p:cNvSpPr/>
          <p:nvPr/>
        </p:nvSpPr>
        <p:spPr>
          <a:xfrm>
            <a:off x="3401568" y="1645920"/>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329684" y="1901952"/>
            <a:ext cx="822960" cy="82296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35424" y="2107692"/>
            <a:ext cx="411480" cy="411480"/>
          </a:xfrm>
          <a:prstGeom prst="rect">
            <a:avLst/>
          </a:prstGeom>
        </p:spPr>
      </p:pic>
      <p:sp>
        <p:nvSpPr>
          <p:cNvPr id="14" name="Text 10"/>
          <p:cNvSpPr/>
          <p:nvPr/>
        </p:nvSpPr>
        <p:spPr>
          <a:xfrm>
            <a:off x="358444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Conversation</a:t>
            </a:r>
            <a:endParaRPr lang="en-US" sz="1450" dirty="0"/>
          </a:p>
        </p:txBody>
      </p:sp>
      <p:sp>
        <p:nvSpPr>
          <p:cNvPr id="15" name="Text 11"/>
          <p:cNvSpPr/>
          <p:nvPr/>
        </p:nvSpPr>
        <p:spPr>
          <a:xfrm>
            <a:off x="360273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Assistants &amp; support that understand intent</a:t>
            </a:r>
            <a:endParaRPr lang="en-US" sz="1100" dirty="0"/>
          </a:p>
        </p:txBody>
      </p:sp>
      <p:sp>
        <p:nvSpPr>
          <p:cNvPr id="16" name="Shape 12"/>
          <p:cNvSpPr/>
          <p:nvPr/>
        </p:nvSpPr>
        <p:spPr>
          <a:xfrm>
            <a:off x="6236208" y="1645920"/>
            <a:ext cx="2679192" cy="2057400"/>
          </a:xfrm>
          <a:prstGeom prst="roundRect">
            <a:avLst>
              <a:gd name="adj" fmla="val 4444"/>
            </a:avLst>
          </a:prstGeom>
          <a:solidFill>
            <a:srgbClr val="FBEFD8"/>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7164324" y="1901952"/>
            <a:ext cx="822960" cy="82296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7370064" y="2107692"/>
            <a:ext cx="411480" cy="411480"/>
          </a:xfrm>
          <a:prstGeom prst="rect">
            <a:avLst/>
          </a:prstGeom>
        </p:spPr>
      </p:pic>
      <p:sp>
        <p:nvSpPr>
          <p:cNvPr id="19" name="Text 14"/>
          <p:cNvSpPr/>
          <p:nvPr/>
        </p:nvSpPr>
        <p:spPr>
          <a:xfrm>
            <a:off x="641908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Knowledge &amp; search</a:t>
            </a:r>
            <a:endParaRPr lang="en-US" sz="1450" dirty="0"/>
          </a:p>
        </p:txBody>
      </p:sp>
      <p:sp>
        <p:nvSpPr>
          <p:cNvPr id="20" name="Text 15"/>
          <p:cNvSpPr/>
          <p:nvPr/>
        </p:nvSpPr>
        <p:spPr>
          <a:xfrm>
            <a:off x="643737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RAG, research assistants, answer engines</a:t>
            </a:r>
            <a:endParaRPr lang="en-US" sz="1100" dirty="0"/>
          </a:p>
        </p:txBody>
      </p:sp>
      <p:sp>
        <p:nvSpPr>
          <p:cNvPr id="21" name="Shape 16"/>
          <p:cNvSpPr/>
          <p:nvPr/>
        </p:nvSpPr>
        <p:spPr>
          <a:xfrm>
            <a:off x="9070848" y="1645920"/>
            <a:ext cx="2679192" cy="2057400"/>
          </a:xfrm>
          <a:prstGeom prst="roundRect">
            <a:avLst>
              <a:gd name="adj" fmla="val 4444"/>
            </a:avLst>
          </a:prstGeom>
          <a:solidFill>
            <a:srgbClr val="FBE7E7"/>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9998964" y="1901952"/>
            <a:ext cx="822960" cy="82296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10204704" y="2107692"/>
            <a:ext cx="411480" cy="411480"/>
          </a:xfrm>
          <a:prstGeom prst="rect">
            <a:avLst/>
          </a:prstGeom>
        </p:spPr>
      </p:pic>
      <p:sp>
        <p:nvSpPr>
          <p:cNvPr id="24" name="Text 18"/>
          <p:cNvSpPr/>
          <p:nvPr/>
        </p:nvSpPr>
        <p:spPr>
          <a:xfrm>
            <a:off x="925372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Science</a:t>
            </a:r>
            <a:endParaRPr lang="en-US" sz="1450" dirty="0"/>
          </a:p>
        </p:txBody>
      </p:sp>
      <p:sp>
        <p:nvSpPr>
          <p:cNvPr id="25" name="Text 19"/>
          <p:cNvSpPr/>
          <p:nvPr/>
        </p:nvSpPr>
        <p:spPr>
          <a:xfrm>
            <a:off x="927201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Hypothesis, literature, lab automation (Session 2)</a:t>
            </a:r>
            <a:endParaRPr lang="en-US" sz="1100" dirty="0"/>
          </a:p>
        </p:txBody>
      </p:sp>
      <p:sp>
        <p:nvSpPr>
          <p:cNvPr id="26" name="Shape 20"/>
          <p:cNvSpPr/>
          <p:nvPr/>
        </p:nvSpPr>
        <p:spPr>
          <a:xfrm>
            <a:off x="566928" y="3867912"/>
            <a:ext cx="2679192" cy="2057400"/>
          </a:xfrm>
          <a:prstGeom prst="roundRect">
            <a:avLst>
              <a:gd name="adj" fmla="val 4444"/>
            </a:avLst>
          </a:prstGeom>
          <a:solidFill>
            <a:srgbClr val="E3F4EA"/>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1495044" y="4123944"/>
            <a:ext cx="822960" cy="82296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1700784" y="4329684"/>
            <a:ext cx="411480" cy="411480"/>
          </a:xfrm>
          <a:prstGeom prst="rect">
            <a:avLst/>
          </a:prstGeom>
        </p:spPr>
      </p:pic>
      <p:sp>
        <p:nvSpPr>
          <p:cNvPr id="29" name="Text 22"/>
          <p:cNvSpPr/>
          <p:nvPr/>
        </p:nvSpPr>
        <p:spPr>
          <a:xfrm>
            <a:off x="74980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Language</a:t>
            </a:r>
            <a:endParaRPr lang="en-US" sz="1450" dirty="0"/>
          </a:p>
        </p:txBody>
      </p:sp>
      <p:sp>
        <p:nvSpPr>
          <p:cNvPr id="30" name="Text 23"/>
          <p:cNvSpPr/>
          <p:nvPr/>
        </p:nvSpPr>
        <p:spPr>
          <a:xfrm>
            <a:off x="76809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Translation, summarisation, drafting at scale</a:t>
            </a:r>
            <a:endParaRPr lang="en-US" sz="1100" dirty="0"/>
          </a:p>
        </p:txBody>
      </p:sp>
      <p:sp>
        <p:nvSpPr>
          <p:cNvPr id="31" name="Shape 24"/>
          <p:cNvSpPr/>
          <p:nvPr/>
        </p:nvSpPr>
        <p:spPr>
          <a:xfrm>
            <a:off x="340156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4329684" y="4123944"/>
            <a:ext cx="822960" cy="82296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4535424" y="4329684"/>
            <a:ext cx="411480" cy="411480"/>
          </a:xfrm>
          <a:prstGeom prst="rect">
            <a:avLst/>
          </a:prstGeom>
        </p:spPr>
      </p:pic>
      <p:sp>
        <p:nvSpPr>
          <p:cNvPr id="34" name="Text 26"/>
          <p:cNvSpPr/>
          <p:nvPr/>
        </p:nvSpPr>
        <p:spPr>
          <a:xfrm>
            <a:off x="358444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Agents</a:t>
            </a:r>
            <a:endParaRPr lang="en-US" sz="1450" dirty="0"/>
          </a:p>
        </p:txBody>
      </p:sp>
      <p:sp>
        <p:nvSpPr>
          <p:cNvPr id="35" name="Text 27"/>
          <p:cNvSpPr/>
          <p:nvPr/>
        </p:nvSpPr>
        <p:spPr>
          <a:xfrm>
            <a:off x="360273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Plan-and-act systems that use tools &amp; APIs</a:t>
            </a:r>
            <a:endParaRPr lang="en-US" sz="1100" dirty="0"/>
          </a:p>
        </p:txBody>
      </p:sp>
      <p:sp>
        <p:nvSpPr>
          <p:cNvPr id="36" name="Shape 28"/>
          <p:cNvSpPr/>
          <p:nvPr/>
        </p:nvSpPr>
        <p:spPr>
          <a:xfrm>
            <a:off x="623620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29"/>
          <p:cNvSpPr/>
          <p:nvPr/>
        </p:nvSpPr>
        <p:spPr>
          <a:xfrm>
            <a:off x="7164324" y="4123944"/>
            <a:ext cx="822960" cy="822960"/>
          </a:xfrm>
          <a:prstGeom prst="ellipse">
            <a:avLst/>
          </a:prstGeom>
          <a:solidFill>
            <a:srgbClr val="FFFFFF"/>
          </a:solidFill>
          <a:ln/>
        </p:spPr>
      </p:sp>
      <p:pic>
        <p:nvPicPr>
          <p:cNvPr id="38" name="Image 6" descr="preencoded.png">    </p:cNvPr>
          <p:cNvPicPr>
            <a:picLocks noChangeAspect="1"/>
          </p:cNvPicPr>
          <p:nvPr/>
        </p:nvPicPr>
        <p:blipFill>
          <a:blip r:embed="rId7"/>
          <a:stretch>
            <a:fillRect/>
          </a:stretch>
        </p:blipFill>
        <p:spPr>
          <a:xfrm>
            <a:off x="7370064" y="4329684"/>
            <a:ext cx="411480" cy="411480"/>
          </a:xfrm>
          <a:prstGeom prst="rect">
            <a:avLst/>
          </a:prstGeom>
        </p:spPr>
      </p:pic>
      <p:sp>
        <p:nvSpPr>
          <p:cNvPr id="39" name="Text 30"/>
          <p:cNvSpPr/>
          <p:nvPr/>
        </p:nvSpPr>
        <p:spPr>
          <a:xfrm>
            <a:off x="641908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Multimodal</a:t>
            </a:r>
            <a:endParaRPr lang="en-US" sz="1450" dirty="0"/>
          </a:p>
        </p:txBody>
      </p:sp>
      <p:sp>
        <p:nvSpPr>
          <p:cNvPr id="40" name="Text 31"/>
          <p:cNvSpPr/>
          <p:nvPr/>
        </p:nvSpPr>
        <p:spPr>
          <a:xfrm>
            <a:off x="643737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Vision, voice, video understanding &amp; creation</a:t>
            </a:r>
            <a:endParaRPr lang="en-US" sz="1100" dirty="0"/>
          </a:p>
        </p:txBody>
      </p:sp>
      <p:sp>
        <p:nvSpPr>
          <p:cNvPr id="41" name="Shape 32"/>
          <p:cNvSpPr/>
          <p:nvPr/>
        </p:nvSpPr>
        <p:spPr>
          <a:xfrm>
            <a:off x="9070848" y="3867912"/>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2" name="Shape 33"/>
          <p:cNvSpPr/>
          <p:nvPr/>
        </p:nvSpPr>
        <p:spPr>
          <a:xfrm>
            <a:off x="9998964" y="4123944"/>
            <a:ext cx="822960" cy="822960"/>
          </a:xfrm>
          <a:prstGeom prst="ellipse">
            <a:avLst/>
          </a:prstGeom>
          <a:solidFill>
            <a:srgbClr val="FFFFFF"/>
          </a:solidFill>
          <a:ln/>
        </p:spPr>
      </p:sp>
      <p:pic>
        <p:nvPicPr>
          <p:cNvPr id="43" name="Image 7" descr="preencoded.png">    </p:cNvPr>
          <p:cNvPicPr>
            <a:picLocks noChangeAspect="1"/>
          </p:cNvPicPr>
          <p:nvPr/>
        </p:nvPicPr>
        <p:blipFill>
          <a:blip r:embed="rId8"/>
          <a:stretch>
            <a:fillRect/>
          </a:stretch>
        </p:blipFill>
        <p:spPr>
          <a:xfrm>
            <a:off x="10204704" y="4329684"/>
            <a:ext cx="411480" cy="411480"/>
          </a:xfrm>
          <a:prstGeom prst="rect">
            <a:avLst/>
          </a:prstGeom>
        </p:spPr>
      </p:pic>
      <p:sp>
        <p:nvSpPr>
          <p:cNvPr id="44" name="Text 34"/>
          <p:cNvSpPr/>
          <p:nvPr/>
        </p:nvSpPr>
        <p:spPr>
          <a:xfrm>
            <a:off x="925372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Education</a:t>
            </a:r>
            <a:endParaRPr lang="en-US" sz="1450" dirty="0"/>
          </a:p>
        </p:txBody>
      </p:sp>
      <p:sp>
        <p:nvSpPr>
          <p:cNvPr id="45" name="Text 35"/>
          <p:cNvSpPr/>
          <p:nvPr/>
        </p:nvSpPr>
        <p:spPr>
          <a:xfrm>
            <a:off x="927201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Tutors that adapt to each learner</a:t>
            </a:r>
            <a:endParaRPr lang="en-US" sz="1100" dirty="0"/>
          </a:p>
        </p:txBody>
      </p:sp>
      <p:sp>
        <p:nvSpPr>
          <p:cNvPr id="46" name="Text 36"/>
          <p:cNvSpPr/>
          <p:nvPr/>
        </p:nvSpPr>
        <p:spPr>
          <a:xfrm>
            <a:off x="566928" y="5989320"/>
            <a:ext cx="11064240"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The pattern: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one general-purpose architecture became the substrate for every knowledge task — which is exactly why the next session looks at LLMs doing real scientific research.</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6</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6</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&amp; ML in Research (USA)</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Session 2 — from chatbots to scientific collaborators. How LLMs and agentic systems are being used in US research labs and publications: autonomous experimentation, chemistry, drug discovery, and AI 'co-scientists'.</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SHIFT IN RESEARCH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From answering questions to running experiments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Survey: 'Scientific Large Language Models', arXiv:2503.24047 · agentic-science literature 2023–2026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50" dirty="0">
                <a:solidFill>
                  <a:srgbClr val="5A6685"/>
                </a:solidFill>
                <a:latin typeface="Calibri" pitchFamily="34" charset="0"/>
                <a:ea typeface="Calibri" pitchFamily="34" charset="-122"/>
                <a:cs typeface="Calibri" pitchFamily="34" charset="-120"/>
              </a:rPr>
              <a:t>A research agent wraps an LLM in a loop: it plans, calls tools (search, code, lab robots), observes results, and iterates — turning a text model into an autonomous investigator.</a:t>
            </a:r>
            <a:endParaRPr lang="en-US" sz="1350" dirty="0"/>
          </a:p>
        </p:txBody>
      </p:sp>
      <p:sp>
        <p:nvSpPr>
          <p:cNvPr id="7" name="Shape 5"/>
          <p:cNvSpPr/>
          <p:nvPr/>
        </p:nvSpPr>
        <p:spPr>
          <a:xfrm>
            <a:off x="2377440" y="3063240"/>
            <a:ext cx="1737360" cy="1737360"/>
          </a:xfrm>
          <a:prstGeom prst="roundRect">
            <a:avLst>
              <a:gd name="adj" fmla="val 5263"/>
            </a:avLst>
          </a:prstGeom>
          <a:solidFill>
            <a:srgbClr val="16213E"/>
          </a:solidFill>
          <a:ln/>
        </p:spPr>
      </p:sp>
      <p:sp>
        <p:nvSpPr>
          <p:cNvPr id="8" name="Shape 6"/>
          <p:cNvSpPr/>
          <p:nvPr/>
        </p:nvSpPr>
        <p:spPr>
          <a:xfrm>
            <a:off x="2862072" y="3273552"/>
            <a:ext cx="768096" cy="768096"/>
          </a:xfrm>
          <a:prstGeom prst="ellipse">
            <a:avLst/>
          </a:prstGeom>
          <a:solidFill>
            <a:srgbClr val="5B4BE0"/>
          </a:solidFill>
          <a:ln/>
        </p:spPr>
      </p:sp>
      <p:pic>
        <p:nvPicPr>
          <p:cNvPr id="9" name="Image 0" descr="preencoded.png">    </p:cNvPr>
          <p:cNvPicPr>
            <a:picLocks noChangeAspect="1"/>
          </p:cNvPicPr>
          <p:nvPr/>
        </p:nvPicPr>
        <p:blipFill>
          <a:blip r:embed="rId1"/>
          <a:stretch>
            <a:fillRect/>
          </a:stretch>
        </p:blipFill>
        <p:spPr>
          <a:xfrm>
            <a:off x="3046415" y="3457895"/>
            <a:ext cx="399410" cy="399410"/>
          </a:xfrm>
          <a:prstGeom prst="rect">
            <a:avLst/>
          </a:prstGeom>
        </p:spPr>
      </p:pic>
      <p:sp>
        <p:nvSpPr>
          <p:cNvPr id="10" name="Text 7"/>
          <p:cNvSpPr/>
          <p:nvPr/>
        </p:nvSpPr>
        <p:spPr>
          <a:xfrm>
            <a:off x="2377440" y="4041648"/>
            <a:ext cx="1737360" cy="64008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LLM</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reasoning core</a:t>
            </a:r>
            <a:endParaRPr lang="en-US" sz="1200" dirty="0"/>
          </a:p>
        </p:txBody>
      </p:sp>
      <p:sp>
        <p:nvSpPr>
          <p:cNvPr id="11" name="Shape 8"/>
          <p:cNvSpPr/>
          <p:nvPr/>
        </p:nvSpPr>
        <p:spPr>
          <a:xfrm>
            <a:off x="5943600" y="2286000"/>
            <a:ext cx="1691640" cy="1371600"/>
          </a:xfrm>
          <a:prstGeom prst="roundRect">
            <a:avLst>
              <a:gd name="adj" fmla="val 6667"/>
            </a:avLst>
          </a:prstGeom>
          <a:solidFill>
            <a:srgbClr val="E2F4F2"/>
          </a:solidFill>
          <a:ln w="15875">
            <a:solidFill>
              <a:srgbClr val="0E9E96"/>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6656832" y="2450592"/>
            <a:ext cx="566928" cy="566928"/>
          </a:xfrm>
          <a:prstGeom prst="ellipse">
            <a:avLst/>
          </a:prstGeom>
          <a:solidFill>
            <a:srgbClr val="0E9E96"/>
          </a:solidFill>
          <a:ln/>
        </p:spPr>
      </p:sp>
      <p:pic>
        <p:nvPicPr>
          <p:cNvPr id="13" name="Image 1" descr="preencoded.png">    </p:cNvPr>
          <p:cNvPicPr>
            <a:picLocks noChangeAspect="1"/>
          </p:cNvPicPr>
          <p:nvPr/>
        </p:nvPicPr>
        <p:blipFill>
          <a:blip r:embed="rId2"/>
          <a:stretch>
            <a:fillRect/>
          </a:stretch>
        </p:blipFill>
        <p:spPr>
          <a:xfrm>
            <a:off x="6798564" y="2592324"/>
            <a:ext cx="283464" cy="283464"/>
          </a:xfrm>
          <a:prstGeom prst="rect">
            <a:avLst/>
          </a:prstGeom>
        </p:spPr>
      </p:pic>
      <p:sp>
        <p:nvSpPr>
          <p:cNvPr id="14" name="Text 10"/>
          <p:cNvSpPr/>
          <p:nvPr/>
        </p:nvSpPr>
        <p:spPr>
          <a:xfrm>
            <a:off x="5943600" y="3035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Plan &amp;</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decompose</a:t>
            </a:r>
            <a:endParaRPr lang="en-US" sz="1100" dirty="0"/>
          </a:p>
        </p:txBody>
      </p:sp>
      <p:sp>
        <p:nvSpPr>
          <p:cNvPr id="15" name="Shape 11"/>
          <p:cNvSpPr/>
          <p:nvPr/>
        </p:nvSpPr>
        <p:spPr>
          <a:xfrm>
            <a:off x="5943600" y="4572000"/>
            <a:ext cx="1691640" cy="1371600"/>
          </a:xfrm>
          <a:prstGeom prst="roundRect">
            <a:avLst>
              <a:gd name="adj" fmla="val 6667"/>
            </a:avLst>
          </a:prstGeom>
          <a:solidFill>
            <a:srgbClr val="FBEFD8"/>
          </a:solidFill>
          <a:ln w="15875">
            <a:solidFill>
              <a:srgbClr val="D9820A"/>
            </a:solidFill>
            <a:prstDash val="solid"/>
          </a:ln>
          <a:effectLst>
            <a:outerShdw sx="100000" sy="100000" kx="0" ky="0" algn="bl" rotWithShape="0" blurRad="114300" dist="38100" dir="5400000">
              <a:srgbClr val="9AA2BC">
                <a:alpha val="16000"/>
              </a:srgbClr>
            </a:outerShdw>
          </a:effectLst>
        </p:spPr>
      </p:sp>
      <p:sp>
        <p:nvSpPr>
          <p:cNvPr id="16" name="Shape 12"/>
          <p:cNvSpPr/>
          <p:nvPr/>
        </p:nvSpPr>
        <p:spPr>
          <a:xfrm>
            <a:off x="6656832" y="4736592"/>
            <a:ext cx="566928" cy="566928"/>
          </a:xfrm>
          <a:prstGeom prst="ellipse">
            <a:avLst/>
          </a:prstGeom>
          <a:solidFill>
            <a:srgbClr val="D9820A"/>
          </a:solidFill>
          <a:ln/>
        </p:spPr>
      </p:sp>
      <p:pic>
        <p:nvPicPr>
          <p:cNvPr id="17" name="Image 2" descr="preencoded.png">    </p:cNvPr>
          <p:cNvPicPr>
            <a:picLocks noChangeAspect="1"/>
          </p:cNvPicPr>
          <p:nvPr/>
        </p:nvPicPr>
        <p:blipFill>
          <a:blip r:embed="rId3"/>
          <a:stretch>
            <a:fillRect/>
          </a:stretch>
        </p:blipFill>
        <p:spPr>
          <a:xfrm>
            <a:off x="6798564" y="4878324"/>
            <a:ext cx="283464" cy="283464"/>
          </a:xfrm>
          <a:prstGeom prst="rect">
            <a:avLst/>
          </a:prstGeom>
        </p:spPr>
      </p:pic>
      <p:sp>
        <p:nvSpPr>
          <p:cNvPr id="18" name="Text 13"/>
          <p:cNvSpPr/>
          <p:nvPr/>
        </p:nvSpPr>
        <p:spPr>
          <a:xfrm>
            <a:off x="5943600" y="5321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Act: tools,</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code, lab</a:t>
            </a:r>
            <a:endParaRPr lang="en-US" sz="1100" dirty="0"/>
          </a:p>
        </p:txBody>
      </p:sp>
      <p:sp>
        <p:nvSpPr>
          <p:cNvPr id="19" name="Shape 14"/>
          <p:cNvSpPr/>
          <p:nvPr/>
        </p:nvSpPr>
        <p:spPr>
          <a:xfrm>
            <a:off x="457200" y="4572000"/>
            <a:ext cx="1691640" cy="1371600"/>
          </a:xfrm>
          <a:prstGeom prst="roundRect">
            <a:avLst>
              <a:gd name="adj" fmla="val 6667"/>
            </a:avLst>
          </a:prstGeom>
          <a:solidFill>
            <a:srgbClr val="FBE7E7"/>
          </a:solidFill>
          <a:ln w="15875">
            <a:solidFill>
              <a:srgbClr val="E5484D"/>
            </a:solidFill>
            <a:prstDash val="solid"/>
          </a:ln>
          <a:effectLst>
            <a:outerShdw sx="100000" sy="100000" kx="0" ky="0" algn="bl" rotWithShape="0" blurRad="114300" dist="38100" dir="5400000">
              <a:srgbClr val="9AA2BC">
                <a:alpha val="16000"/>
              </a:srgbClr>
            </a:outerShdw>
          </a:effectLst>
        </p:spPr>
      </p:sp>
      <p:sp>
        <p:nvSpPr>
          <p:cNvPr id="20" name="Shape 15"/>
          <p:cNvSpPr/>
          <p:nvPr/>
        </p:nvSpPr>
        <p:spPr>
          <a:xfrm>
            <a:off x="1170432" y="4736592"/>
            <a:ext cx="566928" cy="566928"/>
          </a:xfrm>
          <a:prstGeom prst="ellipse">
            <a:avLst/>
          </a:prstGeom>
          <a:solidFill>
            <a:srgbClr val="E5484D"/>
          </a:solidFill>
          <a:ln/>
        </p:spPr>
      </p:sp>
      <p:pic>
        <p:nvPicPr>
          <p:cNvPr id="21" name="Image 3" descr="preencoded.png">    </p:cNvPr>
          <p:cNvPicPr>
            <a:picLocks noChangeAspect="1"/>
          </p:cNvPicPr>
          <p:nvPr/>
        </p:nvPicPr>
        <p:blipFill>
          <a:blip r:embed="rId4"/>
          <a:stretch>
            <a:fillRect/>
          </a:stretch>
        </p:blipFill>
        <p:spPr>
          <a:xfrm>
            <a:off x="1312164" y="4878324"/>
            <a:ext cx="283464" cy="283464"/>
          </a:xfrm>
          <a:prstGeom prst="rect">
            <a:avLst/>
          </a:prstGeom>
        </p:spPr>
      </p:pic>
      <p:sp>
        <p:nvSpPr>
          <p:cNvPr id="22" name="Text 16"/>
          <p:cNvSpPr/>
          <p:nvPr/>
        </p:nvSpPr>
        <p:spPr>
          <a:xfrm>
            <a:off x="457200" y="5321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Observe</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results</a:t>
            </a:r>
            <a:endParaRPr lang="en-US" sz="1100" dirty="0"/>
          </a:p>
        </p:txBody>
      </p:sp>
      <p:sp>
        <p:nvSpPr>
          <p:cNvPr id="23" name="Shape 17"/>
          <p:cNvSpPr/>
          <p:nvPr/>
        </p:nvSpPr>
        <p:spPr>
          <a:xfrm>
            <a:off x="457200" y="2286000"/>
            <a:ext cx="1691640" cy="1371600"/>
          </a:xfrm>
          <a:prstGeom prst="roundRect">
            <a:avLst>
              <a:gd name="adj" fmla="val 6667"/>
            </a:avLst>
          </a:prstGeom>
          <a:solidFill>
            <a:srgbClr val="E3F4EA"/>
          </a:solidFill>
          <a:ln w="15875">
            <a:solidFill>
              <a:srgbClr val="1B9C5A"/>
            </a:solidFill>
            <a:prstDash val="solid"/>
          </a:ln>
          <a:effectLst>
            <a:outerShdw sx="100000" sy="100000" kx="0" ky="0" algn="bl" rotWithShape="0" blurRad="114300" dist="38100" dir="5400000">
              <a:srgbClr val="9AA2BC">
                <a:alpha val="16000"/>
              </a:srgbClr>
            </a:outerShdw>
          </a:effectLst>
        </p:spPr>
      </p:sp>
      <p:sp>
        <p:nvSpPr>
          <p:cNvPr id="24" name="Shape 18"/>
          <p:cNvSpPr/>
          <p:nvPr/>
        </p:nvSpPr>
        <p:spPr>
          <a:xfrm>
            <a:off x="1170432" y="2450592"/>
            <a:ext cx="566928" cy="566928"/>
          </a:xfrm>
          <a:prstGeom prst="ellipse">
            <a:avLst/>
          </a:prstGeom>
          <a:solidFill>
            <a:srgbClr val="1B9C5A"/>
          </a:solidFill>
          <a:ln/>
        </p:spPr>
      </p:sp>
      <p:pic>
        <p:nvPicPr>
          <p:cNvPr id="25" name="Image 4" descr="preencoded.png">    </p:cNvPr>
          <p:cNvPicPr>
            <a:picLocks noChangeAspect="1"/>
          </p:cNvPicPr>
          <p:nvPr/>
        </p:nvPicPr>
        <p:blipFill>
          <a:blip r:embed="rId5"/>
          <a:stretch>
            <a:fillRect/>
          </a:stretch>
        </p:blipFill>
        <p:spPr>
          <a:xfrm>
            <a:off x="1312164" y="2592324"/>
            <a:ext cx="283464" cy="283464"/>
          </a:xfrm>
          <a:prstGeom prst="rect">
            <a:avLst/>
          </a:prstGeom>
        </p:spPr>
      </p:pic>
      <p:sp>
        <p:nvSpPr>
          <p:cNvPr id="26" name="Text 19"/>
          <p:cNvSpPr/>
          <p:nvPr/>
        </p:nvSpPr>
        <p:spPr>
          <a:xfrm>
            <a:off x="457200" y="3035808"/>
            <a:ext cx="1691640" cy="548640"/>
          </a:xfrm>
          <a:prstGeom prst="rect">
            <a:avLst/>
          </a:prstGeom>
          <a:noFill/>
          <a:ln/>
        </p:spPr>
        <p:txBody>
          <a:bodyPr wrap="square" lIns="0" tIns="0" rIns="0" bIns="0" rtlCol="0" anchor="ctr"/>
          <a:lstStyle/>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Reflect &amp;</a:t>
            </a:r>
            <a:endParaRPr lang="en-US" sz="1100" dirty="0"/>
          </a:p>
          <a:p>
            <a:pPr algn="ctr" indent="0" marL="0">
              <a:lnSpc>
                <a:spcPct val="96000"/>
              </a:lnSpc>
              <a:buNone/>
            </a:pPr>
            <a:r>
              <a:rPr lang="en-US" sz="1100" b="1" dirty="0">
                <a:solidFill>
                  <a:srgbClr val="1B2440"/>
                </a:solidFill>
                <a:latin typeface="Calibri" pitchFamily="34" charset="0"/>
                <a:ea typeface="Calibri" pitchFamily="34" charset="-122"/>
                <a:cs typeface="Calibri" pitchFamily="34" charset="-120"/>
              </a:rPr>
              <a:t>iterate</a:t>
            </a:r>
            <a:endParaRPr lang="en-US" sz="1100" dirty="0"/>
          </a:p>
        </p:txBody>
      </p:sp>
      <p:sp>
        <p:nvSpPr>
          <p:cNvPr id="27" name="Shape 20"/>
          <p:cNvSpPr/>
          <p:nvPr/>
        </p:nvSpPr>
        <p:spPr>
          <a:xfrm>
            <a:off x="4114800" y="3429000"/>
            <a:ext cx="1417320" cy="-914400"/>
          </a:xfrm>
          <a:prstGeom prst="line">
            <a:avLst/>
          </a:prstGeom>
          <a:noFill/>
          <a:ln w="22225">
            <a:solidFill>
              <a:srgbClr val="8A93AB"/>
            </a:solidFill>
            <a:prstDash val="solid"/>
            <a:tailEnd type="triangle"/>
          </a:ln>
        </p:spPr>
      </p:sp>
      <p:sp>
        <p:nvSpPr>
          <p:cNvPr id="28" name="Shape 21"/>
          <p:cNvSpPr/>
          <p:nvPr/>
        </p:nvSpPr>
        <p:spPr>
          <a:xfrm>
            <a:off x="6812280" y="3657600"/>
            <a:ext cx="0" cy="1508760"/>
          </a:xfrm>
          <a:prstGeom prst="line">
            <a:avLst/>
          </a:prstGeom>
          <a:noFill/>
          <a:ln w="22225">
            <a:solidFill>
              <a:srgbClr val="8A93AB"/>
            </a:solidFill>
            <a:prstDash val="solid"/>
            <a:tailEnd type="triangle"/>
          </a:ln>
        </p:spPr>
      </p:sp>
      <p:sp>
        <p:nvSpPr>
          <p:cNvPr id="29" name="Shape 22"/>
          <p:cNvSpPr/>
          <p:nvPr/>
        </p:nvSpPr>
        <p:spPr>
          <a:xfrm>
            <a:off x="4114800" y="4434840"/>
            <a:ext cx="1417320" cy="868680"/>
          </a:xfrm>
          <a:prstGeom prst="line">
            <a:avLst/>
          </a:prstGeom>
          <a:noFill/>
          <a:ln w="22225">
            <a:solidFill>
              <a:srgbClr val="8A93AB"/>
            </a:solidFill>
            <a:prstDash val="solid"/>
            <a:tailEnd type="triangle"/>
          </a:ln>
        </p:spPr>
      </p:sp>
      <p:sp>
        <p:nvSpPr>
          <p:cNvPr id="30" name="Shape 23"/>
          <p:cNvSpPr/>
          <p:nvPr/>
        </p:nvSpPr>
        <p:spPr>
          <a:xfrm>
            <a:off x="2194560" y="4754880"/>
            <a:ext cx="-914400" cy="-45720"/>
          </a:xfrm>
          <a:prstGeom prst="line">
            <a:avLst/>
          </a:prstGeom>
          <a:noFill/>
          <a:ln w="22225">
            <a:solidFill>
              <a:srgbClr val="8A93AB"/>
            </a:solidFill>
            <a:prstDash val="solid"/>
            <a:tailEnd type="triangle"/>
          </a:ln>
        </p:spPr>
      </p:sp>
      <p:sp>
        <p:nvSpPr>
          <p:cNvPr id="31" name="Shape 24"/>
          <p:cNvSpPr/>
          <p:nvPr/>
        </p:nvSpPr>
        <p:spPr>
          <a:xfrm>
            <a:off x="1325880" y="4389120"/>
            <a:ext cx="0" cy="-1508760"/>
          </a:xfrm>
          <a:prstGeom prst="line">
            <a:avLst/>
          </a:prstGeom>
          <a:noFill/>
          <a:ln w="22225">
            <a:solidFill>
              <a:srgbClr val="8A93AB"/>
            </a:solidFill>
            <a:prstDash val="solid"/>
            <a:tailEnd type="triangle"/>
          </a:ln>
        </p:spPr>
      </p:sp>
      <p:sp>
        <p:nvSpPr>
          <p:cNvPr id="32" name="Shape 25"/>
          <p:cNvSpPr/>
          <p:nvPr/>
        </p:nvSpPr>
        <p:spPr>
          <a:xfrm>
            <a:off x="7955280" y="1783080"/>
            <a:ext cx="3657600" cy="4206240"/>
          </a:xfrm>
          <a:prstGeom prst="roundRect">
            <a:avLst>
              <a:gd name="adj" fmla="val 2500"/>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Text 26"/>
          <p:cNvSpPr/>
          <p:nvPr/>
        </p:nvSpPr>
        <p:spPr>
          <a:xfrm>
            <a:off x="8229600" y="1965960"/>
            <a:ext cx="310896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Why labs care</a:t>
            </a:r>
            <a:endParaRPr lang="en-US" sz="1500" dirty="0"/>
          </a:p>
        </p:txBody>
      </p:sp>
      <p:sp>
        <p:nvSpPr>
          <p:cNvPr id="34" name="Text 27"/>
          <p:cNvSpPr/>
          <p:nvPr/>
        </p:nvSpPr>
        <p:spPr>
          <a:xfrm>
            <a:off x="8247888" y="2377440"/>
            <a:ext cx="3090672" cy="3474720"/>
          </a:xfrm>
          <a:prstGeom prst="rect">
            <a:avLst/>
          </a:prstGeom>
          <a:noFill/>
          <a:ln/>
        </p:spPr>
        <p:txBody>
          <a:bodyPr wrap="square" lIns="25400" tIns="25400" rIns="25400" bIns="25400" rtlCol="0" anchor="t"/>
          <a:lstStyle/>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Reads &amp; synthesises thousands of papers in minutes</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Proposes hypotheses and designs experiments</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Writes and runs analysis code autonomously</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Can drive robotic lab hardware</a:t>
            </a:r>
            <a:endParaRPr lang="en-US" sz="1200" dirty="0"/>
          </a:p>
          <a:p>
            <a:pPr marL="177800" indent="-177800">
              <a:lnSpc>
                <a:spcPct val="104000"/>
              </a:lnSpc>
              <a:spcAft>
                <a:spcPts val="1100"/>
              </a:spcAft>
              <a:buSzPct val="100000"/>
              <a:buChar char="•"/>
            </a:pPr>
            <a:r>
              <a:rPr lang="en-US" sz="1200" dirty="0">
                <a:solidFill>
                  <a:srgbClr val="1B2440"/>
                </a:solidFill>
                <a:latin typeface="Calibri" pitchFamily="34" charset="0"/>
                <a:ea typeface="Calibri" pitchFamily="34" charset="-122"/>
                <a:cs typeface="Calibri" pitchFamily="34" charset="-120"/>
              </a:rPr>
              <a:t>Documents its own reasoning for reproducibility</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SESSION 2 · EVIDENCE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Case studies — LLM &amp; agentic systems in US research</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Boiko et al. (2023) · M. Bran et al., ChemCrow (2024) · Ghareeb et al., Robin (2025) · Gottweis et al., AI co-scientist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731520" cy="73152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05840" y="2084832"/>
            <a:ext cx="365760" cy="365760"/>
          </a:xfrm>
          <a:prstGeom prst="rect">
            <a:avLst/>
          </a:prstGeom>
        </p:spPr>
      </p:pic>
      <p:sp>
        <p:nvSpPr>
          <p:cNvPr id="9" name="Text 6"/>
          <p:cNvSpPr/>
          <p:nvPr/>
        </p:nvSpPr>
        <p:spPr>
          <a:xfrm>
            <a:off x="168249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Coscientist</a:t>
            </a:r>
            <a:endParaRPr lang="en-US" sz="1500" dirty="0"/>
          </a:p>
        </p:txBody>
      </p:sp>
      <p:sp>
        <p:nvSpPr>
          <p:cNvPr id="10" name="Text 7"/>
          <p:cNvSpPr/>
          <p:nvPr/>
        </p:nvSpPr>
        <p:spPr>
          <a:xfrm>
            <a:off x="1682496" y="2322576"/>
            <a:ext cx="2313432" cy="274320"/>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Boiko et al., 2023 (CMU)</a:t>
            </a:r>
            <a:endParaRPr lang="en-US" sz="1000" dirty="0"/>
          </a:p>
        </p:txBody>
      </p:sp>
      <p:sp>
        <p:nvSpPr>
          <p:cNvPr id="11" name="Text 8"/>
          <p:cNvSpPr/>
          <p:nvPr/>
        </p:nvSpPr>
        <p:spPr>
          <a:xfrm>
            <a:off x="84124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GPT-4-driven agent that autonomously planned and executed chemistry experiments on real robotic lab hardware.</a:t>
            </a:r>
            <a:endParaRPr lang="en-US" sz="1080" dirty="0"/>
          </a:p>
        </p:txBody>
      </p:sp>
      <p:sp>
        <p:nvSpPr>
          <p:cNvPr id="12" name="Shape 9"/>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1901952"/>
            <a:ext cx="731520" cy="731520"/>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4754880" y="2084832"/>
            <a:ext cx="365760" cy="365760"/>
          </a:xfrm>
          <a:prstGeom prst="rect">
            <a:avLst/>
          </a:prstGeom>
        </p:spPr>
      </p:pic>
      <p:sp>
        <p:nvSpPr>
          <p:cNvPr id="15" name="Text 11"/>
          <p:cNvSpPr/>
          <p:nvPr/>
        </p:nvSpPr>
        <p:spPr>
          <a:xfrm>
            <a:off x="543153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ChemCrow</a:t>
            </a:r>
            <a:endParaRPr lang="en-US" sz="1500" dirty="0"/>
          </a:p>
        </p:txBody>
      </p:sp>
      <p:sp>
        <p:nvSpPr>
          <p:cNvPr id="16" name="Text 12"/>
          <p:cNvSpPr/>
          <p:nvPr/>
        </p:nvSpPr>
        <p:spPr>
          <a:xfrm>
            <a:off x="5431536" y="2322576"/>
            <a:ext cx="2313432" cy="274320"/>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M. Bran et al., 2024</a:t>
            </a:r>
            <a:endParaRPr lang="en-US" sz="1000" dirty="0"/>
          </a:p>
        </p:txBody>
      </p:sp>
      <p:sp>
        <p:nvSpPr>
          <p:cNvPr id="17" name="Text 13"/>
          <p:cNvSpPr/>
          <p:nvPr/>
        </p:nvSpPr>
        <p:spPr>
          <a:xfrm>
            <a:off x="459028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LLM augmented with ~18 expert chemistry tools — planned syntheses and guided organic synthesis tasks.</a:t>
            </a:r>
            <a:endParaRPr lang="en-US" sz="1080" dirty="0"/>
          </a:p>
        </p:txBody>
      </p:sp>
      <p:sp>
        <p:nvSpPr>
          <p:cNvPr id="18" name="Shape 14"/>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8321040" y="1901952"/>
            <a:ext cx="731520" cy="731520"/>
          </a:xfrm>
          <a:prstGeom prst="ellipse">
            <a:avLst/>
          </a:prstGeom>
          <a:solidFill>
            <a:srgbClr val="E5484D"/>
          </a:solidFill>
          <a:ln/>
        </p:spPr>
      </p:sp>
      <p:pic>
        <p:nvPicPr>
          <p:cNvPr id="20" name="Image 2" descr="preencoded.png">    </p:cNvPr>
          <p:cNvPicPr>
            <a:picLocks noChangeAspect="1"/>
          </p:cNvPicPr>
          <p:nvPr/>
        </p:nvPicPr>
        <p:blipFill>
          <a:blip r:embed="rId3"/>
          <a:stretch>
            <a:fillRect/>
          </a:stretch>
        </p:blipFill>
        <p:spPr>
          <a:xfrm>
            <a:off x="8503920" y="2084832"/>
            <a:ext cx="365760" cy="365760"/>
          </a:xfrm>
          <a:prstGeom prst="rect">
            <a:avLst/>
          </a:prstGeom>
        </p:spPr>
      </p:pic>
      <p:sp>
        <p:nvSpPr>
          <p:cNvPr id="21" name="Text 16"/>
          <p:cNvSpPr/>
          <p:nvPr/>
        </p:nvSpPr>
        <p:spPr>
          <a:xfrm>
            <a:off x="918057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Robin → ripasudil</a:t>
            </a:r>
            <a:endParaRPr lang="en-US" sz="1500" dirty="0"/>
          </a:p>
        </p:txBody>
      </p:sp>
      <p:sp>
        <p:nvSpPr>
          <p:cNvPr id="22" name="Text 17"/>
          <p:cNvSpPr/>
          <p:nvPr/>
        </p:nvSpPr>
        <p:spPr>
          <a:xfrm>
            <a:off x="9180576" y="2322576"/>
            <a:ext cx="2313432" cy="274320"/>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Ghareeb et al., 2025</a:t>
            </a:r>
            <a:endParaRPr lang="en-US" sz="1000" dirty="0"/>
          </a:p>
        </p:txBody>
      </p:sp>
      <p:sp>
        <p:nvSpPr>
          <p:cNvPr id="23" name="Text 18"/>
          <p:cNvSpPr/>
          <p:nvPr/>
        </p:nvSpPr>
        <p:spPr>
          <a:xfrm>
            <a:off x="833932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agentic system that generated a hypothesis leading to ripasudil as a candidate for dry-AMD — discovered by the agent.</a:t>
            </a:r>
            <a:endParaRPr lang="en-US" sz="1080" dirty="0"/>
          </a:p>
        </p:txBody>
      </p:sp>
      <p:sp>
        <p:nvSpPr>
          <p:cNvPr id="24" name="Shape 19"/>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822960" y="4078224"/>
            <a:ext cx="731520" cy="731520"/>
          </a:xfrm>
          <a:prstGeom prst="ellipse">
            <a:avLst/>
          </a:prstGeom>
          <a:solidFill>
            <a:srgbClr val="D9820A"/>
          </a:solidFill>
          <a:ln/>
        </p:spPr>
      </p:sp>
      <p:pic>
        <p:nvPicPr>
          <p:cNvPr id="26" name="Image 3" descr="preencoded.png">    </p:cNvPr>
          <p:cNvPicPr>
            <a:picLocks noChangeAspect="1"/>
          </p:cNvPicPr>
          <p:nvPr/>
        </p:nvPicPr>
        <p:blipFill>
          <a:blip r:embed="rId4"/>
          <a:stretch>
            <a:fillRect/>
          </a:stretch>
        </p:blipFill>
        <p:spPr>
          <a:xfrm>
            <a:off x="1005840" y="4261104"/>
            <a:ext cx="365760" cy="365760"/>
          </a:xfrm>
          <a:prstGeom prst="rect">
            <a:avLst/>
          </a:prstGeom>
        </p:spPr>
      </p:pic>
      <p:sp>
        <p:nvSpPr>
          <p:cNvPr id="27" name="Text 21"/>
          <p:cNvSpPr/>
          <p:nvPr/>
        </p:nvSpPr>
        <p:spPr>
          <a:xfrm>
            <a:off x="168249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AI co-scientist</a:t>
            </a:r>
            <a:endParaRPr lang="en-US" sz="1500" dirty="0"/>
          </a:p>
        </p:txBody>
      </p:sp>
      <p:sp>
        <p:nvSpPr>
          <p:cNvPr id="28" name="Text 22"/>
          <p:cNvSpPr/>
          <p:nvPr/>
        </p:nvSpPr>
        <p:spPr>
          <a:xfrm>
            <a:off x="1682496" y="4498848"/>
            <a:ext cx="2313432" cy="274320"/>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Gottweis et al., 2025 (Google)</a:t>
            </a:r>
            <a:endParaRPr lang="en-US" sz="1000" dirty="0"/>
          </a:p>
        </p:txBody>
      </p:sp>
      <p:sp>
        <p:nvSpPr>
          <p:cNvPr id="29" name="Text 23"/>
          <p:cNvSpPr/>
          <p:nvPr/>
        </p:nvSpPr>
        <p:spPr>
          <a:xfrm>
            <a:off x="84124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multi-agent 'co-scientist' that proposes and ranks novel, testable research hypotheses for biomedical problems.</a:t>
            </a:r>
            <a:endParaRPr lang="en-US" sz="1080" dirty="0"/>
          </a:p>
        </p:txBody>
      </p:sp>
      <p:sp>
        <p:nvSpPr>
          <p:cNvPr id="30" name="Shape 24"/>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4572000" y="4078224"/>
            <a:ext cx="731520" cy="731520"/>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4754880" y="4261104"/>
            <a:ext cx="365760" cy="365760"/>
          </a:xfrm>
          <a:prstGeom prst="rect">
            <a:avLst/>
          </a:prstGeom>
        </p:spPr>
      </p:pic>
      <p:sp>
        <p:nvSpPr>
          <p:cNvPr id="33" name="Text 26"/>
          <p:cNvSpPr/>
          <p:nvPr/>
        </p:nvSpPr>
        <p:spPr>
          <a:xfrm>
            <a:off x="543153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PaperQA / LitQA</a:t>
            </a:r>
            <a:endParaRPr lang="en-US" sz="1500" dirty="0"/>
          </a:p>
        </p:txBody>
      </p:sp>
      <p:sp>
        <p:nvSpPr>
          <p:cNvPr id="34" name="Text 27"/>
          <p:cNvSpPr/>
          <p:nvPr/>
        </p:nvSpPr>
        <p:spPr>
          <a:xfrm>
            <a:off x="5431536" y="4498848"/>
            <a:ext cx="2313432" cy="274320"/>
          </a:xfrm>
          <a:prstGeom prst="rect">
            <a:avLst/>
          </a:prstGeom>
          <a:noFill/>
          <a:ln/>
        </p:spPr>
        <p:txBody>
          <a:bodyPr wrap="square" lIns="0" tIns="0" rIns="0" bIns="0" rtlCol="0" anchor="ctr"/>
          <a:lstStyle/>
          <a:p>
            <a:pPr indent="0" marL="0">
              <a:buNone/>
            </a:pPr>
            <a:r>
              <a:rPr lang="en-US" sz="1000" b="1" dirty="0">
                <a:solidFill>
                  <a:srgbClr val="1B9C5A"/>
                </a:solidFill>
                <a:latin typeface="Calibri" pitchFamily="34" charset="0"/>
                <a:ea typeface="Calibri" pitchFamily="34" charset="-122"/>
                <a:cs typeface="Calibri" pitchFamily="34" charset="-120"/>
              </a:rPr>
              <a:t>Lála et al., 2023</a:t>
            </a:r>
            <a:endParaRPr lang="en-US" sz="1000" dirty="0"/>
          </a:p>
        </p:txBody>
      </p:sp>
      <p:sp>
        <p:nvSpPr>
          <p:cNvPr id="35" name="Text 28"/>
          <p:cNvSpPr/>
          <p:nvPr/>
        </p:nvSpPr>
        <p:spPr>
          <a:xfrm>
            <a:off x="459028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Retrieval-augmented agents for literature QA that exceed humans on grounded scientific question answering.</a:t>
            </a:r>
            <a:endParaRPr lang="en-US" sz="1080" dirty="0"/>
          </a:p>
        </p:txBody>
      </p:sp>
      <p:sp>
        <p:nvSpPr>
          <p:cNvPr id="36" name="Shape 29"/>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30"/>
          <p:cNvSpPr/>
          <p:nvPr/>
        </p:nvSpPr>
        <p:spPr>
          <a:xfrm>
            <a:off x="8321040" y="4078224"/>
            <a:ext cx="731520" cy="731520"/>
          </a:xfrm>
          <a:prstGeom prst="ellipse">
            <a:avLst/>
          </a:prstGeom>
          <a:solidFill>
            <a:srgbClr val="7C6FF0"/>
          </a:solidFill>
          <a:ln/>
        </p:spPr>
      </p:sp>
      <p:pic>
        <p:nvPicPr>
          <p:cNvPr id="38" name="Image 5" descr="preencoded.png">    </p:cNvPr>
          <p:cNvPicPr>
            <a:picLocks noChangeAspect="1"/>
          </p:cNvPicPr>
          <p:nvPr/>
        </p:nvPicPr>
        <p:blipFill>
          <a:blip r:embed="rId6"/>
          <a:stretch>
            <a:fillRect/>
          </a:stretch>
        </p:blipFill>
        <p:spPr>
          <a:xfrm>
            <a:off x="8503920" y="4261104"/>
            <a:ext cx="365760" cy="365760"/>
          </a:xfrm>
          <a:prstGeom prst="rect">
            <a:avLst/>
          </a:prstGeom>
        </p:spPr>
      </p:pic>
      <p:sp>
        <p:nvSpPr>
          <p:cNvPr id="39" name="Text 31"/>
          <p:cNvSpPr/>
          <p:nvPr/>
        </p:nvSpPr>
        <p:spPr>
          <a:xfrm>
            <a:off x="918057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R&amp;D agents in pharma</a:t>
            </a:r>
            <a:endParaRPr lang="en-US" sz="1500" dirty="0"/>
          </a:p>
        </p:txBody>
      </p:sp>
      <p:sp>
        <p:nvSpPr>
          <p:cNvPr id="40" name="Text 32"/>
          <p:cNvSpPr/>
          <p:nvPr/>
        </p:nvSpPr>
        <p:spPr>
          <a:xfrm>
            <a:off x="9180576" y="4498848"/>
            <a:ext cx="2313432" cy="274320"/>
          </a:xfrm>
          <a:prstGeom prst="rect">
            <a:avLst/>
          </a:prstGeom>
          <a:noFill/>
          <a:ln/>
        </p:spPr>
        <p:txBody>
          <a:bodyPr wrap="square" lIns="0" tIns="0" rIns="0" bIns="0" rtlCol="0" anchor="ctr"/>
          <a:lstStyle/>
          <a:p>
            <a:pPr indent="0" marL="0">
              <a:buNone/>
            </a:pPr>
            <a:r>
              <a:rPr lang="en-US" sz="1000" b="1" dirty="0">
                <a:solidFill>
                  <a:srgbClr val="7C6FF0"/>
                </a:solidFill>
                <a:latin typeface="Calibri" pitchFamily="34" charset="0"/>
                <a:ea typeface="Calibri" pitchFamily="34" charset="-122"/>
                <a:cs typeface="Calibri" pitchFamily="34" charset="-120"/>
              </a:rPr>
              <a:t>Industry reports, 2025</a:t>
            </a:r>
            <a:endParaRPr lang="en-US" sz="1000" dirty="0"/>
          </a:p>
        </p:txBody>
      </p:sp>
      <p:sp>
        <p:nvSpPr>
          <p:cNvPr id="41" name="Text 33"/>
          <p:cNvSpPr/>
          <p:nvPr/>
        </p:nvSpPr>
        <p:spPr>
          <a:xfrm>
            <a:off x="833932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Major US R&amp;D orgs piloting LLM agents for literature triage, target ID and experiment design.</a:t>
            </a:r>
            <a:endParaRPr lang="en-US" sz="10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UNDER THE HOOD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research stack: how these systems are built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Common architecture across the Session-2 case studies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7373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768096" y="1856232"/>
            <a:ext cx="512064" cy="512064"/>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896112" y="1984248"/>
            <a:ext cx="256032" cy="256032"/>
          </a:xfrm>
          <a:prstGeom prst="rect">
            <a:avLst/>
          </a:prstGeom>
        </p:spPr>
      </p:pic>
      <p:sp>
        <p:nvSpPr>
          <p:cNvPr id="9" name="Shape 6"/>
          <p:cNvSpPr/>
          <p:nvPr/>
        </p:nvSpPr>
        <p:spPr>
          <a:xfrm>
            <a:off x="1481328" y="1892808"/>
            <a:ext cx="2468880" cy="438912"/>
          </a:xfrm>
          <a:prstGeom prst="roundRect">
            <a:avLst>
              <a:gd name="adj" fmla="val 14583"/>
            </a:avLst>
          </a:prstGeom>
          <a:solidFill>
            <a:srgbClr val="EEECFB"/>
          </a:solidFill>
          <a:ln/>
        </p:spPr>
      </p:sp>
      <p:sp>
        <p:nvSpPr>
          <p:cNvPr id="10" name="Text 7"/>
          <p:cNvSpPr/>
          <p:nvPr/>
        </p:nvSpPr>
        <p:spPr>
          <a:xfrm>
            <a:off x="1481328" y="1892808"/>
            <a:ext cx="2468880" cy="438912"/>
          </a:xfrm>
          <a:prstGeom prst="rect">
            <a:avLst/>
          </a:prstGeom>
          <a:noFill/>
          <a:ln/>
        </p:spPr>
        <p:txBody>
          <a:bodyPr wrap="square" lIns="0" tIns="0" rIns="0" bIns="0" rtlCol="0" anchor="ctr"/>
          <a:lstStyle/>
          <a:p>
            <a:pPr algn="ctr" indent="0" marL="0">
              <a:buNone/>
            </a:pPr>
            <a:r>
              <a:rPr lang="en-US" sz="1350" b="1" dirty="0">
                <a:solidFill>
                  <a:srgbClr val="5B4BE0"/>
                </a:solidFill>
                <a:latin typeface="Calibri" pitchFamily="34" charset="0"/>
                <a:ea typeface="Calibri" pitchFamily="34" charset="-122"/>
                <a:cs typeface="Calibri" pitchFamily="34" charset="-120"/>
              </a:rPr>
              <a:t>Foundation LLM</a:t>
            </a:r>
            <a:endParaRPr lang="en-US" sz="1350" dirty="0"/>
          </a:p>
        </p:txBody>
      </p:sp>
      <p:sp>
        <p:nvSpPr>
          <p:cNvPr id="11" name="Text 8"/>
          <p:cNvSpPr/>
          <p:nvPr/>
        </p:nvSpPr>
        <p:spPr>
          <a:xfrm>
            <a:off x="4178808" y="17373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A frontier model (GPT-4-class, Claude, etc.) provides reasoning &amp; language</a:t>
            </a:r>
            <a:endParaRPr lang="en-US" sz="1250" dirty="0"/>
          </a:p>
        </p:txBody>
      </p:sp>
      <p:sp>
        <p:nvSpPr>
          <p:cNvPr id="12" name="Shape 9"/>
          <p:cNvSpPr/>
          <p:nvPr/>
        </p:nvSpPr>
        <p:spPr>
          <a:xfrm>
            <a:off x="566928" y="26517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768096" y="2770632"/>
            <a:ext cx="512064" cy="512064"/>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896112" y="2898648"/>
            <a:ext cx="256032" cy="256032"/>
          </a:xfrm>
          <a:prstGeom prst="rect">
            <a:avLst/>
          </a:prstGeom>
        </p:spPr>
      </p:pic>
      <p:sp>
        <p:nvSpPr>
          <p:cNvPr id="15" name="Shape 11"/>
          <p:cNvSpPr/>
          <p:nvPr/>
        </p:nvSpPr>
        <p:spPr>
          <a:xfrm>
            <a:off x="1481328" y="2807208"/>
            <a:ext cx="2468880" cy="438912"/>
          </a:xfrm>
          <a:prstGeom prst="roundRect">
            <a:avLst>
              <a:gd name="adj" fmla="val 14583"/>
            </a:avLst>
          </a:prstGeom>
          <a:solidFill>
            <a:srgbClr val="E2F4F2"/>
          </a:solidFill>
          <a:ln/>
        </p:spPr>
      </p:sp>
      <p:sp>
        <p:nvSpPr>
          <p:cNvPr id="16" name="Text 12"/>
          <p:cNvSpPr/>
          <p:nvPr/>
        </p:nvSpPr>
        <p:spPr>
          <a:xfrm>
            <a:off x="1481328" y="2807208"/>
            <a:ext cx="2468880" cy="438912"/>
          </a:xfrm>
          <a:prstGeom prst="rect">
            <a:avLst/>
          </a:prstGeom>
          <a:noFill/>
          <a:ln/>
        </p:spPr>
        <p:txBody>
          <a:bodyPr wrap="square" lIns="0" tIns="0" rIns="0" bIns="0" rtlCol="0" anchor="ctr"/>
          <a:lstStyle/>
          <a:p>
            <a:pPr algn="ctr" indent="0" marL="0">
              <a:buNone/>
            </a:pPr>
            <a:r>
              <a:rPr lang="en-US" sz="1350" b="1" dirty="0">
                <a:solidFill>
                  <a:srgbClr val="0E9E96"/>
                </a:solidFill>
                <a:latin typeface="Calibri" pitchFamily="34" charset="0"/>
                <a:ea typeface="Calibri" pitchFamily="34" charset="-122"/>
                <a:cs typeface="Calibri" pitchFamily="34" charset="-120"/>
              </a:rPr>
              <a:t>Retrieval (RAG)</a:t>
            </a:r>
            <a:endParaRPr lang="en-US" sz="1350" dirty="0"/>
          </a:p>
        </p:txBody>
      </p:sp>
      <p:sp>
        <p:nvSpPr>
          <p:cNvPr id="17" name="Text 13"/>
          <p:cNvSpPr/>
          <p:nvPr/>
        </p:nvSpPr>
        <p:spPr>
          <a:xfrm>
            <a:off x="4178808" y="26517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Grounds answers in real papers &amp; databases to cut hallucination</a:t>
            </a:r>
            <a:endParaRPr lang="en-US" sz="1250" dirty="0"/>
          </a:p>
        </p:txBody>
      </p:sp>
      <p:sp>
        <p:nvSpPr>
          <p:cNvPr id="18" name="Shape 14"/>
          <p:cNvSpPr/>
          <p:nvPr/>
        </p:nvSpPr>
        <p:spPr>
          <a:xfrm>
            <a:off x="566928" y="35661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768096" y="3685032"/>
            <a:ext cx="512064" cy="512064"/>
          </a:xfrm>
          <a:prstGeom prst="ellipse">
            <a:avLst/>
          </a:prstGeom>
          <a:solidFill>
            <a:srgbClr val="D9820A"/>
          </a:solidFill>
          <a:ln/>
        </p:spPr>
      </p:sp>
      <p:pic>
        <p:nvPicPr>
          <p:cNvPr id="20" name="Image 2" descr="preencoded.png">    </p:cNvPr>
          <p:cNvPicPr>
            <a:picLocks noChangeAspect="1"/>
          </p:cNvPicPr>
          <p:nvPr/>
        </p:nvPicPr>
        <p:blipFill>
          <a:blip r:embed="rId3"/>
          <a:stretch>
            <a:fillRect/>
          </a:stretch>
        </p:blipFill>
        <p:spPr>
          <a:xfrm>
            <a:off x="896112" y="3813048"/>
            <a:ext cx="256032" cy="256032"/>
          </a:xfrm>
          <a:prstGeom prst="rect">
            <a:avLst/>
          </a:prstGeom>
        </p:spPr>
      </p:pic>
      <p:sp>
        <p:nvSpPr>
          <p:cNvPr id="21" name="Shape 16"/>
          <p:cNvSpPr/>
          <p:nvPr/>
        </p:nvSpPr>
        <p:spPr>
          <a:xfrm>
            <a:off x="1481328" y="3721608"/>
            <a:ext cx="2468880" cy="438912"/>
          </a:xfrm>
          <a:prstGeom prst="roundRect">
            <a:avLst>
              <a:gd name="adj" fmla="val 14583"/>
            </a:avLst>
          </a:prstGeom>
          <a:solidFill>
            <a:srgbClr val="FBEFD8"/>
          </a:solidFill>
          <a:ln/>
        </p:spPr>
      </p:sp>
      <p:sp>
        <p:nvSpPr>
          <p:cNvPr id="22" name="Text 17"/>
          <p:cNvSpPr/>
          <p:nvPr/>
        </p:nvSpPr>
        <p:spPr>
          <a:xfrm>
            <a:off x="1481328" y="3721608"/>
            <a:ext cx="2468880" cy="438912"/>
          </a:xfrm>
          <a:prstGeom prst="rect">
            <a:avLst/>
          </a:prstGeom>
          <a:noFill/>
          <a:ln/>
        </p:spPr>
        <p:txBody>
          <a:bodyPr wrap="square" lIns="0" tIns="0" rIns="0" bIns="0" rtlCol="0" anchor="ctr"/>
          <a:lstStyle/>
          <a:p>
            <a:pPr algn="ctr" indent="0" marL="0">
              <a:buNone/>
            </a:pPr>
            <a:r>
              <a:rPr lang="en-US" sz="1350" b="1" dirty="0">
                <a:solidFill>
                  <a:srgbClr val="D9820A"/>
                </a:solidFill>
                <a:latin typeface="Calibri" pitchFamily="34" charset="0"/>
                <a:ea typeface="Calibri" pitchFamily="34" charset="-122"/>
                <a:cs typeface="Calibri" pitchFamily="34" charset="-120"/>
              </a:rPr>
              <a:t>Tool use</a:t>
            </a:r>
            <a:endParaRPr lang="en-US" sz="1350" dirty="0"/>
          </a:p>
        </p:txBody>
      </p:sp>
      <p:sp>
        <p:nvSpPr>
          <p:cNvPr id="23" name="Text 18"/>
          <p:cNvSpPr/>
          <p:nvPr/>
        </p:nvSpPr>
        <p:spPr>
          <a:xfrm>
            <a:off x="4178808" y="35661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Search, code execution, calculators, domain APIs, even lab robots</a:t>
            </a:r>
            <a:endParaRPr lang="en-US" sz="1250" dirty="0"/>
          </a:p>
        </p:txBody>
      </p:sp>
      <p:sp>
        <p:nvSpPr>
          <p:cNvPr id="24" name="Shape 19"/>
          <p:cNvSpPr/>
          <p:nvPr/>
        </p:nvSpPr>
        <p:spPr>
          <a:xfrm>
            <a:off x="566928" y="44805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768096" y="4599432"/>
            <a:ext cx="512064" cy="512064"/>
          </a:xfrm>
          <a:prstGeom prst="ellipse">
            <a:avLst/>
          </a:prstGeom>
          <a:solidFill>
            <a:srgbClr val="E5484D"/>
          </a:solidFill>
          <a:ln/>
        </p:spPr>
      </p:sp>
      <p:pic>
        <p:nvPicPr>
          <p:cNvPr id="26" name="Image 3" descr="preencoded.png">    </p:cNvPr>
          <p:cNvPicPr>
            <a:picLocks noChangeAspect="1"/>
          </p:cNvPicPr>
          <p:nvPr/>
        </p:nvPicPr>
        <p:blipFill>
          <a:blip r:embed="rId4"/>
          <a:stretch>
            <a:fillRect/>
          </a:stretch>
        </p:blipFill>
        <p:spPr>
          <a:xfrm>
            <a:off x="896112" y="4727448"/>
            <a:ext cx="256032" cy="256032"/>
          </a:xfrm>
          <a:prstGeom prst="rect">
            <a:avLst/>
          </a:prstGeom>
        </p:spPr>
      </p:pic>
      <p:sp>
        <p:nvSpPr>
          <p:cNvPr id="27" name="Shape 21"/>
          <p:cNvSpPr/>
          <p:nvPr/>
        </p:nvSpPr>
        <p:spPr>
          <a:xfrm>
            <a:off x="1481328" y="4636008"/>
            <a:ext cx="2468880" cy="438912"/>
          </a:xfrm>
          <a:prstGeom prst="roundRect">
            <a:avLst>
              <a:gd name="adj" fmla="val 14583"/>
            </a:avLst>
          </a:prstGeom>
          <a:solidFill>
            <a:srgbClr val="FBE7E7"/>
          </a:solidFill>
          <a:ln/>
        </p:spPr>
      </p:sp>
      <p:sp>
        <p:nvSpPr>
          <p:cNvPr id="28" name="Text 22"/>
          <p:cNvSpPr/>
          <p:nvPr/>
        </p:nvSpPr>
        <p:spPr>
          <a:xfrm>
            <a:off x="1481328" y="4636008"/>
            <a:ext cx="2468880" cy="438912"/>
          </a:xfrm>
          <a:prstGeom prst="rect">
            <a:avLst/>
          </a:prstGeom>
          <a:noFill/>
          <a:ln/>
        </p:spPr>
        <p:txBody>
          <a:bodyPr wrap="square" lIns="0" tIns="0" rIns="0" bIns="0" rtlCol="0" anchor="ctr"/>
          <a:lstStyle/>
          <a:p>
            <a:pPr algn="ctr" indent="0" marL="0">
              <a:buNone/>
            </a:pPr>
            <a:r>
              <a:rPr lang="en-US" sz="1350" b="1" dirty="0">
                <a:solidFill>
                  <a:srgbClr val="E5484D"/>
                </a:solidFill>
                <a:latin typeface="Calibri" pitchFamily="34" charset="0"/>
                <a:ea typeface="Calibri" pitchFamily="34" charset="-122"/>
                <a:cs typeface="Calibri" pitchFamily="34" charset="-120"/>
              </a:rPr>
              <a:t>Agent loop</a:t>
            </a:r>
            <a:endParaRPr lang="en-US" sz="1350" dirty="0"/>
          </a:p>
        </p:txBody>
      </p:sp>
      <p:sp>
        <p:nvSpPr>
          <p:cNvPr id="29" name="Text 23"/>
          <p:cNvSpPr/>
          <p:nvPr/>
        </p:nvSpPr>
        <p:spPr>
          <a:xfrm>
            <a:off x="4178808" y="44805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Plan → act → observe → reflect, often with multiple cooperating agents</a:t>
            </a:r>
            <a:endParaRPr lang="en-US" sz="1250" dirty="0"/>
          </a:p>
        </p:txBody>
      </p:sp>
      <p:sp>
        <p:nvSpPr>
          <p:cNvPr id="30" name="Shape 24"/>
          <p:cNvSpPr/>
          <p:nvPr/>
        </p:nvSpPr>
        <p:spPr>
          <a:xfrm>
            <a:off x="566928" y="53949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768096" y="5513832"/>
            <a:ext cx="512064" cy="512064"/>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896112" y="5641848"/>
            <a:ext cx="256032" cy="256032"/>
          </a:xfrm>
          <a:prstGeom prst="rect">
            <a:avLst/>
          </a:prstGeom>
        </p:spPr>
      </p:pic>
      <p:sp>
        <p:nvSpPr>
          <p:cNvPr id="33" name="Shape 26"/>
          <p:cNvSpPr/>
          <p:nvPr/>
        </p:nvSpPr>
        <p:spPr>
          <a:xfrm>
            <a:off x="1481328" y="5550408"/>
            <a:ext cx="2468880" cy="438912"/>
          </a:xfrm>
          <a:prstGeom prst="roundRect">
            <a:avLst>
              <a:gd name="adj" fmla="val 14583"/>
            </a:avLst>
          </a:prstGeom>
          <a:solidFill>
            <a:srgbClr val="E3F4EA"/>
          </a:solidFill>
          <a:ln/>
        </p:spPr>
      </p:sp>
      <p:sp>
        <p:nvSpPr>
          <p:cNvPr id="34" name="Text 27"/>
          <p:cNvSpPr/>
          <p:nvPr/>
        </p:nvSpPr>
        <p:spPr>
          <a:xfrm>
            <a:off x="1481328" y="5550408"/>
            <a:ext cx="2468880" cy="438912"/>
          </a:xfrm>
          <a:prstGeom prst="rect">
            <a:avLst/>
          </a:prstGeom>
          <a:noFill/>
          <a:ln/>
        </p:spPr>
        <p:txBody>
          <a:bodyPr wrap="square" lIns="0" tIns="0" rIns="0" bIns="0" rtlCol="0" anchor="ctr"/>
          <a:lstStyle/>
          <a:p>
            <a:pPr algn="ctr" indent="0" marL="0">
              <a:buNone/>
            </a:pPr>
            <a:r>
              <a:rPr lang="en-US" sz="1350" b="1" dirty="0">
                <a:solidFill>
                  <a:srgbClr val="1B9C5A"/>
                </a:solidFill>
                <a:latin typeface="Calibri" pitchFamily="34" charset="0"/>
                <a:ea typeface="Calibri" pitchFamily="34" charset="-122"/>
                <a:cs typeface="Calibri" pitchFamily="34" charset="-120"/>
              </a:rPr>
              <a:t>Human-in-the-loop</a:t>
            </a:r>
            <a:endParaRPr lang="en-US" sz="1350" dirty="0"/>
          </a:p>
        </p:txBody>
      </p:sp>
      <p:sp>
        <p:nvSpPr>
          <p:cNvPr id="35" name="Text 28"/>
          <p:cNvSpPr/>
          <p:nvPr/>
        </p:nvSpPr>
        <p:spPr>
          <a:xfrm>
            <a:off x="4178808" y="53949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Scientists verify hypotheses &amp; results before anything is trusted</a:t>
            </a:r>
            <a:endParaRPr lang="en-US" sz="1250" dirty="0"/>
          </a:p>
        </p:txBody>
      </p:sp>
      <p:sp>
        <p:nvSpPr>
          <p:cNvPr id="36" name="Text 29"/>
          <p:cNvSpPr/>
          <p:nvPr/>
        </p:nvSpPr>
        <p:spPr>
          <a:xfrm>
            <a:off x="566928" y="6080760"/>
            <a:ext cx="11064240" cy="365760"/>
          </a:xfrm>
          <a:prstGeom prst="rect">
            <a:avLst/>
          </a:prstGeom>
          <a:noFill/>
          <a:ln/>
        </p:spPr>
        <p:txBody>
          <a:bodyPr wrap="square" lIns="0" tIns="0" rIns="0" bIns="0" rtlCol="0" anchor="ctr"/>
          <a:lstStyle/>
          <a:p>
            <a:pPr indent="0" marL="0">
              <a:buNone/>
            </a:pPr>
            <a:r>
              <a:rPr lang="en-US" sz="1250" b="1" dirty="0">
                <a:solidFill>
                  <a:srgbClr val="5B4BE0"/>
                </a:solidFill>
                <a:latin typeface="Calibri" pitchFamily="34" charset="0"/>
                <a:ea typeface="Calibri" pitchFamily="34" charset="-122"/>
                <a:cs typeface="Calibri" pitchFamily="34" charset="-120"/>
              </a:rPr>
              <a:t>In short:  </a:t>
            </a:r>
            <a:pPr indent="0" marL="0">
              <a:buNone/>
            </a:pPr>
            <a:r>
              <a:rPr lang="en-US" sz="1250" dirty="0">
                <a:solidFill>
                  <a:srgbClr val="5A6685"/>
                </a:solidFill>
                <a:latin typeface="Calibri" pitchFamily="34" charset="0"/>
                <a:ea typeface="Calibri" pitchFamily="34" charset="-122"/>
                <a:cs typeface="Calibri" pitchFamily="34" charset="-120"/>
              </a:rPr>
              <a:t>foundation model + retrieval + tools + an agent loop + human oversight = a research assistant that actually does science.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STAY HONEST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Limitations, risks &amp; open problems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safety literature, 2023–2026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66928" y="1444752"/>
            <a:ext cx="11064240" cy="365760"/>
          </a:xfrm>
          <a:prstGeom prst="rect">
            <a:avLst/>
          </a:prstGeom>
          <a:noFill/>
          <a:ln/>
        </p:spPr>
        <p:txBody>
          <a:bodyPr wrap="square" lIns="0" tIns="0" rIns="0" bIns="0" rtlCol="0" anchor="ctr"/>
          <a:lstStyle/>
          <a:p>
            <a:pPr indent="0" marL="0">
              <a:buNone/>
            </a:pPr>
            <a:r>
              <a:rPr lang="en-US" sz="1350" dirty="0">
                <a:solidFill>
                  <a:srgbClr val="5A6685"/>
                </a:solidFill>
                <a:latin typeface="Calibri" pitchFamily="34" charset="0"/>
                <a:ea typeface="Calibri" pitchFamily="34" charset="-122"/>
                <a:cs typeface="Calibri" pitchFamily="34" charset="-120"/>
              </a:rPr>
              <a:t>LLMs are powerful, not omniscient. A technical talk should name the failure modes as clearly as the wins.</a:t>
            </a:r>
            <a:endParaRPr lang="en-US" sz="1350" dirty="0"/>
          </a:p>
        </p:txBody>
      </p:sp>
      <p:sp>
        <p:nvSpPr>
          <p:cNvPr id="7" name="Shape 5"/>
          <p:cNvSpPr/>
          <p:nvPr/>
        </p:nvSpPr>
        <p:spPr>
          <a:xfrm>
            <a:off x="56692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822960" y="2267712"/>
            <a:ext cx="731520" cy="731520"/>
          </a:xfrm>
          <a:prstGeom prst="ellipse">
            <a:avLst/>
          </a:prstGeom>
          <a:solidFill>
            <a:srgbClr val="E5484D"/>
          </a:solidFill>
          <a:ln/>
        </p:spPr>
      </p:sp>
      <p:pic>
        <p:nvPicPr>
          <p:cNvPr id="9" name="Image 0" descr="preencoded.png">    </p:cNvPr>
          <p:cNvPicPr>
            <a:picLocks noChangeAspect="1"/>
          </p:cNvPicPr>
          <p:nvPr/>
        </p:nvPicPr>
        <p:blipFill>
          <a:blip r:embed="rId1"/>
          <a:stretch>
            <a:fillRect/>
          </a:stretch>
        </p:blipFill>
        <p:spPr>
          <a:xfrm>
            <a:off x="1005840" y="2450592"/>
            <a:ext cx="365760" cy="365760"/>
          </a:xfrm>
          <a:prstGeom prst="rect">
            <a:avLst/>
          </a:prstGeom>
        </p:spPr>
      </p:pic>
      <p:sp>
        <p:nvSpPr>
          <p:cNvPr id="10" name="Text 7"/>
          <p:cNvSpPr/>
          <p:nvPr/>
        </p:nvSpPr>
        <p:spPr>
          <a:xfrm>
            <a:off x="168249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Hallucination</a:t>
            </a:r>
            <a:endParaRPr lang="en-US" sz="1450" dirty="0"/>
          </a:p>
        </p:txBody>
      </p:sp>
      <p:sp>
        <p:nvSpPr>
          <p:cNvPr id="11" name="Text 8"/>
          <p:cNvSpPr/>
          <p:nvPr/>
        </p:nvSpPr>
        <p:spPr>
          <a:xfrm>
            <a:off x="84124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Fluent, confident output can still be factually wrong — grounding/RAG mitigates, doesn't cure.</a:t>
            </a:r>
            <a:endParaRPr lang="en-US" sz="1100" dirty="0"/>
          </a:p>
        </p:txBody>
      </p:sp>
      <p:sp>
        <p:nvSpPr>
          <p:cNvPr id="12" name="Shape 9"/>
          <p:cNvSpPr/>
          <p:nvPr/>
        </p:nvSpPr>
        <p:spPr>
          <a:xfrm>
            <a:off x="431596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2267712"/>
            <a:ext cx="731520" cy="731520"/>
          </a:xfrm>
          <a:prstGeom prst="ellipse">
            <a:avLst/>
          </a:prstGeom>
          <a:solidFill>
            <a:srgbClr val="D9820A"/>
          </a:solidFill>
          <a:ln/>
        </p:spPr>
      </p:sp>
      <p:pic>
        <p:nvPicPr>
          <p:cNvPr id="14" name="Image 1" descr="preencoded.png">    </p:cNvPr>
          <p:cNvPicPr>
            <a:picLocks noChangeAspect="1"/>
          </p:cNvPicPr>
          <p:nvPr/>
        </p:nvPicPr>
        <p:blipFill>
          <a:blip r:embed="rId2"/>
          <a:stretch>
            <a:fillRect/>
          </a:stretch>
        </p:blipFill>
        <p:spPr>
          <a:xfrm>
            <a:off x="4754880" y="2450592"/>
            <a:ext cx="365760" cy="365760"/>
          </a:xfrm>
          <a:prstGeom prst="rect">
            <a:avLst/>
          </a:prstGeom>
        </p:spPr>
      </p:pic>
      <p:sp>
        <p:nvSpPr>
          <p:cNvPr id="15" name="Text 11"/>
          <p:cNvSpPr/>
          <p:nvPr/>
        </p:nvSpPr>
        <p:spPr>
          <a:xfrm>
            <a:off x="543153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Bias &amp; fairness</a:t>
            </a:r>
            <a:endParaRPr lang="en-US" sz="1450" dirty="0"/>
          </a:p>
        </p:txBody>
      </p:sp>
      <p:sp>
        <p:nvSpPr>
          <p:cNvPr id="16" name="Text 12"/>
          <p:cNvSpPr/>
          <p:nvPr/>
        </p:nvSpPr>
        <p:spPr>
          <a:xfrm>
            <a:off x="459028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Models inherit biases from training data; outputs can reflect and amplify them.</a:t>
            </a:r>
            <a:endParaRPr lang="en-US" sz="1100" dirty="0"/>
          </a:p>
        </p:txBody>
      </p:sp>
      <p:sp>
        <p:nvSpPr>
          <p:cNvPr id="17" name="Shape 13"/>
          <p:cNvSpPr/>
          <p:nvPr/>
        </p:nvSpPr>
        <p:spPr>
          <a:xfrm>
            <a:off x="806500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4"/>
          <p:cNvSpPr/>
          <p:nvPr/>
        </p:nvSpPr>
        <p:spPr>
          <a:xfrm>
            <a:off x="8321040" y="2267712"/>
            <a:ext cx="731520" cy="731520"/>
          </a:xfrm>
          <a:prstGeom prst="ellipse">
            <a:avLst/>
          </a:prstGeom>
          <a:solidFill>
            <a:srgbClr val="5B4BE0"/>
          </a:solidFill>
          <a:ln/>
        </p:spPr>
      </p:sp>
      <p:pic>
        <p:nvPicPr>
          <p:cNvPr id="19" name="Image 2" descr="preencoded.png">    </p:cNvPr>
          <p:cNvPicPr>
            <a:picLocks noChangeAspect="1"/>
          </p:cNvPicPr>
          <p:nvPr/>
        </p:nvPicPr>
        <p:blipFill>
          <a:blip r:embed="rId3"/>
          <a:stretch>
            <a:fillRect/>
          </a:stretch>
        </p:blipFill>
        <p:spPr>
          <a:xfrm>
            <a:off x="8503920" y="2450592"/>
            <a:ext cx="365760" cy="365760"/>
          </a:xfrm>
          <a:prstGeom prst="rect">
            <a:avLst/>
          </a:prstGeom>
        </p:spPr>
      </p:pic>
      <p:sp>
        <p:nvSpPr>
          <p:cNvPr id="20" name="Text 15"/>
          <p:cNvSpPr/>
          <p:nvPr/>
        </p:nvSpPr>
        <p:spPr>
          <a:xfrm>
            <a:off x="918057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Compute &amp; cost</a:t>
            </a:r>
            <a:endParaRPr lang="en-US" sz="1450" dirty="0"/>
          </a:p>
        </p:txBody>
      </p:sp>
      <p:sp>
        <p:nvSpPr>
          <p:cNvPr id="21" name="Text 16"/>
          <p:cNvSpPr/>
          <p:nvPr/>
        </p:nvSpPr>
        <p:spPr>
          <a:xfrm>
            <a:off x="833932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Training and serving frontier models is energy- and capital-intensive.</a:t>
            </a:r>
            <a:endParaRPr lang="en-US" sz="1100" dirty="0"/>
          </a:p>
        </p:txBody>
      </p:sp>
      <p:sp>
        <p:nvSpPr>
          <p:cNvPr id="22" name="Shape 17"/>
          <p:cNvSpPr/>
          <p:nvPr/>
        </p:nvSpPr>
        <p:spPr>
          <a:xfrm>
            <a:off x="56692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18"/>
          <p:cNvSpPr/>
          <p:nvPr/>
        </p:nvSpPr>
        <p:spPr>
          <a:xfrm>
            <a:off x="822960" y="4261104"/>
            <a:ext cx="731520" cy="731520"/>
          </a:xfrm>
          <a:prstGeom prst="ellipse">
            <a:avLst/>
          </a:prstGeom>
          <a:solidFill>
            <a:srgbClr val="0E9E96"/>
          </a:solidFill>
          <a:ln/>
        </p:spPr>
      </p:sp>
      <p:pic>
        <p:nvPicPr>
          <p:cNvPr id="24" name="Image 3" descr="preencoded.png">    </p:cNvPr>
          <p:cNvPicPr>
            <a:picLocks noChangeAspect="1"/>
          </p:cNvPicPr>
          <p:nvPr/>
        </p:nvPicPr>
        <p:blipFill>
          <a:blip r:embed="rId4"/>
          <a:stretch>
            <a:fillRect/>
          </a:stretch>
        </p:blipFill>
        <p:spPr>
          <a:xfrm>
            <a:off x="1005840" y="4443984"/>
            <a:ext cx="365760" cy="365760"/>
          </a:xfrm>
          <a:prstGeom prst="rect">
            <a:avLst/>
          </a:prstGeom>
        </p:spPr>
      </p:pic>
      <p:sp>
        <p:nvSpPr>
          <p:cNvPr id="25" name="Text 19"/>
          <p:cNvSpPr/>
          <p:nvPr/>
        </p:nvSpPr>
        <p:spPr>
          <a:xfrm>
            <a:off x="168249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Interpretability</a:t>
            </a:r>
            <a:endParaRPr lang="en-US" sz="1450" dirty="0"/>
          </a:p>
        </p:txBody>
      </p:sp>
      <p:sp>
        <p:nvSpPr>
          <p:cNvPr id="26" name="Text 20"/>
          <p:cNvSpPr/>
          <p:nvPr/>
        </p:nvSpPr>
        <p:spPr>
          <a:xfrm>
            <a:off x="84124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We still can't fully explain why a model produced a given answer.</a:t>
            </a:r>
            <a:endParaRPr lang="en-US" sz="1100" dirty="0"/>
          </a:p>
        </p:txBody>
      </p:sp>
      <p:sp>
        <p:nvSpPr>
          <p:cNvPr id="27" name="Shape 21"/>
          <p:cNvSpPr/>
          <p:nvPr/>
        </p:nvSpPr>
        <p:spPr>
          <a:xfrm>
            <a:off x="431596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2"/>
          <p:cNvSpPr/>
          <p:nvPr/>
        </p:nvSpPr>
        <p:spPr>
          <a:xfrm>
            <a:off x="4572000" y="4261104"/>
            <a:ext cx="731520" cy="731520"/>
          </a:xfrm>
          <a:prstGeom prst="ellipse">
            <a:avLst/>
          </a:prstGeom>
          <a:solidFill>
            <a:srgbClr val="1B9C5A"/>
          </a:solidFill>
          <a:ln/>
        </p:spPr>
      </p:sp>
      <p:pic>
        <p:nvPicPr>
          <p:cNvPr id="29" name="Image 4" descr="preencoded.png">    </p:cNvPr>
          <p:cNvPicPr>
            <a:picLocks noChangeAspect="1"/>
          </p:cNvPicPr>
          <p:nvPr/>
        </p:nvPicPr>
        <p:blipFill>
          <a:blip r:embed="rId5"/>
          <a:stretch>
            <a:fillRect/>
          </a:stretch>
        </p:blipFill>
        <p:spPr>
          <a:xfrm>
            <a:off x="4754880" y="4443984"/>
            <a:ext cx="365760" cy="365760"/>
          </a:xfrm>
          <a:prstGeom prst="rect">
            <a:avLst/>
          </a:prstGeom>
        </p:spPr>
      </p:pic>
      <p:sp>
        <p:nvSpPr>
          <p:cNvPr id="30" name="Text 23"/>
          <p:cNvSpPr/>
          <p:nvPr/>
        </p:nvSpPr>
        <p:spPr>
          <a:xfrm>
            <a:off x="543153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Safety &amp; misuse</a:t>
            </a:r>
            <a:endParaRPr lang="en-US" sz="1450" dirty="0"/>
          </a:p>
        </p:txBody>
      </p:sp>
      <p:sp>
        <p:nvSpPr>
          <p:cNvPr id="31" name="Text 24"/>
          <p:cNvSpPr/>
          <p:nvPr/>
        </p:nvSpPr>
        <p:spPr>
          <a:xfrm>
            <a:off x="459028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Capable models raise security, privacy and dual-use concerns.</a:t>
            </a:r>
            <a:endParaRPr lang="en-US" sz="1100" dirty="0"/>
          </a:p>
        </p:txBody>
      </p:sp>
      <p:sp>
        <p:nvSpPr>
          <p:cNvPr id="32" name="Shape 25"/>
          <p:cNvSpPr/>
          <p:nvPr/>
        </p:nvSpPr>
        <p:spPr>
          <a:xfrm>
            <a:off x="806500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26"/>
          <p:cNvSpPr/>
          <p:nvPr/>
        </p:nvSpPr>
        <p:spPr>
          <a:xfrm>
            <a:off x="8321040" y="4261104"/>
            <a:ext cx="731520" cy="731520"/>
          </a:xfrm>
          <a:prstGeom prst="ellipse">
            <a:avLst/>
          </a:prstGeom>
          <a:solidFill>
            <a:srgbClr val="7C6FF0"/>
          </a:solidFill>
          <a:ln/>
        </p:spPr>
      </p:sp>
      <p:pic>
        <p:nvPicPr>
          <p:cNvPr id="34" name="Image 5" descr="preencoded.png">    </p:cNvPr>
          <p:cNvPicPr>
            <a:picLocks noChangeAspect="1"/>
          </p:cNvPicPr>
          <p:nvPr/>
        </p:nvPicPr>
        <p:blipFill>
          <a:blip r:embed="rId6"/>
          <a:stretch>
            <a:fillRect/>
          </a:stretch>
        </p:blipFill>
        <p:spPr>
          <a:xfrm>
            <a:off x="8503920" y="4443984"/>
            <a:ext cx="365760" cy="365760"/>
          </a:xfrm>
          <a:prstGeom prst="rect">
            <a:avLst/>
          </a:prstGeom>
        </p:spPr>
      </p:pic>
      <p:sp>
        <p:nvSpPr>
          <p:cNvPr id="35" name="Text 27"/>
          <p:cNvSpPr/>
          <p:nvPr/>
        </p:nvSpPr>
        <p:spPr>
          <a:xfrm>
            <a:off x="918057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Knowledge cutoff</a:t>
            </a:r>
            <a:endParaRPr lang="en-US" sz="1450" dirty="0"/>
          </a:p>
        </p:txBody>
      </p:sp>
      <p:sp>
        <p:nvSpPr>
          <p:cNvPr id="36" name="Text 28"/>
          <p:cNvSpPr/>
          <p:nvPr/>
        </p:nvSpPr>
        <p:spPr>
          <a:xfrm>
            <a:off x="833932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Static weights go stale; models need retrieval or retraining to stay current.</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THROUGH-LINE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Five ideas to walk away with</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66928" y="1645920"/>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Shape 4"/>
          <p:cNvSpPr/>
          <p:nvPr/>
        </p:nvSpPr>
        <p:spPr>
          <a:xfrm>
            <a:off x="804672" y="1837944"/>
            <a:ext cx="457200" cy="457200"/>
          </a:xfrm>
          <a:prstGeom prst="ellipse">
            <a:avLst/>
          </a:prstGeom>
          <a:solidFill>
            <a:srgbClr val="5B4BE0"/>
          </a:solidFill>
          <a:ln/>
        </p:spPr>
      </p:sp>
      <p:sp>
        <p:nvSpPr>
          <p:cNvPr id="7" name="Text 5"/>
          <p:cNvSpPr/>
          <p:nvPr/>
        </p:nvSpPr>
        <p:spPr>
          <a:xfrm>
            <a:off x="804672" y="1837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81328" y="1764792"/>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Attention replaced recurrence</a:t>
            </a:r>
            <a:endParaRPr lang="en-US" sz="1500" dirty="0"/>
          </a:p>
        </p:txBody>
      </p:sp>
      <p:sp>
        <p:nvSpPr>
          <p:cNvPr id="9" name="Text 7"/>
          <p:cNvSpPr/>
          <p:nvPr/>
        </p:nvSpPr>
        <p:spPr>
          <a:xfrm>
            <a:off x="5641848" y="1737360"/>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The 2017 Transformer removed the sequential bottleneck and made parallel training — and thus scale — possible.</a:t>
            </a:r>
            <a:endParaRPr lang="en-US" sz="1180" dirty="0"/>
          </a:p>
        </p:txBody>
      </p:sp>
      <p:sp>
        <p:nvSpPr>
          <p:cNvPr id="10" name="Shape 8"/>
          <p:cNvSpPr/>
          <p:nvPr/>
        </p:nvSpPr>
        <p:spPr>
          <a:xfrm>
            <a:off x="566928" y="2596896"/>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Shape 9"/>
          <p:cNvSpPr/>
          <p:nvPr/>
        </p:nvSpPr>
        <p:spPr>
          <a:xfrm>
            <a:off x="804672" y="2788920"/>
            <a:ext cx="457200" cy="457200"/>
          </a:xfrm>
          <a:prstGeom prst="ellipse">
            <a:avLst/>
          </a:prstGeom>
          <a:solidFill>
            <a:srgbClr val="0E9E96"/>
          </a:solidFill>
          <a:ln/>
        </p:spPr>
      </p:sp>
      <p:sp>
        <p:nvSpPr>
          <p:cNvPr id="12" name="Text 10"/>
          <p:cNvSpPr/>
          <p:nvPr/>
        </p:nvSpPr>
        <p:spPr>
          <a:xfrm>
            <a:off x="804672" y="2788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481328" y="2715768"/>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Scale created capability</a:t>
            </a:r>
            <a:endParaRPr lang="en-US" sz="1500" dirty="0"/>
          </a:p>
        </p:txBody>
      </p:sp>
      <p:sp>
        <p:nvSpPr>
          <p:cNvPr id="14" name="Text 12"/>
          <p:cNvSpPr/>
          <p:nvPr/>
        </p:nvSpPr>
        <p:spPr>
          <a:xfrm>
            <a:off x="5641848" y="2688336"/>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More parameters + data + compute produced emergent abilities like in-context learning; scaling laws made it predictable.</a:t>
            </a:r>
            <a:endParaRPr lang="en-US" sz="1180" dirty="0"/>
          </a:p>
        </p:txBody>
      </p:sp>
      <p:sp>
        <p:nvSpPr>
          <p:cNvPr id="15" name="Shape 13"/>
          <p:cNvSpPr/>
          <p:nvPr/>
        </p:nvSpPr>
        <p:spPr>
          <a:xfrm>
            <a:off x="566928" y="3547872"/>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6" name="Shape 14"/>
          <p:cNvSpPr/>
          <p:nvPr/>
        </p:nvSpPr>
        <p:spPr>
          <a:xfrm>
            <a:off x="804672" y="3739896"/>
            <a:ext cx="457200" cy="457200"/>
          </a:xfrm>
          <a:prstGeom prst="ellipse">
            <a:avLst/>
          </a:prstGeom>
          <a:solidFill>
            <a:srgbClr val="D9820A"/>
          </a:solidFill>
          <a:ln/>
        </p:spPr>
      </p:sp>
      <p:sp>
        <p:nvSpPr>
          <p:cNvPr id="17" name="Text 15"/>
          <p:cNvSpPr/>
          <p:nvPr/>
        </p:nvSpPr>
        <p:spPr>
          <a:xfrm>
            <a:off x="804672" y="37398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81328" y="3666744"/>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Efficiency beat brute force</a:t>
            </a:r>
            <a:endParaRPr lang="en-US" sz="1500" dirty="0"/>
          </a:p>
        </p:txBody>
      </p:sp>
      <p:sp>
        <p:nvSpPr>
          <p:cNvPr id="19" name="Text 17"/>
          <p:cNvSpPr/>
          <p:nvPr/>
        </p:nvSpPr>
        <p:spPr>
          <a:xfrm>
            <a:off x="5641848" y="3639312"/>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RoPE, GQA, FlashAttention and MoE delivered long-context, fast, affordable models without simply growing bigger.</a:t>
            </a:r>
            <a:endParaRPr lang="en-US" sz="1180" dirty="0"/>
          </a:p>
        </p:txBody>
      </p:sp>
      <p:sp>
        <p:nvSpPr>
          <p:cNvPr id="20" name="Shape 18"/>
          <p:cNvSpPr/>
          <p:nvPr/>
        </p:nvSpPr>
        <p:spPr>
          <a:xfrm>
            <a:off x="566928" y="4498848"/>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9"/>
          <p:cNvSpPr/>
          <p:nvPr/>
        </p:nvSpPr>
        <p:spPr>
          <a:xfrm>
            <a:off x="804672" y="4690872"/>
            <a:ext cx="457200" cy="457200"/>
          </a:xfrm>
          <a:prstGeom prst="ellipse">
            <a:avLst/>
          </a:prstGeom>
          <a:solidFill>
            <a:srgbClr val="E5484D"/>
          </a:solidFill>
          <a:ln/>
        </p:spPr>
      </p:sp>
      <p:sp>
        <p:nvSpPr>
          <p:cNvPr id="22" name="Text 20"/>
          <p:cNvSpPr/>
          <p:nvPr/>
        </p:nvSpPr>
        <p:spPr>
          <a:xfrm>
            <a:off x="804672" y="4690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481328" y="4617720"/>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 new axis: reasoning</a:t>
            </a:r>
            <a:endParaRPr lang="en-US" sz="1500" dirty="0"/>
          </a:p>
        </p:txBody>
      </p:sp>
      <p:sp>
        <p:nvSpPr>
          <p:cNvPr id="24" name="Text 22"/>
          <p:cNvSpPr/>
          <p:nvPr/>
        </p:nvSpPr>
        <p:spPr>
          <a:xfrm>
            <a:off x="5641848" y="4590288"/>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2025's models scale test-time compute — thinking before answering — opening capability beyond raw size.</a:t>
            </a:r>
            <a:endParaRPr lang="en-US" sz="1180" dirty="0"/>
          </a:p>
        </p:txBody>
      </p:sp>
      <p:sp>
        <p:nvSpPr>
          <p:cNvPr id="25" name="Shape 23"/>
          <p:cNvSpPr/>
          <p:nvPr/>
        </p:nvSpPr>
        <p:spPr>
          <a:xfrm>
            <a:off x="566928" y="5449824"/>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Shape 24"/>
          <p:cNvSpPr/>
          <p:nvPr/>
        </p:nvSpPr>
        <p:spPr>
          <a:xfrm>
            <a:off x="804672" y="5641848"/>
            <a:ext cx="457200" cy="457200"/>
          </a:xfrm>
          <a:prstGeom prst="ellipse">
            <a:avLst/>
          </a:prstGeom>
          <a:solidFill>
            <a:srgbClr val="1B9C5A"/>
          </a:solidFill>
          <a:ln/>
        </p:spPr>
      </p:sp>
      <p:sp>
        <p:nvSpPr>
          <p:cNvPr id="27" name="Text 25"/>
          <p:cNvSpPr/>
          <p:nvPr/>
        </p:nvSpPr>
        <p:spPr>
          <a:xfrm>
            <a:off x="804672" y="5641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481328" y="5568696"/>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From tool to collaborator</a:t>
            </a:r>
            <a:endParaRPr lang="en-US" sz="1500" dirty="0"/>
          </a:p>
        </p:txBody>
      </p:sp>
      <p:sp>
        <p:nvSpPr>
          <p:cNvPr id="29" name="Text 27"/>
          <p:cNvSpPr/>
          <p:nvPr/>
        </p:nvSpPr>
        <p:spPr>
          <a:xfrm>
            <a:off x="5641848" y="5541264"/>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Agentic LLMs now read literature, design experiments and assist real scientific discovery.</a:t>
            </a:r>
            <a:endParaRPr lang="en-US" sz="11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FOR THE CURIOUS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References &amp; sources</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44</a:t>
            </a:r>
            <a:endParaRPr lang="en-US" sz="900" dirty="0"/>
          </a:p>
        </p:txBody>
      </p:sp>
      <p:sp>
        <p:nvSpPr>
          <p:cNvPr id="5" name="Shape 3"/>
          <p:cNvSpPr/>
          <p:nvPr/>
        </p:nvSpPr>
        <p:spPr>
          <a:xfrm>
            <a:off x="566928" y="1536192"/>
            <a:ext cx="5394960" cy="365760"/>
          </a:xfrm>
          <a:prstGeom prst="roundRect">
            <a:avLst>
              <a:gd name="adj" fmla="val 15000"/>
            </a:avLst>
          </a:prstGeom>
          <a:solidFill>
            <a:srgbClr val="5B4BE0"/>
          </a:solidFill>
          <a:ln/>
        </p:spPr>
      </p:sp>
      <p:sp>
        <p:nvSpPr>
          <p:cNvPr id="6" name="Text 4"/>
          <p:cNvSpPr/>
          <p:nvPr/>
        </p:nvSpPr>
        <p:spPr>
          <a:xfrm>
            <a:off x="731520" y="15361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Foundational papers</a:t>
            </a:r>
            <a:endParaRPr lang="en-US" sz="1250" dirty="0"/>
          </a:p>
        </p:txBody>
      </p:sp>
      <p:sp>
        <p:nvSpPr>
          <p:cNvPr id="7" name="Text 5"/>
          <p:cNvSpPr/>
          <p:nvPr/>
        </p:nvSpPr>
        <p:spPr>
          <a:xfrm>
            <a:off x="658368" y="20116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Attention Is All You Need — arxiv.org/abs/1706.03762</a:t>
            </a:r>
            <a:endParaRPr lang="en-US" sz="1120" dirty="0"/>
          </a:p>
        </p:txBody>
      </p:sp>
      <p:sp>
        <p:nvSpPr>
          <p:cNvPr id="8" name="Text 6"/>
          <p:cNvSpPr/>
          <p:nvPr/>
        </p:nvSpPr>
        <p:spPr>
          <a:xfrm>
            <a:off x="658368" y="23820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BERT — arxiv.org/abs/1810.04805</a:t>
            </a:r>
            <a:endParaRPr lang="en-US" sz="1120" dirty="0"/>
          </a:p>
        </p:txBody>
      </p:sp>
      <p:sp>
        <p:nvSpPr>
          <p:cNvPr id="9" name="Text 7"/>
          <p:cNvSpPr/>
          <p:nvPr/>
        </p:nvSpPr>
        <p:spPr>
          <a:xfrm>
            <a:off x="658368" y="275234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GPT-3 (Few-Shot Learners) — arxiv.org/abs/2005.14165</a:t>
            </a:r>
            <a:endParaRPr lang="en-US" sz="1120" dirty="0"/>
          </a:p>
        </p:txBody>
      </p:sp>
      <p:sp>
        <p:nvSpPr>
          <p:cNvPr id="10" name="Text 8"/>
          <p:cNvSpPr/>
          <p:nvPr/>
        </p:nvSpPr>
        <p:spPr>
          <a:xfrm>
            <a:off x="658368" y="312267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Scaling Laws (Kaplan) — arxiv.org/abs/2001.08361</a:t>
            </a:r>
            <a:endParaRPr lang="en-US" sz="1120" dirty="0"/>
          </a:p>
        </p:txBody>
      </p:sp>
      <p:sp>
        <p:nvSpPr>
          <p:cNvPr id="11" name="Text 9"/>
          <p:cNvSpPr/>
          <p:nvPr/>
        </p:nvSpPr>
        <p:spPr>
          <a:xfrm>
            <a:off x="658368" y="349300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Chinchilla — arxiv.org/abs/2203.15556</a:t>
            </a:r>
            <a:endParaRPr lang="en-US" sz="1120" dirty="0"/>
          </a:p>
        </p:txBody>
      </p:sp>
      <p:sp>
        <p:nvSpPr>
          <p:cNvPr id="12" name="Text 10"/>
          <p:cNvSpPr/>
          <p:nvPr/>
        </p:nvSpPr>
        <p:spPr>
          <a:xfrm>
            <a:off x="658368" y="386334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InstructGPT / RLHF — arxiv.org/abs/2203.02155</a:t>
            </a:r>
            <a:endParaRPr lang="en-US" sz="1120" dirty="0"/>
          </a:p>
        </p:txBody>
      </p:sp>
      <p:sp>
        <p:nvSpPr>
          <p:cNvPr id="13" name="Shape 11"/>
          <p:cNvSpPr/>
          <p:nvPr/>
        </p:nvSpPr>
        <p:spPr>
          <a:xfrm>
            <a:off x="566928" y="4233672"/>
            <a:ext cx="5394960" cy="365760"/>
          </a:xfrm>
          <a:prstGeom prst="roundRect">
            <a:avLst>
              <a:gd name="adj" fmla="val 15000"/>
            </a:avLst>
          </a:prstGeom>
          <a:solidFill>
            <a:srgbClr val="0E9E96"/>
          </a:solidFill>
          <a:ln/>
        </p:spPr>
      </p:sp>
      <p:sp>
        <p:nvSpPr>
          <p:cNvPr id="14" name="Text 12"/>
          <p:cNvSpPr/>
          <p:nvPr/>
        </p:nvSpPr>
        <p:spPr>
          <a:xfrm>
            <a:off x="731520" y="423367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Architectural innovations</a:t>
            </a:r>
            <a:endParaRPr lang="en-US" sz="1250" dirty="0"/>
          </a:p>
        </p:txBody>
      </p:sp>
      <p:sp>
        <p:nvSpPr>
          <p:cNvPr id="15" name="Text 13"/>
          <p:cNvSpPr/>
          <p:nvPr/>
        </p:nvSpPr>
        <p:spPr>
          <a:xfrm>
            <a:off x="658368" y="470916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RoFormer / RoPE — arxiv.org/abs/2104.09864</a:t>
            </a:r>
            <a:endParaRPr lang="en-US" sz="1120" dirty="0"/>
          </a:p>
        </p:txBody>
      </p:sp>
      <p:sp>
        <p:nvSpPr>
          <p:cNvPr id="16" name="Text 14"/>
          <p:cNvSpPr/>
          <p:nvPr/>
        </p:nvSpPr>
        <p:spPr>
          <a:xfrm>
            <a:off x="658368" y="507949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GQA — arxiv.org/abs/2305.13245</a:t>
            </a:r>
            <a:endParaRPr lang="en-US" sz="1120" dirty="0"/>
          </a:p>
        </p:txBody>
      </p:sp>
      <p:sp>
        <p:nvSpPr>
          <p:cNvPr id="17" name="Text 15"/>
          <p:cNvSpPr/>
          <p:nvPr/>
        </p:nvSpPr>
        <p:spPr>
          <a:xfrm>
            <a:off x="658368" y="544982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Multi-Query Attention — arxiv.org/abs/1911.02150</a:t>
            </a:r>
            <a:endParaRPr lang="en-US" sz="1120" dirty="0"/>
          </a:p>
        </p:txBody>
      </p:sp>
      <p:sp>
        <p:nvSpPr>
          <p:cNvPr id="18" name="Text 16"/>
          <p:cNvSpPr/>
          <p:nvPr/>
        </p:nvSpPr>
        <p:spPr>
          <a:xfrm>
            <a:off x="658368" y="582015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FlashAttention — arxiv.org/abs/2205.14135</a:t>
            </a:r>
            <a:endParaRPr lang="en-US" sz="1120" dirty="0"/>
          </a:p>
        </p:txBody>
      </p:sp>
      <p:sp>
        <p:nvSpPr>
          <p:cNvPr id="19" name="Text 17"/>
          <p:cNvSpPr/>
          <p:nvPr/>
        </p:nvSpPr>
        <p:spPr>
          <a:xfrm>
            <a:off x="658368" y="619048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MoE (Sparsely-Gated) — arxiv.org/abs/1701.06538</a:t>
            </a:r>
            <a:endParaRPr lang="en-US" sz="1120" dirty="0"/>
          </a:p>
        </p:txBody>
      </p:sp>
      <p:sp>
        <p:nvSpPr>
          <p:cNvPr id="20" name="Shape 18"/>
          <p:cNvSpPr/>
          <p:nvPr/>
        </p:nvSpPr>
        <p:spPr>
          <a:xfrm>
            <a:off x="6236208" y="1536192"/>
            <a:ext cx="5394960" cy="365760"/>
          </a:xfrm>
          <a:prstGeom prst="roundRect">
            <a:avLst>
              <a:gd name="adj" fmla="val 15000"/>
            </a:avLst>
          </a:prstGeom>
          <a:solidFill>
            <a:srgbClr val="D9820A"/>
          </a:solidFill>
          <a:ln/>
        </p:spPr>
      </p:sp>
      <p:sp>
        <p:nvSpPr>
          <p:cNvPr id="21" name="Text 19"/>
          <p:cNvSpPr/>
          <p:nvPr/>
        </p:nvSpPr>
        <p:spPr>
          <a:xfrm>
            <a:off x="6400800" y="15361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Modern models &amp; benchmarks</a:t>
            </a:r>
            <a:endParaRPr lang="en-US" sz="1250" dirty="0"/>
          </a:p>
        </p:txBody>
      </p:sp>
      <p:sp>
        <p:nvSpPr>
          <p:cNvPr id="22" name="Text 20"/>
          <p:cNvSpPr/>
          <p:nvPr/>
        </p:nvSpPr>
        <p:spPr>
          <a:xfrm>
            <a:off x="6327648" y="20116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GPT-4 Technical Report — arxiv.org/abs/2303.08774</a:t>
            </a:r>
            <a:endParaRPr lang="en-US" sz="1120" dirty="0"/>
          </a:p>
        </p:txBody>
      </p:sp>
      <p:sp>
        <p:nvSpPr>
          <p:cNvPr id="23" name="Text 21"/>
          <p:cNvSpPr/>
          <p:nvPr/>
        </p:nvSpPr>
        <p:spPr>
          <a:xfrm>
            <a:off x="6327648" y="23820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LLaMA — arxiv.org/abs/2302.13971</a:t>
            </a:r>
            <a:endParaRPr lang="en-US" sz="1120" dirty="0"/>
          </a:p>
        </p:txBody>
      </p:sp>
      <p:sp>
        <p:nvSpPr>
          <p:cNvPr id="24" name="Text 22"/>
          <p:cNvSpPr/>
          <p:nvPr/>
        </p:nvSpPr>
        <p:spPr>
          <a:xfrm>
            <a:off x="6327648" y="2752344"/>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DeepSeek-V3 — arxiv.org/abs/2412.19437</a:t>
            </a:r>
            <a:endParaRPr lang="en-US" sz="1120" dirty="0"/>
          </a:p>
        </p:txBody>
      </p:sp>
      <p:sp>
        <p:nvSpPr>
          <p:cNvPr id="25" name="Text 23"/>
          <p:cNvSpPr/>
          <p:nvPr/>
        </p:nvSpPr>
        <p:spPr>
          <a:xfrm>
            <a:off x="6327648" y="3122676"/>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DeepSeek-R1 — arxiv.org/abs/2501.12948</a:t>
            </a:r>
            <a:endParaRPr lang="en-US" sz="1120" dirty="0"/>
          </a:p>
        </p:txBody>
      </p:sp>
      <p:sp>
        <p:nvSpPr>
          <p:cNvPr id="26" name="Text 24"/>
          <p:cNvSpPr/>
          <p:nvPr/>
        </p:nvSpPr>
        <p:spPr>
          <a:xfrm>
            <a:off x="6327648" y="349300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MMLU benchmark — arxiv.org/abs/2009.03300</a:t>
            </a:r>
            <a:endParaRPr lang="en-US" sz="1120" dirty="0"/>
          </a:p>
        </p:txBody>
      </p:sp>
      <p:sp>
        <p:nvSpPr>
          <p:cNvPr id="27" name="Shape 25"/>
          <p:cNvSpPr/>
          <p:nvPr/>
        </p:nvSpPr>
        <p:spPr>
          <a:xfrm>
            <a:off x="6236208" y="3863340"/>
            <a:ext cx="5394960" cy="365760"/>
          </a:xfrm>
          <a:prstGeom prst="roundRect">
            <a:avLst>
              <a:gd name="adj" fmla="val 15000"/>
            </a:avLst>
          </a:prstGeom>
          <a:solidFill>
            <a:srgbClr val="E5484D"/>
          </a:solidFill>
          <a:ln/>
        </p:spPr>
      </p:sp>
      <p:sp>
        <p:nvSpPr>
          <p:cNvPr id="28" name="Text 26"/>
          <p:cNvSpPr/>
          <p:nvPr/>
        </p:nvSpPr>
        <p:spPr>
          <a:xfrm>
            <a:off x="6400800" y="3863340"/>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 in research (Session 2)</a:t>
            </a:r>
            <a:endParaRPr lang="en-US" sz="1250" dirty="0"/>
          </a:p>
        </p:txBody>
      </p:sp>
      <p:sp>
        <p:nvSpPr>
          <p:cNvPr id="29" name="Text 27"/>
          <p:cNvSpPr/>
          <p:nvPr/>
        </p:nvSpPr>
        <p:spPr>
          <a:xfrm>
            <a:off x="6327648" y="4338828"/>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Scientific LLMs survey — arxiv.org/abs/2503.24047</a:t>
            </a:r>
            <a:endParaRPr lang="en-US" sz="1120" dirty="0"/>
          </a:p>
        </p:txBody>
      </p:sp>
      <p:sp>
        <p:nvSpPr>
          <p:cNvPr id="30" name="Text 28"/>
          <p:cNvSpPr/>
          <p:nvPr/>
        </p:nvSpPr>
        <p:spPr>
          <a:xfrm>
            <a:off x="6327648" y="470916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AI co-scientist — arxiv.org/abs/2502.18864</a:t>
            </a:r>
            <a:endParaRPr lang="en-US" sz="1120" dirty="0"/>
          </a:p>
        </p:txBody>
      </p:sp>
      <p:sp>
        <p:nvSpPr>
          <p:cNvPr id="31" name="Shape 29"/>
          <p:cNvSpPr/>
          <p:nvPr/>
        </p:nvSpPr>
        <p:spPr>
          <a:xfrm>
            <a:off x="6236208" y="5079492"/>
            <a:ext cx="5394960" cy="365760"/>
          </a:xfrm>
          <a:prstGeom prst="roundRect">
            <a:avLst>
              <a:gd name="adj" fmla="val 15000"/>
            </a:avLst>
          </a:prstGeom>
          <a:solidFill>
            <a:srgbClr val="1B9C5A"/>
          </a:solidFill>
          <a:ln/>
        </p:spPr>
      </p:sp>
      <p:sp>
        <p:nvSpPr>
          <p:cNvPr id="32" name="Text 30"/>
          <p:cNvSpPr/>
          <p:nvPr/>
        </p:nvSpPr>
        <p:spPr>
          <a:xfrm>
            <a:off x="6400800" y="5079492"/>
            <a:ext cx="512064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Video explainers</a:t>
            </a:r>
            <a:endParaRPr lang="en-US" sz="1250" dirty="0"/>
          </a:p>
        </p:txBody>
      </p:sp>
      <p:sp>
        <p:nvSpPr>
          <p:cNvPr id="33" name="Text 31"/>
          <p:cNvSpPr/>
          <p:nvPr/>
        </p:nvSpPr>
        <p:spPr>
          <a:xfrm>
            <a:off x="6327648" y="5554980"/>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3Blue1Brown — youtube.com/watch?v=wjZofJX0v4M</a:t>
            </a:r>
            <a:endParaRPr lang="en-US" sz="1120" dirty="0"/>
          </a:p>
        </p:txBody>
      </p:sp>
      <p:sp>
        <p:nvSpPr>
          <p:cNvPr id="34" name="Text 32"/>
          <p:cNvSpPr/>
          <p:nvPr/>
        </p:nvSpPr>
        <p:spPr>
          <a:xfrm>
            <a:off x="6327648" y="5925312"/>
            <a:ext cx="5349240" cy="347472"/>
          </a:xfrm>
          <a:prstGeom prst="rect">
            <a:avLst/>
          </a:prstGeom>
          <a:noFill/>
          <a:ln/>
        </p:spPr>
        <p:txBody>
          <a:bodyPr wrap="square" lIns="0" tIns="0" rIns="0" bIns="0" rtlCol="0" anchor="ctr"/>
          <a:lstStyle/>
          <a:p>
            <a:pPr indent="0" marL="0">
              <a:buNone/>
            </a:pPr>
            <a:r>
              <a:rPr lang="en-US" sz="1120" b="1" dirty="0">
                <a:solidFill>
                  <a:srgbClr val="7C6FF0"/>
                </a:solidFill>
                <a:latin typeface="Calibri" pitchFamily="34" charset="0"/>
                <a:ea typeface="Calibri" pitchFamily="34" charset="-122"/>
                <a:cs typeface="Calibri" pitchFamily="34" charset="-120"/>
              </a:rPr>
              <a:t>›  </a:t>
            </a:r>
            <a:pPr indent="0" marL="0">
              <a:buNone/>
            </a:pPr>
            <a:r>
              <a:rPr lang="en-US" sz="1120" dirty="0">
                <a:solidFill>
                  <a:srgbClr val="1B2440"/>
                </a:solidFill>
                <a:latin typeface="Calibri" pitchFamily="34" charset="0"/>
                <a:ea typeface="Calibri" pitchFamily="34" charset="-122"/>
                <a:cs typeface="Calibri" pitchFamily="34" charset="-120"/>
              </a:rPr>
              <a:t>A. Karpathy, Intro to LLMs — youtube.com/watch?v=zjkBMFhNj_g</a:t>
            </a:r>
            <a:endParaRPr lang="en-US" sz="11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955280" y="-182880"/>
            <a:ext cx="4572000" cy="7040880"/>
          </a:xfrm>
          <a:prstGeom prst="rect">
            <a:avLst/>
          </a:prstGeom>
          <a:noFill/>
          <a:ln/>
        </p:spPr>
        <p:txBody>
          <a:bodyPr wrap="square" lIns="0" tIns="0" rIns="0" bIns="0" rtlCol="0" anchor="ctr"/>
          <a:lstStyle/>
          <a:p>
            <a:pPr algn="ctr" indent="0" marL="0">
              <a:buNone/>
            </a:pPr>
            <a:r>
              <a:rPr lang="en-US" sz="43000" b="1" dirty="0">
                <a:solidFill>
                  <a:srgbClr val="5B4BE0">
                    <a:alpha val="16000"/>
                  </a:srgbClr>
                </a:solidFill>
                <a:latin typeface="Cambria" pitchFamily="34" charset="0"/>
                <a:ea typeface="Cambria" pitchFamily="34" charset="-122"/>
                <a:cs typeface="Cambria" pitchFamily="34" charset="-120"/>
              </a:rPr>
              <a:t>?</a:t>
            </a:r>
            <a:endParaRPr lang="en-US" sz="43000" dirty="0"/>
          </a:p>
        </p:txBody>
      </p:sp>
      <p:sp>
        <p:nvSpPr>
          <p:cNvPr id="3" name="Shape 1"/>
          <p:cNvSpPr/>
          <p:nvPr/>
        </p:nvSpPr>
        <p:spPr>
          <a:xfrm>
            <a:off x="612648" y="1965960"/>
            <a:ext cx="960120" cy="96012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52678" y="2205990"/>
            <a:ext cx="480060" cy="480060"/>
          </a:xfrm>
          <a:prstGeom prst="rect">
            <a:avLst/>
          </a:prstGeom>
        </p:spPr>
      </p:pic>
      <p:sp>
        <p:nvSpPr>
          <p:cNvPr id="5" name="Text 2"/>
          <p:cNvSpPr/>
          <p:nvPr/>
        </p:nvSpPr>
        <p:spPr>
          <a:xfrm>
            <a:off x="566928" y="3063240"/>
            <a:ext cx="8229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3"/>
          <p:cNvSpPr/>
          <p:nvPr/>
        </p:nvSpPr>
        <p:spPr>
          <a:xfrm>
            <a:off x="594360" y="4069080"/>
            <a:ext cx="8229600" cy="457200"/>
          </a:xfrm>
          <a:prstGeom prst="rect">
            <a:avLst/>
          </a:prstGeom>
          <a:noFill/>
          <a:ln/>
        </p:spPr>
        <p:txBody>
          <a:bodyPr wrap="square" lIns="0" tIns="0" rIns="0" bIns="0" rtlCol="0" anchor="ctr"/>
          <a:lstStyle/>
          <a:p>
            <a:pPr indent="0" marL="0">
              <a:buNone/>
            </a:pPr>
            <a:r>
              <a:rPr lang="en-US" sz="1700" dirty="0">
                <a:solidFill>
                  <a:srgbClr val="C6CCE0"/>
                </a:solidFill>
                <a:latin typeface="Calibri" pitchFamily="34" charset="0"/>
                <a:ea typeface="Calibri" pitchFamily="34" charset="-122"/>
                <a:cs typeface="Calibri" pitchFamily="34" charset="-120"/>
              </a:rPr>
              <a:t>Questions, pushback and hard cases all welcome.</a:t>
            </a:r>
            <a:endParaRPr lang="en-US" sz="1700" dirty="0"/>
          </a:p>
        </p:txBody>
      </p:sp>
      <p:sp>
        <p:nvSpPr>
          <p:cNvPr id="7" name="Text 4"/>
          <p:cNvSpPr/>
          <p:nvPr/>
        </p:nvSpPr>
        <p:spPr>
          <a:xfrm>
            <a:off x="594360" y="4709160"/>
            <a:ext cx="9144000" cy="365760"/>
          </a:xfrm>
          <a:prstGeom prst="rect">
            <a:avLst/>
          </a:prstGeom>
          <a:noFill/>
          <a:ln/>
        </p:spPr>
        <p:txBody>
          <a:bodyPr wrap="square" lIns="0" tIns="0" rIns="0" bIns="0" rtlCol="0" anchor="ctr"/>
          <a:lstStyle/>
          <a:p>
            <a:pPr indent="0" marL="0">
              <a:buNone/>
            </a:pPr>
            <a:r>
              <a:rPr lang="en-US" sz="1300" i="1" dirty="0">
                <a:solidFill>
                  <a:srgbClr val="8A93AB"/>
                </a:solidFill>
                <a:latin typeface="Calibri" pitchFamily="34" charset="0"/>
                <a:ea typeface="Calibri" pitchFamily="34" charset="-122"/>
                <a:cs typeface="Calibri" pitchFamily="34" charset="-120"/>
              </a:rPr>
              <a:t>LLM Foundations · 2017 → 2026 · A technical walk through the era of scale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Day 1 - AI and 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Foundations: 2017 → 2026</dc:title>
  <dc:subject>PptxGenJS Presentation</dc:subject>
  <dc:creator>LLM Foundations</dc:creator>
  <cp:lastModifiedBy>LLM Foundations</cp:lastModifiedBy>
  <cp:revision>1</cp:revision>
  <dcterms:created xsi:type="dcterms:W3CDTF">2026-06-20T15:30:23Z</dcterms:created>
  <dcterms:modified xsi:type="dcterms:W3CDTF">2026-06-20T15:30:23Z</dcterms:modified>
</cp:coreProperties>
</file>