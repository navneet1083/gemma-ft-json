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MMLU (%)</c:v>
                </c:pt>
              </c:strCache>
            </c:strRef>
          </c:tx>
          <c:spPr>
            <a:solidFill>
              <a:srgbClr val="5B4BE0"/>
            </a:solidFill>
            <a:ln w="38100" cap="flat">
              <a:solidFill>
                <a:srgbClr val="5B4B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5B4BE0"/>
              </a:solidFill>
              <a:ln w="9525" cap="flat">
                <a:solidFill>
                  <a:srgbClr val="5B4BE0"/>
                </a:solidFill>
                <a:prstDash val="solid"/>
                <a:round/>
              </a:ln>
              <a:effectLst/>
            </c:spPr>
          </c:marker>
          <c:cat>
            <c:multiLvlStrRef>
              <c:f>Sheet1!$A$2:$A$7</c:f>
              <c:multiLvlStrCache>
                <c:ptCount val="6"/>
                <c:lvl>
                  <c:pt idx="0">
                    <c:v>GPT-3
2020</c:v>
                  </c:pt>
                  <c:pt idx="1">
                    <c:v>Chinchilla
2022</c:v>
                  </c:pt>
                  <c:pt idx="2">
                    <c:v>PaLM
2022</c:v>
                  </c:pt>
                  <c:pt idx="3">
                    <c:v>GPT-4
2023</c:v>
                  </c:pt>
                  <c:pt idx="4">
                    <c:v>DeepSeek-V3
2024</c:v>
                  </c:pt>
                  <c:pt idx="5">
                    <c:v>Frontier
2026</c:v>
                  </c:pt>
                </c:lvl>
              </c:multiLvlStrCache>
            </c:multiLvlStrRef>
          </c:cat>
          <c:val>
            <c:numRef>
              <c:f>Sheet1!$B$2:$B$7</c:f>
              <c:numCache>
                <c:formatCode>General</c:formatCode>
                <c:ptCount val="6"/>
                <c:pt idx="0">
                  <c:v>43.9</c:v>
                </c:pt>
                <c:pt idx="1">
                  <c:v>67.6</c:v>
                </c:pt>
                <c:pt idx="2">
                  <c:v>69.3</c:v>
                </c:pt>
                <c:pt idx="3">
                  <c:v>86.4</c:v>
                </c:pt>
                <c:pt idx="4">
                  <c:v>88.5</c:v>
                </c:pt>
                <c:pt idx="5">
                  <c:v>91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40"/>
                </a:solidFill>
                <a:latin typeface="Calibri"/>
              </a:defRPr>
            </a:pPr>
            <a:endParaRPr lang="en-US"/>
          </a:p>
        </c:txPr>
        <c:crossAx val="2094734552"/>
        <c:crosses val="autoZero"/>
        <c:auto val="1"/>
        <c:lblAlgn val="ctr"/>
        <c:noMultiLvlLbl val="1"/>
      </c:catAx>
      <c:valAx>
        <c:axId val="2094734552"/>
        <c:scaling>
          <c:orientation val="minMax"/>
          <c:max val="100"/>
          <c:min val="30"/>
        </c:scaling>
        <c:delete val="0"/>
        <c:axPos val="l"/>
        <c:majorGridlines>
          <c:spPr>
            <a:ln w="12700" cap="flat">
              <a:solidFill>
                <a:srgbClr val="DDE1EC"/>
              </a:solidFill>
              <a:prstDash val="solid"/>
              <a:round/>
            </a:ln>
          </c:spPr>
        </c:majorGridlines>
        <c:title>
          <c:tx>
            <c:rich>
              <a:bodyPr/>
              <a:lstStyle/>
              <a:p>
                <a:pPr>
                  <a:defRPr sz="1100" b="0" i="0" u="none" strike="noStrike">
                    <a:solidFill>
                      <a:srgbClr val="5A6685"/>
                    </a:solidFill>
                    <a:latin typeface="Arial"/>
                  </a:defRPr>
                </a:pPr>
                <a:r>
                  <a:rPr sz="1100" b="0" i="0" u="none" strike="noStrike">
                    <a:solidFill>
                      <a:srgbClr val="5A6685"/>
                    </a:solidFill>
                    <a:latin typeface="Arial"/>
                  </a:rPr>
                  <a:t>MMLU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685"/>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the frame: we are going to time-travel from 2017 (the Transformer paper) to 2026 (today's frontier). Note the common myth: the Transformer came from Google Brain in 2017, not OpenAI — OpenAI then scaled the decoder-only variant into the GPT line. Promise the audience three things: intuition (pictures), mechanism (real architecture + math), and evidence (benchmarks and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Tell students each 'Part' answers one question: (1) why did we need something new, (2) what exactly is a Transformer, (3) why did bigger = better and when did that break, (4) the clever tricks that make modern models fast and long-context, (5) where we are now, (6) how all of this is changing how science gets done. Keep ~10 minutes per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live example, not a definition. Read the member's question aloud, then walk the pipeline: the model reads the words, neurons activate, and it predicts the most likely next token — here 'deductible' at 47%. That IS the whole trick: predict next token, sample, append, repeat. Then the right panel: 'large' means the mechanism is simple but the scale (billions of parameters) is what makes coverage logic and language emerge. Promise the audience we will follow THIS question all the way through the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slide as the classic NLP-history timeline, but anchored to the member's question so the audience feels the progress. Rule-based literally can't cope with paraphrase. Statistical NLP gets the gist from word frequencies but misses the 'covered BEFORE deductible' logic. Embeddings (2013) finally encode meaning — MRI≈scan — but still process serially. Transformers read the whole thing in context. The throughline to stress: context width kept growing, but serial processing was the ceiling everyone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of Part 1 — spend time here. The map: words that appear in similar contexts end up near each other, with NO human labelling. Show the four health neighbourhoods. Then the killer point — the two green arrows are parallel: 'condition → its treatment' is a consistent DIRECTION in the space, which is why vector arithmetic works (insulin−diabetes+asthma≈albuterol). The right rail shows the literal flow: word → token ID → vector → point. Close by noting ClinicalBERT learns exactly this kind of health-specific map, and that every Transformer still starts by embedding tokens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fading purple boxes: that washout IS the vanishing-gradient / long-range-memory problem made visible. The model reads knee → MRI → covered → before → deductible, and by the end the crucial 'knee MRI' context is almost gone — yet the correct answer depends on connecting 'covered' and 'deductible' back to 'knee MRI'. Also stress the serial chain: every step waits for the previous one, so no GPU parallelism. LSTM is the patch; the Transformer is the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LSTMs are the heroic patch: the gating mechanism is genuinely clever and bought the field several productive years. But emphasise the framing for the next slide — gates fix *gradient flow*, they do NOT fix *serial computation* or give true long-range, content-based lookup. Those two unsolved problems are exactly what attention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walls concrete with the numbers up top. A health insurer's text problem is enormous: ~1.5B scripts a year at Express Scripts, 18M+ members, clinical notes thousands of tokens long. Serial RNN/LSTM processing simply can't keep up, and long-range links (diagnosis → billing code) decay. The Transformer's headline claim — 'dispensing with recurrence entirely' — attacks walls 1 and 2 at once: every token sees every other token in a single parallel step. That is the pivot into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hinge into Part 2. Bahdanau invented attention to fix translation alignment in 2014. Here it's shown on a claims note: read the heatmap by ROW — each row is a word deciding where to look. The 'denied' row lights up on 'missing', 'prior', 'auth' — attention lets the model connect the denial to its cause directly, with no fading. The 2017 leap was radical: throw away the RNN and keep ONLY attention. That is literally the paper's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common misconception directly: the Transformer is a Google Brain paper, not OpenAI. It was a translation paper — the authors realised mid-project it was a general-purpose architecture. The three stats land the 'why it mattered': better quality, far cheaper to train (parallelism!), and an almost unmatched scientific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 slow down. Both stacks share the same two-ingredient recipe: an attention sub-layer and a feed-forward sub-layer, each wrapped in residual Add &amp; Norm. Differences: the decoder's self-attention is MASKED (can't peek at future tokens — essential for generation), and it has an extra cross-attention sub-layer (red arrow) that reads the encoder's keys and values. GPT keeps only the right stack; BERT keeps only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library analogy: the Query is your search request, Keys are the spine labels on every book, the dot-product is how well each spine matches your request, softmax turns matches into a focus distribution, and Values are the contents you actually pull and mix. 'Self' attention just means the books and the request come from the same sentence. The two bullets that matter most: 1-hop distance (kills wall #2) and full parallelism (kills wall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but essential additions. Multi-head = ensemble of attention 'viewpoints'; specialisation is empirically real and interpretable. Positional encoding fixes a subtle but fatal flaw — pure attention treats 'dog bites man' and 'man bites dog' identically. Flag forward: the sinusoidal scheme on the right is exactly the thing RoPE will replace in Part 4, so this slide plants that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of Part 2: the Transformer is a kit, not one model — and each wiring maps to a real Cigna task. Encoder-only (BERT/ClinicalBERT) = understanding: pull diagnoses and codes out of a clinical note. Decoder-only (GPT/Claude) = generation: draft the member's coverage answer — that's our running example, now answered. Encoder–decoder (T5/BART) = transformation: compress a long claim history into a summary. GPT's decoder-only bet on generation + scale is what won, which is why almost every model after slide 30 is decoder-only. This is the bridge into the scaling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2018 is the fork in the road. Both are Transformers, but they bet differently. BERT won 2018–2020 on understanding tasks and was the bigger deal at the time. GPT-1 looked weaker — but it bet on generation + scale, and that bet compounds across the next slides. Foreshadow: the 'loser' of 2018 becomes the architecture of every frontier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to anchor: 175 billion. But the real story is qualitative — in-context / few-shot learning. Before GPT-3 you trained a model per task; after, you wrote a prompt. That is the seed of 'prompt engineering' and of the whole product surface that became ChatGPT. Emergence is the key word: this ability is essentially absent in small models and shows up only past a scale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log scale do the talking: the bars roughly double in visual length while the real numbers 10×. Caveat the GPT-4 figure honestly — it's an estimate, the model is sparse (MoE), so 'parameters' stops being apples-to-apples. That caveat is the perfect hand-off to scaling laws: by 2022 the question changed from 'how big?' to 'how should we spend a fixed compute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intellectually important slide in Part 3. Kaplan made scaling predictable — you can forecast loss, which de-risks spending millions on a training run. Chinchilla corrected the *allocation*: people were buying parameters and starving them of data. The 20:1 ratio (70B model → ~1.4T tokens) is why a 70B Chinchilla beat a 280B Gopher. Mention C≈6ND so the budget math is concrete: compute is roughly 6× params ×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scale gave us capability; RLHF gave us usability. A base model completes text; an RLHF'd model follows instructions and refuses harmful ones. Walk the 4 steps quickly — pretrain, SFT, reward model from human rankings, then RL (PPO) against that reward. ChatGPT wasn't a new base model; it was GPT-3.5 + this alignment recipe + a chat UI. That packaging is what made it a cultural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Part 4 as problem→solution. Each card names a real cost of the naive design and the innovation that targets it. Quadratic attention and the KV cache are *efficiency* problems (speed, memory); position extrapolation is a *capability* problem (long context); dense compute is a *scaling-economics* problem. The next four slides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RoPE is the most elegant idea in Part 4. Old way: ADD a position vector. RoPE: ROTATE the query/key by an angle set by position. Because a dot product of two rotated vectors depends only on the angle BETWEEN them, the attention score automatically becomes a function of relative distance (n−m) — shown in the boxed identity. Two payoffs: zero extra parameters, and much better extrapolation to long contexts. It's in nearly every modern open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left→right as a dial. MHA is the original: every query head carries its own keys and values — highest quality but the KV cache is huge. MQA collapses to a single shared K/V — tiny cache, very fast, slight quality hit. GQA is the compromise that won: a few K/V groups recover almost all the quality at a fraction of the memory. That's why LLaMA-2/3, Mistral and most 2024 models ship GQA — it's what makes 100K-token contexts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reframing: FlashAttention is not a new attention — it's the SAME attention computed in a memory-aware order. The insight is that GPUs are starved by data movement, not compute. By tiling Q/K/V into blocks that fit in fast SRAM and using an online (streaming) softmax, it never writes the giant N×N matrix to slow HBM. Exact result, big speedups, and memory that scales linearly — which is precisely what made 32K–1M token contexts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MoE is how labs keep scaling capability without scaling the bill. A dense model runs every weight for every token; MoE has many 'expert' sub-networks and a router that activates only the top-k per token. So total parameters (knowledge capacity) and active parameters (per-token cost) decouple. DeepSeek-V3 is the poster child: 671B total but only 37B active — frontier results at a reported ~$5.6M training cost, which is why it shook the market in early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'training-time' innovation, the odd one out in Part 4 — it fixes how we train, not the architecture itself. Tell the story simply: at a trillion parameters, attention scores can grow until the run diverges and you lose weeks of compute. Moonshot's Muon optimizer was fast but unstable at scale, so they added QK-Clip: after each update, they rescale the query and key weight matrices so the scores stay capped. The payoff is the chart — the red line spikes and crashes, the green line stays flat. Result: Kimi K2, a 1-trillion-parameter open model, trained on 15.5T tokens with zero loss spikes. The lesson for the audience: scaling is as much an engineering problem as a modelling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Part 4 recap and a reference table. Each row = a bottleneck from slide 24 and its fix. The closing line is the thesis: modern models share the 2017 skeleton but bolt on RoPE (position), GQA/MLA (memory), FlashAttention (speed) and MoE (compute economics). If a student remembers only one slide from Part 4,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is the hinge year. GPT-4 set a new capability bar and proved multimodality; its architecture stayed secret but the consensus is MoE. Simultaneously Meta's LLaMA put real weights in everyone's hands, igniting the open ecosystem. The lasting outcome is the two-track world we still live in: a closed/API frontier vs an open/weights builder ecosystem. Keep this split in mind — it explains why DeepSeek mattered so much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2024's headline isn't 'bigger', it's 'cheaper at the frontier'. DeepSeek-V3 stacks the Part-4 innovations: MoE for sparse compute, MLA to shrink the KV cache below even GQA, plus FP8 training and multi-token prediction. Result: GPT-4-class scores at a reported ~$5.6M — a number that stunned the industry. Hold the benchmarks loosely (self-reported) but the efficiency story is the real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leap of 2025. Until now 'scaling' meant training-time compute. Reasoning models open a second axis: test-time compute — the model writes a long chain-of-thought, explores and self-corrects before answering. OpenAI's o1 introduced it; DeepSeek-R1 showed it could be reproduced with RL (GRPO) and released the weights, matching o1 and triggering a market shock (including a notable Nvidia dip). The &lt;think&gt;&lt;/think&gt; trace is the visible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memorise version numbers — they change weekly. The durable picture: a few families (Claude, GPT, Gemini on the closed side; Llama, DeepSeek, Qwen, Mistral on the open side), each offering a spectrum from small/fast to deep-reasoning. The capability gap between open and closed has narrowed dramatically since 2023. As a presenter you can mention that this very assistant is a Claude model — a nice live tie-in.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picture for the whole scaling story. MMLU is a broad 57-subject exam. GPT-3 was near chance on the hard subjects (~44%); within three years GPT-4 cleared the human-expert line (~89.8%). The curve's flattening near the top isn't stagnation — it means MMLU is saturating, which is exactly why the field moved on to harder benchmarks like MMLU-Pro and GPQA. Mention scores are self-reported and methodology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taxonomy slide — six axes that classify almost any model someone will name. A real 2026 model is a point in this space: e.g. 'DeepSeek-R1 = open, MoE, frontier-scale, reasoning, text-ish, agent-capable'. Encourage students to describe models by these axes rather than by hype. It also sets up the final 'how LLMs ruled the world' applications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'ruled the world' payoff slide. The point isn't a list of products — it's that ONE architecture generalised across every domain that runs on language and symbols: code, conversation, knowledge, science, agents. That generality is the historical novelty. End by pointing forward: the science column is exactly what Session 2 zooms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'agentic' with the loop, not a buzzword: gather context → take action → verify → repeat. This is exactly how coding agents like Claude Code work, and the same loop now powers research agents. Two ingredients only: a model that reasons and tools that act. Emphasise verification — the agent checks its own work against real output (tests, results), which is what makes it trustworthy. And the human stays in control: you set the goal and approve risky actions. Karpathy's 'autonomy slider' frames the progression: autocomplete → copilot → agent that owns more of the loop. This is the unit; the next slide scales it to many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well-documented version of an 'agent swarm'. The single loop from the last slide is the unit; for big jobs you run many of them. A lead agent decomposes the task, hands sub-tasks to subagents that each keep their OWN context window (so one investigation can't pollute another), and then merges the results. The two reasons it works: parallelism (speed) and context isolation (quality). Anthropic's own multi-agent research system is the canonical example — a strong orchestrator model with lighter subagents. Keep this conceptual; the audience just needs the mental model of 'one agent → a coordinated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citable examples — exactly what Session 2 asks for (US research &amp; publications). Coscientist and ChemCrow show autonomous chemistry; Robin is the showcase — an agent whose hypothesis surfaced ripasudil for dry age-related macular degeneration; Google's AI co-scientist generates and ranks hypotheses; PaperQA shows superhuman grounded literature QA. Caveat honestly: these are early, human-supervised systems, not autonomous scientists — but the trajectory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how the case studies are built — it's a stack, not magic. The same five layers recur: a foundation LLM for reasoning, RAG to stay grounded in real literature, tools for action (including lab robots), an agent loop to chain it all, and crucially a human-in-the-loop for verification. This slide lets a student replicate the pattern conceptually for their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own work — present it as a worked example of the research stack from the previous slide. The problem is concrete: complex tables need few-shot examples, but stuffing 20–30 of them into every call hits ~80k tokens a page. The fix is a small retrieval layer in front of a frozen GPT-4o. Walk the four bands top-to-bottom: (1) encode each page with off-the-shelf text and vision models, (2) project both into a shared 512-d space with two tiny trainable heads and concatenate, (3) FAISS finds the most similar past pages, (4) only the best 4–8 examples go into a token-budgeted prompt. The headline design choice is on the right: keep the big models frozen, train only &lt;5M parameters — it runs on a laptop. Results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numbers, then the why. Versus the brute-force baseline (all examples in every prompt), XMRetriever cuts tokens 75% and latency 53% while RAISING exact-match to 79.4% and dropping hallucination from 8.6% to 1.2% — a 7× reduction that matters in regulated domains. The counter-intuitive headline: fewer examples improved accuracy, because irrelevant examples were actively confusing the model. The right panel is the methodological contribution — neighbor-aware sampling: draw 70% of hard negatives from pages of similar length and 15% from each neighbouring group, so the retriever learns subtle distinctions. Close on the principle: smarter retrieval beats larger prompts, and training strategy beats raw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Naming limitations makes the whole talk more trustworthy. The big four to stress: hallucination (confident wrongness), bias, the compute/cost footprint, and interpretability (we still can't fully explain outputs). Add safety/misuse and the knowledge-cutoff problem. Frame these as active research frontiers — they're where the next breakthroughs (and student projects)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recap. If the audience forgets everything else, these five sentences are the spine of the talk: (1) attention replaced recurrence, (2) scale created capability, (3) efficiency innovations beat brute force, (4) reasoning is the new scaling axis, (5) LLMs became research collaborators. Walk down them in order — it mirrors the whole deck's chronology.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 Everything claimed in the deck traces to one of these primary sources — all arXiv papers or the two canonical video explainers (3Blue1Brown's visual transformer series and Karpathy's intro). Encourage students to read 'Attention Is All You Need' and watch the 3Blue1Brown chapter as their entry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energy. Restate the one-line arc: in under a decade we went from attention replacing recurrence to agentic models doing science. Invite hard questions — and remember the live tie-in: the assistant that helped build this talk is itself a Claude model, a working example of everything on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1.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10424160" y="914400"/>
            <a:ext cx="146304" cy="146304"/>
          </a:xfrm>
          <a:prstGeom prst="ellipse">
            <a:avLst/>
          </a:prstGeom>
          <a:solidFill>
            <a:srgbClr val="7C6FF0"/>
          </a:solidFill>
          <a:ln/>
        </p:spPr>
      </p:sp>
      <p:sp>
        <p:nvSpPr>
          <p:cNvPr id="3" name="Shape 1"/>
          <p:cNvSpPr/>
          <p:nvPr/>
        </p:nvSpPr>
        <p:spPr>
          <a:xfrm>
            <a:off x="11155680" y="1554480"/>
            <a:ext cx="146304" cy="146304"/>
          </a:xfrm>
          <a:prstGeom prst="ellipse">
            <a:avLst/>
          </a:prstGeom>
          <a:solidFill>
            <a:srgbClr val="7C6FF0"/>
          </a:solidFill>
          <a:ln/>
        </p:spPr>
      </p:sp>
      <p:sp>
        <p:nvSpPr>
          <p:cNvPr id="4" name="Shape 2"/>
          <p:cNvSpPr/>
          <p:nvPr/>
        </p:nvSpPr>
        <p:spPr>
          <a:xfrm>
            <a:off x="10698480" y="2468880"/>
            <a:ext cx="146304" cy="146304"/>
          </a:xfrm>
          <a:prstGeom prst="ellipse">
            <a:avLst/>
          </a:prstGeom>
          <a:solidFill>
            <a:srgbClr val="7C6FF0"/>
          </a:solidFill>
          <a:ln/>
        </p:spPr>
      </p:sp>
      <p:sp>
        <p:nvSpPr>
          <p:cNvPr id="5" name="Shape 3"/>
          <p:cNvSpPr/>
          <p:nvPr/>
        </p:nvSpPr>
        <p:spPr>
          <a:xfrm>
            <a:off x="11430000" y="3200400"/>
            <a:ext cx="146304" cy="146304"/>
          </a:xfrm>
          <a:prstGeom prst="ellipse">
            <a:avLst/>
          </a:prstGeom>
          <a:solidFill>
            <a:srgbClr val="7C6FF0"/>
          </a:solidFill>
          <a:ln/>
        </p:spPr>
      </p:sp>
      <p:sp>
        <p:nvSpPr>
          <p:cNvPr id="6" name="Shape 4"/>
          <p:cNvSpPr/>
          <p:nvPr/>
        </p:nvSpPr>
        <p:spPr>
          <a:xfrm>
            <a:off x="10241280" y="3840480"/>
            <a:ext cx="146304" cy="146304"/>
          </a:xfrm>
          <a:prstGeom prst="ellipse">
            <a:avLst/>
          </a:prstGeom>
          <a:solidFill>
            <a:srgbClr val="7C6FF0"/>
          </a:solidFill>
          <a:ln/>
        </p:spPr>
      </p:sp>
      <p:sp>
        <p:nvSpPr>
          <p:cNvPr id="7" name="Shape 5"/>
          <p:cNvSpPr/>
          <p:nvPr/>
        </p:nvSpPr>
        <p:spPr>
          <a:xfrm>
            <a:off x="11064240" y="4663440"/>
            <a:ext cx="146304" cy="146304"/>
          </a:xfrm>
          <a:prstGeom prst="ellipse">
            <a:avLst/>
          </a:prstGeom>
          <a:solidFill>
            <a:srgbClr val="7C6FF0"/>
          </a:solidFill>
          <a:ln/>
        </p:spPr>
      </p:sp>
      <p:sp>
        <p:nvSpPr>
          <p:cNvPr id="8" name="Shape 6"/>
          <p:cNvSpPr/>
          <p:nvPr/>
        </p:nvSpPr>
        <p:spPr>
          <a:xfrm>
            <a:off x="10607040" y="5486400"/>
            <a:ext cx="146304" cy="146304"/>
          </a:xfrm>
          <a:prstGeom prst="ellipse">
            <a:avLst/>
          </a:prstGeom>
          <a:solidFill>
            <a:srgbClr val="7C6FF0"/>
          </a:solidFill>
          <a:ln/>
        </p:spPr>
      </p:sp>
      <p:sp>
        <p:nvSpPr>
          <p:cNvPr id="9" name="Shape 7"/>
          <p:cNvSpPr/>
          <p:nvPr/>
        </p:nvSpPr>
        <p:spPr>
          <a:xfrm>
            <a:off x="11384280" y="5943600"/>
            <a:ext cx="146304" cy="146304"/>
          </a:xfrm>
          <a:prstGeom prst="ellipse">
            <a:avLst/>
          </a:prstGeom>
          <a:solidFill>
            <a:srgbClr val="7C6FF0"/>
          </a:solidFill>
          <a:ln/>
        </p:spPr>
      </p:sp>
      <p:sp>
        <p:nvSpPr>
          <p:cNvPr id="10" name="Shape 8"/>
          <p:cNvSpPr/>
          <p:nvPr/>
        </p:nvSpPr>
        <p:spPr>
          <a:xfrm>
            <a:off x="9875520" y="1828800"/>
            <a:ext cx="146304" cy="146304"/>
          </a:xfrm>
          <a:prstGeom prst="ellipse">
            <a:avLst/>
          </a:prstGeom>
          <a:solidFill>
            <a:srgbClr val="7C6FF0"/>
          </a:solidFill>
          <a:ln/>
        </p:spPr>
      </p:sp>
      <p:sp>
        <p:nvSpPr>
          <p:cNvPr id="11" name="Shape 9"/>
          <p:cNvSpPr/>
          <p:nvPr/>
        </p:nvSpPr>
        <p:spPr>
          <a:xfrm>
            <a:off x="10012680" y="4937760"/>
            <a:ext cx="146304" cy="146304"/>
          </a:xfrm>
          <a:prstGeom prst="ellipse">
            <a:avLst/>
          </a:prstGeom>
          <a:solidFill>
            <a:srgbClr val="7C6FF0"/>
          </a:solidFill>
          <a:ln/>
        </p:spPr>
      </p:sp>
      <p:sp>
        <p:nvSpPr>
          <p:cNvPr id="12" name="Shape 10"/>
          <p:cNvSpPr/>
          <p:nvPr/>
        </p:nvSpPr>
        <p:spPr>
          <a:xfrm>
            <a:off x="10570464" y="1060704"/>
            <a:ext cx="658368" cy="566928"/>
          </a:xfrm>
          <a:prstGeom prst="line">
            <a:avLst/>
          </a:prstGeom>
          <a:noFill/>
          <a:ln w="12700">
            <a:solidFill>
              <a:srgbClr val="5B4BE0">
                <a:alpha val="45000"/>
              </a:srgbClr>
            </a:solidFill>
            <a:prstDash val="solid"/>
          </a:ln>
        </p:spPr>
      </p:sp>
      <p:sp>
        <p:nvSpPr>
          <p:cNvPr id="13" name="Shape 11"/>
          <p:cNvSpPr/>
          <p:nvPr/>
        </p:nvSpPr>
        <p:spPr>
          <a:xfrm>
            <a:off x="11301984" y="1700784"/>
            <a:ext cx="-512064" cy="841248"/>
          </a:xfrm>
          <a:prstGeom prst="line">
            <a:avLst/>
          </a:prstGeom>
          <a:noFill/>
          <a:ln w="12700">
            <a:solidFill>
              <a:srgbClr val="5B4BE0">
                <a:alpha val="45000"/>
              </a:srgbClr>
            </a:solidFill>
            <a:prstDash val="solid"/>
          </a:ln>
        </p:spPr>
      </p:sp>
      <p:sp>
        <p:nvSpPr>
          <p:cNvPr id="14" name="Shape 12"/>
          <p:cNvSpPr/>
          <p:nvPr/>
        </p:nvSpPr>
        <p:spPr>
          <a:xfrm>
            <a:off x="10844784" y="2615184"/>
            <a:ext cx="658368" cy="658368"/>
          </a:xfrm>
          <a:prstGeom prst="line">
            <a:avLst/>
          </a:prstGeom>
          <a:noFill/>
          <a:ln w="12700">
            <a:solidFill>
              <a:srgbClr val="5B4BE0">
                <a:alpha val="45000"/>
              </a:srgbClr>
            </a:solidFill>
            <a:prstDash val="solid"/>
          </a:ln>
        </p:spPr>
      </p:sp>
      <p:sp>
        <p:nvSpPr>
          <p:cNvPr id="15" name="Shape 13"/>
          <p:cNvSpPr/>
          <p:nvPr/>
        </p:nvSpPr>
        <p:spPr>
          <a:xfrm>
            <a:off x="10387584" y="3986784"/>
            <a:ext cx="749808" cy="749808"/>
          </a:xfrm>
          <a:prstGeom prst="line">
            <a:avLst/>
          </a:prstGeom>
          <a:noFill/>
          <a:ln w="12700">
            <a:solidFill>
              <a:srgbClr val="5B4BE0">
                <a:alpha val="45000"/>
              </a:srgbClr>
            </a:solidFill>
            <a:prstDash val="solid"/>
          </a:ln>
        </p:spPr>
      </p:sp>
      <p:sp>
        <p:nvSpPr>
          <p:cNvPr id="16" name="Shape 14"/>
          <p:cNvSpPr/>
          <p:nvPr/>
        </p:nvSpPr>
        <p:spPr>
          <a:xfrm>
            <a:off x="11210544" y="4809744"/>
            <a:ext cx="-512064" cy="749808"/>
          </a:xfrm>
          <a:prstGeom prst="line">
            <a:avLst/>
          </a:prstGeom>
          <a:noFill/>
          <a:ln w="12700">
            <a:solidFill>
              <a:srgbClr val="5B4BE0">
                <a:alpha val="45000"/>
              </a:srgbClr>
            </a:solidFill>
            <a:prstDash val="solid"/>
          </a:ln>
        </p:spPr>
      </p:sp>
      <p:sp>
        <p:nvSpPr>
          <p:cNvPr id="17" name="Shape 15"/>
          <p:cNvSpPr/>
          <p:nvPr/>
        </p:nvSpPr>
        <p:spPr>
          <a:xfrm>
            <a:off x="566928" y="1051560"/>
            <a:ext cx="960120" cy="960120"/>
          </a:xfrm>
          <a:prstGeom prst="ellipse">
            <a:avLst/>
          </a:prstGeom>
          <a:solidFill>
            <a:srgbClr val="5B4BE0"/>
          </a:solidFill>
          <a:ln/>
        </p:spPr>
      </p:sp>
      <p:pic>
        <p:nvPicPr>
          <p:cNvPr id="18" name="Image 0" descr="preencoded.png">    </p:cNvPr>
          <p:cNvPicPr>
            <a:picLocks noChangeAspect="1"/>
          </p:cNvPicPr>
          <p:nvPr/>
        </p:nvPicPr>
        <p:blipFill>
          <a:blip r:embed="rId1"/>
          <a:stretch>
            <a:fillRect/>
          </a:stretch>
        </p:blipFill>
        <p:spPr>
          <a:xfrm>
            <a:off x="797357" y="1281989"/>
            <a:ext cx="499262" cy="499262"/>
          </a:xfrm>
          <a:prstGeom prst="rect">
            <a:avLst/>
          </a:prstGeom>
        </p:spPr>
      </p:pic>
      <p:sp>
        <p:nvSpPr>
          <p:cNvPr id="19" name="Text 16"/>
          <p:cNvSpPr/>
          <p:nvPr/>
        </p:nvSpPr>
        <p:spPr>
          <a:xfrm>
            <a:off x="566928" y="2240280"/>
            <a:ext cx="10515600" cy="310896"/>
          </a:xfrm>
          <a:prstGeom prst="rect">
            <a:avLst/>
          </a:prstGeom>
          <a:noFill/>
          <a:ln/>
        </p:spPr>
        <p:txBody>
          <a:bodyPr wrap="square" lIns="0" tIns="0" rIns="0" bIns="0" rtlCol="0" anchor="ctr"/>
          <a:lstStyle/>
          <a:p>
            <a:pPr indent="0" marL="0">
              <a:buNone/>
            </a:pPr>
            <a:r>
              <a:rPr lang="en-US" sz="1250" b="1" spc="250" kern="0" dirty="0">
                <a:solidFill>
                  <a:srgbClr val="7C6FF0"/>
                </a:solidFill>
                <a:latin typeface="Calibri" pitchFamily="34" charset="0"/>
                <a:ea typeface="Calibri" pitchFamily="34" charset="-122"/>
                <a:cs typeface="Calibri" pitchFamily="34" charset="-120"/>
              </a:rPr>
              <a:t>DAY 1  ·  SESSION 1  —  AI &amp; ML THROUGH PICTURES</a:t>
            </a:r>
            <a:endParaRPr lang="en-US" sz="1250" dirty="0"/>
          </a:p>
        </p:txBody>
      </p:sp>
      <p:sp>
        <p:nvSpPr>
          <p:cNvPr id="20" name="Text 17"/>
          <p:cNvSpPr/>
          <p:nvPr/>
        </p:nvSpPr>
        <p:spPr>
          <a:xfrm>
            <a:off x="566928" y="2578608"/>
            <a:ext cx="109728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LLM Foundations</a:t>
            </a:r>
            <a:endParaRPr lang="en-US" sz="5400" dirty="0"/>
          </a:p>
        </p:txBody>
      </p:sp>
      <p:sp>
        <p:nvSpPr>
          <p:cNvPr id="21" name="Text 18"/>
          <p:cNvSpPr/>
          <p:nvPr/>
        </p:nvSpPr>
        <p:spPr>
          <a:xfrm>
            <a:off x="566928" y="3611880"/>
            <a:ext cx="10607040" cy="731520"/>
          </a:xfrm>
          <a:prstGeom prst="rect">
            <a:avLst/>
          </a:prstGeom>
          <a:noFill/>
          <a:ln/>
        </p:spPr>
        <p:txBody>
          <a:bodyPr wrap="square" lIns="0" tIns="0" rIns="0" bIns="0" rtlCol="0" anchor="ctr"/>
          <a:lstStyle/>
          <a:p>
            <a:pPr indent="0" marL="0">
              <a:lnSpc>
                <a:spcPct val="115000"/>
              </a:lnSpc>
              <a:buNone/>
            </a:pPr>
            <a:r>
              <a:rPr lang="en-US" sz="1900" dirty="0">
                <a:solidFill>
                  <a:srgbClr val="C6CCE0"/>
                </a:solidFill>
                <a:latin typeface="Calibri" pitchFamily="34" charset="0"/>
                <a:ea typeface="Calibri" pitchFamily="34" charset="-122"/>
                <a:cs typeface="Calibri" pitchFamily="34" charset="-120"/>
              </a:rPr>
              <a:t>From NLP &amp; LSTMs to Frontier Models — a guided walk through the eras, 2017 → 2026</a:t>
            </a:r>
            <a:endParaRPr lang="en-US" sz="1900" dirty="0"/>
          </a:p>
        </p:txBody>
      </p:sp>
      <p:sp>
        <p:nvSpPr>
          <p:cNvPr id="22" name="Shape 19"/>
          <p:cNvSpPr/>
          <p:nvPr/>
        </p:nvSpPr>
        <p:spPr>
          <a:xfrm>
            <a:off x="566928" y="4617720"/>
            <a:ext cx="1375258" cy="420624"/>
          </a:xfrm>
          <a:prstGeom prst="roundRect">
            <a:avLst>
              <a:gd name="adj" fmla="val 50000"/>
            </a:avLst>
          </a:prstGeom>
          <a:solidFill>
            <a:srgbClr val="22315C"/>
          </a:solidFill>
          <a:ln w="12700">
            <a:solidFill>
              <a:srgbClr val="5B4BE0"/>
            </a:solidFill>
            <a:prstDash val="solid"/>
          </a:ln>
        </p:spPr>
      </p:sp>
      <p:sp>
        <p:nvSpPr>
          <p:cNvPr id="23" name="Text 20"/>
          <p:cNvSpPr/>
          <p:nvPr/>
        </p:nvSpPr>
        <p:spPr>
          <a:xfrm>
            <a:off x="566928" y="4617720"/>
            <a:ext cx="1375258"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Transformers</a:t>
            </a:r>
            <a:endParaRPr lang="en-US" sz="1150" dirty="0"/>
          </a:p>
        </p:txBody>
      </p:sp>
      <p:sp>
        <p:nvSpPr>
          <p:cNvPr id="24" name="Shape 21"/>
          <p:cNvSpPr/>
          <p:nvPr/>
        </p:nvSpPr>
        <p:spPr>
          <a:xfrm>
            <a:off x="2125066" y="4617720"/>
            <a:ext cx="1375258" cy="420624"/>
          </a:xfrm>
          <a:prstGeom prst="roundRect">
            <a:avLst>
              <a:gd name="adj" fmla="val 50000"/>
            </a:avLst>
          </a:prstGeom>
          <a:solidFill>
            <a:srgbClr val="22315C"/>
          </a:solidFill>
          <a:ln w="12700">
            <a:solidFill>
              <a:srgbClr val="5B4BE0"/>
            </a:solidFill>
            <a:prstDash val="solid"/>
          </a:ln>
        </p:spPr>
      </p:sp>
      <p:sp>
        <p:nvSpPr>
          <p:cNvPr id="25" name="Text 22"/>
          <p:cNvSpPr/>
          <p:nvPr/>
        </p:nvSpPr>
        <p:spPr>
          <a:xfrm>
            <a:off x="2125066" y="4617720"/>
            <a:ext cx="1375258"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Scaling Laws</a:t>
            </a:r>
            <a:endParaRPr lang="en-US" sz="1150" dirty="0"/>
          </a:p>
        </p:txBody>
      </p:sp>
      <p:sp>
        <p:nvSpPr>
          <p:cNvPr id="26" name="Shape 23"/>
          <p:cNvSpPr/>
          <p:nvPr/>
        </p:nvSpPr>
        <p:spPr>
          <a:xfrm>
            <a:off x="3683203" y="4617720"/>
            <a:ext cx="1730045" cy="420624"/>
          </a:xfrm>
          <a:prstGeom prst="roundRect">
            <a:avLst>
              <a:gd name="adj" fmla="val 50000"/>
            </a:avLst>
          </a:prstGeom>
          <a:solidFill>
            <a:srgbClr val="22315C"/>
          </a:solidFill>
          <a:ln w="12700">
            <a:solidFill>
              <a:srgbClr val="5B4BE0"/>
            </a:solidFill>
            <a:prstDash val="solid"/>
          </a:ln>
        </p:spPr>
      </p:sp>
      <p:sp>
        <p:nvSpPr>
          <p:cNvPr id="27" name="Text 24"/>
          <p:cNvSpPr/>
          <p:nvPr/>
        </p:nvSpPr>
        <p:spPr>
          <a:xfrm>
            <a:off x="3683203" y="4617720"/>
            <a:ext cx="1730045"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RoPE · GQA · MoE</a:t>
            </a:r>
            <a:endParaRPr lang="en-US" sz="1150" dirty="0"/>
          </a:p>
        </p:txBody>
      </p:sp>
      <p:sp>
        <p:nvSpPr>
          <p:cNvPr id="28" name="Shape 25"/>
          <p:cNvSpPr/>
          <p:nvPr/>
        </p:nvSpPr>
        <p:spPr>
          <a:xfrm>
            <a:off x="5596128" y="4617720"/>
            <a:ext cx="1730045" cy="420624"/>
          </a:xfrm>
          <a:prstGeom prst="roundRect">
            <a:avLst>
              <a:gd name="adj" fmla="val 50000"/>
            </a:avLst>
          </a:prstGeom>
          <a:solidFill>
            <a:srgbClr val="22315C"/>
          </a:solidFill>
          <a:ln w="12700">
            <a:solidFill>
              <a:srgbClr val="5B4BE0"/>
            </a:solidFill>
            <a:prstDash val="solid"/>
          </a:ln>
        </p:spPr>
      </p:sp>
      <p:sp>
        <p:nvSpPr>
          <p:cNvPr id="29" name="Text 26"/>
          <p:cNvSpPr/>
          <p:nvPr/>
        </p:nvSpPr>
        <p:spPr>
          <a:xfrm>
            <a:off x="5596128" y="4617720"/>
            <a:ext cx="1730045"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Reasoning Models</a:t>
            </a:r>
            <a:endParaRPr lang="en-US" sz="1150" dirty="0"/>
          </a:p>
        </p:txBody>
      </p:sp>
      <p:sp>
        <p:nvSpPr>
          <p:cNvPr id="30" name="Shape 27"/>
          <p:cNvSpPr/>
          <p:nvPr/>
        </p:nvSpPr>
        <p:spPr>
          <a:xfrm>
            <a:off x="7509053" y="4617720"/>
            <a:ext cx="2262226" cy="420624"/>
          </a:xfrm>
          <a:prstGeom prst="roundRect">
            <a:avLst>
              <a:gd name="adj" fmla="val 50000"/>
            </a:avLst>
          </a:prstGeom>
          <a:solidFill>
            <a:srgbClr val="22315C"/>
          </a:solidFill>
          <a:ln w="12700">
            <a:solidFill>
              <a:srgbClr val="5B4BE0"/>
            </a:solidFill>
            <a:prstDash val="solid"/>
          </a:ln>
        </p:spPr>
      </p:sp>
      <p:sp>
        <p:nvSpPr>
          <p:cNvPr id="31" name="Text 28"/>
          <p:cNvSpPr/>
          <p:nvPr/>
        </p:nvSpPr>
        <p:spPr>
          <a:xfrm>
            <a:off x="7509053" y="4617720"/>
            <a:ext cx="2262226" cy="420624"/>
          </a:xfrm>
          <a:prstGeom prst="rect">
            <a:avLst/>
          </a:prstGeom>
          <a:noFill/>
          <a:ln/>
        </p:spPr>
        <p:txBody>
          <a:bodyPr wrap="square" lIns="0" tIns="0" rIns="0" bIns="0" rtlCol="0" anchor="ctr"/>
          <a:lstStyle/>
          <a:p>
            <a:pPr algn="ctr" indent="0" marL="0">
              <a:buNone/>
            </a:pPr>
            <a:r>
              <a:rPr lang="en-US" sz="1150" b="1" dirty="0">
                <a:solidFill>
                  <a:srgbClr val="DCE0F0"/>
                </a:solidFill>
                <a:latin typeface="Calibri" pitchFamily="34" charset="0"/>
                <a:ea typeface="Calibri" pitchFamily="34" charset="-122"/>
                <a:cs typeface="Calibri" pitchFamily="34" charset="-120"/>
              </a:rPr>
              <a:t>Agentic AI in Research</a:t>
            </a:r>
            <a:endParaRPr lang="en-US" sz="1150" dirty="0"/>
          </a:p>
        </p:txBody>
      </p:sp>
      <p:sp>
        <p:nvSpPr>
          <p:cNvPr id="32" name="Text 29"/>
          <p:cNvSpPr/>
          <p:nvPr/>
        </p:nvSpPr>
        <p:spPr>
          <a:xfrm>
            <a:off x="566928" y="5806440"/>
            <a:ext cx="10972800" cy="365760"/>
          </a:xfrm>
          <a:prstGeom prst="rect">
            <a:avLst/>
          </a:prstGeom>
          <a:noFill/>
          <a:ln/>
        </p:spPr>
        <p:txBody>
          <a:bodyPr wrap="square" lIns="0" tIns="0" rIns="0" bIns="0" rtlCol="0" anchor="ctr"/>
          <a:lstStyle/>
          <a:p>
            <a:pPr indent="0" marL="0">
              <a:buNone/>
            </a:pPr>
            <a:r>
              <a:rPr lang="en-US" sz="1300" i="1" dirty="0">
                <a:solidFill>
                  <a:srgbClr val="9AA3C2"/>
                </a:solidFill>
                <a:latin typeface="Calibri" pitchFamily="34" charset="0"/>
                <a:ea typeface="Calibri" pitchFamily="34" charset="-122"/>
                <a:cs typeface="Calibri" pitchFamily="34" charset="-120"/>
              </a:rPr>
              <a:t>A technical primer for Generative-AI engineers  ·  Visual · Sourced · Benchmark-driven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ROADMAP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this hour is structured — six eras of one idea</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6692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 name="Text 4"/>
          <p:cNvSpPr/>
          <p:nvPr/>
        </p:nvSpPr>
        <p:spPr>
          <a:xfrm>
            <a:off x="731520" y="1764792"/>
            <a:ext cx="841248" cy="841248"/>
          </a:xfrm>
          <a:prstGeom prst="rect">
            <a:avLst/>
          </a:prstGeom>
          <a:noFill/>
          <a:ln/>
        </p:spPr>
        <p:txBody>
          <a:bodyPr wrap="square" lIns="0" tIns="0" rIns="0" bIns="0" rtlCol="0" anchor="ctr"/>
          <a:lstStyle/>
          <a:p>
            <a:pPr algn="ctr" indent="0" marL="0">
              <a:buNone/>
            </a:pPr>
            <a:r>
              <a:rPr lang="en-US" sz="4000" b="1" dirty="0">
                <a:solidFill>
                  <a:srgbClr val="0E9E96"/>
                </a:solidFill>
                <a:latin typeface="Cambria" pitchFamily="34" charset="0"/>
                <a:ea typeface="Cambria" pitchFamily="34" charset="-122"/>
                <a:cs typeface="Cambria" pitchFamily="34" charset="-120"/>
              </a:rPr>
              <a:t>1</a:t>
            </a:r>
            <a:endParaRPr lang="en-US" sz="4000" dirty="0"/>
          </a:p>
        </p:txBody>
      </p:sp>
      <p:sp>
        <p:nvSpPr>
          <p:cNvPr id="7" name="Shape 5"/>
          <p:cNvSpPr/>
          <p:nvPr/>
        </p:nvSpPr>
        <p:spPr>
          <a:xfrm>
            <a:off x="3191256" y="1801368"/>
            <a:ext cx="713232" cy="713232"/>
          </a:xfrm>
          <a:prstGeom prst="ellipse">
            <a:avLst/>
          </a:prstGeom>
          <a:solidFill>
            <a:srgbClr val="E2F4F2"/>
          </a:solidFill>
          <a:ln/>
        </p:spPr>
      </p:sp>
      <p:pic>
        <p:nvPicPr>
          <p:cNvPr id="8" name="Image 0" descr="preencoded.png">    </p:cNvPr>
          <p:cNvPicPr>
            <a:picLocks noChangeAspect="1"/>
          </p:cNvPicPr>
          <p:nvPr/>
        </p:nvPicPr>
        <p:blipFill>
          <a:blip r:embed="rId1"/>
          <a:stretch>
            <a:fillRect/>
          </a:stretch>
        </p:blipFill>
        <p:spPr>
          <a:xfrm>
            <a:off x="3369564" y="1979676"/>
            <a:ext cx="356616" cy="356616"/>
          </a:xfrm>
          <a:prstGeom prst="rect">
            <a:avLst/>
          </a:prstGeom>
        </p:spPr>
      </p:pic>
      <p:sp>
        <p:nvSpPr>
          <p:cNvPr id="9" name="Text 6"/>
          <p:cNvSpPr/>
          <p:nvPr/>
        </p:nvSpPr>
        <p:spPr>
          <a:xfrm>
            <a:off x="74980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Before the Transformer</a:t>
            </a:r>
            <a:endParaRPr lang="en-US" sz="1650" dirty="0"/>
          </a:p>
        </p:txBody>
      </p:sp>
      <p:sp>
        <p:nvSpPr>
          <p:cNvPr id="10" name="Text 7"/>
          <p:cNvSpPr/>
          <p:nvPr/>
        </p:nvSpPr>
        <p:spPr>
          <a:xfrm>
            <a:off x="74980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NLP, embeddings, RNNs, LSTMs &amp; what stayed unsolved</a:t>
            </a:r>
            <a:endParaRPr lang="en-US" sz="1180" dirty="0"/>
          </a:p>
        </p:txBody>
      </p:sp>
      <p:sp>
        <p:nvSpPr>
          <p:cNvPr id="11" name="Shape 8"/>
          <p:cNvSpPr/>
          <p:nvPr/>
        </p:nvSpPr>
        <p:spPr>
          <a:xfrm>
            <a:off x="431596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9"/>
          <p:cNvSpPr/>
          <p:nvPr/>
        </p:nvSpPr>
        <p:spPr>
          <a:xfrm>
            <a:off x="4480560" y="1764792"/>
            <a:ext cx="841248" cy="841248"/>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2</a:t>
            </a:r>
            <a:endParaRPr lang="en-US" sz="4000" dirty="0"/>
          </a:p>
        </p:txBody>
      </p:sp>
      <p:sp>
        <p:nvSpPr>
          <p:cNvPr id="13" name="Shape 10"/>
          <p:cNvSpPr/>
          <p:nvPr/>
        </p:nvSpPr>
        <p:spPr>
          <a:xfrm>
            <a:off x="6940296" y="1801368"/>
            <a:ext cx="713232" cy="713232"/>
          </a:xfrm>
          <a:prstGeom prst="ellipse">
            <a:avLst/>
          </a:prstGeom>
          <a:solidFill>
            <a:srgbClr val="EEECFB"/>
          </a:solidFill>
          <a:ln/>
        </p:spPr>
      </p:sp>
      <p:pic>
        <p:nvPicPr>
          <p:cNvPr id="14" name="Image 1" descr="preencoded.png">    </p:cNvPr>
          <p:cNvPicPr>
            <a:picLocks noChangeAspect="1"/>
          </p:cNvPicPr>
          <p:nvPr/>
        </p:nvPicPr>
        <p:blipFill>
          <a:blip r:embed="rId2"/>
          <a:stretch>
            <a:fillRect/>
          </a:stretch>
        </p:blipFill>
        <p:spPr>
          <a:xfrm>
            <a:off x="7118604" y="1979676"/>
            <a:ext cx="356616" cy="356616"/>
          </a:xfrm>
          <a:prstGeom prst="rect">
            <a:avLst/>
          </a:prstGeom>
        </p:spPr>
      </p:pic>
      <p:sp>
        <p:nvSpPr>
          <p:cNvPr id="15" name="Text 11"/>
          <p:cNvSpPr/>
          <p:nvPr/>
        </p:nvSpPr>
        <p:spPr>
          <a:xfrm>
            <a:off x="449884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2017 — The Transformer</a:t>
            </a:r>
            <a:endParaRPr lang="en-US" sz="1650" dirty="0"/>
          </a:p>
        </p:txBody>
      </p:sp>
      <p:sp>
        <p:nvSpPr>
          <p:cNvPr id="16" name="Text 12"/>
          <p:cNvSpPr/>
          <p:nvPr/>
        </p:nvSpPr>
        <p:spPr>
          <a:xfrm>
            <a:off x="449884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Self-attention, Q/K/V, the architecture that scaled</a:t>
            </a:r>
            <a:endParaRPr lang="en-US" sz="1180" dirty="0"/>
          </a:p>
        </p:txBody>
      </p:sp>
      <p:sp>
        <p:nvSpPr>
          <p:cNvPr id="17" name="Shape 13"/>
          <p:cNvSpPr/>
          <p:nvPr/>
        </p:nvSpPr>
        <p:spPr>
          <a:xfrm>
            <a:off x="8065008" y="160020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4"/>
          <p:cNvSpPr/>
          <p:nvPr/>
        </p:nvSpPr>
        <p:spPr>
          <a:xfrm>
            <a:off x="8229600" y="1764792"/>
            <a:ext cx="841248" cy="841248"/>
          </a:xfrm>
          <a:prstGeom prst="rect">
            <a:avLst/>
          </a:prstGeom>
          <a:noFill/>
          <a:ln/>
        </p:spPr>
        <p:txBody>
          <a:bodyPr wrap="square" lIns="0" tIns="0" rIns="0" bIns="0" rtlCol="0" anchor="ctr"/>
          <a:lstStyle/>
          <a:p>
            <a:pPr algn="ctr" indent="0" marL="0">
              <a:buNone/>
            </a:pPr>
            <a:r>
              <a:rPr lang="en-US" sz="4000" b="1" dirty="0">
                <a:solidFill>
                  <a:srgbClr val="D9820A"/>
                </a:solidFill>
                <a:latin typeface="Cambria" pitchFamily="34" charset="0"/>
                <a:ea typeface="Cambria" pitchFamily="34" charset="-122"/>
                <a:cs typeface="Cambria" pitchFamily="34" charset="-120"/>
              </a:rPr>
              <a:t>3</a:t>
            </a:r>
            <a:endParaRPr lang="en-US" sz="4000" dirty="0"/>
          </a:p>
        </p:txBody>
      </p:sp>
      <p:sp>
        <p:nvSpPr>
          <p:cNvPr id="19" name="Shape 15"/>
          <p:cNvSpPr/>
          <p:nvPr/>
        </p:nvSpPr>
        <p:spPr>
          <a:xfrm>
            <a:off x="10689336" y="1801368"/>
            <a:ext cx="713232" cy="713232"/>
          </a:xfrm>
          <a:prstGeom prst="ellipse">
            <a:avLst/>
          </a:prstGeom>
          <a:solidFill>
            <a:srgbClr val="FBEFD8"/>
          </a:solidFill>
          <a:ln/>
        </p:spPr>
      </p:sp>
      <p:pic>
        <p:nvPicPr>
          <p:cNvPr id="20" name="Image 2" descr="preencoded.png">    </p:cNvPr>
          <p:cNvPicPr>
            <a:picLocks noChangeAspect="1"/>
          </p:cNvPicPr>
          <p:nvPr/>
        </p:nvPicPr>
        <p:blipFill>
          <a:blip r:embed="rId3"/>
          <a:stretch>
            <a:fillRect/>
          </a:stretch>
        </p:blipFill>
        <p:spPr>
          <a:xfrm>
            <a:off x="10867644" y="1979676"/>
            <a:ext cx="356616" cy="356616"/>
          </a:xfrm>
          <a:prstGeom prst="rect">
            <a:avLst/>
          </a:prstGeom>
        </p:spPr>
      </p:pic>
      <p:sp>
        <p:nvSpPr>
          <p:cNvPr id="21" name="Text 16"/>
          <p:cNvSpPr/>
          <p:nvPr/>
        </p:nvSpPr>
        <p:spPr>
          <a:xfrm>
            <a:off x="8247888" y="267919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The Scaling Era</a:t>
            </a:r>
            <a:endParaRPr lang="en-US" sz="1650" dirty="0"/>
          </a:p>
        </p:txBody>
      </p:sp>
      <p:sp>
        <p:nvSpPr>
          <p:cNvPr id="22" name="Text 17"/>
          <p:cNvSpPr/>
          <p:nvPr/>
        </p:nvSpPr>
        <p:spPr>
          <a:xfrm>
            <a:off x="8247888" y="311810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GPT-1→4, parameters, scaling laws, RLHF &amp; ChatGPT</a:t>
            </a:r>
            <a:endParaRPr lang="en-US" sz="1180" dirty="0"/>
          </a:p>
        </p:txBody>
      </p:sp>
      <p:sp>
        <p:nvSpPr>
          <p:cNvPr id="23" name="Shape 18"/>
          <p:cNvSpPr/>
          <p:nvPr/>
        </p:nvSpPr>
        <p:spPr>
          <a:xfrm>
            <a:off x="56692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4" name="Text 19"/>
          <p:cNvSpPr/>
          <p:nvPr/>
        </p:nvSpPr>
        <p:spPr>
          <a:xfrm>
            <a:off x="731520" y="4187952"/>
            <a:ext cx="841248" cy="841248"/>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4</a:t>
            </a:r>
            <a:endParaRPr lang="en-US" sz="4000" dirty="0"/>
          </a:p>
        </p:txBody>
      </p:sp>
      <p:sp>
        <p:nvSpPr>
          <p:cNvPr id="25" name="Shape 20"/>
          <p:cNvSpPr/>
          <p:nvPr/>
        </p:nvSpPr>
        <p:spPr>
          <a:xfrm>
            <a:off x="3191256" y="4224528"/>
            <a:ext cx="713232" cy="713232"/>
          </a:xfrm>
          <a:prstGeom prst="ellipse">
            <a:avLst/>
          </a:prstGeom>
          <a:solidFill>
            <a:srgbClr val="EEECFB"/>
          </a:solidFill>
          <a:ln/>
        </p:spPr>
      </p:sp>
      <p:pic>
        <p:nvPicPr>
          <p:cNvPr id="26" name="Image 3" descr="preencoded.png">    </p:cNvPr>
          <p:cNvPicPr>
            <a:picLocks noChangeAspect="1"/>
          </p:cNvPicPr>
          <p:nvPr/>
        </p:nvPicPr>
        <p:blipFill>
          <a:blip r:embed="rId4"/>
          <a:stretch>
            <a:fillRect/>
          </a:stretch>
        </p:blipFill>
        <p:spPr>
          <a:xfrm>
            <a:off x="3369564" y="4402836"/>
            <a:ext cx="356616" cy="356616"/>
          </a:xfrm>
          <a:prstGeom prst="rect">
            <a:avLst/>
          </a:prstGeom>
        </p:spPr>
      </p:pic>
      <p:sp>
        <p:nvSpPr>
          <p:cNvPr id="27" name="Text 21"/>
          <p:cNvSpPr/>
          <p:nvPr/>
        </p:nvSpPr>
        <p:spPr>
          <a:xfrm>
            <a:off x="74980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Architectural Innovations</a:t>
            </a:r>
            <a:endParaRPr lang="en-US" sz="1650" dirty="0"/>
          </a:p>
        </p:txBody>
      </p:sp>
      <p:sp>
        <p:nvSpPr>
          <p:cNvPr id="28" name="Text 22"/>
          <p:cNvSpPr/>
          <p:nvPr/>
        </p:nvSpPr>
        <p:spPr>
          <a:xfrm>
            <a:off x="74980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RoPE, GQA, FlashAttention, MoE, MuonClip</a:t>
            </a:r>
            <a:endParaRPr lang="en-US" sz="1180" dirty="0"/>
          </a:p>
        </p:txBody>
      </p:sp>
      <p:sp>
        <p:nvSpPr>
          <p:cNvPr id="29" name="Shape 23"/>
          <p:cNvSpPr/>
          <p:nvPr/>
        </p:nvSpPr>
        <p:spPr>
          <a:xfrm>
            <a:off x="431596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0" name="Text 24"/>
          <p:cNvSpPr/>
          <p:nvPr/>
        </p:nvSpPr>
        <p:spPr>
          <a:xfrm>
            <a:off x="4480560" y="4187952"/>
            <a:ext cx="841248" cy="841248"/>
          </a:xfrm>
          <a:prstGeom prst="rect">
            <a:avLst/>
          </a:prstGeom>
          <a:noFill/>
          <a:ln/>
        </p:spPr>
        <p:txBody>
          <a:bodyPr wrap="square" lIns="0" tIns="0" rIns="0" bIns="0" rtlCol="0" anchor="ctr"/>
          <a:lstStyle/>
          <a:p>
            <a:pPr algn="ctr" indent="0" marL="0">
              <a:buNone/>
            </a:pPr>
            <a:r>
              <a:rPr lang="en-US" sz="4000" b="1" dirty="0">
                <a:solidFill>
                  <a:srgbClr val="0E9E96"/>
                </a:solidFill>
                <a:latin typeface="Cambria" pitchFamily="34" charset="0"/>
                <a:ea typeface="Cambria" pitchFamily="34" charset="-122"/>
                <a:cs typeface="Cambria" pitchFamily="34" charset="-120"/>
              </a:rPr>
              <a:t>5</a:t>
            </a:r>
            <a:endParaRPr lang="en-US" sz="4000" dirty="0"/>
          </a:p>
        </p:txBody>
      </p:sp>
      <p:sp>
        <p:nvSpPr>
          <p:cNvPr id="31" name="Shape 25"/>
          <p:cNvSpPr/>
          <p:nvPr/>
        </p:nvSpPr>
        <p:spPr>
          <a:xfrm>
            <a:off x="6940296" y="4224528"/>
            <a:ext cx="713232" cy="713232"/>
          </a:xfrm>
          <a:prstGeom prst="ellipse">
            <a:avLst/>
          </a:prstGeom>
          <a:solidFill>
            <a:srgbClr val="E2F4F2"/>
          </a:solidFill>
          <a:ln/>
        </p:spPr>
      </p:sp>
      <p:pic>
        <p:nvPicPr>
          <p:cNvPr id="32" name="Image 4" descr="preencoded.png">    </p:cNvPr>
          <p:cNvPicPr>
            <a:picLocks noChangeAspect="1"/>
          </p:cNvPicPr>
          <p:nvPr/>
        </p:nvPicPr>
        <p:blipFill>
          <a:blip r:embed="rId5"/>
          <a:stretch>
            <a:fillRect/>
          </a:stretch>
        </p:blipFill>
        <p:spPr>
          <a:xfrm>
            <a:off x="7118604" y="4402836"/>
            <a:ext cx="356616" cy="356616"/>
          </a:xfrm>
          <a:prstGeom prst="rect">
            <a:avLst/>
          </a:prstGeom>
        </p:spPr>
      </p:pic>
      <p:sp>
        <p:nvSpPr>
          <p:cNvPr id="33" name="Text 26"/>
          <p:cNvSpPr/>
          <p:nvPr/>
        </p:nvSpPr>
        <p:spPr>
          <a:xfrm>
            <a:off x="449884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The Modern Era</a:t>
            </a:r>
            <a:endParaRPr lang="en-US" sz="1650" dirty="0"/>
          </a:p>
        </p:txBody>
      </p:sp>
      <p:sp>
        <p:nvSpPr>
          <p:cNvPr id="34" name="Text 27"/>
          <p:cNvSpPr/>
          <p:nvPr/>
        </p:nvSpPr>
        <p:spPr>
          <a:xfrm>
            <a:off x="449884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Multimodal, open-weights, reasoning models, 2026 frontier</a:t>
            </a:r>
            <a:endParaRPr lang="en-US" sz="1180" dirty="0"/>
          </a:p>
        </p:txBody>
      </p:sp>
      <p:sp>
        <p:nvSpPr>
          <p:cNvPr id="35" name="Shape 28"/>
          <p:cNvSpPr/>
          <p:nvPr/>
        </p:nvSpPr>
        <p:spPr>
          <a:xfrm>
            <a:off x="8065008" y="4023360"/>
            <a:ext cx="3584448" cy="2240280"/>
          </a:xfrm>
          <a:prstGeom prst="roundRect">
            <a:avLst>
              <a:gd name="adj" fmla="val 408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6" name="Text 29"/>
          <p:cNvSpPr/>
          <p:nvPr/>
        </p:nvSpPr>
        <p:spPr>
          <a:xfrm>
            <a:off x="8229600" y="4187952"/>
            <a:ext cx="841248" cy="841248"/>
          </a:xfrm>
          <a:prstGeom prst="rect">
            <a:avLst/>
          </a:prstGeom>
          <a:noFill/>
          <a:ln/>
        </p:spPr>
        <p:txBody>
          <a:bodyPr wrap="square" lIns="0" tIns="0" rIns="0" bIns="0" rtlCol="0" anchor="ctr"/>
          <a:lstStyle/>
          <a:p>
            <a:pPr algn="ctr" indent="0" marL="0">
              <a:buNone/>
            </a:pPr>
            <a:r>
              <a:rPr lang="en-US" sz="4000" b="1" dirty="0">
                <a:solidFill>
                  <a:srgbClr val="D9820A"/>
                </a:solidFill>
                <a:latin typeface="Cambria" pitchFamily="34" charset="0"/>
                <a:ea typeface="Cambria" pitchFamily="34" charset="-122"/>
                <a:cs typeface="Cambria" pitchFamily="34" charset="-120"/>
              </a:rPr>
              <a:t>6</a:t>
            </a:r>
            <a:endParaRPr lang="en-US" sz="4000" dirty="0"/>
          </a:p>
        </p:txBody>
      </p:sp>
      <p:sp>
        <p:nvSpPr>
          <p:cNvPr id="37" name="Shape 30"/>
          <p:cNvSpPr/>
          <p:nvPr/>
        </p:nvSpPr>
        <p:spPr>
          <a:xfrm>
            <a:off x="10689336" y="4224528"/>
            <a:ext cx="713232" cy="713232"/>
          </a:xfrm>
          <a:prstGeom prst="ellipse">
            <a:avLst/>
          </a:prstGeom>
          <a:solidFill>
            <a:srgbClr val="FBEFD8"/>
          </a:solidFill>
          <a:ln/>
        </p:spPr>
      </p:sp>
      <p:pic>
        <p:nvPicPr>
          <p:cNvPr id="38" name="Image 5" descr="preencoded.png">    </p:cNvPr>
          <p:cNvPicPr>
            <a:picLocks noChangeAspect="1"/>
          </p:cNvPicPr>
          <p:nvPr/>
        </p:nvPicPr>
        <p:blipFill>
          <a:blip r:embed="rId6"/>
          <a:stretch>
            <a:fillRect/>
          </a:stretch>
        </p:blipFill>
        <p:spPr>
          <a:xfrm>
            <a:off x="10867644" y="4402836"/>
            <a:ext cx="356616" cy="356616"/>
          </a:xfrm>
          <a:prstGeom prst="rect">
            <a:avLst/>
          </a:prstGeom>
        </p:spPr>
      </p:pic>
      <p:sp>
        <p:nvSpPr>
          <p:cNvPr id="39" name="Text 31"/>
          <p:cNvSpPr/>
          <p:nvPr/>
        </p:nvSpPr>
        <p:spPr>
          <a:xfrm>
            <a:off x="8247888" y="5102352"/>
            <a:ext cx="3218688" cy="457200"/>
          </a:xfrm>
          <a:prstGeom prst="rect">
            <a:avLst/>
          </a:prstGeom>
          <a:noFill/>
          <a:ln/>
        </p:spPr>
        <p:txBody>
          <a:bodyPr wrap="square" lIns="0" tIns="0" rIns="0" bIns="0" rtlCol="0" anchor="ctr"/>
          <a:lstStyle/>
          <a:p>
            <a:pPr indent="0" marL="0">
              <a:buNone/>
            </a:pPr>
            <a:r>
              <a:rPr lang="en-US" sz="1650" b="1" dirty="0">
                <a:solidFill>
                  <a:srgbClr val="1B2440"/>
                </a:solidFill>
                <a:latin typeface="Calibri" pitchFamily="34" charset="0"/>
                <a:ea typeface="Calibri" pitchFamily="34" charset="-122"/>
                <a:cs typeface="Calibri" pitchFamily="34" charset="-120"/>
              </a:rPr>
              <a:t>AI in Research</a:t>
            </a:r>
            <a:endParaRPr lang="en-US" sz="1650" dirty="0"/>
          </a:p>
        </p:txBody>
      </p:sp>
      <p:sp>
        <p:nvSpPr>
          <p:cNvPr id="40" name="Text 32"/>
          <p:cNvSpPr/>
          <p:nvPr/>
        </p:nvSpPr>
        <p:spPr>
          <a:xfrm>
            <a:off x="8247888" y="5541264"/>
            <a:ext cx="3218688" cy="640080"/>
          </a:xfrm>
          <a:prstGeom prst="rect">
            <a:avLst/>
          </a:prstGeom>
          <a:noFill/>
          <a:ln/>
        </p:spPr>
        <p:txBody>
          <a:bodyPr wrap="square" lIns="0" tIns="0" rIns="0" bIns="0" rtlCol="0" anchor="ctr"/>
          <a:lstStyle/>
          <a:p>
            <a:pPr indent="0" marL="0">
              <a:lnSpc>
                <a:spcPct val="106000"/>
              </a:lnSpc>
              <a:buNone/>
            </a:pPr>
            <a:r>
              <a:rPr lang="en-US" sz="1180" dirty="0">
                <a:solidFill>
                  <a:srgbClr val="5A6685"/>
                </a:solidFill>
                <a:latin typeface="Calibri" pitchFamily="34" charset="0"/>
                <a:ea typeface="Calibri" pitchFamily="34" charset="-122"/>
                <a:cs typeface="Calibri" pitchFamily="34" charset="-120"/>
              </a:rPr>
              <a:t>Agentic loops, subagents &amp; a featured research case</a:t>
            </a:r>
            <a:endParaRPr lang="en-US" sz="11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1</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1</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Before the Transformer</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To understand why Large Language Models matter, we first have to see the wall that earlier language AI kept hitting — and which specific limits the Transformer was built to break.</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PLAIN LANGUAGE FIRST — A LIVE EXAMPLE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What actually is a Large Language Model?</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3Blue1Brown, 'But what is a GPT?' — youtube.com/watch?v=wjZofJX0v4M · Cigna Healthcare, 'Embracing AI in Health Care'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1133856" y="1371600"/>
            <a:ext cx="5029200" cy="201168"/>
          </a:xfrm>
          <a:prstGeom prst="rect">
            <a:avLst/>
          </a:prstGeom>
          <a:noFill/>
          <a:ln/>
        </p:spPr>
        <p:txBody>
          <a:bodyPr wrap="square" lIns="0" tIns="0" rIns="0" bIns="0" rtlCol="0" anchor="ctr"/>
          <a:lstStyle/>
          <a:p>
            <a:pPr indent="0" marL="0">
              <a:buNone/>
            </a:pPr>
            <a:r>
              <a:rPr lang="en-US" sz="900" b="1" spc="150" kern="0" dirty="0">
                <a:solidFill>
                  <a:srgbClr val="8A93AB"/>
                </a:solidFill>
                <a:latin typeface="Calibri" pitchFamily="34" charset="0"/>
                <a:ea typeface="Calibri" pitchFamily="34" charset="-122"/>
                <a:cs typeface="Calibri" pitchFamily="34" charset="-120"/>
              </a:rPr>
              <a:t>CIGNA MEMBER  ·  SECURE CHAT</a:t>
            </a:r>
            <a:endParaRPr lang="en-US" sz="900" dirty="0"/>
          </a:p>
        </p:txBody>
      </p:sp>
      <p:sp>
        <p:nvSpPr>
          <p:cNvPr id="7" name="Shape 5"/>
          <p:cNvSpPr/>
          <p:nvPr/>
        </p:nvSpPr>
        <p:spPr>
          <a:xfrm>
            <a:off x="566928" y="1517904"/>
            <a:ext cx="475488" cy="475488"/>
          </a:xfrm>
          <a:prstGeom prst="ellipse">
            <a:avLst/>
          </a:prstGeom>
          <a:solidFill>
            <a:srgbClr val="0E9E96"/>
          </a:solidFill>
          <a:ln/>
        </p:spPr>
      </p:sp>
      <p:pic>
        <p:nvPicPr>
          <p:cNvPr id="8" name="Image 0" descr="preencoded.png">    </p:cNvPr>
          <p:cNvPicPr>
            <a:picLocks noChangeAspect="1"/>
          </p:cNvPicPr>
          <p:nvPr/>
        </p:nvPicPr>
        <p:blipFill>
          <a:blip r:embed="rId1"/>
          <a:stretch>
            <a:fillRect/>
          </a:stretch>
        </p:blipFill>
        <p:spPr>
          <a:xfrm>
            <a:off x="685800" y="1636776"/>
            <a:ext cx="237744" cy="237744"/>
          </a:xfrm>
          <a:prstGeom prst="rect">
            <a:avLst/>
          </a:prstGeom>
        </p:spPr>
      </p:pic>
      <p:sp>
        <p:nvSpPr>
          <p:cNvPr id="9" name="Shape 6"/>
          <p:cNvSpPr/>
          <p:nvPr/>
        </p:nvSpPr>
        <p:spPr>
          <a:xfrm>
            <a:off x="1133856" y="1591056"/>
            <a:ext cx="5989320" cy="713232"/>
          </a:xfrm>
          <a:prstGeom prst="roundRect">
            <a:avLst>
              <a:gd name="adj" fmla="val 20513"/>
            </a:avLst>
          </a:prstGeom>
          <a:solidFill>
            <a:srgbClr val="EEECFB"/>
          </a:solidFill>
          <a:ln/>
        </p:spPr>
      </p:sp>
      <p:sp>
        <p:nvSpPr>
          <p:cNvPr id="10" name="Text 7"/>
          <p:cNvSpPr/>
          <p:nvPr/>
        </p:nvSpPr>
        <p:spPr>
          <a:xfrm>
            <a:off x="1344168" y="1591056"/>
            <a:ext cx="5577840" cy="713232"/>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“Is my knee MRI covered before I meet my deductible?”</a:t>
            </a:r>
            <a:endParaRPr lang="en-US" sz="1350" dirty="0"/>
          </a:p>
        </p:txBody>
      </p:sp>
      <p:sp>
        <p:nvSpPr>
          <p:cNvPr id="11" name="Shape 8"/>
          <p:cNvSpPr/>
          <p:nvPr/>
        </p:nvSpPr>
        <p:spPr>
          <a:xfrm>
            <a:off x="3858768" y="2331720"/>
            <a:ext cx="0" cy="292608"/>
          </a:xfrm>
          <a:prstGeom prst="line">
            <a:avLst/>
          </a:prstGeom>
          <a:noFill/>
          <a:ln w="22225">
            <a:solidFill>
              <a:srgbClr val="8A93AB"/>
            </a:solidFill>
            <a:prstDash val="solid"/>
            <a:tailEnd type="triangle"/>
          </a:ln>
        </p:spPr>
      </p:sp>
      <p:sp>
        <p:nvSpPr>
          <p:cNvPr id="12" name="Shape 9"/>
          <p:cNvSpPr/>
          <p:nvPr/>
        </p:nvSpPr>
        <p:spPr>
          <a:xfrm>
            <a:off x="886968" y="2697480"/>
            <a:ext cx="6263640" cy="1371600"/>
          </a:xfrm>
          <a:prstGeom prst="roundRect">
            <a:avLst>
              <a:gd name="adj" fmla="val 6667"/>
            </a:avLst>
          </a:prstGeom>
          <a:solidFill>
            <a:srgbClr val="16213E"/>
          </a:solidFill>
          <a:ln/>
        </p:spPr>
      </p:sp>
      <p:sp>
        <p:nvSpPr>
          <p:cNvPr id="13" name="Text 10"/>
          <p:cNvSpPr/>
          <p:nvPr/>
        </p:nvSpPr>
        <p:spPr>
          <a:xfrm>
            <a:off x="1161288" y="2852928"/>
            <a:ext cx="320040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Transformer language model</a:t>
            </a:r>
            <a:endParaRPr lang="en-US" sz="1450" dirty="0"/>
          </a:p>
        </p:txBody>
      </p:sp>
      <p:sp>
        <p:nvSpPr>
          <p:cNvPr id="14" name="Text 11"/>
          <p:cNvSpPr/>
          <p:nvPr/>
        </p:nvSpPr>
        <p:spPr>
          <a:xfrm>
            <a:off x="1161288" y="3246120"/>
            <a:ext cx="3154680" cy="685800"/>
          </a:xfrm>
          <a:prstGeom prst="rect">
            <a:avLst/>
          </a:prstGeom>
          <a:noFill/>
          <a:ln/>
        </p:spPr>
        <p:txBody>
          <a:bodyPr wrap="square" lIns="0" tIns="0" rIns="0" bIns="0" rtlCol="0" anchor="ctr"/>
          <a:lstStyle/>
          <a:p>
            <a:pPr indent="0" marL="0">
              <a:lnSpc>
                <a:spcPct val="112000"/>
              </a:lnSpc>
              <a:buNone/>
            </a:pPr>
            <a:r>
              <a:rPr lang="en-US" sz="1080" dirty="0">
                <a:solidFill>
                  <a:srgbClr val="C6CCE0"/>
                </a:solidFill>
                <a:latin typeface="Calibri" pitchFamily="34" charset="0"/>
                <a:ea typeface="Calibri" pitchFamily="34" charset="-122"/>
                <a:cs typeface="Calibri" pitchFamily="34" charset="-120"/>
              </a:rPr>
              <a:t>reads the words, then predicts what comes next — one token at a time</a:t>
            </a:r>
            <a:endParaRPr lang="en-US" sz="1080" dirty="0"/>
          </a:p>
        </p:txBody>
      </p:sp>
      <p:sp>
        <p:nvSpPr>
          <p:cNvPr id="15" name="Shape 12"/>
          <p:cNvSpPr/>
          <p:nvPr/>
        </p:nvSpPr>
        <p:spPr>
          <a:xfrm>
            <a:off x="4791456" y="2971800"/>
            <a:ext cx="694944" cy="0"/>
          </a:xfrm>
          <a:prstGeom prst="line">
            <a:avLst/>
          </a:prstGeom>
          <a:noFill/>
          <a:ln w="6350">
            <a:solidFill>
              <a:srgbClr val="3A4775"/>
            </a:solidFill>
            <a:prstDash val="solid"/>
          </a:ln>
        </p:spPr>
      </p:sp>
      <p:sp>
        <p:nvSpPr>
          <p:cNvPr id="16" name="Shape 13"/>
          <p:cNvSpPr/>
          <p:nvPr/>
        </p:nvSpPr>
        <p:spPr>
          <a:xfrm>
            <a:off x="4791456" y="2971800"/>
            <a:ext cx="694944" cy="274320"/>
          </a:xfrm>
          <a:prstGeom prst="line">
            <a:avLst/>
          </a:prstGeom>
          <a:noFill/>
          <a:ln w="6350">
            <a:solidFill>
              <a:srgbClr val="3A4775"/>
            </a:solidFill>
            <a:prstDash val="solid"/>
          </a:ln>
        </p:spPr>
      </p:sp>
      <p:sp>
        <p:nvSpPr>
          <p:cNvPr id="17" name="Shape 14"/>
          <p:cNvSpPr/>
          <p:nvPr/>
        </p:nvSpPr>
        <p:spPr>
          <a:xfrm>
            <a:off x="4791456" y="2971800"/>
            <a:ext cx="694944" cy="548640"/>
          </a:xfrm>
          <a:prstGeom prst="line">
            <a:avLst/>
          </a:prstGeom>
          <a:noFill/>
          <a:ln w="6350">
            <a:solidFill>
              <a:srgbClr val="3A4775"/>
            </a:solidFill>
            <a:prstDash val="solid"/>
          </a:ln>
        </p:spPr>
      </p:sp>
      <p:sp>
        <p:nvSpPr>
          <p:cNvPr id="18" name="Shape 15"/>
          <p:cNvSpPr/>
          <p:nvPr/>
        </p:nvSpPr>
        <p:spPr>
          <a:xfrm>
            <a:off x="4791456" y="2971800"/>
            <a:ext cx="694944" cy="822960"/>
          </a:xfrm>
          <a:prstGeom prst="line">
            <a:avLst/>
          </a:prstGeom>
          <a:noFill/>
          <a:ln w="6350">
            <a:solidFill>
              <a:srgbClr val="3A4775"/>
            </a:solidFill>
            <a:prstDash val="solid"/>
          </a:ln>
        </p:spPr>
      </p:sp>
      <p:sp>
        <p:nvSpPr>
          <p:cNvPr id="19" name="Shape 16"/>
          <p:cNvSpPr/>
          <p:nvPr/>
        </p:nvSpPr>
        <p:spPr>
          <a:xfrm>
            <a:off x="4791456" y="3246120"/>
            <a:ext cx="694944" cy="-274320"/>
          </a:xfrm>
          <a:prstGeom prst="line">
            <a:avLst/>
          </a:prstGeom>
          <a:noFill/>
          <a:ln w="6350">
            <a:solidFill>
              <a:srgbClr val="3A4775"/>
            </a:solidFill>
            <a:prstDash val="solid"/>
          </a:ln>
        </p:spPr>
      </p:sp>
      <p:sp>
        <p:nvSpPr>
          <p:cNvPr id="20" name="Shape 17"/>
          <p:cNvSpPr/>
          <p:nvPr/>
        </p:nvSpPr>
        <p:spPr>
          <a:xfrm>
            <a:off x="4791456" y="3246120"/>
            <a:ext cx="694944" cy="0"/>
          </a:xfrm>
          <a:prstGeom prst="line">
            <a:avLst/>
          </a:prstGeom>
          <a:noFill/>
          <a:ln w="6350">
            <a:solidFill>
              <a:srgbClr val="3A4775"/>
            </a:solidFill>
            <a:prstDash val="solid"/>
          </a:ln>
        </p:spPr>
      </p:sp>
      <p:sp>
        <p:nvSpPr>
          <p:cNvPr id="21" name="Shape 18"/>
          <p:cNvSpPr/>
          <p:nvPr/>
        </p:nvSpPr>
        <p:spPr>
          <a:xfrm>
            <a:off x="4791456" y="3246120"/>
            <a:ext cx="694944" cy="274320"/>
          </a:xfrm>
          <a:prstGeom prst="line">
            <a:avLst/>
          </a:prstGeom>
          <a:noFill/>
          <a:ln w="25400">
            <a:solidFill>
              <a:srgbClr val="7C6FF0"/>
            </a:solidFill>
            <a:prstDash val="solid"/>
          </a:ln>
        </p:spPr>
      </p:sp>
      <p:sp>
        <p:nvSpPr>
          <p:cNvPr id="22" name="Shape 19"/>
          <p:cNvSpPr/>
          <p:nvPr/>
        </p:nvSpPr>
        <p:spPr>
          <a:xfrm>
            <a:off x="4791456" y="3246120"/>
            <a:ext cx="694944" cy="548640"/>
          </a:xfrm>
          <a:prstGeom prst="line">
            <a:avLst/>
          </a:prstGeom>
          <a:noFill/>
          <a:ln w="6350">
            <a:solidFill>
              <a:srgbClr val="3A4775"/>
            </a:solidFill>
            <a:prstDash val="solid"/>
          </a:ln>
        </p:spPr>
      </p:sp>
      <p:sp>
        <p:nvSpPr>
          <p:cNvPr id="23" name="Shape 20"/>
          <p:cNvSpPr/>
          <p:nvPr/>
        </p:nvSpPr>
        <p:spPr>
          <a:xfrm>
            <a:off x="4791456" y="3520440"/>
            <a:ext cx="694944" cy="-548640"/>
          </a:xfrm>
          <a:prstGeom prst="line">
            <a:avLst/>
          </a:prstGeom>
          <a:noFill/>
          <a:ln w="6350">
            <a:solidFill>
              <a:srgbClr val="3A4775"/>
            </a:solidFill>
            <a:prstDash val="solid"/>
          </a:ln>
        </p:spPr>
      </p:sp>
      <p:sp>
        <p:nvSpPr>
          <p:cNvPr id="24" name="Shape 21"/>
          <p:cNvSpPr/>
          <p:nvPr/>
        </p:nvSpPr>
        <p:spPr>
          <a:xfrm>
            <a:off x="4791456" y="3520440"/>
            <a:ext cx="694944" cy="-274320"/>
          </a:xfrm>
          <a:prstGeom prst="line">
            <a:avLst/>
          </a:prstGeom>
          <a:noFill/>
          <a:ln w="6350">
            <a:solidFill>
              <a:srgbClr val="3A4775"/>
            </a:solidFill>
            <a:prstDash val="solid"/>
          </a:ln>
        </p:spPr>
      </p:sp>
      <p:sp>
        <p:nvSpPr>
          <p:cNvPr id="25" name="Shape 22"/>
          <p:cNvSpPr/>
          <p:nvPr/>
        </p:nvSpPr>
        <p:spPr>
          <a:xfrm>
            <a:off x="4791456" y="3520440"/>
            <a:ext cx="694944" cy="0"/>
          </a:xfrm>
          <a:prstGeom prst="line">
            <a:avLst/>
          </a:prstGeom>
          <a:noFill/>
          <a:ln w="25400">
            <a:solidFill>
              <a:srgbClr val="7C6FF0"/>
            </a:solidFill>
            <a:prstDash val="solid"/>
          </a:ln>
        </p:spPr>
      </p:sp>
      <p:sp>
        <p:nvSpPr>
          <p:cNvPr id="26" name="Shape 23"/>
          <p:cNvSpPr/>
          <p:nvPr/>
        </p:nvSpPr>
        <p:spPr>
          <a:xfrm>
            <a:off x="4791456" y="3520440"/>
            <a:ext cx="694944" cy="274320"/>
          </a:xfrm>
          <a:prstGeom prst="line">
            <a:avLst/>
          </a:prstGeom>
          <a:noFill/>
          <a:ln w="6350">
            <a:solidFill>
              <a:srgbClr val="3A4775"/>
            </a:solidFill>
            <a:prstDash val="solid"/>
          </a:ln>
        </p:spPr>
      </p:sp>
      <p:sp>
        <p:nvSpPr>
          <p:cNvPr id="27" name="Shape 24"/>
          <p:cNvSpPr/>
          <p:nvPr/>
        </p:nvSpPr>
        <p:spPr>
          <a:xfrm>
            <a:off x="4791456" y="3794760"/>
            <a:ext cx="694944" cy="-822960"/>
          </a:xfrm>
          <a:prstGeom prst="line">
            <a:avLst/>
          </a:prstGeom>
          <a:noFill/>
          <a:ln w="6350">
            <a:solidFill>
              <a:srgbClr val="3A4775"/>
            </a:solidFill>
            <a:prstDash val="solid"/>
          </a:ln>
        </p:spPr>
      </p:sp>
      <p:sp>
        <p:nvSpPr>
          <p:cNvPr id="28" name="Shape 25"/>
          <p:cNvSpPr/>
          <p:nvPr/>
        </p:nvSpPr>
        <p:spPr>
          <a:xfrm>
            <a:off x="4791456" y="3794760"/>
            <a:ext cx="694944" cy="-548640"/>
          </a:xfrm>
          <a:prstGeom prst="line">
            <a:avLst/>
          </a:prstGeom>
          <a:noFill/>
          <a:ln w="6350">
            <a:solidFill>
              <a:srgbClr val="3A4775"/>
            </a:solidFill>
            <a:prstDash val="solid"/>
          </a:ln>
        </p:spPr>
      </p:sp>
      <p:sp>
        <p:nvSpPr>
          <p:cNvPr id="29" name="Shape 26"/>
          <p:cNvSpPr/>
          <p:nvPr/>
        </p:nvSpPr>
        <p:spPr>
          <a:xfrm>
            <a:off x="4791456" y="3794760"/>
            <a:ext cx="694944" cy="-274320"/>
          </a:xfrm>
          <a:prstGeom prst="line">
            <a:avLst/>
          </a:prstGeom>
          <a:noFill/>
          <a:ln w="6350">
            <a:solidFill>
              <a:srgbClr val="3A4775"/>
            </a:solidFill>
            <a:prstDash val="solid"/>
          </a:ln>
        </p:spPr>
      </p:sp>
      <p:sp>
        <p:nvSpPr>
          <p:cNvPr id="30" name="Shape 27"/>
          <p:cNvSpPr/>
          <p:nvPr/>
        </p:nvSpPr>
        <p:spPr>
          <a:xfrm>
            <a:off x="4791456" y="3794760"/>
            <a:ext cx="694944" cy="0"/>
          </a:xfrm>
          <a:prstGeom prst="line">
            <a:avLst/>
          </a:prstGeom>
          <a:noFill/>
          <a:ln w="6350">
            <a:solidFill>
              <a:srgbClr val="3A4775"/>
            </a:solidFill>
            <a:prstDash val="solid"/>
          </a:ln>
        </p:spPr>
      </p:sp>
      <p:sp>
        <p:nvSpPr>
          <p:cNvPr id="31" name="Shape 28"/>
          <p:cNvSpPr/>
          <p:nvPr/>
        </p:nvSpPr>
        <p:spPr>
          <a:xfrm>
            <a:off x="5614416" y="2971800"/>
            <a:ext cx="694944" cy="0"/>
          </a:xfrm>
          <a:prstGeom prst="line">
            <a:avLst/>
          </a:prstGeom>
          <a:noFill/>
          <a:ln w="6350">
            <a:solidFill>
              <a:srgbClr val="3A4775"/>
            </a:solidFill>
            <a:prstDash val="solid"/>
          </a:ln>
        </p:spPr>
      </p:sp>
      <p:sp>
        <p:nvSpPr>
          <p:cNvPr id="32" name="Shape 29"/>
          <p:cNvSpPr/>
          <p:nvPr/>
        </p:nvSpPr>
        <p:spPr>
          <a:xfrm>
            <a:off x="5614416" y="2971800"/>
            <a:ext cx="694944" cy="274320"/>
          </a:xfrm>
          <a:prstGeom prst="line">
            <a:avLst/>
          </a:prstGeom>
          <a:noFill/>
          <a:ln w="6350">
            <a:solidFill>
              <a:srgbClr val="3A4775"/>
            </a:solidFill>
            <a:prstDash val="solid"/>
          </a:ln>
        </p:spPr>
      </p:sp>
      <p:sp>
        <p:nvSpPr>
          <p:cNvPr id="33" name="Shape 30"/>
          <p:cNvSpPr/>
          <p:nvPr/>
        </p:nvSpPr>
        <p:spPr>
          <a:xfrm>
            <a:off x="5614416" y="2971800"/>
            <a:ext cx="694944" cy="548640"/>
          </a:xfrm>
          <a:prstGeom prst="line">
            <a:avLst/>
          </a:prstGeom>
          <a:noFill/>
          <a:ln w="6350">
            <a:solidFill>
              <a:srgbClr val="3A4775"/>
            </a:solidFill>
            <a:prstDash val="solid"/>
          </a:ln>
        </p:spPr>
      </p:sp>
      <p:sp>
        <p:nvSpPr>
          <p:cNvPr id="34" name="Shape 31"/>
          <p:cNvSpPr/>
          <p:nvPr/>
        </p:nvSpPr>
        <p:spPr>
          <a:xfrm>
            <a:off x="5614416" y="2971800"/>
            <a:ext cx="694944" cy="822960"/>
          </a:xfrm>
          <a:prstGeom prst="line">
            <a:avLst/>
          </a:prstGeom>
          <a:noFill/>
          <a:ln w="6350">
            <a:solidFill>
              <a:srgbClr val="3A4775"/>
            </a:solidFill>
            <a:prstDash val="solid"/>
          </a:ln>
        </p:spPr>
      </p:sp>
      <p:sp>
        <p:nvSpPr>
          <p:cNvPr id="35" name="Shape 32"/>
          <p:cNvSpPr/>
          <p:nvPr/>
        </p:nvSpPr>
        <p:spPr>
          <a:xfrm>
            <a:off x="5614416" y="3246120"/>
            <a:ext cx="694944" cy="-274320"/>
          </a:xfrm>
          <a:prstGeom prst="line">
            <a:avLst/>
          </a:prstGeom>
          <a:noFill/>
          <a:ln w="6350">
            <a:solidFill>
              <a:srgbClr val="3A4775"/>
            </a:solidFill>
            <a:prstDash val="solid"/>
          </a:ln>
        </p:spPr>
      </p:sp>
      <p:sp>
        <p:nvSpPr>
          <p:cNvPr id="36" name="Shape 33"/>
          <p:cNvSpPr/>
          <p:nvPr/>
        </p:nvSpPr>
        <p:spPr>
          <a:xfrm>
            <a:off x="5614416" y="3246120"/>
            <a:ext cx="694944" cy="0"/>
          </a:xfrm>
          <a:prstGeom prst="line">
            <a:avLst/>
          </a:prstGeom>
          <a:noFill/>
          <a:ln w="6350">
            <a:solidFill>
              <a:srgbClr val="3A4775"/>
            </a:solidFill>
            <a:prstDash val="solid"/>
          </a:ln>
        </p:spPr>
      </p:sp>
      <p:sp>
        <p:nvSpPr>
          <p:cNvPr id="37" name="Shape 34"/>
          <p:cNvSpPr/>
          <p:nvPr/>
        </p:nvSpPr>
        <p:spPr>
          <a:xfrm>
            <a:off x="5614416" y="3246120"/>
            <a:ext cx="694944" cy="274320"/>
          </a:xfrm>
          <a:prstGeom prst="line">
            <a:avLst/>
          </a:prstGeom>
          <a:noFill/>
          <a:ln w="25400">
            <a:solidFill>
              <a:srgbClr val="7C6FF0"/>
            </a:solidFill>
            <a:prstDash val="solid"/>
          </a:ln>
        </p:spPr>
      </p:sp>
      <p:sp>
        <p:nvSpPr>
          <p:cNvPr id="38" name="Shape 35"/>
          <p:cNvSpPr/>
          <p:nvPr/>
        </p:nvSpPr>
        <p:spPr>
          <a:xfrm>
            <a:off x="5614416" y="3246120"/>
            <a:ext cx="694944" cy="548640"/>
          </a:xfrm>
          <a:prstGeom prst="line">
            <a:avLst/>
          </a:prstGeom>
          <a:noFill/>
          <a:ln w="6350">
            <a:solidFill>
              <a:srgbClr val="3A4775"/>
            </a:solidFill>
            <a:prstDash val="solid"/>
          </a:ln>
        </p:spPr>
      </p:sp>
      <p:sp>
        <p:nvSpPr>
          <p:cNvPr id="39" name="Shape 36"/>
          <p:cNvSpPr/>
          <p:nvPr/>
        </p:nvSpPr>
        <p:spPr>
          <a:xfrm>
            <a:off x="5614416" y="3520440"/>
            <a:ext cx="694944" cy="-548640"/>
          </a:xfrm>
          <a:prstGeom prst="line">
            <a:avLst/>
          </a:prstGeom>
          <a:noFill/>
          <a:ln w="6350">
            <a:solidFill>
              <a:srgbClr val="3A4775"/>
            </a:solidFill>
            <a:prstDash val="solid"/>
          </a:ln>
        </p:spPr>
      </p:sp>
      <p:sp>
        <p:nvSpPr>
          <p:cNvPr id="40" name="Shape 37"/>
          <p:cNvSpPr/>
          <p:nvPr/>
        </p:nvSpPr>
        <p:spPr>
          <a:xfrm>
            <a:off x="5614416" y="3520440"/>
            <a:ext cx="694944" cy="-274320"/>
          </a:xfrm>
          <a:prstGeom prst="line">
            <a:avLst/>
          </a:prstGeom>
          <a:noFill/>
          <a:ln w="25400">
            <a:solidFill>
              <a:srgbClr val="7C6FF0"/>
            </a:solidFill>
            <a:prstDash val="solid"/>
          </a:ln>
        </p:spPr>
      </p:sp>
      <p:sp>
        <p:nvSpPr>
          <p:cNvPr id="41" name="Shape 38"/>
          <p:cNvSpPr/>
          <p:nvPr/>
        </p:nvSpPr>
        <p:spPr>
          <a:xfrm>
            <a:off x="5614416" y="3520440"/>
            <a:ext cx="694944" cy="0"/>
          </a:xfrm>
          <a:prstGeom prst="line">
            <a:avLst/>
          </a:prstGeom>
          <a:noFill/>
          <a:ln w="6350">
            <a:solidFill>
              <a:srgbClr val="3A4775"/>
            </a:solidFill>
            <a:prstDash val="solid"/>
          </a:ln>
        </p:spPr>
      </p:sp>
      <p:sp>
        <p:nvSpPr>
          <p:cNvPr id="42" name="Shape 39"/>
          <p:cNvSpPr/>
          <p:nvPr/>
        </p:nvSpPr>
        <p:spPr>
          <a:xfrm>
            <a:off x="5614416" y="3520440"/>
            <a:ext cx="694944" cy="274320"/>
          </a:xfrm>
          <a:prstGeom prst="line">
            <a:avLst/>
          </a:prstGeom>
          <a:noFill/>
          <a:ln w="6350">
            <a:solidFill>
              <a:srgbClr val="3A4775"/>
            </a:solidFill>
            <a:prstDash val="solid"/>
          </a:ln>
        </p:spPr>
      </p:sp>
      <p:sp>
        <p:nvSpPr>
          <p:cNvPr id="43" name="Shape 40"/>
          <p:cNvSpPr/>
          <p:nvPr/>
        </p:nvSpPr>
        <p:spPr>
          <a:xfrm>
            <a:off x="5614416" y="3794760"/>
            <a:ext cx="694944" cy="-822960"/>
          </a:xfrm>
          <a:prstGeom prst="line">
            <a:avLst/>
          </a:prstGeom>
          <a:noFill/>
          <a:ln w="6350">
            <a:solidFill>
              <a:srgbClr val="3A4775"/>
            </a:solidFill>
            <a:prstDash val="solid"/>
          </a:ln>
        </p:spPr>
      </p:sp>
      <p:sp>
        <p:nvSpPr>
          <p:cNvPr id="44" name="Shape 41"/>
          <p:cNvSpPr/>
          <p:nvPr/>
        </p:nvSpPr>
        <p:spPr>
          <a:xfrm>
            <a:off x="5614416" y="3794760"/>
            <a:ext cx="694944" cy="-548640"/>
          </a:xfrm>
          <a:prstGeom prst="line">
            <a:avLst/>
          </a:prstGeom>
          <a:noFill/>
          <a:ln w="6350">
            <a:solidFill>
              <a:srgbClr val="3A4775"/>
            </a:solidFill>
            <a:prstDash val="solid"/>
          </a:ln>
        </p:spPr>
      </p:sp>
      <p:sp>
        <p:nvSpPr>
          <p:cNvPr id="45" name="Shape 42"/>
          <p:cNvSpPr/>
          <p:nvPr/>
        </p:nvSpPr>
        <p:spPr>
          <a:xfrm>
            <a:off x="5614416" y="3794760"/>
            <a:ext cx="694944" cy="-274320"/>
          </a:xfrm>
          <a:prstGeom prst="line">
            <a:avLst/>
          </a:prstGeom>
          <a:noFill/>
          <a:ln w="6350">
            <a:solidFill>
              <a:srgbClr val="3A4775"/>
            </a:solidFill>
            <a:prstDash val="solid"/>
          </a:ln>
        </p:spPr>
      </p:sp>
      <p:sp>
        <p:nvSpPr>
          <p:cNvPr id="46" name="Shape 43"/>
          <p:cNvSpPr/>
          <p:nvPr/>
        </p:nvSpPr>
        <p:spPr>
          <a:xfrm>
            <a:off x="5614416" y="3794760"/>
            <a:ext cx="694944" cy="0"/>
          </a:xfrm>
          <a:prstGeom prst="line">
            <a:avLst/>
          </a:prstGeom>
          <a:noFill/>
          <a:ln w="6350">
            <a:solidFill>
              <a:srgbClr val="3A4775"/>
            </a:solidFill>
            <a:prstDash val="solid"/>
          </a:ln>
        </p:spPr>
      </p:sp>
      <p:sp>
        <p:nvSpPr>
          <p:cNvPr id="47" name="Shape 44"/>
          <p:cNvSpPr/>
          <p:nvPr/>
        </p:nvSpPr>
        <p:spPr>
          <a:xfrm>
            <a:off x="4727448" y="2907792"/>
            <a:ext cx="128016" cy="128016"/>
          </a:xfrm>
          <a:prstGeom prst="ellipse">
            <a:avLst/>
          </a:prstGeom>
          <a:solidFill>
            <a:srgbClr val="4A5688"/>
          </a:solidFill>
          <a:ln/>
        </p:spPr>
      </p:sp>
      <p:sp>
        <p:nvSpPr>
          <p:cNvPr id="48" name="Shape 45"/>
          <p:cNvSpPr/>
          <p:nvPr/>
        </p:nvSpPr>
        <p:spPr>
          <a:xfrm>
            <a:off x="4727448" y="3182112"/>
            <a:ext cx="128016" cy="128016"/>
          </a:xfrm>
          <a:prstGeom prst="ellipse">
            <a:avLst/>
          </a:prstGeom>
          <a:solidFill>
            <a:srgbClr val="7C6FF0"/>
          </a:solidFill>
          <a:ln/>
        </p:spPr>
      </p:sp>
      <p:sp>
        <p:nvSpPr>
          <p:cNvPr id="49" name="Shape 46"/>
          <p:cNvSpPr/>
          <p:nvPr/>
        </p:nvSpPr>
        <p:spPr>
          <a:xfrm>
            <a:off x="4727448" y="3456432"/>
            <a:ext cx="128016" cy="128016"/>
          </a:xfrm>
          <a:prstGeom prst="ellipse">
            <a:avLst/>
          </a:prstGeom>
          <a:solidFill>
            <a:srgbClr val="4A5688"/>
          </a:solidFill>
          <a:ln/>
        </p:spPr>
      </p:sp>
      <p:sp>
        <p:nvSpPr>
          <p:cNvPr id="50" name="Shape 47"/>
          <p:cNvSpPr/>
          <p:nvPr/>
        </p:nvSpPr>
        <p:spPr>
          <a:xfrm>
            <a:off x="4727448" y="3730752"/>
            <a:ext cx="128016" cy="128016"/>
          </a:xfrm>
          <a:prstGeom prst="ellipse">
            <a:avLst/>
          </a:prstGeom>
          <a:solidFill>
            <a:srgbClr val="4A5688"/>
          </a:solidFill>
          <a:ln/>
        </p:spPr>
      </p:sp>
      <p:sp>
        <p:nvSpPr>
          <p:cNvPr id="51" name="Shape 48"/>
          <p:cNvSpPr/>
          <p:nvPr/>
        </p:nvSpPr>
        <p:spPr>
          <a:xfrm>
            <a:off x="5550408" y="2907792"/>
            <a:ext cx="128016" cy="128016"/>
          </a:xfrm>
          <a:prstGeom prst="ellipse">
            <a:avLst/>
          </a:prstGeom>
          <a:solidFill>
            <a:srgbClr val="4A5688"/>
          </a:solidFill>
          <a:ln/>
        </p:spPr>
      </p:sp>
      <p:sp>
        <p:nvSpPr>
          <p:cNvPr id="52" name="Shape 49"/>
          <p:cNvSpPr/>
          <p:nvPr/>
        </p:nvSpPr>
        <p:spPr>
          <a:xfrm>
            <a:off x="5550408" y="3182112"/>
            <a:ext cx="128016" cy="128016"/>
          </a:xfrm>
          <a:prstGeom prst="ellipse">
            <a:avLst/>
          </a:prstGeom>
          <a:solidFill>
            <a:srgbClr val="4A5688"/>
          </a:solidFill>
          <a:ln/>
        </p:spPr>
      </p:sp>
      <p:sp>
        <p:nvSpPr>
          <p:cNvPr id="53" name="Shape 50"/>
          <p:cNvSpPr/>
          <p:nvPr/>
        </p:nvSpPr>
        <p:spPr>
          <a:xfrm>
            <a:off x="5550408" y="3456432"/>
            <a:ext cx="128016" cy="128016"/>
          </a:xfrm>
          <a:prstGeom prst="ellipse">
            <a:avLst/>
          </a:prstGeom>
          <a:solidFill>
            <a:srgbClr val="7C6FF0"/>
          </a:solidFill>
          <a:ln/>
        </p:spPr>
      </p:sp>
      <p:sp>
        <p:nvSpPr>
          <p:cNvPr id="54" name="Shape 51"/>
          <p:cNvSpPr/>
          <p:nvPr/>
        </p:nvSpPr>
        <p:spPr>
          <a:xfrm>
            <a:off x="5550408" y="3730752"/>
            <a:ext cx="128016" cy="128016"/>
          </a:xfrm>
          <a:prstGeom prst="ellipse">
            <a:avLst/>
          </a:prstGeom>
          <a:solidFill>
            <a:srgbClr val="4A5688"/>
          </a:solidFill>
          <a:ln/>
        </p:spPr>
      </p:sp>
      <p:sp>
        <p:nvSpPr>
          <p:cNvPr id="55" name="Shape 52"/>
          <p:cNvSpPr/>
          <p:nvPr/>
        </p:nvSpPr>
        <p:spPr>
          <a:xfrm>
            <a:off x="6373368" y="2907792"/>
            <a:ext cx="128016" cy="128016"/>
          </a:xfrm>
          <a:prstGeom prst="ellipse">
            <a:avLst/>
          </a:prstGeom>
          <a:solidFill>
            <a:srgbClr val="4A5688"/>
          </a:solidFill>
          <a:ln/>
        </p:spPr>
      </p:sp>
      <p:sp>
        <p:nvSpPr>
          <p:cNvPr id="56" name="Shape 53"/>
          <p:cNvSpPr/>
          <p:nvPr/>
        </p:nvSpPr>
        <p:spPr>
          <a:xfrm>
            <a:off x="6373368" y="3182112"/>
            <a:ext cx="128016" cy="128016"/>
          </a:xfrm>
          <a:prstGeom prst="ellipse">
            <a:avLst/>
          </a:prstGeom>
          <a:solidFill>
            <a:srgbClr val="7C6FF0"/>
          </a:solidFill>
          <a:ln/>
        </p:spPr>
      </p:sp>
      <p:sp>
        <p:nvSpPr>
          <p:cNvPr id="57" name="Shape 54"/>
          <p:cNvSpPr/>
          <p:nvPr/>
        </p:nvSpPr>
        <p:spPr>
          <a:xfrm>
            <a:off x="6373368" y="3456432"/>
            <a:ext cx="128016" cy="128016"/>
          </a:xfrm>
          <a:prstGeom prst="ellipse">
            <a:avLst/>
          </a:prstGeom>
          <a:solidFill>
            <a:srgbClr val="7C6FF0"/>
          </a:solidFill>
          <a:ln/>
        </p:spPr>
      </p:sp>
      <p:sp>
        <p:nvSpPr>
          <p:cNvPr id="58" name="Shape 55"/>
          <p:cNvSpPr/>
          <p:nvPr/>
        </p:nvSpPr>
        <p:spPr>
          <a:xfrm>
            <a:off x="6373368" y="3730752"/>
            <a:ext cx="128016" cy="128016"/>
          </a:xfrm>
          <a:prstGeom prst="ellipse">
            <a:avLst/>
          </a:prstGeom>
          <a:solidFill>
            <a:srgbClr val="4A5688"/>
          </a:solidFill>
          <a:ln/>
        </p:spPr>
      </p:sp>
      <p:sp>
        <p:nvSpPr>
          <p:cNvPr id="59" name="Text 56"/>
          <p:cNvSpPr/>
          <p:nvPr/>
        </p:nvSpPr>
        <p:spPr>
          <a:xfrm>
            <a:off x="4681728" y="3822192"/>
            <a:ext cx="1828800" cy="201168"/>
          </a:xfrm>
          <a:prstGeom prst="rect">
            <a:avLst/>
          </a:prstGeom>
          <a:noFill/>
          <a:ln/>
        </p:spPr>
        <p:txBody>
          <a:bodyPr wrap="square" lIns="0" tIns="0" rIns="0" bIns="0" rtlCol="0" anchor="ctr"/>
          <a:lstStyle/>
          <a:p>
            <a:pPr algn="ctr" indent="0" marL="0">
              <a:buNone/>
            </a:pPr>
            <a:r>
              <a:rPr lang="en-US" sz="850" i="1" dirty="0">
                <a:solidFill>
                  <a:srgbClr val="8A93AB"/>
                </a:solidFill>
                <a:latin typeface="Calibri" pitchFamily="34" charset="0"/>
                <a:ea typeface="Calibri" pitchFamily="34" charset="-122"/>
                <a:cs typeface="Calibri" pitchFamily="34" charset="-120"/>
              </a:rPr>
              <a:t>neurons activate</a:t>
            </a:r>
            <a:endParaRPr lang="en-US" sz="850" dirty="0"/>
          </a:p>
        </p:txBody>
      </p:sp>
      <p:sp>
        <p:nvSpPr>
          <p:cNvPr id="60" name="Shape 57"/>
          <p:cNvSpPr/>
          <p:nvPr/>
        </p:nvSpPr>
        <p:spPr>
          <a:xfrm>
            <a:off x="3858768" y="4087368"/>
            <a:ext cx="0" cy="274320"/>
          </a:xfrm>
          <a:prstGeom prst="line">
            <a:avLst/>
          </a:prstGeom>
          <a:noFill/>
          <a:ln w="22225">
            <a:solidFill>
              <a:srgbClr val="8A93AB"/>
            </a:solidFill>
            <a:prstDash val="solid"/>
            <a:tailEnd type="triangle"/>
          </a:ln>
        </p:spPr>
      </p:sp>
      <p:sp>
        <p:nvSpPr>
          <p:cNvPr id="61" name="Text 58"/>
          <p:cNvSpPr/>
          <p:nvPr/>
        </p:nvSpPr>
        <p:spPr>
          <a:xfrm>
            <a:off x="886968" y="4407408"/>
            <a:ext cx="6400800" cy="292608"/>
          </a:xfrm>
          <a:prstGeom prst="rect">
            <a:avLst/>
          </a:prstGeom>
          <a:noFill/>
          <a:ln/>
        </p:spPr>
        <p:txBody>
          <a:bodyPr wrap="square" lIns="0" tIns="0" rIns="0" bIns="0" rtlCol="0" anchor="ctr"/>
          <a:lstStyle/>
          <a:p>
            <a:pPr indent="0" marL="0">
              <a:buNone/>
            </a:pPr>
            <a:r>
              <a:rPr lang="en-US" sz="1180" b="1" dirty="0">
                <a:solidFill>
                  <a:srgbClr val="1B2440"/>
                </a:solidFill>
                <a:latin typeface="Calibri" pitchFamily="34" charset="0"/>
                <a:ea typeface="Calibri" pitchFamily="34" charset="-122"/>
                <a:cs typeface="Calibri" pitchFamily="34" charset="-120"/>
              </a:rPr>
              <a:t>Next-token prediction:  </a:t>
            </a:r>
            <a:pPr indent="0" marL="0">
              <a:buNone/>
            </a:pPr>
            <a:r>
              <a:rPr lang="en-US" sz="1180" dirty="0">
                <a:solidFill>
                  <a:srgbClr val="5A6685"/>
                </a:solidFill>
                <a:latin typeface="Calibri" pitchFamily="34" charset="0"/>
                <a:ea typeface="Calibri" pitchFamily="34" charset="-122"/>
                <a:cs typeface="Calibri" pitchFamily="34" charset="-120"/>
              </a:rPr>
              <a:t>“…an MRI is covered after you meet your </a:t>
            </a:r>
            <a:pPr indent="0" marL="0">
              <a:buNone/>
            </a:pPr>
            <a:r>
              <a:rPr lang="en-US" sz="1180" b="1" dirty="0">
                <a:solidFill>
                  <a:srgbClr val="5B4BE0"/>
                </a:solidFill>
                <a:latin typeface="Calibri" pitchFamily="34" charset="0"/>
                <a:ea typeface="Calibri" pitchFamily="34" charset="-122"/>
                <a:cs typeface="Calibri" pitchFamily="34" charset="-120"/>
              </a:rPr>
              <a:t>____</a:t>
            </a:r>
            <a:pPr indent="0" marL="0">
              <a:buNone/>
            </a:pPr>
            <a:r>
              <a:rPr lang="en-US" sz="1180" dirty="0">
                <a:solidFill>
                  <a:srgbClr val="5A6685"/>
                </a:solidFill>
                <a:latin typeface="Calibri" pitchFamily="34" charset="0"/>
                <a:ea typeface="Calibri" pitchFamily="34" charset="-122"/>
                <a:cs typeface="Calibri" pitchFamily="34" charset="-120"/>
              </a:rPr>
              <a:t>”</a:t>
            </a:r>
            <a:endParaRPr lang="en-US" sz="1180" dirty="0"/>
          </a:p>
        </p:txBody>
      </p:sp>
      <p:sp>
        <p:nvSpPr>
          <p:cNvPr id="62" name="Text 59"/>
          <p:cNvSpPr/>
          <p:nvPr/>
        </p:nvSpPr>
        <p:spPr>
          <a:xfrm>
            <a:off x="886968" y="4754880"/>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deductible</a:t>
            </a:r>
            <a:endParaRPr lang="en-US" sz="1080" dirty="0"/>
          </a:p>
        </p:txBody>
      </p:sp>
      <p:sp>
        <p:nvSpPr>
          <p:cNvPr id="63" name="Shape 60"/>
          <p:cNvSpPr/>
          <p:nvPr/>
        </p:nvSpPr>
        <p:spPr>
          <a:xfrm>
            <a:off x="2532888" y="4773168"/>
            <a:ext cx="1547165" cy="237744"/>
          </a:xfrm>
          <a:prstGeom prst="roundRect">
            <a:avLst>
              <a:gd name="adj" fmla="val 15385"/>
            </a:avLst>
          </a:prstGeom>
          <a:solidFill>
            <a:srgbClr val="5B4BE0"/>
          </a:solidFill>
          <a:ln/>
        </p:spPr>
      </p:sp>
      <p:sp>
        <p:nvSpPr>
          <p:cNvPr id="64" name="Text 61"/>
          <p:cNvSpPr/>
          <p:nvPr/>
        </p:nvSpPr>
        <p:spPr>
          <a:xfrm>
            <a:off x="4153205" y="4754880"/>
            <a:ext cx="731520" cy="274320"/>
          </a:xfrm>
          <a:prstGeom prst="rect">
            <a:avLst/>
          </a:prstGeom>
          <a:noFill/>
          <a:ln/>
        </p:spPr>
        <p:txBody>
          <a:bodyPr wrap="square" lIns="0" tIns="0" rIns="0" bIns="0" rtlCol="0" anchor="ctr"/>
          <a:lstStyle/>
          <a:p>
            <a:pPr indent="0" marL="0">
              <a:buNone/>
            </a:pPr>
            <a:r>
              <a:rPr lang="en-US" sz="1050" b="1" dirty="0">
                <a:solidFill>
                  <a:srgbClr val="5B4BE0"/>
                </a:solidFill>
                <a:latin typeface="Calibri" pitchFamily="34" charset="0"/>
                <a:ea typeface="Calibri" pitchFamily="34" charset="-122"/>
                <a:cs typeface="Calibri" pitchFamily="34" charset="-120"/>
              </a:rPr>
              <a:t>47%</a:t>
            </a:r>
            <a:endParaRPr lang="en-US" sz="1050" dirty="0"/>
          </a:p>
        </p:txBody>
      </p:sp>
      <p:sp>
        <p:nvSpPr>
          <p:cNvPr id="65" name="Text 62"/>
          <p:cNvSpPr/>
          <p:nvPr/>
        </p:nvSpPr>
        <p:spPr>
          <a:xfrm>
            <a:off x="886968" y="5093208"/>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copay</a:t>
            </a:r>
            <a:endParaRPr lang="en-US" sz="1080" dirty="0"/>
          </a:p>
        </p:txBody>
      </p:sp>
      <p:sp>
        <p:nvSpPr>
          <p:cNvPr id="66" name="Shape 63"/>
          <p:cNvSpPr/>
          <p:nvPr/>
        </p:nvSpPr>
        <p:spPr>
          <a:xfrm>
            <a:off x="2532888" y="5111496"/>
            <a:ext cx="757123" cy="237744"/>
          </a:xfrm>
          <a:prstGeom prst="roundRect">
            <a:avLst>
              <a:gd name="adj" fmla="val 15385"/>
            </a:avLst>
          </a:prstGeom>
          <a:solidFill>
            <a:srgbClr val="0E9E96"/>
          </a:solidFill>
          <a:ln/>
        </p:spPr>
      </p:sp>
      <p:sp>
        <p:nvSpPr>
          <p:cNvPr id="67" name="Text 64"/>
          <p:cNvSpPr/>
          <p:nvPr/>
        </p:nvSpPr>
        <p:spPr>
          <a:xfrm>
            <a:off x="3363163" y="5093208"/>
            <a:ext cx="731520" cy="274320"/>
          </a:xfrm>
          <a:prstGeom prst="rect">
            <a:avLst/>
          </a:prstGeom>
          <a:noFill/>
          <a:ln/>
        </p:spPr>
        <p:txBody>
          <a:bodyPr wrap="square" lIns="0" tIns="0" rIns="0" bIns="0" rtlCol="0" anchor="ctr"/>
          <a:lstStyle/>
          <a:p>
            <a:pPr indent="0" marL="0">
              <a:buNone/>
            </a:pPr>
            <a:r>
              <a:rPr lang="en-US" sz="1050" b="1" dirty="0">
                <a:solidFill>
                  <a:srgbClr val="0E9E96"/>
                </a:solidFill>
                <a:latin typeface="Calibri" pitchFamily="34" charset="0"/>
                <a:ea typeface="Calibri" pitchFamily="34" charset="-122"/>
                <a:cs typeface="Calibri" pitchFamily="34" charset="-120"/>
              </a:rPr>
              <a:t>23%</a:t>
            </a:r>
            <a:endParaRPr lang="en-US" sz="1050" dirty="0"/>
          </a:p>
        </p:txBody>
      </p:sp>
      <p:sp>
        <p:nvSpPr>
          <p:cNvPr id="68" name="Text 65"/>
          <p:cNvSpPr/>
          <p:nvPr/>
        </p:nvSpPr>
        <p:spPr>
          <a:xfrm>
            <a:off x="886968" y="5431536"/>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coinsurance</a:t>
            </a:r>
            <a:endParaRPr lang="en-US" sz="1080" dirty="0"/>
          </a:p>
        </p:txBody>
      </p:sp>
      <p:sp>
        <p:nvSpPr>
          <p:cNvPr id="69" name="Shape 66"/>
          <p:cNvSpPr/>
          <p:nvPr/>
        </p:nvSpPr>
        <p:spPr>
          <a:xfrm>
            <a:off x="2532888" y="5449824"/>
            <a:ext cx="493776" cy="237744"/>
          </a:xfrm>
          <a:prstGeom prst="roundRect">
            <a:avLst>
              <a:gd name="adj" fmla="val 15385"/>
            </a:avLst>
          </a:prstGeom>
          <a:solidFill>
            <a:srgbClr val="D9820A"/>
          </a:solidFill>
          <a:ln/>
        </p:spPr>
      </p:sp>
      <p:sp>
        <p:nvSpPr>
          <p:cNvPr id="70" name="Text 67"/>
          <p:cNvSpPr/>
          <p:nvPr/>
        </p:nvSpPr>
        <p:spPr>
          <a:xfrm>
            <a:off x="3099816" y="5431536"/>
            <a:ext cx="731520" cy="274320"/>
          </a:xfrm>
          <a:prstGeom prst="rect">
            <a:avLst/>
          </a:prstGeom>
          <a:noFill/>
          <a:ln/>
        </p:spPr>
        <p:txBody>
          <a:bodyPr wrap="square" lIns="0" tIns="0" rIns="0" bIns="0" rtlCol="0" anchor="ctr"/>
          <a:lstStyle/>
          <a:p>
            <a:pPr indent="0" marL="0">
              <a:buNone/>
            </a:pPr>
            <a:r>
              <a:rPr lang="en-US" sz="1050" b="1" dirty="0">
                <a:solidFill>
                  <a:srgbClr val="D9820A"/>
                </a:solidFill>
                <a:latin typeface="Calibri" pitchFamily="34" charset="0"/>
                <a:ea typeface="Calibri" pitchFamily="34" charset="-122"/>
                <a:cs typeface="Calibri" pitchFamily="34" charset="-120"/>
              </a:rPr>
              <a:t>15%</a:t>
            </a:r>
            <a:endParaRPr lang="en-US" sz="1050" dirty="0"/>
          </a:p>
        </p:txBody>
      </p:sp>
      <p:sp>
        <p:nvSpPr>
          <p:cNvPr id="71" name="Text 68"/>
          <p:cNvSpPr/>
          <p:nvPr/>
        </p:nvSpPr>
        <p:spPr>
          <a:xfrm>
            <a:off x="886968" y="5769864"/>
            <a:ext cx="1572768" cy="274320"/>
          </a:xfrm>
          <a:prstGeom prst="rect">
            <a:avLst/>
          </a:prstGeom>
          <a:noFill/>
          <a:ln/>
        </p:spPr>
        <p:txBody>
          <a:bodyPr wrap="square" lIns="0" tIns="0" rIns="0" bIns="0" rtlCol="0" anchor="ctr"/>
          <a:lstStyle/>
          <a:p>
            <a:pPr algn="r" indent="0" marL="0">
              <a:buNone/>
            </a:pPr>
            <a:r>
              <a:rPr lang="en-US" sz="1080" b="1" dirty="0">
                <a:solidFill>
                  <a:srgbClr val="1B2440"/>
                </a:solidFill>
                <a:latin typeface="Courier New" pitchFamily="34" charset="0"/>
                <a:ea typeface="Courier New" pitchFamily="34" charset="-122"/>
                <a:cs typeface="Courier New" pitchFamily="34" charset="-120"/>
              </a:rPr>
              <a:t>out-of-pocket max</a:t>
            </a:r>
            <a:endParaRPr lang="en-US" sz="1080" dirty="0"/>
          </a:p>
        </p:txBody>
      </p:sp>
      <p:sp>
        <p:nvSpPr>
          <p:cNvPr id="72" name="Shape 69"/>
          <p:cNvSpPr/>
          <p:nvPr/>
        </p:nvSpPr>
        <p:spPr>
          <a:xfrm>
            <a:off x="2532888" y="5788152"/>
            <a:ext cx="263347" cy="237744"/>
          </a:xfrm>
          <a:prstGeom prst="roundRect">
            <a:avLst>
              <a:gd name="adj" fmla="val 15385"/>
            </a:avLst>
          </a:prstGeom>
          <a:solidFill>
            <a:srgbClr val="8A93AB"/>
          </a:solidFill>
          <a:ln/>
        </p:spPr>
      </p:sp>
      <p:sp>
        <p:nvSpPr>
          <p:cNvPr id="73" name="Text 70"/>
          <p:cNvSpPr/>
          <p:nvPr/>
        </p:nvSpPr>
        <p:spPr>
          <a:xfrm>
            <a:off x="2869387" y="5769864"/>
            <a:ext cx="731520" cy="274320"/>
          </a:xfrm>
          <a:prstGeom prst="rect">
            <a:avLst/>
          </a:prstGeom>
          <a:noFill/>
          <a:ln/>
        </p:spPr>
        <p:txBody>
          <a:bodyPr wrap="square" lIns="0" tIns="0" rIns="0" bIns="0" rtlCol="0" anchor="ctr"/>
          <a:lstStyle/>
          <a:p>
            <a:pPr indent="0" marL="0">
              <a:buNone/>
            </a:pPr>
            <a:r>
              <a:rPr lang="en-US" sz="1050" b="1" dirty="0">
                <a:solidFill>
                  <a:srgbClr val="8A93AB"/>
                </a:solidFill>
                <a:latin typeface="Calibri" pitchFamily="34" charset="0"/>
                <a:ea typeface="Calibri" pitchFamily="34" charset="-122"/>
                <a:cs typeface="Calibri" pitchFamily="34" charset="-120"/>
              </a:rPr>
              <a:t>8%</a:t>
            </a:r>
            <a:endParaRPr lang="en-US" sz="1050" dirty="0"/>
          </a:p>
        </p:txBody>
      </p:sp>
      <p:sp>
        <p:nvSpPr>
          <p:cNvPr id="74" name="Text 71"/>
          <p:cNvSpPr/>
          <p:nvPr/>
        </p:nvSpPr>
        <p:spPr>
          <a:xfrm>
            <a:off x="886968" y="6144768"/>
            <a:ext cx="6217920" cy="256032"/>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Generation = sample one token, append it, repeat.</a:t>
            </a:r>
            <a:endParaRPr lang="en-US" sz="1050" dirty="0"/>
          </a:p>
        </p:txBody>
      </p:sp>
      <p:sp>
        <p:nvSpPr>
          <p:cNvPr id="75" name="Shape 72"/>
          <p:cNvSpPr/>
          <p:nvPr/>
        </p:nvSpPr>
        <p:spPr>
          <a:xfrm>
            <a:off x="7635240" y="1517904"/>
            <a:ext cx="3986784" cy="3657600"/>
          </a:xfrm>
          <a:prstGeom prst="roundRect">
            <a:avLst>
              <a:gd name="adj" fmla="val 2500"/>
            </a:avLst>
          </a:prstGeom>
          <a:solidFill>
            <a:srgbClr val="16213E"/>
          </a:solidFill>
          <a:ln/>
        </p:spPr>
      </p:sp>
      <p:sp>
        <p:nvSpPr>
          <p:cNvPr id="76" name="Text 73"/>
          <p:cNvSpPr/>
          <p:nvPr/>
        </p:nvSpPr>
        <p:spPr>
          <a:xfrm>
            <a:off x="7927848" y="1691640"/>
            <a:ext cx="3438144" cy="237744"/>
          </a:xfrm>
          <a:prstGeom prst="rect">
            <a:avLst/>
          </a:prstGeom>
          <a:noFill/>
          <a:ln/>
        </p:spPr>
        <p:txBody>
          <a:bodyPr wrap="square" lIns="0" tIns="0" rIns="0" bIns="0" rtlCol="0" anchor="ctr"/>
          <a:lstStyle/>
          <a:p>
            <a:pPr indent="0" marL="0">
              <a:buNone/>
            </a:pPr>
            <a:r>
              <a:rPr lang="en-US" sz="1050" b="1" spc="150" kern="0" dirty="0">
                <a:solidFill>
                  <a:srgbClr val="7C6FF0"/>
                </a:solidFill>
                <a:latin typeface="Calibri" pitchFamily="34" charset="0"/>
                <a:ea typeface="Calibri" pitchFamily="34" charset="-122"/>
                <a:cs typeface="Calibri" pitchFamily="34" charset="-120"/>
              </a:rPr>
              <a:t>AUTOCOMPLETE, SCALED</a:t>
            </a:r>
            <a:endParaRPr lang="en-US" sz="1050" dirty="0"/>
          </a:p>
        </p:txBody>
      </p:sp>
      <p:sp>
        <p:nvSpPr>
          <p:cNvPr id="77" name="Text 74"/>
          <p:cNvSpPr/>
          <p:nvPr/>
        </p:nvSpPr>
        <p:spPr>
          <a:xfrm>
            <a:off x="7927848" y="1938528"/>
            <a:ext cx="3419856" cy="731520"/>
          </a:xfrm>
          <a:prstGeom prst="rect">
            <a:avLst/>
          </a:prstGeom>
          <a:noFill/>
          <a:ln/>
        </p:spPr>
        <p:txBody>
          <a:bodyPr wrap="square" lIns="0" tIns="0" rIns="0" bIns="0" rtlCol="0" anchor="ctr"/>
          <a:lstStyle/>
          <a:p>
            <a:pPr indent="0" marL="0">
              <a:lnSpc>
                <a:spcPct val="112000"/>
              </a:lnSpc>
              <a:buNone/>
            </a:pPr>
            <a:r>
              <a:rPr lang="en-US" sz="1350" b="1" dirty="0">
                <a:solidFill>
                  <a:srgbClr val="FFFFFF"/>
                </a:solidFill>
                <a:latin typeface="Calibri" pitchFamily="34" charset="0"/>
                <a:ea typeface="Calibri" pitchFamily="34" charset="-122"/>
                <a:cs typeface="Calibri" pitchFamily="34" charset="-120"/>
              </a:rPr>
              <a:t>One simple mechanism — predict the next token — repeated billions of times.</a:t>
            </a:r>
            <a:endParaRPr lang="en-US" sz="1350" dirty="0"/>
          </a:p>
        </p:txBody>
      </p:sp>
      <p:sp>
        <p:nvSpPr>
          <p:cNvPr id="78" name="Shape 75"/>
          <p:cNvSpPr/>
          <p:nvPr/>
        </p:nvSpPr>
        <p:spPr>
          <a:xfrm>
            <a:off x="7927848" y="2788920"/>
            <a:ext cx="548640" cy="548640"/>
          </a:xfrm>
          <a:prstGeom prst="ellipse">
            <a:avLst/>
          </a:prstGeom>
          <a:solidFill>
            <a:srgbClr val="5B4BE0"/>
          </a:solidFill>
          <a:ln/>
        </p:spPr>
      </p:sp>
      <p:pic>
        <p:nvPicPr>
          <p:cNvPr id="79" name="Image 1" descr="preencoded.png">    </p:cNvPr>
          <p:cNvPicPr>
            <a:picLocks noChangeAspect="1"/>
          </p:cNvPicPr>
          <p:nvPr/>
        </p:nvPicPr>
        <p:blipFill>
          <a:blip r:embed="rId2"/>
          <a:stretch>
            <a:fillRect/>
          </a:stretch>
        </p:blipFill>
        <p:spPr>
          <a:xfrm>
            <a:off x="8059522" y="2920594"/>
            <a:ext cx="285293" cy="285293"/>
          </a:xfrm>
          <a:prstGeom prst="rect">
            <a:avLst/>
          </a:prstGeom>
        </p:spPr>
      </p:pic>
      <p:sp>
        <p:nvSpPr>
          <p:cNvPr id="80" name="Text 76"/>
          <p:cNvSpPr/>
          <p:nvPr/>
        </p:nvSpPr>
        <p:spPr>
          <a:xfrm>
            <a:off x="8595360" y="2770632"/>
            <a:ext cx="2798064"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Learned, not programmed</a:t>
            </a:r>
            <a:endParaRPr lang="en-US" sz="1250" dirty="0"/>
          </a:p>
        </p:txBody>
      </p:sp>
      <p:sp>
        <p:nvSpPr>
          <p:cNvPr id="81" name="Text 77"/>
          <p:cNvSpPr/>
          <p:nvPr/>
        </p:nvSpPr>
        <p:spPr>
          <a:xfrm>
            <a:off x="8595360" y="3063240"/>
            <a:ext cx="2752344" cy="457200"/>
          </a:xfrm>
          <a:prstGeom prst="rect">
            <a:avLst/>
          </a:prstGeom>
          <a:noFill/>
          <a:ln/>
        </p:spPr>
        <p:txBody>
          <a:bodyPr wrap="square" lIns="0" tIns="0" rIns="0" bIns="0" rtlCol="0" anchor="ctr"/>
          <a:lstStyle/>
          <a:p>
            <a:pPr indent="0" marL="0">
              <a:lnSpc>
                <a:spcPct val="105000"/>
              </a:lnSpc>
              <a:buNone/>
            </a:pPr>
            <a:r>
              <a:rPr lang="en-US" sz="1050" dirty="0">
                <a:solidFill>
                  <a:srgbClr val="AEB6D6"/>
                </a:solidFill>
                <a:latin typeface="Calibri" pitchFamily="34" charset="0"/>
                <a:ea typeface="Calibri" pitchFamily="34" charset="-122"/>
                <a:cs typeface="Calibri" pitchFamily="34" charset="-120"/>
              </a:rPr>
              <a:t>grammar &amp; coverage logic emerge from data</a:t>
            </a:r>
            <a:endParaRPr lang="en-US" sz="1050" dirty="0"/>
          </a:p>
        </p:txBody>
      </p:sp>
      <p:sp>
        <p:nvSpPr>
          <p:cNvPr id="82" name="Shape 78"/>
          <p:cNvSpPr/>
          <p:nvPr/>
        </p:nvSpPr>
        <p:spPr>
          <a:xfrm>
            <a:off x="7927848" y="3557016"/>
            <a:ext cx="548640" cy="548640"/>
          </a:xfrm>
          <a:prstGeom prst="ellipse">
            <a:avLst/>
          </a:prstGeom>
          <a:solidFill>
            <a:srgbClr val="5B4BE0"/>
          </a:solidFill>
          <a:ln/>
        </p:spPr>
      </p:sp>
      <p:pic>
        <p:nvPicPr>
          <p:cNvPr id="83" name="Image 2" descr="preencoded.png">    </p:cNvPr>
          <p:cNvPicPr>
            <a:picLocks noChangeAspect="1"/>
          </p:cNvPicPr>
          <p:nvPr/>
        </p:nvPicPr>
        <p:blipFill>
          <a:blip r:embed="rId3"/>
          <a:stretch>
            <a:fillRect/>
          </a:stretch>
        </p:blipFill>
        <p:spPr>
          <a:xfrm>
            <a:off x="8059522" y="3688690"/>
            <a:ext cx="285293" cy="285293"/>
          </a:xfrm>
          <a:prstGeom prst="rect">
            <a:avLst/>
          </a:prstGeom>
        </p:spPr>
      </p:pic>
      <p:sp>
        <p:nvSpPr>
          <p:cNvPr id="84" name="Text 79"/>
          <p:cNvSpPr/>
          <p:nvPr/>
        </p:nvSpPr>
        <p:spPr>
          <a:xfrm>
            <a:off x="8595360" y="3538728"/>
            <a:ext cx="2798064"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General-purpose</a:t>
            </a:r>
            <a:endParaRPr lang="en-US" sz="1250" dirty="0"/>
          </a:p>
        </p:txBody>
      </p:sp>
      <p:sp>
        <p:nvSpPr>
          <p:cNvPr id="85" name="Text 80"/>
          <p:cNvSpPr/>
          <p:nvPr/>
        </p:nvSpPr>
        <p:spPr>
          <a:xfrm>
            <a:off x="8595360" y="3831336"/>
            <a:ext cx="2752344" cy="457200"/>
          </a:xfrm>
          <a:prstGeom prst="rect">
            <a:avLst/>
          </a:prstGeom>
          <a:noFill/>
          <a:ln/>
        </p:spPr>
        <p:txBody>
          <a:bodyPr wrap="square" lIns="0" tIns="0" rIns="0" bIns="0" rtlCol="0" anchor="ctr"/>
          <a:lstStyle/>
          <a:p>
            <a:pPr indent="0" marL="0">
              <a:lnSpc>
                <a:spcPct val="105000"/>
              </a:lnSpc>
              <a:buNone/>
            </a:pPr>
            <a:r>
              <a:rPr lang="en-US" sz="1050" dirty="0">
                <a:solidFill>
                  <a:srgbClr val="AEB6D6"/>
                </a:solidFill>
                <a:latin typeface="Calibri" pitchFamily="34" charset="0"/>
                <a:ea typeface="Calibri" pitchFamily="34" charset="-122"/>
                <a:cs typeface="Calibri" pitchFamily="34" charset="-120"/>
              </a:rPr>
              <a:t>one model answers, extracts, summarises, drafts</a:t>
            </a:r>
            <a:endParaRPr lang="en-US" sz="1050" dirty="0"/>
          </a:p>
        </p:txBody>
      </p:sp>
      <p:sp>
        <p:nvSpPr>
          <p:cNvPr id="86" name="Shape 81"/>
          <p:cNvSpPr/>
          <p:nvPr/>
        </p:nvSpPr>
        <p:spPr>
          <a:xfrm>
            <a:off x="7927848" y="4325112"/>
            <a:ext cx="548640" cy="548640"/>
          </a:xfrm>
          <a:prstGeom prst="ellipse">
            <a:avLst/>
          </a:prstGeom>
          <a:solidFill>
            <a:srgbClr val="5B4BE0"/>
          </a:solidFill>
          <a:ln/>
        </p:spPr>
      </p:sp>
      <p:pic>
        <p:nvPicPr>
          <p:cNvPr id="87" name="Image 3" descr="preencoded.png">    </p:cNvPr>
          <p:cNvPicPr>
            <a:picLocks noChangeAspect="1"/>
          </p:cNvPicPr>
          <p:nvPr/>
        </p:nvPicPr>
        <p:blipFill>
          <a:blip r:embed="rId4"/>
          <a:stretch>
            <a:fillRect/>
          </a:stretch>
        </p:blipFill>
        <p:spPr>
          <a:xfrm>
            <a:off x="8059522" y="4456786"/>
            <a:ext cx="285293" cy="285293"/>
          </a:xfrm>
          <a:prstGeom prst="rect">
            <a:avLst/>
          </a:prstGeom>
        </p:spPr>
      </p:pic>
      <p:sp>
        <p:nvSpPr>
          <p:cNvPr id="88" name="Text 82"/>
          <p:cNvSpPr/>
          <p:nvPr/>
        </p:nvSpPr>
        <p:spPr>
          <a:xfrm>
            <a:off x="8595360" y="4306824"/>
            <a:ext cx="2798064"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Emergent at scale</a:t>
            </a:r>
            <a:endParaRPr lang="en-US" sz="1250" dirty="0"/>
          </a:p>
        </p:txBody>
      </p:sp>
      <p:sp>
        <p:nvSpPr>
          <p:cNvPr id="89" name="Text 83"/>
          <p:cNvSpPr/>
          <p:nvPr/>
        </p:nvSpPr>
        <p:spPr>
          <a:xfrm>
            <a:off x="8595360" y="4599432"/>
            <a:ext cx="2752344" cy="457200"/>
          </a:xfrm>
          <a:prstGeom prst="rect">
            <a:avLst/>
          </a:prstGeom>
          <a:noFill/>
          <a:ln/>
        </p:spPr>
        <p:txBody>
          <a:bodyPr wrap="square" lIns="0" tIns="0" rIns="0" bIns="0" rtlCol="0" anchor="ctr"/>
          <a:lstStyle/>
          <a:p>
            <a:pPr indent="0" marL="0">
              <a:lnSpc>
                <a:spcPct val="105000"/>
              </a:lnSpc>
              <a:buNone/>
            </a:pPr>
            <a:r>
              <a:rPr lang="en-US" sz="1050" dirty="0">
                <a:solidFill>
                  <a:srgbClr val="AEB6D6"/>
                </a:solidFill>
                <a:latin typeface="Calibri" pitchFamily="34" charset="0"/>
                <a:ea typeface="Calibri" pitchFamily="34" charset="-122"/>
                <a:cs typeface="Calibri" pitchFamily="34" charset="-120"/>
              </a:rPr>
              <a:t>new skills appear only past a size threshold</a:t>
            </a:r>
            <a:endParaRPr lang="en-US" sz="1050" dirty="0"/>
          </a:p>
        </p:txBody>
      </p:sp>
      <p:sp>
        <p:nvSpPr>
          <p:cNvPr id="90" name="Shape 84"/>
          <p:cNvSpPr/>
          <p:nvPr/>
        </p:nvSpPr>
        <p:spPr>
          <a:xfrm>
            <a:off x="7635240" y="5349240"/>
            <a:ext cx="3986784" cy="868680"/>
          </a:xfrm>
          <a:prstGeom prst="roundRect">
            <a:avLst>
              <a:gd name="adj" fmla="val 10526"/>
            </a:avLst>
          </a:prstGeom>
          <a:solidFill>
            <a:srgbClr val="FBEFD8"/>
          </a:solidFill>
          <a:ln/>
        </p:spPr>
      </p:sp>
      <p:sp>
        <p:nvSpPr>
          <p:cNvPr id="91" name="Shape 85"/>
          <p:cNvSpPr/>
          <p:nvPr/>
        </p:nvSpPr>
        <p:spPr>
          <a:xfrm>
            <a:off x="7863840" y="5559552"/>
            <a:ext cx="457200" cy="457200"/>
          </a:xfrm>
          <a:prstGeom prst="ellipse">
            <a:avLst/>
          </a:prstGeom>
          <a:solidFill>
            <a:srgbClr val="D9820A"/>
          </a:solidFill>
          <a:ln/>
        </p:spPr>
      </p:sp>
      <p:pic>
        <p:nvPicPr>
          <p:cNvPr id="92" name="Image 4" descr="preencoded.png">    </p:cNvPr>
          <p:cNvPicPr>
            <a:picLocks noChangeAspect="1"/>
          </p:cNvPicPr>
          <p:nvPr/>
        </p:nvPicPr>
        <p:blipFill>
          <a:blip r:embed="rId5"/>
          <a:stretch>
            <a:fillRect/>
          </a:stretch>
        </p:blipFill>
        <p:spPr>
          <a:xfrm>
            <a:off x="7978140" y="5673852"/>
            <a:ext cx="228600" cy="228600"/>
          </a:xfrm>
          <a:prstGeom prst="rect">
            <a:avLst/>
          </a:prstGeom>
        </p:spPr>
      </p:pic>
      <p:sp>
        <p:nvSpPr>
          <p:cNvPr id="93" name="Text 86"/>
          <p:cNvSpPr/>
          <p:nvPr/>
        </p:nvSpPr>
        <p:spPr>
          <a:xfrm>
            <a:off x="8458200" y="5413248"/>
            <a:ext cx="2980944" cy="749808"/>
          </a:xfrm>
          <a:prstGeom prst="rect">
            <a:avLst/>
          </a:prstGeom>
          <a:noFill/>
          <a:ln/>
        </p:spPr>
        <p:txBody>
          <a:bodyPr wrap="square" lIns="0" tIns="0" rIns="0" bIns="0" rtlCol="0" anchor="ctr"/>
          <a:lstStyle/>
          <a:p>
            <a:pPr indent="0" marL="0">
              <a:lnSpc>
                <a:spcPct val="110000"/>
              </a:lnSpc>
              <a:buNone/>
            </a:pPr>
            <a:r>
              <a:rPr lang="en-US" sz="1100" b="1" dirty="0">
                <a:solidFill>
                  <a:srgbClr val="D9820A"/>
                </a:solidFill>
                <a:latin typeface="Calibri" pitchFamily="34" charset="0"/>
                <a:ea typeface="Calibri" pitchFamily="34" charset="-122"/>
                <a:cs typeface="Calibri" pitchFamily="34" charset="-120"/>
              </a:rPr>
              <a:t>Our running example.  </a:t>
            </a:r>
            <a:pPr indent="0" marL="0">
              <a:lnSpc>
                <a:spcPct val="110000"/>
              </a:lnSpc>
              <a:buNone/>
            </a:pPr>
            <a:r>
              <a:rPr lang="en-US" sz="1100" dirty="0">
                <a:solidFill>
                  <a:srgbClr val="1B2440"/>
                </a:solidFill>
                <a:latin typeface="Calibri" pitchFamily="34" charset="0"/>
                <a:ea typeface="Calibri" pitchFamily="34" charset="-122"/>
                <a:cs typeface="Calibri" pitchFamily="34" charset="-120"/>
              </a:rPr>
              <a:t>We'll follow this one member question through Parts 1 &amp; 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ROAD TO 2017 — ONE QUESTION, FOUR BRAINS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would each era of NLP handle the member's question?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Jurafsky &amp; Martin, 'Speech and Language Processing' (3rd ed.) · Toloka, History of LLMs — toloka.ai/blog/history-of-llms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66928" y="1417320"/>
            <a:ext cx="11045952" cy="457200"/>
          </a:xfrm>
          <a:prstGeom prst="roundRect">
            <a:avLst>
              <a:gd name="adj" fmla="val 20000"/>
            </a:avLst>
          </a:prstGeom>
          <a:solidFill>
            <a:srgbClr val="F4F5F9"/>
          </a:solidFill>
          <a:ln w="12700">
            <a:solidFill>
              <a:srgbClr val="DDE1EC"/>
            </a:solidFill>
            <a:prstDash val="solid"/>
          </a:ln>
        </p:spPr>
      </p:sp>
      <p:sp>
        <p:nvSpPr>
          <p:cNvPr id="7" name="Shape 5"/>
          <p:cNvSpPr/>
          <p:nvPr/>
        </p:nvSpPr>
        <p:spPr>
          <a:xfrm>
            <a:off x="676656" y="1481328"/>
            <a:ext cx="329184" cy="329184"/>
          </a:xfrm>
          <a:prstGeom prst="ellipse">
            <a:avLst/>
          </a:prstGeom>
          <a:solidFill>
            <a:srgbClr val="D9820A"/>
          </a:solidFill>
          <a:ln/>
        </p:spPr>
      </p:sp>
      <p:pic>
        <p:nvPicPr>
          <p:cNvPr id="8" name="Image 0" descr="preencoded.png">    </p:cNvPr>
          <p:cNvPicPr>
            <a:picLocks noChangeAspect="1"/>
          </p:cNvPicPr>
          <p:nvPr/>
        </p:nvPicPr>
        <p:blipFill>
          <a:blip r:embed="rId1"/>
          <a:stretch>
            <a:fillRect/>
          </a:stretch>
        </p:blipFill>
        <p:spPr>
          <a:xfrm>
            <a:off x="758952" y="1563624"/>
            <a:ext cx="164592" cy="164592"/>
          </a:xfrm>
          <a:prstGeom prst="rect">
            <a:avLst/>
          </a:prstGeom>
        </p:spPr>
      </p:pic>
      <p:sp>
        <p:nvSpPr>
          <p:cNvPr id="9" name="Text 6"/>
          <p:cNvSpPr/>
          <p:nvPr/>
        </p:nvSpPr>
        <p:spPr>
          <a:xfrm>
            <a:off x="1133856" y="1417320"/>
            <a:ext cx="10332720" cy="457200"/>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The question:   </a:t>
            </a:r>
            <a:pPr indent="0" marL="0">
              <a:buNone/>
            </a:pPr>
            <a:r>
              <a:rPr lang="en-US" sz="1300" b="1" i="1" dirty="0">
                <a:solidFill>
                  <a:srgbClr val="1B2440"/>
                </a:solidFill>
                <a:latin typeface="Calibri" pitchFamily="34" charset="0"/>
                <a:ea typeface="Calibri" pitchFamily="34" charset="-122"/>
                <a:cs typeface="Calibri" pitchFamily="34" charset="-120"/>
              </a:rPr>
              <a:t>“Is my knee MRI covered before I meet my deductible?”</a:t>
            </a:r>
            <a:endParaRPr lang="en-US" sz="1300" dirty="0"/>
          </a:p>
        </p:txBody>
      </p:sp>
      <p:sp>
        <p:nvSpPr>
          <p:cNvPr id="10" name="Shape 7"/>
          <p:cNvSpPr/>
          <p:nvPr/>
        </p:nvSpPr>
        <p:spPr>
          <a:xfrm>
            <a:off x="841248" y="2130552"/>
            <a:ext cx="10332720" cy="0"/>
          </a:xfrm>
          <a:prstGeom prst="line">
            <a:avLst/>
          </a:prstGeom>
          <a:noFill/>
          <a:ln w="25400">
            <a:solidFill>
              <a:srgbClr val="DDE1EC"/>
            </a:solidFill>
            <a:prstDash val="solid"/>
          </a:ln>
        </p:spPr>
      </p:sp>
      <p:sp>
        <p:nvSpPr>
          <p:cNvPr id="11" name="Shape 8"/>
          <p:cNvSpPr/>
          <p:nvPr/>
        </p:nvSpPr>
        <p:spPr>
          <a:xfrm>
            <a:off x="1819656" y="2048256"/>
            <a:ext cx="164592" cy="164592"/>
          </a:xfrm>
          <a:prstGeom prst="ellipse">
            <a:avLst/>
          </a:prstGeom>
          <a:solidFill>
            <a:srgbClr val="E5484D"/>
          </a:solidFill>
          <a:ln/>
        </p:spPr>
      </p:sp>
      <p:sp>
        <p:nvSpPr>
          <p:cNvPr id="12" name="Shape 9"/>
          <p:cNvSpPr/>
          <p:nvPr/>
        </p:nvSpPr>
        <p:spPr>
          <a:xfrm>
            <a:off x="566928"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0"/>
          <p:cNvSpPr/>
          <p:nvPr/>
        </p:nvSpPr>
        <p:spPr>
          <a:xfrm>
            <a:off x="749808" y="2514600"/>
            <a:ext cx="2304288" cy="256032"/>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1950s–80s</a:t>
            </a:r>
            <a:endParaRPr lang="en-US" sz="1100" dirty="0"/>
          </a:p>
        </p:txBody>
      </p:sp>
      <p:sp>
        <p:nvSpPr>
          <p:cNvPr id="14" name="Text 11"/>
          <p:cNvSpPr/>
          <p:nvPr/>
        </p:nvSpPr>
        <p:spPr>
          <a:xfrm>
            <a:off x="749808"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Rule-based</a:t>
            </a:r>
            <a:endParaRPr lang="en-US" sz="1550" dirty="0"/>
          </a:p>
        </p:txBody>
      </p:sp>
      <p:sp>
        <p:nvSpPr>
          <p:cNvPr id="15" name="Shape 12"/>
          <p:cNvSpPr/>
          <p:nvPr/>
        </p:nvSpPr>
        <p:spPr>
          <a:xfrm>
            <a:off x="749808" y="3200400"/>
            <a:ext cx="640080" cy="640080"/>
          </a:xfrm>
          <a:prstGeom prst="ellipse">
            <a:avLst/>
          </a:prstGeom>
          <a:solidFill>
            <a:srgbClr val="FBE7E7"/>
          </a:solidFill>
          <a:ln/>
        </p:spPr>
      </p:sp>
      <p:pic>
        <p:nvPicPr>
          <p:cNvPr id="16" name="Image 1" descr="preencoded.png">    </p:cNvPr>
          <p:cNvPicPr>
            <a:picLocks noChangeAspect="1"/>
          </p:cNvPicPr>
          <p:nvPr/>
        </p:nvPicPr>
        <p:blipFill>
          <a:blip r:embed="rId2"/>
          <a:stretch>
            <a:fillRect/>
          </a:stretch>
        </p:blipFill>
        <p:spPr>
          <a:xfrm>
            <a:off x="909828" y="3360420"/>
            <a:ext cx="320040" cy="320040"/>
          </a:xfrm>
          <a:prstGeom prst="rect">
            <a:avLst/>
          </a:prstGeom>
        </p:spPr>
      </p:pic>
      <p:sp>
        <p:nvSpPr>
          <p:cNvPr id="17" name="Text 13"/>
          <p:cNvSpPr/>
          <p:nvPr/>
        </p:nvSpPr>
        <p:spPr>
          <a:xfrm>
            <a:off x="2322576" y="3154680"/>
            <a:ext cx="731520" cy="713232"/>
          </a:xfrm>
          <a:prstGeom prst="rect">
            <a:avLst/>
          </a:prstGeom>
          <a:noFill/>
          <a:ln/>
        </p:spPr>
        <p:txBody>
          <a:bodyPr wrap="square" lIns="0" tIns="0" rIns="0" bIns="0" rtlCol="0" anchor="ctr"/>
          <a:lstStyle/>
          <a:p>
            <a:pPr algn="ctr" indent="0" marL="0">
              <a:buNone/>
            </a:pPr>
            <a:r>
              <a:rPr lang="en-US" sz="3000" b="1" dirty="0">
                <a:solidFill>
                  <a:srgbClr val="E5484D"/>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768096" y="4023360"/>
            <a:ext cx="2267712" cy="0"/>
          </a:xfrm>
          <a:prstGeom prst="line">
            <a:avLst/>
          </a:prstGeom>
          <a:noFill/>
          <a:ln w="12700">
            <a:solidFill>
              <a:srgbClr val="DDE1EC"/>
            </a:solidFill>
            <a:prstDash val="solid"/>
          </a:ln>
        </p:spPr>
      </p:sp>
      <p:sp>
        <p:nvSpPr>
          <p:cNvPr id="19" name="Text 15"/>
          <p:cNvSpPr/>
          <p:nvPr/>
        </p:nvSpPr>
        <p:spPr>
          <a:xfrm>
            <a:off x="768096"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Breaks. No hand-written rule covers this phrasing; a typo or synonym ('scan') defeats it entirely.</a:t>
            </a:r>
            <a:endParaRPr lang="en-US" sz="1130" dirty="0"/>
          </a:p>
        </p:txBody>
      </p:sp>
      <p:sp>
        <p:nvSpPr>
          <p:cNvPr id="20" name="Shape 16"/>
          <p:cNvSpPr/>
          <p:nvPr/>
        </p:nvSpPr>
        <p:spPr>
          <a:xfrm>
            <a:off x="4636008" y="2048256"/>
            <a:ext cx="164592" cy="164592"/>
          </a:xfrm>
          <a:prstGeom prst="ellipse">
            <a:avLst/>
          </a:prstGeom>
          <a:solidFill>
            <a:srgbClr val="D9820A"/>
          </a:solidFill>
          <a:ln/>
        </p:spPr>
      </p:sp>
      <p:sp>
        <p:nvSpPr>
          <p:cNvPr id="21" name="Shape 17"/>
          <p:cNvSpPr/>
          <p:nvPr/>
        </p:nvSpPr>
        <p:spPr>
          <a:xfrm>
            <a:off x="3383280"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Text 18"/>
          <p:cNvSpPr/>
          <p:nvPr/>
        </p:nvSpPr>
        <p:spPr>
          <a:xfrm>
            <a:off x="3566160" y="2514600"/>
            <a:ext cx="2304288" cy="256032"/>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1990s–2000s</a:t>
            </a:r>
            <a:endParaRPr lang="en-US" sz="1100" dirty="0"/>
          </a:p>
        </p:txBody>
      </p:sp>
      <p:sp>
        <p:nvSpPr>
          <p:cNvPr id="23" name="Text 19"/>
          <p:cNvSpPr/>
          <p:nvPr/>
        </p:nvSpPr>
        <p:spPr>
          <a:xfrm>
            <a:off x="3566160"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Statistical (n-gram)</a:t>
            </a:r>
            <a:endParaRPr lang="en-US" sz="1550" dirty="0"/>
          </a:p>
        </p:txBody>
      </p:sp>
      <p:sp>
        <p:nvSpPr>
          <p:cNvPr id="24" name="Shape 20"/>
          <p:cNvSpPr/>
          <p:nvPr/>
        </p:nvSpPr>
        <p:spPr>
          <a:xfrm>
            <a:off x="3566160" y="3200400"/>
            <a:ext cx="640080" cy="640080"/>
          </a:xfrm>
          <a:prstGeom prst="ellipse">
            <a:avLst/>
          </a:prstGeom>
          <a:solidFill>
            <a:srgbClr val="FBEFD8"/>
          </a:solidFill>
          <a:ln/>
        </p:spPr>
      </p:sp>
      <p:pic>
        <p:nvPicPr>
          <p:cNvPr id="25" name="Image 2" descr="preencoded.png">    </p:cNvPr>
          <p:cNvPicPr>
            <a:picLocks noChangeAspect="1"/>
          </p:cNvPicPr>
          <p:nvPr/>
        </p:nvPicPr>
        <p:blipFill>
          <a:blip r:embed="rId3"/>
          <a:stretch>
            <a:fillRect/>
          </a:stretch>
        </p:blipFill>
        <p:spPr>
          <a:xfrm>
            <a:off x="3726180" y="3360420"/>
            <a:ext cx="320040" cy="320040"/>
          </a:xfrm>
          <a:prstGeom prst="rect">
            <a:avLst/>
          </a:prstGeom>
        </p:spPr>
      </p:pic>
      <p:sp>
        <p:nvSpPr>
          <p:cNvPr id="26" name="Text 21"/>
          <p:cNvSpPr/>
          <p:nvPr/>
        </p:nvSpPr>
        <p:spPr>
          <a:xfrm>
            <a:off x="5138928" y="3154680"/>
            <a:ext cx="731520" cy="713232"/>
          </a:xfrm>
          <a:prstGeom prst="rect">
            <a:avLst/>
          </a:prstGeom>
          <a:noFill/>
          <a:ln/>
        </p:spPr>
        <p:txBody>
          <a:bodyPr wrap="square" lIns="0" tIns="0" rIns="0" bIns="0" rtlCol="0" anchor="ctr"/>
          <a:lstStyle/>
          <a:p>
            <a:pPr algn="ctr" indent="0" marL="0">
              <a:buNone/>
            </a:pPr>
            <a:r>
              <a:rPr lang="en-US" sz="3000" b="1" dirty="0">
                <a:solidFill>
                  <a:srgbClr val="D9820A"/>
                </a:solidFill>
                <a:latin typeface="Calibri" pitchFamily="34" charset="0"/>
                <a:ea typeface="Calibri" pitchFamily="34" charset="-122"/>
                <a:cs typeface="Calibri" pitchFamily="34" charset="-120"/>
              </a:rPr>
              <a:t>≈</a:t>
            </a:r>
            <a:endParaRPr lang="en-US" sz="3000" dirty="0"/>
          </a:p>
        </p:txBody>
      </p:sp>
      <p:sp>
        <p:nvSpPr>
          <p:cNvPr id="27" name="Shape 22"/>
          <p:cNvSpPr/>
          <p:nvPr/>
        </p:nvSpPr>
        <p:spPr>
          <a:xfrm>
            <a:off x="3584448" y="4023360"/>
            <a:ext cx="2267712" cy="0"/>
          </a:xfrm>
          <a:prstGeom prst="line">
            <a:avLst/>
          </a:prstGeom>
          <a:noFill/>
          <a:ln w="12700">
            <a:solidFill>
              <a:srgbClr val="DDE1EC"/>
            </a:solidFill>
            <a:prstDash val="solid"/>
          </a:ln>
        </p:spPr>
      </p:sp>
      <p:sp>
        <p:nvSpPr>
          <p:cNvPr id="28" name="Text 23"/>
          <p:cNvSpPr/>
          <p:nvPr/>
        </p:nvSpPr>
        <p:spPr>
          <a:xfrm>
            <a:off x="3584448"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Guesses the topic from word counts, but can't follow the conditional logic of 'before … deductible'.</a:t>
            </a:r>
            <a:endParaRPr lang="en-US" sz="1130" dirty="0"/>
          </a:p>
        </p:txBody>
      </p:sp>
      <p:sp>
        <p:nvSpPr>
          <p:cNvPr id="29" name="Shape 24"/>
          <p:cNvSpPr/>
          <p:nvPr/>
        </p:nvSpPr>
        <p:spPr>
          <a:xfrm>
            <a:off x="7452360" y="2048256"/>
            <a:ext cx="164592" cy="164592"/>
          </a:xfrm>
          <a:prstGeom prst="ellipse">
            <a:avLst/>
          </a:prstGeom>
          <a:solidFill>
            <a:srgbClr val="0E9E96"/>
          </a:solidFill>
          <a:ln/>
        </p:spPr>
      </p:sp>
      <p:sp>
        <p:nvSpPr>
          <p:cNvPr id="30" name="Shape 25"/>
          <p:cNvSpPr/>
          <p:nvPr/>
        </p:nvSpPr>
        <p:spPr>
          <a:xfrm>
            <a:off x="6199632"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Text 26"/>
          <p:cNvSpPr/>
          <p:nvPr/>
        </p:nvSpPr>
        <p:spPr>
          <a:xfrm>
            <a:off x="6382512" y="2514600"/>
            <a:ext cx="2304288" cy="256032"/>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2013</a:t>
            </a:r>
            <a:endParaRPr lang="en-US" sz="1100" dirty="0"/>
          </a:p>
        </p:txBody>
      </p:sp>
      <p:sp>
        <p:nvSpPr>
          <p:cNvPr id="32" name="Text 27"/>
          <p:cNvSpPr/>
          <p:nvPr/>
        </p:nvSpPr>
        <p:spPr>
          <a:xfrm>
            <a:off x="6382512"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Neural embeddings</a:t>
            </a:r>
            <a:endParaRPr lang="en-US" sz="1550" dirty="0"/>
          </a:p>
        </p:txBody>
      </p:sp>
      <p:sp>
        <p:nvSpPr>
          <p:cNvPr id="33" name="Shape 28"/>
          <p:cNvSpPr/>
          <p:nvPr/>
        </p:nvSpPr>
        <p:spPr>
          <a:xfrm>
            <a:off x="6382512" y="3200400"/>
            <a:ext cx="640080" cy="640080"/>
          </a:xfrm>
          <a:prstGeom prst="ellipse">
            <a:avLst/>
          </a:prstGeom>
          <a:solidFill>
            <a:srgbClr val="E2F4F2"/>
          </a:solidFill>
          <a:ln/>
        </p:spPr>
      </p:sp>
      <p:pic>
        <p:nvPicPr>
          <p:cNvPr id="34" name="Image 3" descr="preencoded.png">    </p:cNvPr>
          <p:cNvPicPr>
            <a:picLocks noChangeAspect="1"/>
          </p:cNvPicPr>
          <p:nvPr/>
        </p:nvPicPr>
        <p:blipFill>
          <a:blip r:embed="rId4"/>
          <a:stretch>
            <a:fillRect/>
          </a:stretch>
        </p:blipFill>
        <p:spPr>
          <a:xfrm>
            <a:off x="6542532" y="3360420"/>
            <a:ext cx="320040" cy="320040"/>
          </a:xfrm>
          <a:prstGeom prst="rect">
            <a:avLst/>
          </a:prstGeom>
        </p:spPr>
      </p:pic>
      <p:sp>
        <p:nvSpPr>
          <p:cNvPr id="35" name="Text 29"/>
          <p:cNvSpPr/>
          <p:nvPr/>
        </p:nvSpPr>
        <p:spPr>
          <a:xfrm>
            <a:off x="7955280" y="3154680"/>
            <a:ext cx="731520" cy="713232"/>
          </a:xfrm>
          <a:prstGeom prst="rect">
            <a:avLst/>
          </a:prstGeom>
          <a:noFill/>
          <a:ln/>
        </p:spPr>
        <p:txBody>
          <a:bodyPr wrap="square" lIns="0" tIns="0" rIns="0" bIns="0" rtlCol="0" anchor="ctr"/>
          <a:lstStyle/>
          <a:p>
            <a:pPr algn="ctr" indent="0" marL="0">
              <a:buNone/>
            </a:pPr>
            <a:r>
              <a:rPr lang="en-US" sz="3000" b="1" dirty="0">
                <a:solidFill>
                  <a:srgbClr val="0E9E96"/>
                </a:solidFill>
                <a:latin typeface="Calibri" pitchFamily="34" charset="0"/>
                <a:ea typeface="Calibri" pitchFamily="34" charset="-122"/>
                <a:cs typeface="Calibri" pitchFamily="34" charset="-120"/>
              </a:rPr>
              <a:t>✓</a:t>
            </a:r>
            <a:endParaRPr lang="en-US" sz="3000" dirty="0"/>
          </a:p>
        </p:txBody>
      </p:sp>
      <p:sp>
        <p:nvSpPr>
          <p:cNvPr id="36" name="Shape 30"/>
          <p:cNvSpPr/>
          <p:nvPr/>
        </p:nvSpPr>
        <p:spPr>
          <a:xfrm>
            <a:off x="6400800" y="4023360"/>
            <a:ext cx="2267712" cy="0"/>
          </a:xfrm>
          <a:prstGeom prst="line">
            <a:avLst/>
          </a:prstGeom>
          <a:noFill/>
          <a:ln w="12700">
            <a:solidFill>
              <a:srgbClr val="DDE1EC"/>
            </a:solidFill>
            <a:prstDash val="solid"/>
          </a:ln>
        </p:spPr>
      </p:sp>
      <p:sp>
        <p:nvSpPr>
          <p:cNvPr id="37" name="Text 31"/>
          <p:cNvSpPr/>
          <p:nvPr/>
        </p:nvSpPr>
        <p:spPr>
          <a:xfrm>
            <a:off x="6400800"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Knows 'MRI'≈'scan' and 'deductible'≈'out-of-pocket' — real meaning, but still word-by-word.</a:t>
            </a:r>
            <a:endParaRPr lang="en-US" sz="1130" dirty="0"/>
          </a:p>
        </p:txBody>
      </p:sp>
      <p:sp>
        <p:nvSpPr>
          <p:cNvPr id="38" name="Shape 32"/>
          <p:cNvSpPr/>
          <p:nvPr/>
        </p:nvSpPr>
        <p:spPr>
          <a:xfrm>
            <a:off x="10268712" y="2048256"/>
            <a:ext cx="164592" cy="164592"/>
          </a:xfrm>
          <a:prstGeom prst="ellipse">
            <a:avLst/>
          </a:prstGeom>
          <a:solidFill>
            <a:srgbClr val="5B4BE0"/>
          </a:solidFill>
          <a:ln/>
        </p:spPr>
      </p:sp>
      <p:sp>
        <p:nvSpPr>
          <p:cNvPr id="39" name="Shape 33"/>
          <p:cNvSpPr/>
          <p:nvPr/>
        </p:nvSpPr>
        <p:spPr>
          <a:xfrm>
            <a:off x="9015984" y="2350008"/>
            <a:ext cx="2670048" cy="3429000"/>
          </a:xfrm>
          <a:prstGeom prst="roundRect">
            <a:avLst>
              <a:gd name="adj" fmla="val 342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0" name="Text 34"/>
          <p:cNvSpPr/>
          <p:nvPr/>
        </p:nvSpPr>
        <p:spPr>
          <a:xfrm>
            <a:off x="9198864" y="2514600"/>
            <a:ext cx="2304288" cy="256032"/>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2017+</a:t>
            </a:r>
            <a:endParaRPr lang="en-US" sz="1100" dirty="0"/>
          </a:p>
        </p:txBody>
      </p:sp>
      <p:sp>
        <p:nvSpPr>
          <p:cNvPr id="41" name="Text 35"/>
          <p:cNvSpPr/>
          <p:nvPr/>
        </p:nvSpPr>
        <p:spPr>
          <a:xfrm>
            <a:off x="9198864" y="2752344"/>
            <a:ext cx="2304288"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Transformers</a:t>
            </a:r>
            <a:endParaRPr lang="en-US" sz="1550" dirty="0"/>
          </a:p>
        </p:txBody>
      </p:sp>
      <p:sp>
        <p:nvSpPr>
          <p:cNvPr id="42" name="Shape 36"/>
          <p:cNvSpPr/>
          <p:nvPr/>
        </p:nvSpPr>
        <p:spPr>
          <a:xfrm>
            <a:off x="9198864" y="3200400"/>
            <a:ext cx="640080" cy="640080"/>
          </a:xfrm>
          <a:prstGeom prst="ellipse">
            <a:avLst/>
          </a:prstGeom>
          <a:solidFill>
            <a:srgbClr val="EEECFB"/>
          </a:solidFill>
          <a:ln/>
        </p:spPr>
      </p:sp>
      <p:pic>
        <p:nvPicPr>
          <p:cNvPr id="43" name="Image 4" descr="preencoded.png">    </p:cNvPr>
          <p:cNvPicPr>
            <a:picLocks noChangeAspect="1"/>
          </p:cNvPicPr>
          <p:nvPr/>
        </p:nvPicPr>
        <p:blipFill>
          <a:blip r:embed="rId5"/>
          <a:stretch>
            <a:fillRect/>
          </a:stretch>
        </p:blipFill>
        <p:spPr>
          <a:xfrm>
            <a:off x="9358884" y="3360420"/>
            <a:ext cx="320040" cy="320040"/>
          </a:xfrm>
          <a:prstGeom prst="rect">
            <a:avLst/>
          </a:prstGeom>
        </p:spPr>
      </p:pic>
      <p:sp>
        <p:nvSpPr>
          <p:cNvPr id="44" name="Text 37"/>
          <p:cNvSpPr/>
          <p:nvPr/>
        </p:nvSpPr>
        <p:spPr>
          <a:xfrm>
            <a:off x="10771632" y="3154680"/>
            <a:ext cx="731520" cy="713232"/>
          </a:xfrm>
          <a:prstGeom prst="rect">
            <a:avLst/>
          </a:prstGeom>
          <a:noFill/>
          <a:ln/>
        </p:spPr>
        <p:txBody>
          <a:bodyPr wrap="square" lIns="0" tIns="0" rIns="0" bIns="0" rtlCol="0" anchor="ctr"/>
          <a:lstStyle/>
          <a:p>
            <a:pPr algn="ctr" indent="0" marL="0">
              <a:buNone/>
            </a:pPr>
            <a:r>
              <a:rPr lang="en-US" sz="2200" b="1" dirty="0">
                <a:solidFill>
                  <a:srgbClr val="5B4BE0"/>
                </a:solidFill>
                <a:latin typeface="Calibri" pitchFamily="34" charset="0"/>
                <a:ea typeface="Calibri" pitchFamily="34" charset="-122"/>
                <a:cs typeface="Calibri" pitchFamily="34" charset="-120"/>
              </a:rPr>
              <a:t>✓✓</a:t>
            </a:r>
            <a:endParaRPr lang="en-US" sz="2200" dirty="0"/>
          </a:p>
        </p:txBody>
      </p:sp>
      <p:sp>
        <p:nvSpPr>
          <p:cNvPr id="45" name="Shape 38"/>
          <p:cNvSpPr/>
          <p:nvPr/>
        </p:nvSpPr>
        <p:spPr>
          <a:xfrm>
            <a:off x="9217152" y="4023360"/>
            <a:ext cx="2267712" cy="0"/>
          </a:xfrm>
          <a:prstGeom prst="line">
            <a:avLst/>
          </a:prstGeom>
          <a:noFill/>
          <a:ln w="12700">
            <a:solidFill>
              <a:srgbClr val="DDE1EC"/>
            </a:solidFill>
            <a:prstDash val="solid"/>
          </a:ln>
        </p:spPr>
      </p:sp>
      <p:sp>
        <p:nvSpPr>
          <p:cNvPr id="46" name="Text 39"/>
          <p:cNvSpPr/>
          <p:nvPr/>
        </p:nvSpPr>
        <p:spPr>
          <a:xfrm>
            <a:off x="9217152" y="4114800"/>
            <a:ext cx="2267712" cy="1417320"/>
          </a:xfrm>
          <a:prstGeom prst="rect">
            <a:avLst/>
          </a:prstGeom>
          <a:noFill/>
          <a:ln/>
        </p:spPr>
        <p:txBody>
          <a:bodyPr wrap="square" lIns="0" tIns="0" rIns="0" bIns="0" rtlCol="0" anchor="ctr"/>
          <a:lstStyle/>
          <a:p>
            <a:pPr indent="0" marL="0">
              <a:lnSpc>
                <a:spcPct val="114000"/>
              </a:lnSpc>
              <a:buNone/>
            </a:pPr>
            <a:r>
              <a:rPr lang="en-US" sz="1130" dirty="0">
                <a:solidFill>
                  <a:srgbClr val="5A6685"/>
                </a:solidFill>
                <a:latin typeface="Calibri" pitchFamily="34" charset="0"/>
                <a:ea typeface="Calibri" pitchFamily="34" charset="-122"/>
                <a:cs typeface="Calibri" pitchFamily="34" charset="-120"/>
              </a:rPr>
              <a:t>Reads the whole question in context and drafts a correct, grounded answer.</a:t>
            </a:r>
            <a:endParaRPr lang="en-US" sz="1130" dirty="0"/>
          </a:p>
        </p:txBody>
      </p:sp>
      <p:sp>
        <p:nvSpPr>
          <p:cNvPr id="47" name="Text 40"/>
          <p:cNvSpPr/>
          <p:nvPr/>
        </p:nvSpPr>
        <p:spPr>
          <a:xfrm>
            <a:off x="566928" y="5943600"/>
            <a:ext cx="11064240" cy="411480"/>
          </a:xfrm>
          <a:prstGeom prst="rect">
            <a:avLst/>
          </a:prstGeom>
          <a:noFill/>
          <a:ln/>
        </p:spPr>
        <p:txBody>
          <a:bodyPr wrap="square" lIns="0" tIns="0" rIns="0" bIns="0" rtlCol="0" anchor="ctr"/>
          <a:lstStyle/>
          <a:p>
            <a:pPr algn="ctr" indent="0" marL="0">
              <a:lnSpc>
                <a:spcPct val="108000"/>
              </a:lnSpc>
              <a:buNone/>
            </a:pPr>
            <a:r>
              <a:rPr lang="en-US" sz="1300" b="1" dirty="0">
                <a:solidFill>
                  <a:srgbClr val="1B2440"/>
                </a:solidFill>
                <a:latin typeface="Calibri" pitchFamily="34" charset="0"/>
                <a:ea typeface="Calibri" pitchFamily="34" charset="-122"/>
                <a:cs typeface="Calibri" pitchFamily="34" charset="-120"/>
              </a:rPr>
              <a:t>The pattern:  </a:t>
            </a:r>
            <a:pPr algn="ctr" indent="0" marL="0">
              <a:lnSpc>
                <a:spcPct val="108000"/>
              </a:lnSpc>
              <a:buNone/>
            </a:pPr>
            <a:r>
              <a:rPr lang="en-US" sz="1300" dirty="0">
                <a:solidFill>
                  <a:srgbClr val="5A6685"/>
                </a:solidFill>
                <a:latin typeface="Calibri" pitchFamily="34" charset="0"/>
                <a:ea typeface="Calibri" pitchFamily="34" charset="-122"/>
                <a:cs typeface="Calibri" pitchFamily="34" charset="-120"/>
              </a:rPr>
              <a:t>each era understood more of the question — but until 2017 every model still read language </a:t>
            </a:r>
            <a:pPr algn="ctr" indent="0" marL="0">
              <a:lnSpc>
                <a:spcPct val="108000"/>
              </a:lnSpc>
              <a:buNone/>
            </a:pPr>
            <a:r>
              <a:rPr lang="en-US" sz="1300" b="1" dirty="0">
                <a:solidFill>
                  <a:srgbClr val="E5484D"/>
                </a:solidFill>
                <a:latin typeface="Calibri" pitchFamily="34" charset="0"/>
                <a:ea typeface="Calibri" pitchFamily="34" charset="-122"/>
                <a:cs typeface="Calibri" pitchFamily="34" charset="-120"/>
              </a:rPr>
              <a:t>one word at a time</a:t>
            </a:r>
            <a:pPr algn="ctr" indent="0" marL="0">
              <a:lnSpc>
                <a:spcPct val="108000"/>
              </a:lnSpc>
              <a:buNone/>
            </a:pPr>
            <a:r>
              <a:rPr lang="en-US" sz="1300" dirty="0">
                <a:solidFill>
                  <a:srgbClr val="5A6685"/>
                </a:solidFill>
                <a:latin typeface="Calibri" pitchFamily="34" charset="0"/>
                <a:ea typeface="Calibri" pitchFamily="34" charset="-122"/>
                <a:cs typeface="Calibri" pitchFamily="34" charset="-120"/>
              </a:rPr>
              <a:t>, which caps both memory and speed.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2013 · THE MEANING BREAKTHROUGH</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Word embeddings: a map of health language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Mikolov et al., Word2Vec (arXiv:1301.3781) · Pennington et al., GloVe (2014) · Alsentzer et al., ClinicalBERT (arXiv:1904.03323)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66928" y="1481328"/>
            <a:ext cx="7040880" cy="4663440"/>
          </a:xfrm>
          <a:prstGeom prst="roundRect">
            <a:avLst>
              <a:gd name="adj" fmla="val 196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627632"/>
            <a:ext cx="6492240" cy="274320"/>
          </a:xfrm>
          <a:prstGeom prst="rect">
            <a:avLst/>
          </a:prstGeom>
          <a:noFill/>
          <a:ln/>
        </p:spPr>
        <p:txBody>
          <a:bodyPr wrap="square" lIns="0" tIns="0" rIns="0" bIns="0" rtlCol="0" anchor="ctr"/>
          <a:lstStyle/>
          <a:p>
            <a:pPr indent="0" marL="0">
              <a:buNone/>
            </a:pPr>
            <a:r>
              <a:rPr lang="en-US" sz="1200" b="1" dirty="0">
                <a:solidFill>
                  <a:srgbClr val="1B2440"/>
                </a:solidFill>
                <a:latin typeface="Calibri" pitchFamily="34" charset="0"/>
                <a:ea typeface="Calibri" pitchFamily="34" charset="-122"/>
                <a:cs typeface="Calibri" pitchFamily="34" charset="-120"/>
              </a:rPr>
              <a:t>Words used in similar contexts land near each other (illustrative)</a:t>
            </a:r>
            <a:endParaRPr lang="en-US" sz="1200" dirty="0"/>
          </a:p>
        </p:txBody>
      </p:sp>
      <p:sp>
        <p:nvSpPr>
          <p:cNvPr id="8" name="Shape 6"/>
          <p:cNvSpPr/>
          <p:nvPr/>
        </p:nvSpPr>
        <p:spPr>
          <a:xfrm>
            <a:off x="1025500" y="2023567"/>
            <a:ext cx="2286000" cy="1737360"/>
          </a:xfrm>
          <a:prstGeom prst="ellipse">
            <a:avLst/>
          </a:prstGeom>
          <a:solidFill>
            <a:srgbClr val="E2F4F2"/>
          </a:solidFill>
          <a:ln/>
        </p:spPr>
      </p:sp>
      <p:sp>
        <p:nvSpPr>
          <p:cNvPr id="9" name="Shape 7"/>
          <p:cNvSpPr/>
          <p:nvPr/>
        </p:nvSpPr>
        <p:spPr>
          <a:xfrm>
            <a:off x="4595774" y="1947672"/>
            <a:ext cx="2286000" cy="1737360"/>
          </a:xfrm>
          <a:prstGeom prst="ellipse">
            <a:avLst/>
          </a:prstGeom>
          <a:solidFill>
            <a:srgbClr val="EEECFB"/>
          </a:solidFill>
          <a:ln/>
        </p:spPr>
      </p:sp>
      <p:sp>
        <p:nvSpPr>
          <p:cNvPr id="10" name="Shape 8"/>
          <p:cNvSpPr/>
          <p:nvPr/>
        </p:nvSpPr>
        <p:spPr>
          <a:xfrm>
            <a:off x="1150772" y="3883000"/>
            <a:ext cx="2286000" cy="1737360"/>
          </a:xfrm>
          <a:prstGeom prst="ellipse">
            <a:avLst/>
          </a:prstGeom>
          <a:solidFill>
            <a:srgbClr val="FBEFD8"/>
          </a:solidFill>
          <a:ln/>
        </p:spPr>
      </p:sp>
      <p:sp>
        <p:nvSpPr>
          <p:cNvPr id="11" name="Shape 9"/>
          <p:cNvSpPr/>
          <p:nvPr/>
        </p:nvSpPr>
        <p:spPr>
          <a:xfrm>
            <a:off x="4533138" y="3845052"/>
            <a:ext cx="2286000" cy="1737360"/>
          </a:xfrm>
          <a:prstGeom prst="ellipse">
            <a:avLst/>
          </a:prstGeom>
          <a:solidFill>
            <a:srgbClr val="FBE7E7"/>
          </a:solidFill>
          <a:ln/>
        </p:spPr>
      </p:sp>
      <p:sp>
        <p:nvSpPr>
          <p:cNvPr id="12" name="Shape 10"/>
          <p:cNvSpPr/>
          <p:nvPr/>
        </p:nvSpPr>
        <p:spPr>
          <a:xfrm>
            <a:off x="2055114" y="4725162"/>
            <a:ext cx="2982773" cy="0"/>
          </a:xfrm>
          <a:prstGeom prst="line">
            <a:avLst/>
          </a:prstGeom>
          <a:noFill/>
          <a:ln w="31750">
            <a:solidFill>
              <a:srgbClr val="1B9C5A"/>
            </a:solidFill>
            <a:prstDash val="solid"/>
            <a:tailEnd type="triangle"/>
          </a:ln>
        </p:spPr>
      </p:sp>
      <p:sp>
        <p:nvSpPr>
          <p:cNvPr id="13" name="Shape 11"/>
          <p:cNvSpPr/>
          <p:nvPr/>
        </p:nvSpPr>
        <p:spPr>
          <a:xfrm>
            <a:off x="2932024" y="4895240"/>
            <a:ext cx="3045409" cy="-37948"/>
          </a:xfrm>
          <a:prstGeom prst="line">
            <a:avLst/>
          </a:prstGeom>
          <a:noFill/>
          <a:ln w="31750">
            <a:solidFill>
              <a:srgbClr val="1B9C5A"/>
            </a:solidFill>
            <a:prstDash val="solid"/>
            <a:tailEnd type="triangle"/>
          </a:ln>
        </p:spPr>
      </p:sp>
      <p:sp>
        <p:nvSpPr>
          <p:cNvPr id="14" name="Text 12"/>
          <p:cNvSpPr/>
          <p:nvPr/>
        </p:nvSpPr>
        <p:spPr>
          <a:xfrm>
            <a:off x="2715768" y="4561942"/>
            <a:ext cx="2926080" cy="237744"/>
          </a:xfrm>
          <a:prstGeom prst="rect">
            <a:avLst/>
          </a:prstGeom>
          <a:noFill/>
          <a:ln/>
        </p:spPr>
        <p:txBody>
          <a:bodyPr wrap="square" lIns="0" tIns="0" rIns="0" bIns="0" rtlCol="0" anchor="ctr"/>
          <a:lstStyle/>
          <a:p>
            <a:pPr algn="ctr" indent="0" marL="0">
              <a:buNone/>
            </a:pPr>
            <a:r>
              <a:rPr lang="en-US" sz="1000" b="1" i="1" dirty="0">
                <a:solidFill>
                  <a:srgbClr val="1B9C5A"/>
                </a:solidFill>
                <a:latin typeface="Calibri" pitchFamily="34" charset="0"/>
                <a:ea typeface="Calibri" pitchFamily="34" charset="-122"/>
                <a:cs typeface="Calibri" pitchFamily="34" charset="-120"/>
              </a:rPr>
              <a:t>the same “treats” direction</a:t>
            </a:r>
            <a:endParaRPr lang="en-US" sz="1000" dirty="0"/>
          </a:p>
        </p:txBody>
      </p:sp>
      <p:sp>
        <p:nvSpPr>
          <p:cNvPr id="15" name="Text 13"/>
          <p:cNvSpPr/>
          <p:nvPr/>
        </p:nvSpPr>
        <p:spPr>
          <a:xfrm>
            <a:off x="1254100" y="2212619"/>
            <a:ext cx="1828800" cy="219456"/>
          </a:xfrm>
          <a:prstGeom prst="rect">
            <a:avLst/>
          </a:prstGeom>
          <a:noFill/>
          <a:ln/>
        </p:spPr>
        <p:txBody>
          <a:bodyPr wrap="square" lIns="0" tIns="0" rIns="0" bIns="0" rtlCol="0" anchor="ctr"/>
          <a:lstStyle/>
          <a:p>
            <a:pPr algn="ctr" indent="0" marL="0">
              <a:buNone/>
            </a:pPr>
            <a:r>
              <a:rPr lang="en-US" sz="900" b="1" spc="100" kern="0" dirty="0">
                <a:solidFill>
                  <a:srgbClr val="0E9E96"/>
                </a:solidFill>
                <a:latin typeface="Calibri" pitchFamily="34" charset="0"/>
                <a:ea typeface="Calibri" pitchFamily="34" charset="-122"/>
                <a:cs typeface="Calibri" pitchFamily="34" charset="-120"/>
              </a:rPr>
              <a:t>IMAGING</a:t>
            </a:r>
            <a:endParaRPr lang="en-US" sz="900" dirty="0"/>
          </a:p>
        </p:txBody>
      </p:sp>
      <p:sp>
        <p:nvSpPr>
          <p:cNvPr id="16" name="Shape 14"/>
          <p:cNvSpPr/>
          <p:nvPr/>
        </p:nvSpPr>
        <p:spPr>
          <a:xfrm>
            <a:off x="1728673" y="2562606"/>
            <a:ext cx="128016" cy="128016"/>
          </a:xfrm>
          <a:prstGeom prst="ellipse">
            <a:avLst/>
          </a:prstGeom>
          <a:solidFill>
            <a:srgbClr val="0E9E96"/>
          </a:solidFill>
          <a:ln/>
        </p:spPr>
      </p:sp>
      <p:sp>
        <p:nvSpPr>
          <p:cNvPr id="17" name="Text 15"/>
          <p:cNvSpPr/>
          <p:nvPr/>
        </p:nvSpPr>
        <p:spPr>
          <a:xfrm>
            <a:off x="1884121" y="2507742"/>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MRI</a:t>
            </a:r>
            <a:endParaRPr lang="en-US" sz="1000" dirty="0"/>
          </a:p>
        </p:txBody>
      </p:sp>
      <p:sp>
        <p:nvSpPr>
          <p:cNvPr id="18" name="Shape 16"/>
          <p:cNvSpPr/>
          <p:nvPr/>
        </p:nvSpPr>
        <p:spPr>
          <a:xfrm>
            <a:off x="2730856" y="2638501"/>
            <a:ext cx="128016" cy="128016"/>
          </a:xfrm>
          <a:prstGeom prst="ellipse">
            <a:avLst/>
          </a:prstGeom>
          <a:solidFill>
            <a:srgbClr val="0E9E96"/>
          </a:solidFill>
          <a:ln/>
        </p:spPr>
      </p:sp>
      <p:sp>
        <p:nvSpPr>
          <p:cNvPr id="19" name="Text 17"/>
          <p:cNvSpPr/>
          <p:nvPr/>
        </p:nvSpPr>
        <p:spPr>
          <a:xfrm>
            <a:off x="2886304" y="2583637"/>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CT scan</a:t>
            </a:r>
            <a:endParaRPr lang="en-US" sz="1000" dirty="0"/>
          </a:p>
        </p:txBody>
      </p:sp>
      <p:sp>
        <p:nvSpPr>
          <p:cNvPr id="20" name="Shape 18"/>
          <p:cNvSpPr/>
          <p:nvPr/>
        </p:nvSpPr>
        <p:spPr>
          <a:xfrm>
            <a:off x="1478128" y="3093872"/>
            <a:ext cx="128016" cy="128016"/>
          </a:xfrm>
          <a:prstGeom prst="ellipse">
            <a:avLst/>
          </a:prstGeom>
          <a:solidFill>
            <a:srgbClr val="0E9E96"/>
          </a:solidFill>
          <a:ln/>
        </p:spPr>
      </p:sp>
      <p:sp>
        <p:nvSpPr>
          <p:cNvPr id="21" name="Text 19"/>
          <p:cNvSpPr/>
          <p:nvPr/>
        </p:nvSpPr>
        <p:spPr>
          <a:xfrm>
            <a:off x="1633576" y="3039008"/>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X-ray</a:t>
            </a:r>
            <a:endParaRPr lang="en-US" sz="1000" dirty="0"/>
          </a:p>
        </p:txBody>
      </p:sp>
      <p:sp>
        <p:nvSpPr>
          <p:cNvPr id="22" name="Shape 20"/>
          <p:cNvSpPr/>
          <p:nvPr/>
        </p:nvSpPr>
        <p:spPr>
          <a:xfrm>
            <a:off x="2605583" y="3169768"/>
            <a:ext cx="128016" cy="128016"/>
          </a:xfrm>
          <a:prstGeom prst="ellipse">
            <a:avLst/>
          </a:prstGeom>
          <a:solidFill>
            <a:srgbClr val="0E9E96"/>
          </a:solidFill>
          <a:ln/>
        </p:spPr>
      </p:sp>
      <p:sp>
        <p:nvSpPr>
          <p:cNvPr id="23" name="Text 21"/>
          <p:cNvSpPr/>
          <p:nvPr/>
        </p:nvSpPr>
        <p:spPr>
          <a:xfrm>
            <a:off x="2761031" y="3114904"/>
            <a:ext cx="1371600" cy="23774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ultrasound</a:t>
            </a:r>
            <a:endParaRPr lang="en-US" sz="1000" dirty="0"/>
          </a:p>
        </p:txBody>
      </p:sp>
      <p:sp>
        <p:nvSpPr>
          <p:cNvPr id="24" name="Text 22"/>
          <p:cNvSpPr/>
          <p:nvPr/>
        </p:nvSpPr>
        <p:spPr>
          <a:xfrm>
            <a:off x="4824374" y="2136724"/>
            <a:ext cx="1828800" cy="219456"/>
          </a:xfrm>
          <a:prstGeom prst="rect">
            <a:avLst/>
          </a:prstGeom>
          <a:noFill/>
          <a:ln/>
        </p:spPr>
        <p:txBody>
          <a:bodyPr wrap="square" lIns="0" tIns="0" rIns="0" bIns="0" rtlCol="0" anchor="ctr"/>
          <a:lstStyle/>
          <a:p>
            <a:pPr algn="ctr" indent="0" marL="0">
              <a:buNone/>
            </a:pPr>
            <a:r>
              <a:rPr lang="en-US" sz="900" b="1" spc="100" kern="0" dirty="0">
                <a:solidFill>
                  <a:srgbClr val="5B4BE0"/>
                </a:solidFill>
                <a:latin typeface="Calibri" pitchFamily="34" charset="0"/>
                <a:ea typeface="Calibri" pitchFamily="34" charset="-122"/>
                <a:cs typeface="Calibri" pitchFamily="34" charset="-120"/>
              </a:rPr>
              <a:t>COST TERMS</a:t>
            </a:r>
            <a:endParaRPr lang="en-US" sz="900" dirty="0"/>
          </a:p>
        </p:txBody>
      </p:sp>
      <p:sp>
        <p:nvSpPr>
          <p:cNvPr id="25" name="Shape 23"/>
          <p:cNvSpPr/>
          <p:nvPr/>
        </p:nvSpPr>
        <p:spPr>
          <a:xfrm>
            <a:off x="5361584" y="2524658"/>
            <a:ext cx="128016" cy="128016"/>
          </a:xfrm>
          <a:prstGeom prst="ellipse">
            <a:avLst/>
          </a:prstGeom>
          <a:solidFill>
            <a:srgbClr val="5B4BE0"/>
          </a:solidFill>
          <a:ln/>
        </p:spPr>
      </p:sp>
      <p:sp>
        <p:nvSpPr>
          <p:cNvPr id="26" name="Text 24"/>
          <p:cNvSpPr/>
          <p:nvPr/>
        </p:nvSpPr>
        <p:spPr>
          <a:xfrm>
            <a:off x="5517032" y="2469794"/>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deductible</a:t>
            </a:r>
            <a:endParaRPr lang="en-US" sz="1000" dirty="0"/>
          </a:p>
        </p:txBody>
      </p:sp>
      <p:sp>
        <p:nvSpPr>
          <p:cNvPr id="27" name="Shape 25"/>
          <p:cNvSpPr/>
          <p:nvPr/>
        </p:nvSpPr>
        <p:spPr>
          <a:xfrm>
            <a:off x="6301130" y="2638501"/>
            <a:ext cx="128016" cy="128016"/>
          </a:xfrm>
          <a:prstGeom prst="ellipse">
            <a:avLst/>
          </a:prstGeom>
          <a:solidFill>
            <a:srgbClr val="5B4BE0"/>
          </a:solidFill>
          <a:ln/>
        </p:spPr>
      </p:sp>
      <p:sp>
        <p:nvSpPr>
          <p:cNvPr id="28" name="Text 26"/>
          <p:cNvSpPr/>
          <p:nvPr/>
        </p:nvSpPr>
        <p:spPr>
          <a:xfrm>
            <a:off x="6456578" y="2583637"/>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copay</a:t>
            </a:r>
            <a:endParaRPr lang="en-US" sz="1000" dirty="0"/>
          </a:p>
        </p:txBody>
      </p:sp>
      <p:sp>
        <p:nvSpPr>
          <p:cNvPr id="29" name="Shape 27"/>
          <p:cNvSpPr/>
          <p:nvPr/>
        </p:nvSpPr>
        <p:spPr>
          <a:xfrm>
            <a:off x="5111039" y="2980030"/>
            <a:ext cx="128016" cy="128016"/>
          </a:xfrm>
          <a:prstGeom prst="ellipse">
            <a:avLst/>
          </a:prstGeom>
          <a:solidFill>
            <a:srgbClr val="5B4BE0"/>
          </a:solidFill>
          <a:ln/>
        </p:spPr>
      </p:sp>
      <p:sp>
        <p:nvSpPr>
          <p:cNvPr id="30" name="Text 28"/>
          <p:cNvSpPr/>
          <p:nvPr/>
        </p:nvSpPr>
        <p:spPr>
          <a:xfrm>
            <a:off x="5266487" y="2925166"/>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coinsurance</a:t>
            </a:r>
            <a:endParaRPr lang="en-US" sz="1000" dirty="0"/>
          </a:p>
        </p:txBody>
      </p:sp>
      <p:sp>
        <p:nvSpPr>
          <p:cNvPr id="31" name="Shape 29"/>
          <p:cNvSpPr/>
          <p:nvPr/>
        </p:nvSpPr>
        <p:spPr>
          <a:xfrm>
            <a:off x="6238494" y="3093872"/>
            <a:ext cx="128016" cy="128016"/>
          </a:xfrm>
          <a:prstGeom prst="ellipse">
            <a:avLst/>
          </a:prstGeom>
          <a:solidFill>
            <a:srgbClr val="5B4BE0"/>
          </a:solidFill>
          <a:ln/>
        </p:spPr>
      </p:sp>
      <p:sp>
        <p:nvSpPr>
          <p:cNvPr id="32" name="Text 30"/>
          <p:cNvSpPr/>
          <p:nvPr/>
        </p:nvSpPr>
        <p:spPr>
          <a:xfrm>
            <a:off x="6393942" y="3039008"/>
            <a:ext cx="1371600" cy="23774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premium</a:t>
            </a:r>
            <a:endParaRPr lang="en-US" sz="1000" dirty="0"/>
          </a:p>
        </p:txBody>
      </p:sp>
      <p:sp>
        <p:nvSpPr>
          <p:cNvPr id="33" name="Text 31"/>
          <p:cNvSpPr/>
          <p:nvPr/>
        </p:nvSpPr>
        <p:spPr>
          <a:xfrm>
            <a:off x="1379372" y="4072052"/>
            <a:ext cx="1828800" cy="219456"/>
          </a:xfrm>
          <a:prstGeom prst="rect">
            <a:avLst/>
          </a:prstGeom>
          <a:noFill/>
          <a:ln/>
        </p:spPr>
        <p:txBody>
          <a:bodyPr wrap="square" lIns="0" tIns="0" rIns="0" bIns="0" rtlCol="0" anchor="ctr"/>
          <a:lstStyle/>
          <a:p>
            <a:pPr algn="ctr" indent="0" marL="0">
              <a:buNone/>
            </a:pPr>
            <a:r>
              <a:rPr lang="en-US" sz="900" b="1" spc="100" kern="0" dirty="0">
                <a:solidFill>
                  <a:srgbClr val="D9820A"/>
                </a:solidFill>
                <a:latin typeface="Calibri" pitchFamily="34" charset="0"/>
                <a:ea typeface="Calibri" pitchFamily="34" charset="-122"/>
                <a:cs typeface="Calibri" pitchFamily="34" charset="-120"/>
              </a:rPr>
              <a:t>CONDITIONS</a:t>
            </a:r>
            <a:endParaRPr lang="en-US" sz="900" dirty="0"/>
          </a:p>
        </p:txBody>
      </p:sp>
      <p:sp>
        <p:nvSpPr>
          <p:cNvPr id="34" name="Shape 32"/>
          <p:cNvSpPr/>
          <p:nvPr/>
        </p:nvSpPr>
        <p:spPr>
          <a:xfrm>
            <a:off x="1853946" y="4459986"/>
            <a:ext cx="128016" cy="128016"/>
          </a:xfrm>
          <a:prstGeom prst="ellipse">
            <a:avLst/>
          </a:prstGeom>
          <a:solidFill>
            <a:srgbClr val="D9820A"/>
          </a:solidFill>
          <a:ln/>
        </p:spPr>
      </p:sp>
      <p:sp>
        <p:nvSpPr>
          <p:cNvPr id="35" name="Text 33"/>
          <p:cNvSpPr/>
          <p:nvPr/>
        </p:nvSpPr>
        <p:spPr>
          <a:xfrm>
            <a:off x="2009394" y="4405122"/>
            <a:ext cx="1371600" cy="23774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diabetes</a:t>
            </a:r>
            <a:endParaRPr lang="en-US" sz="1000" dirty="0"/>
          </a:p>
        </p:txBody>
      </p:sp>
      <p:sp>
        <p:nvSpPr>
          <p:cNvPr id="36" name="Shape 34"/>
          <p:cNvSpPr/>
          <p:nvPr/>
        </p:nvSpPr>
        <p:spPr>
          <a:xfrm>
            <a:off x="2730856" y="4611776"/>
            <a:ext cx="128016" cy="128016"/>
          </a:xfrm>
          <a:prstGeom prst="ellipse">
            <a:avLst/>
          </a:prstGeom>
          <a:solidFill>
            <a:srgbClr val="D9820A"/>
          </a:solidFill>
          <a:ln/>
        </p:spPr>
      </p:sp>
      <p:sp>
        <p:nvSpPr>
          <p:cNvPr id="37" name="Text 35"/>
          <p:cNvSpPr/>
          <p:nvPr/>
        </p:nvSpPr>
        <p:spPr>
          <a:xfrm>
            <a:off x="2886304" y="4556912"/>
            <a:ext cx="1371600" cy="23774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asthma</a:t>
            </a:r>
            <a:endParaRPr lang="en-US" sz="1000" dirty="0"/>
          </a:p>
        </p:txBody>
      </p:sp>
      <p:sp>
        <p:nvSpPr>
          <p:cNvPr id="38" name="Shape 36"/>
          <p:cNvSpPr/>
          <p:nvPr/>
        </p:nvSpPr>
        <p:spPr>
          <a:xfrm>
            <a:off x="1979219" y="4991252"/>
            <a:ext cx="128016" cy="128016"/>
          </a:xfrm>
          <a:prstGeom prst="ellipse">
            <a:avLst/>
          </a:prstGeom>
          <a:solidFill>
            <a:srgbClr val="D9820A"/>
          </a:solidFill>
          <a:ln/>
        </p:spPr>
      </p:sp>
      <p:sp>
        <p:nvSpPr>
          <p:cNvPr id="39" name="Text 37"/>
          <p:cNvSpPr/>
          <p:nvPr/>
        </p:nvSpPr>
        <p:spPr>
          <a:xfrm>
            <a:off x="2134667" y="4936388"/>
            <a:ext cx="1371600" cy="23774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hypertension</a:t>
            </a:r>
            <a:endParaRPr lang="en-US" sz="1000" dirty="0"/>
          </a:p>
        </p:txBody>
      </p:sp>
      <p:sp>
        <p:nvSpPr>
          <p:cNvPr id="40" name="Text 38"/>
          <p:cNvSpPr/>
          <p:nvPr/>
        </p:nvSpPr>
        <p:spPr>
          <a:xfrm>
            <a:off x="4761738" y="4034104"/>
            <a:ext cx="1828800" cy="219456"/>
          </a:xfrm>
          <a:prstGeom prst="rect">
            <a:avLst/>
          </a:prstGeom>
          <a:noFill/>
          <a:ln/>
        </p:spPr>
        <p:txBody>
          <a:bodyPr wrap="square" lIns="0" tIns="0" rIns="0" bIns="0" rtlCol="0" anchor="ctr"/>
          <a:lstStyle/>
          <a:p>
            <a:pPr algn="ctr" indent="0" marL="0">
              <a:buNone/>
            </a:pPr>
            <a:r>
              <a:rPr lang="en-US" sz="900" b="1" spc="100" kern="0" dirty="0">
                <a:solidFill>
                  <a:srgbClr val="E5484D"/>
                </a:solidFill>
                <a:latin typeface="Calibri" pitchFamily="34" charset="0"/>
                <a:ea typeface="Calibri" pitchFamily="34" charset="-122"/>
                <a:cs typeface="Calibri" pitchFamily="34" charset="-120"/>
              </a:rPr>
              <a:t>TREATMENTS</a:t>
            </a:r>
            <a:endParaRPr lang="en-US" sz="900" dirty="0"/>
          </a:p>
        </p:txBody>
      </p:sp>
      <p:sp>
        <p:nvSpPr>
          <p:cNvPr id="41" name="Shape 39"/>
          <p:cNvSpPr/>
          <p:nvPr/>
        </p:nvSpPr>
        <p:spPr>
          <a:xfrm>
            <a:off x="5111039" y="4459986"/>
            <a:ext cx="128016" cy="128016"/>
          </a:xfrm>
          <a:prstGeom prst="ellipse">
            <a:avLst/>
          </a:prstGeom>
          <a:solidFill>
            <a:srgbClr val="E5484D"/>
          </a:solidFill>
          <a:ln/>
        </p:spPr>
      </p:sp>
      <p:sp>
        <p:nvSpPr>
          <p:cNvPr id="42" name="Text 40"/>
          <p:cNvSpPr/>
          <p:nvPr/>
        </p:nvSpPr>
        <p:spPr>
          <a:xfrm>
            <a:off x="5266487" y="4405122"/>
            <a:ext cx="1371600" cy="237744"/>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insulin</a:t>
            </a:r>
            <a:endParaRPr lang="en-US" sz="1000" dirty="0"/>
          </a:p>
        </p:txBody>
      </p:sp>
      <p:sp>
        <p:nvSpPr>
          <p:cNvPr id="43" name="Shape 41"/>
          <p:cNvSpPr/>
          <p:nvPr/>
        </p:nvSpPr>
        <p:spPr>
          <a:xfrm>
            <a:off x="6050585" y="4573829"/>
            <a:ext cx="128016" cy="128016"/>
          </a:xfrm>
          <a:prstGeom prst="ellipse">
            <a:avLst/>
          </a:prstGeom>
          <a:solidFill>
            <a:srgbClr val="E5484D"/>
          </a:solidFill>
          <a:ln/>
        </p:spPr>
      </p:sp>
      <p:sp>
        <p:nvSpPr>
          <p:cNvPr id="44" name="Text 42"/>
          <p:cNvSpPr/>
          <p:nvPr/>
        </p:nvSpPr>
        <p:spPr>
          <a:xfrm>
            <a:off x="6206033" y="4518965"/>
            <a:ext cx="1371600" cy="237744"/>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albuterol</a:t>
            </a:r>
            <a:endParaRPr lang="en-US" sz="1000" dirty="0"/>
          </a:p>
        </p:txBody>
      </p:sp>
      <p:sp>
        <p:nvSpPr>
          <p:cNvPr id="45" name="Shape 43"/>
          <p:cNvSpPr/>
          <p:nvPr/>
        </p:nvSpPr>
        <p:spPr>
          <a:xfrm>
            <a:off x="5486857" y="4953305"/>
            <a:ext cx="128016" cy="128016"/>
          </a:xfrm>
          <a:prstGeom prst="ellipse">
            <a:avLst/>
          </a:prstGeom>
          <a:solidFill>
            <a:srgbClr val="E5484D"/>
          </a:solidFill>
          <a:ln/>
        </p:spPr>
      </p:sp>
      <p:sp>
        <p:nvSpPr>
          <p:cNvPr id="46" name="Text 44"/>
          <p:cNvSpPr/>
          <p:nvPr/>
        </p:nvSpPr>
        <p:spPr>
          <a:xfrm>
            <a:off x="5642305" y="4898441"/>
            <a:ext cx="1371600" cy="237744"/>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Humira</a:t>
            </a:r>
            <a:endParaRPr lang="en-US" sz="1000" dirty="0"/>
          </a:p>
        </p:txBody>
      </p:sp>
      <p:sp>
        <p:nvSpPr>
          <p:cNvPr id="47" name="Shape 45"/>
          <p:cNvSpPr/>
          <p:nvPr/>
        </p:nvSpPr>
        <p:spPr>
          <a:xfrm>
            <a:off x="7726680" y="1481328"/>
            <a:ext cx="3913632" cy="1874520"/>
          </a:xfrm>
          <a:prstGeom prst="roundRect">
            <a:avLst>
              <a:gd name="adj" fmla="val 4878"/>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8" name="Text 46"/>
          <p:cNvSpPr/>
          <p:nvPr/>
        </p:nvSpPr>
        <p:spPr>
          <a:xfrm>
            <a:off x="7982712" y="1591056"/>
            <a:ext cx="3456432"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How a word enters the model</a:t>
            </a:r>
            <a:endParaRPr lang="en-US" sz="1250" dirty="0"/>
          </a:p>
        </p:txBody>
      </p:sp>
      <p:sp>
        <p:nvSpPr>
          <p:cNvPr id="49" name="Text 47"/>
          <p:cNvSpPr/>
          <p:nvPr/>
        </p:nvSpPr>
        <p:spPr>
          <a:xfrm>
            <a:off x="7982712" y="1901952"/>
            <a:ext cx="2011680" cy="292608"/>
          </a:xfrm>
          <a:prstGeom prst="rect">
            <a:avLst/>
          </a:prstGeom>
          <a:noFill/>
          <a:ln/>
        </p:spPr>
        <p:txBody>
          <a:bodyPr wrap="square" lIns="0" tIns="0" rIns="0" bIns="0" rtlCol="0" anchor="ctr"/>
          <a:lstStyle/>
          <a:p>
            <a:pPr indent="0" marL="0">
              <a:buNone/>
            </a:pPr>
            <a:r>
              <a:rPr lang="en-US" sz="1100" b="1" dirty="0">
                <a:solidFill>
                  <a:srgbClr val="1B2440"/>
                </a:solidFill>
                <a:latin typeface="Courier New" pitchFamily="34" charset="0"/>
                <a:ea typeface="Courier New" pitchFamily="34" charset="-122"/>
                <a:cs typeface="Courier New" pitchFamily="34" charset="-120"/>
              </a:rPr>
              <a:t>“MRI”</a:t>
            </a:r>
            <a:endParaRPr lang="en-US" sz="1100" dirty="0"/>
          </a:p>
        </p:txBody>
      </p:sp>
      <p:sp>
        <p:nvSpPr>
          <p:cNvPr id="50" name="Text 48"/>
          <p:cNvSpPr/>
          <p:nvPr/>
        </p:nvSpPr>
        <p:spPr>
          <a:xfrm>
            <a:off x="10012680" y="190195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the raw word</a:t>
            </a:r>
            <a:endParaRPr lang="en-US" sz="950" dirty="0"/>
          </a:p>
        </p:txBody>
      </p:sp>
      <p:sp>
        <p:nvSpPr>
          <p:cNvPr id="51" name="Text 49"/>
          <p:cNvSpPr/>
          <p:nvPr/>
        </p:nvSpPr>
        <p:spPr>
          <a:xfrm>
            <a:off x="8183880" y="2148840"/>
            <a:ext cx="274320" cy="146304"/>
          </a:xfrm>
          <a:prstGeom prst="rect">
            <a:avLst/>
          </a:prstGeom>
          <a:noFill/>
          <a:ln/>
        </p:spPr>
        <p:txBody>
          <a:bodyPr wrap="square" lIns="0" tIns="0" rIns="0" bIns="0" rtlCol="0" anchor="ctr"/>
          <a:lstStyle/>
          <a:p>
            <a:pPr indent="0" marL="0">
              <a:buNone/>
            </a:pPr>
            <a:r>
              <a:rPr lang="en-US" sz="900" dirty="0">
                <a:solidFill>
                  <a:srgbClr val="8A93AB"/>
                </a:solidFill>
              </a:rPr>
              <a:t>↓</a:t>
            </a:r>
            <a:endParaRPr lang="en-US" sz="900" dirty="0"/>
          </a:p>
        </p:txBody>
      </p:sp>
      <p:sp>
        <p:nvSpPr>
          <p:cNvPr id="52" name="Text 50"/>
          <p:cNvSpPr/>
          <p:nvPr/>
        </p:nvSpPr>
        <p:spPr>
          <a:xfrm>
            <a:off x="7982712" y="2267712"/>
            <a:ext cx="2011680" cy="292608"/>
          </a:xfrm>
          <a:prstGeom prst="rect">
            <a:avLst/>
          </a:prstGeom>
          <a:noFill/>
          <a:ln/>
        </p:spPr>
        <p:txBody>
          <a:bodyPr wrap="square" lIns="0" tIns="0" rIns="0" bIns="0" rtlCol="0" anchor="ctr"/>
          <a:lstStyle/>
          <a:p>
            <a:pPr indent="0" marL="0">
              <a:buNone/>
            </a:pPr>
            <a:r>
              <a:rPr lang="en-US" sz="1100" b="1" dirty="0">
                <a:solidFill>
                  <a:srgbClr val="0E9E96"/>
                </a:solidFill>
                <a:latin typeface="Courier New" pitchFamily="34" charset="0"/>
                <a:ea typeface="Courier New" pitchFamily="34" charset="-122"/>
                <a:cs typeface="Courier New" pitchFamily="34" charset="-120"/>
              </a:rPr>
              <a:t>token  4821</a:t>
            </a:r>
            <a:endParaRPr lang="en-US" sz="1100" dirty="0"/>
          </a:p>
        </p:txBody>
      </p:sp>
      <p:sp>
        <p:nvSpPr>
          <p:cNvPr id="53" name="Text 51"/>
          <p:cNvSpPr/>
          <p:nvPr/>
        </p:nvSpPr>
        <p:spPr>
          <a:xfrm>
            <a:off x="10012680" y="226771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integer ID</a:t>
            </a:r>
            <a:endParaRPr lang="en-US" sz="950" dirty="0"/>
          </a:p>
        </p:txBody>
      </p:sp>
      <p:sp>
        <p:nvSpPr>
          <p:cNvPr id="54" name="Text 52"/>
          <p:cNvSpPr/>
          <p:nvPr/>
        </p:nvSpPr>
        <p:spPr>
          <a:xfrm>
            <a:off x="8183880" y="2514600"/>
            <a:ext cx="274320" cy="146304"/>
          </a:xfrm>
          <a:prstGeom prst="rect">
            <a:avLst/>
          </a:prstGeom>
          <a:noFill/>
          <a:ln/>
        </p:spPr>
        <p:txBody>
          <a:bodyPr wrap="square" lIns="0" tIns="0" rIns="0" bIns="0" rtlCol="0" anchor="ctr"/>
          <a:lstStyle/>
          <a:p>
            <a:pPr indent="0" marL="0">
              <a:buNone/>
            </a:pPr>
            <a:r>
              <a:rPr lang="en-US" sz="900" dirty="0">
                <a:solidFill>
                  <a:srgbClr val="8A93AB"/>
                </a:solidFill>
              </a:rPr>
              <a:t>↓</a:t>
            </a:r>
            <a:endParaRPr lang="en-US" sz="900" dirty="0"/>
          </a:p>
        </p:txBody>
      </p:sp>
      <p:sp>
        <p:nvSpPr>
          <p:cNvPr id="55" name="Text 53"/>
          <p:cNvSpPr/>
          <p:nvPr/>
        </p:nvSpPr>
        <p:spPr>
          <a:xfrm>
            <a:off x="7982712" y="2633472"/>
            <a:ext cx="2011680" cy="292608"/>
          </a:xfrm>
          <a:prstGeom prst="rect">
            <a:avLst/>
          </a:prstGeom>
          <a:noFill/>
          <a:ln/>
        </p:spPr>
        <p:txBody>
          <a:bodyPr wrap="square" lIns="0" tIns="0" rIns="0" bIns="0" rtlCol="0" anchor="ctr"/>
          <a:lstStyle/>
          <a:p>
            <a:pPr indent="0" marL="0">
              <a:buNone/>
            </a:pPr>
            <a:r>
              <a:rPr lang="en-US" sz="1100" b="1" dirty="0">
                <a:solidFill>
                  <a:srgbClr val="5B4BE0"/>
                </a:solidFill>
                <a:latin typeface="Courier New" pitchFamily="34" charset="0"/>
                <a:ea typeface="Courier New" pitchFamily="34" charset="-122"/>
                <a:cs typeface="Courier New" pitchFamily="34" charset="-120"/>
              </a:rPr>
              <a:t>[0.21, −0.84, …]</a:t>
            </a:r>
            <a:endParaRPr lang="en-US" sz="1100" dirty="0"/>
          </a:p>
        </p:txBody>
      </p:sp>
      <p:sp>
        <p:nvSpPr>
          <p:cNvPr id="56" name="Text 54"/>
          <p:cNvSpPr/>
          <p:nvPr/>
        </p:nvSpPr>
        <p:spPr>
          <a:xfrm>
            <a:off x="10012680" y="263347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a learned vector</a:t>
            </a:r>
            <a:endParaRPr lang="en-US" sz="950" dirty="0"/>
          </a:p>
        </p:txBody>
      </p:sp>
      <p:sp>
        <p:nvSpPr>
          <p:cNvPr id="57" name="Text 55"/>
          <p:cNvSpPr/>
          <p:nvPr/>
        </p:nvSpPr>
        <p:spPr>
          <a:xfrm>
            <a:off x="8183880" y="2880360"/>
            <a:ext cx="274320" cy="146304"/>
          </a:xfrm>
          <a:prstGeom prst="rect">
            <a:avLst/>
          </a:prstGeom>
          <a:noFill/>
          <a:ln/>
        </p:spPr>
        <p:txBody>
          <a:bodyPr wrap="square" lIns="0" tIns="0" rIns="0" bIns="0" rtlCol="0" anchor="ctr"/>
          <a:lstStyle/>
          <a:p>
            <a:pPr indent="0" marL="0">
              <a:buNone/>
            </a:pPr>
            <a:r>
              <a:rPr lang="en-US" sz="900" dirty="0">
                <a:solidFill>
                  <a:srgbClr val="8A93AB"/>
                </a:solidFill>
              </a:rPr>
              <a:t>↓</a:t>
            </a:r>
            <a:endParaRPr lang="en-US" sz="900" dirty="0"/>
          </a:p>
        </p:txBody>
      </p:sp>
      <p:sp>
        <p:nvSpPr>
          <p:cNvPr id="58" name="Text 56"/>
          <p:cNvSpPr/>
          <p:nvPr/>
        </p:nvSpPr>
        <p:spPr>
          <a:xfrm>
            <a:off x="7982712" y="2999232"/>
            <a:ext cx="2011680" cy="292608"/>
          </a:xfrm>
          <a:prstGeom prst="rect">
            <a:avLst/>
          </a:prstGeom>
          <a:noFill/>
          <a:ln/>
        </p:spPr>
        <p:txBody>
          <a:bodyPr wrap="square" lIns="0" tIns="0" rIns="0" bIns="0" rtlCol="0" anchor="ctr"/>
          <a:lstStyle/>
          <a:p>
            <a:pPr indent="0" marL="0">
              <a:buNone/>
            </a:pPr>
            <a:r>
              <a:rPr lang="en-US" sz="1100" b="1" dirty="0">
                <a:solidFill>
                  <a:srgbClr val="D9820A"/>
                </a:solidFill>
                <a:latin typeface="Courier New" pitchFamily="34" charset="0"/>
                <a:ea typeface="Courier New" pitchFamily="34" charset="-122"/>
                <a:cs typeface="Courier New" pitchFamily="34" charset="-120"/>
              </a:rPr>
              <a:t>●  a point on the map</a:t>
            </a:r>
            <a:endParaRPr lang="en-US" sz="1100" dirty="0"/>
          </a:p>
        </p:txBody>
      </p:sp>
      <p:sp>
        <p:nvSpPr>
          <p:cNvPr id="59" name="Text 57"/>
          <p:cNvSpPr/>
          <p:nvPr/>
        </p:nvSpPr>
        <p:spPr>
          <a:xfrm>
            <a:off x="10012680" y="2999232"/>
            <a:ext cx="1444752" cy="292608"/>
          </a:xfrm>
          <a:prstGeom prst="rect">
            <a:avLst/>
          </a:prstGeom>
          <a:noFill/>
          <a:ln/>
        </p:spPr>
        <p:txBody>
          <a:bodyPr wrap="square" lIns="0" tIns="0" rIns="0" bIns="0" rtlCol="0" anchor="ctr"/>
          <a:lstStyle/>
          <a:p>
            <a:pPr indent="0" marL="0">
              <a:buNone/>
            </a:pPr>
            <a:r>
              <a:rPr lang="en-US" sz="950" i="1" dirty="0">
                <a:solidFill>
                  <a:srgbClr val="5A6685"/>
                </a:solidFill>
                <a:latin typeface="Calibri" pitchFamily="34" charset="0"/>
                <a:ea typeface="Calibri" pitchFamily="34" charset="-122"/>
                <a:cs typeface="Calibri" pitchFamily="34" charset="-120"/>
              </a:rPr>
              <a:t>its meaning</a:t>
            </a:r>
            <a:endParaRPr lang="en-US" sz="950" dirty="0"/>
          </a:p>
        </p:txBody>
      </p:sp>
      <p:sp>
        <p:nvSpPr>
          <p:cNvPr id="60" name="Shape 58"/>
          <p:cNvSpPr/>
          <p:nvPr/>
        </p:nvSpPr>
        <p:spPr>
          <a:xfrm>
            <a:off x="7726680" y="3474720"/>
            <a:ext cx="3913632" cy="1024128"/>
          </a:xfrm>
          <a:prstGeom prst="roundRect">
            <a:avLst>
              <a:gd name="adj" fmla="val 7143"/>
            </a:avLst>
          </a:prstGeom>
          <a:solidFill>
            <a:srgbClr val="16213E"/>
          </a:solidFill>
          <a:ln/>
        </p:spPr>
      </p:sp>
      <p:sp>
        <p:nvSpPr>
          <p:cNvPr id="61" name="Text 59"/>
          <p:cNvSpPr/>
          <p:nvPr/>
        </p:nvSpPr>
        <p:spPr>
          <a:xfrm>
            <a:off x="7955280" y="3566160"/>
            <a:ext cx="3456432" cy="256032"/>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Meaning becomes arithmetic</a:t>
            </a:r>
            <a:endParaRPr lang="en-US" sz="1100" dirty="0"/>
          </a:p>
        </p:txBody>
      </p:sp>
      <p:sp>
        <p:nvSpPr>
          <p:cNvPr id="62" name="Text 60"/>
          <p:cNvSpPr/>
          <p:nvPr/>
        </p:nvSpPr>
        <p:spPr>
          <a:xfrm>
            <a:off x="7909560" y="3840480"/>
            <a:ext cx="3547872" cy="594360"/>
          </a:xfrm>
          <a:prstGeom prst="rect">
            <a:avLst/>
          </a:prstGeom>
          <a:noFill/>
          <a:ln/>
        </p:spPr>
        <p:txBody>
          <a:bodyPr wrap="square" lIns="0" tIns="0" rIns="0" bIns="0" rtlCol="0" anchor="ctr"/>
          <a:lstStyle/>
          <a:p>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7C6FF0"/>
                </a:solidFill>
                <a:latin typeface="Courier New" pitchFamily="34" charset="0"/>
                <a:ea typeface="Courier New" pitchFamily="34" charset="-122"/>
                <a:cs typeface="Courier New" pitchFamily="34" charset="-120"/>
              </a:rPr>
              <a:t>insulin</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F0B95E"/>
                </a:solidFill>
                <a:latin typeface="Courier New" pitchFamily="34" charset="0"/>
                <a:ea typeface="Courier New" pitchFamily="34" charset="-122"/>
                <a:cs typeface="Courier New" pitchFamily="34" charset="-120"/>
              </a:rPr>
              <a:t>diabetes</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F0B95E"/>
                </a:solidFill>
                <a:latin typeface="Courier New" pitchFamily="34" charset="0"/>
                <a:ea typeface="Courier New" pitchFamily="34" charset="-122"/>
                <a:cs typeface="Courier New" pitchFamily="34" charset="-120"/>
              </a:rPr>
              <a:t>asthma</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)≈vec(</a:t>
            </a:r>
            <a:pPr algn="ctr" indent="0" marL="0">
              <a:lnSpc>
                <a:spcPct val="100000"/>
              </a:lnSpc>
              <a:buNone/>
            </a:pPr>
            <a:r>
              <a:rPr lang="en-US" sz="1150" b="1" dirty="0">
                <a:solidFill>
                  <a:srgbClr val="7FD1CB"/>
                </a:solidFill>
                <a:latin typeface="Courier New" pitchFamily="34" charset="0"/>
                <a:ea typeface="Courier New" pitchFamily="34" charset="-122"/>
                <a:cs typeface="Courier New" pitchFamily="34" charset="-120"/>
              </a:rPr>
              <a:t>albuterol</a:t>
            </a:r>
            <a:pPr algn="ctr" indent="0" marL="0">
              <a:lnSpc>
                <a:spcPct val="100000"/>
              </a:lnSpc>
              <a:buNone/>
            </a:pPr>
            <a:r>
              <a:rPr lang="en-US" sz="1150" dirty="0">
                <a:solidFill>
                  <a:srgbClr val="C6CCE0"/>
                </a:solidFill>
                <a:latin typeface="Courier New" pitchFamily="34" charset="0"/>
                <a:ea typeface="Courier New" pitchFamily="34" charset="-122"/>
                <a:cs typeface="Courier New" pitchFamily="34" charset="-120"/>
              </a:rPr>
              <a:t>)</a:t>
            </a:r>
            <a:endParaRPr lang="en-US" sz="1150" dirty="0"/>
          </a:p>
        </p:txBody>
      </p:sp>
      <p:sp>
        <p:nvSpPr>
          <p:cNvPr id="63" name="Text 61"/>
          <p:cNvSpPr/>
          <p:nvPr/>
        </p:nvSpPr>
        <p:spPr>
          <a:xfrm>
            <a:off x="7772400" y="4663440"/>
            <a:ext cx="3822192" cy="1417320"/>
          </a:xfrm>
          <a:prstGeom prst="rect">
            <a:avLst/>
          </a:prstGeom>
          <a:noFill/>
          <a:ln/>
        </p:spPr>
        <p:txBody>
          <a:bodyPr wrap="square" lIns="0" tIns="0" rIns="0" bIns="0" rtlCol="0" anchor="t"/>
          <a:lstStyle/>
          <a:p>
            <a:pPr indent="0" marL="0">
              <a:lnSpc>
                <a:spcPct val="116000"/>
              </a:lnSpc>
              <a:buNone/>
            </a:pPr>
            <a:r>
              <a:rPr lang="en-US" sz="1150" b="1" dirty="0">
                <a:solidFill>
                  <a:srgbClr val="0E9E96"/>
                </a:solidFill>
                <a:latin typeface="Calibri" pitchFamily="34" charset="0"/>
                <a:ea typeface="Calibri" pitchFamily="34" charset="-122"/>
                <a:cs typeface="Calibri" pitchFamily="34" charset="-120"/>
              </a:rPr>
              <a:t>Why it still matters:  </a:t>
            </a:r>
            <a:pPr indent="0" marL="0">
              <a:lnSpc>
                <a:spcPct val="116000"/>
              </a:lnSpc>
              <a:buNone/>
            </a:pPr>
            <a:r>
              <a:rPr lang="en-US" sz="1150" dirty="0">
                <a:solidFill>
                  <a:srgbClr val="5A6685"/>
                </a:solidFill>
                <a:latin typeface="Calibri" pitchFamily="34" charset="0"/>
                <a:ea typeface="Calibri" pitchFamily="34" charset="-122"/>
                <a:cs typeface="Calibri" pitchFamily="34" charset="-120"/>
              </a:rPr>
              <a:t>this is exactly how tokens enter a Transformer today. Health-tuned models like </a:t>
            </a:r>
            <a:pPr indent="0" marL="0">
              <a:lnSpc>
                <a:spcPct val="116000"/>
              </a:lnSpc>
              <a:buNone/>
            </a:pPr>
            <a:r>
              <a:rPr lang="en-US" sz="1150" b="1" dirty="0">
                <a:solidFill>
                  <a:srgbClr val="1B2440"/>
                </a:solidFill>
                <a:latin typeface="Calibri" pitchFamily="34" charset="0"/>
                <a:ea typeface="Calibri" pitchFamily="34" charset="-122"/>
                <a:cs typeface="Calibri" pitchFamily="34" charset="-120"/>
              </a:rPr>
              <a:t>ClinicalBERT</a:t>
            </a:r>
            <a:pPr indent="0" marL="0">
              <a:lnSpc>
                <a:spcPct val="116000"/>
              </a:lnSpc>
              <a:buNone/>
            </a:pPr>
            <a:r>
              <a:rPr lang="en-US" sz="1150" dirty="0">
                <a:solidFill>
                  <a:srgbClr val="5A6685"/>
                </a:solidFill>
                <a:latin typeface="Calibri" pitchFamily="34" charset="0"/>
                <a:ea typeface="Calibri" pitchFamily="34" charset="-122"/>
                <a:cs typeface="Calibri" pitchFamily="34" charset="-120"/>
              </a:rPr>
              <a:t> learn embeddings where clinical terms cluster like the map above.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SEQUENTIAL WORKHORSE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RNNs: reading the question one word at a time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Karpathy, 'The Unreasonable Effectiveness of RNNs' · Andrej Karpathy, Intro to LLMs — youtube.com/watch?v=zjkBMFhNj_g</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66928" y="1481328"/>
            <a:ext cx="109728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An RNN passes a hidden state forward — but the early words fade as it goes</a:t>
            </a:r>
            <a:endParaRPr lang="en-US" sz="1350" dirty="0"/>
          </a:p>
        </p:txBody>
      </p:sp>
      <p:sp>
        <p:nvSpPr>
          <p:cNvPr id="7" name="Shape 5"/>
          <p:cNvSpPr/>
          <p:nvPr/>
        </p:nvSpPr>
        <p:spPr>
          <a:xfrm>
            <a:off x="749808" y="3657600"/>
            <a:ext cx="1143000" cy="457200"/>
          </a:xfrm>
          <a:prstGeom prst="roundRect">
            <a:avLst>
              <a:gd name="adj" fmla="val 12000"/>
            </a:avLst>
          </a:prstGeom>
          <a:solidFill>
            <a:srgbClr val="F4F5F9"/>
          </a:solidFill>
          <a:ln w="12700">
            <a:solidFill>
              <a:srgbClr val="DDE1EC"/>
            </a:solidFill>
            <a:prstDash val="solid"/>
          </a:ln>
        </p:spPr>
      </p:sp>
      <p:sp>
        <p:nvSpPr>
          <p:cNvPr id="8" name="Text 6"/>
          <p:cNvSpPr/>
          <p:nvPr/>
        </p:nvSpPr>
        <p:spPr>
          <a:xfrm>
            <a:off x="74980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knee</a:t>
            </a:r>
            <a:endParaRPr lang="en-US" sz="1100" dirty="0"/>
          </a:p>
        </p:txBody>
      </p:sp>
      <p:sp>
        <p:nvSpPr>
          <p:cNvPr id="9" name="Shape 7"/>
          <p:cNvSpPr/>
          <p:nvPr/>
        </p:nvSpPr>
        <p:spPr>
          <a:xfrm>
            <a:off x="1316736" y="3639312"/>
            <a:ext cx="0" cy="-201168"/>
          </a:xfrm>
          <a:prstGeom prst="line">
            <a:avLst/>
          </a:prstGeom>
          <a:noFill/>
          <a:ln w="22225">
            <a:solidFill>
              <a:srgbClr val="8A93AB"/>
            </a:solidFill>
            <a:prstDash val="solid"/>
            <a:tailEnd type="triangle"/>
          </a:ln>
        </p:spPr>
      </p:sp>
      <p:sp>
        <p:nvSpPr>
          <p:cNvPr id="10" name="Shape 8"/>
          <p:cNvSpPr/>
          <p:nvPr/>
        </p:nvSpPr>
        <p:spPr>
          <a:xfrm>
            <a:off x="795528" y="2743200"/>
            <a:ext cx="1051560" cy="658368"/>
          </a:xfrm>
          <a:prstGeom prst="roundRect">
            <a:avLst>
              <a:gd name="adj" fmla="val 8333"/>
            </a:avLst>
          </a:prstGeom>
          <a:solidFill>
            <a:srgbClr val="5B4BE0"/>
          </a:solidFill>
          <a:ln w="12700">
            <a:solidFill>
              <a:srgbClr val="DDE1EC"/>
            </a:solidFill>
            <a:prstDash val="solid"/>
          </a:ln>
        </p:spPr>
      </p:sp>
      <p:sp>
        <p:nvSpPr>
          <p:cNvPr id="11" name="Text 9"/>
          <p:cNvSpPr/>
          <p:nvPr/>
        </p:nvSpPr>
        <p:spPr>
          <a:xfrm>
            <a:off x="79552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h0</a:t>
            </a:r>
            <a:endParaRPr lang="en-US" sz="1300" dirty="0"/>
          </a:p>
        </p:txBody>
      </p:sp>
      <p:sp>
        <p:nvSpPr>
          <p:cNvPr id="12" name="Shape 10"/>
          <p:cNvSpPr/>
          <p:nvPr/>
        </p:nvSpPr>
        <p:spPr>
          <a:xfrm>
            <a:off x="1847088" y="3072384"/>
            <a:ext cx="1097280" cy="0"/>
          </a:xfrm>
          <a:prstGeom prst="line">
            <a:avLst/>
          </a:prstGeom>
          <a:noFill/>
          <a:ln w="31750">
            <a:solidFill>
              <a:srgbClr val="5B4BE0"/>
            </a:solidFill>
            <a:prstDash val="solid"/>
            <a:tailEnd type="triangle"/>
          </a:ln>
        </p:spPr>
      </p:sp>
      <p:sp>
        <p:nvSpPr>
          <p:cNvPr id="13" name="Shape 11"/>
          <p:cNvSpPr/>
          <p:nvPr/>
        </p:nvSpPr>
        <p:spPr>
          <a:xfrm>
            <a:off x="2944368" y="3657600"/>
            <a:ext cx="1143000" cy="457200"/>
          </a:xfrm>
          <a:prstGeom prst="roundRect">
            <a:avLst>
              <a:gd name="adj" fmla="val 12000"/>
            </a:avLst>
          </a:prstGeom>
          <a:solidFill>
            <a:srgbClr val="F4F5F9"/>
          </a:solidFill>
          <a:ln w="12700">
            <a:solidFill>
              <a:srgbClr val="DDE1EC"/>
            </a:solidFill>
            <a:prstDash val="solid"/>
          </a:ln>
        </p:spPr>
      </p:sp>
      <p:sp>
        <p:nvSpPr>
          <p:cNvPr id="14" name="Text 12"/>
          <p:cNvSpPr/>
          <p:nvPr/>
        </p:nvSpPr>
        <p:spPr>
          <a:xfrm>
            <a:off x="294436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MRI</a:t>
            </a:r>
            <a:endParaRPr lang="en-US" sz="1100" dirty="0"/>
          </a:p>
        </p:txBody>
      </p:sp>
      <p:sp>
        <p:nvSpPr>
          <p:cNvPr id="15" name="Shape 13"/>
          <p:cNvSpPr/>
          <p:nvPr/>
        </p:nvSpPr>
        <p:spPr>
          <a:xfrm>
            <a:off x="3511296" y="3639312"/>
            <a:ext cx="0" cy="-201168"/>
          </a:xfrm>
          <a:prstGeom prst="line">
            <a:avLst/>
          </a:prstGeom>
          <a:noFill/>
          <a:ln w="22225">
            <a:solidFill>
              <a:srgbClr val="8A93AB"/>
            </a:solidFill>
            <a:prstDash val="solid"/>
            <a:tailEnd type="triangle"/>
          </a:ln>
        </p:spPr>
      </p:sp>
      <p:sp>
        <p:nvSpPr>
          <p:cNvPr id="16" name="Shape 14"/>
          <p:cNvSpPr/>
          <p:nvPr/>
        </p:nvSpPr>
        <p:spPr>
          <a:xfrm>
            <a:off x="2990088" y="2743200"/>
            <a:ext cx="1051560" cy="658368"/>
          </a:xfrm>
          <a:prstGeom prst="roundRect">
            <a:avLst>
              <a:gd name="adj" fmla="val 8333"/>
            </a:avLst>
          </a:prstGeom>
          <a:solidFill>
            <a:srgbClr val="6E60E6"/>
          </a:solidFill>
          <a:ln w="12700">
            <a:solidFill>
              <a:srgbClr val="DDE1EC"/>
            </a:solidFill>
            <a:prstDash val="solid"/>
          </a:ln>
        </p:spPr>
      </p:sp>
      <p:sp>
        <p:nvSpPr>
          <p:cNvPr id="17" name="Text 15"/>
          <p:cNvSpPr/>
          <p:nvPr/>
        </p:nvSpPr>
        <p:spPr>
          <a:xfrm>
            <a:off x="299008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8" name="Shape 16"/>
          <p:cNvSpPr/>
          <p:nvPr/>
        </p:nvSpPr>
        <p:spPr>
          <a:xfrm>
            <a:off x="4041648" y="3072384"/>
            <a:ext cx="1097280" cy="0"/>
          </a:xfrm>
          <a:prstGeom prst="line">
            <a:avLst/>
          </a:prstGeom>
          <a:noFill/>
          <a:ln w="31750">
            <a:solidFill>
              <a:srgbClr val="6E60E6"/>
            </a:solidFill>
            <a:prstDash val="solid"/>
            <a:tailEnd type="triangle"/>
          </a:ln>
        </p:spPr>
      </p:sp>
      <p:sp>
        <p:nvSpPr>
          <p:cNvPr id="19" name="Shape 17"/>
          <p:cNvSpPr/>
          <p:nvPr/>
        </p:nvSpPr>
        <p:spPr>
          <a:xfrm>
            <a:off x="5138928" y="3657600"/>
            <a:ext cx="1143000" cy="457200"/>
          </a:xfrm>
          <a:prstGeom prst="roundRect">
            <a:avLst>
              <a:gd name="adj" fmla="val 12000"/>
            </a:avLst>
          </a:prstGeom>
          <a:solidFill>
            <a:srgbClr val="F4F5F9"/>
          </a:solidFill>
          <a:ln w="12700">
            <a:solidFill>
              <a:srgbClr val="DDE1EC"/>
            </a:solidFill>
            <a:prstDash val="solid"/>
          </a:ln>
        </p:spPr>
      </p:sp>
      <p:sp>
        <p:nvSpPr>
          <p:cNvPr id="20" name="Text 18"/>
          <p:cNvSpPr/>
          <p:nvPr/>
        </p:nvSpPr>
        <p:spPr>
          <a:xfrm>
            <a:off x="513892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covered</a:t>
            </a:r>
            <a:endParaRPr lang="en-US" sz="1100" dirty="0"/>
          </a:p>
        </p:txBody>
      </p:sp>
      <p:sp>
        <p:nvSpPr>
          <p:cNvPr id="21" name="Shape 19"/>
          <p:cNvSpPr/>
          <p:nvPr/>
        </p:nvSpPr>
        <p:spPr>
          <a:xfrm>
            <a:off x="5705856" y="3639312"/>
            <a:ext cx="0" cy="-201168"/>
          </a:xfrm>
          <a:prstGeom prst="line">
            <a:avLst/>
          </a:prstGeom>
          <a:noFill/>
          <a:ln w="22225">
            <a:solidFill>
              <a:srgbClr val="8A93AB"/>
            </a:solidFill>
            <a:prstDash val="solid"/>
            <a:tailEnd type="triangle"/>
          </a:ln>
        </p:spPr>
      </p:sp>
      <p:sp>
        <p:nvSpPr>
          <p:cNvPr id="22" name="Shape 20"/>
          <p:cNvSpPr/>
          <p:nvPr/>
        </p:nvSpPr>
        <p:spPr>
          <a:xfrm>
            <a:off x="5184648" y="2743200"/>
            <a:ext cx="1051560" cy="658368"/>
          </a:xfrm>
          <a:prstGeom prst="roundRect">
            <a:avLst>
              <a:gd name="adj" fmla="val 8333"/>
            </a:avLst>
          </a:prstGeom>
          <a:solidFill>
            <a:srgbClr val="9B90EF"/>
          </a:solidFill>
          <a:ln w="12700">
            <a:solidFill>
              <a:srgbClr val="DDE1EC"/>
            </a:solidFill>
            <a:prstDash val="solid"/>
          </a:ln>
        </p:spPr>
      </p:sp>
      <p:sp>
        <p:nvSpPr>
          <p:cNvPr id="23" name="Text 21"/>
          <p:cNvSpPr/>
          <p:nvPr/>
        </p:nvSpPr>
        <p:spPr>
          <a:xfrm>
            <a:off x="518464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24" name="Shape 22"/>
          <p:cNvSpPr/>
          <p:nvPr/>
        </p:nvSpPr>
        <p:spPr>
          <a:xfrm>
            <a:off x="6236208" y="3072384"/>
            <a:ext cx="1097280" cy="0"/>
          </a:xfrm>
          <a:prstGeom prst="line">
            <a:avLst/>
          </a:prstGeom>
          <a:noFill/>
          <a:ln w="31750">
            <a:solidFill>
              <a:srgbClr val="9B90EF"/>
            </a:solidFill>
            <a:prstDash val="solid"/>
            <a:tailEnd type="triangle"/>
          </a:ln>
        </p:spPr>
      </p:sp>
      <p:sp>
        <p:nvSpPr>
          <p:cNvPr id="25" name="Shape 23"/>
          <p:cNvSpPr/>
          <p:nvPr/>
        </p:nvSpPr>
        <p:spPr>
          <a:xfrm>
            <a:off x="7333488" y="3657600"/>
            <a:ext cx="1143000" cy="457200"/>
          </a:xfrm>
          <a:prstGeom prst="roundRect">
            <a:avLst>
              <a:gd name="adj" fmla="val 12000"/>
            </a:avLst>
          </a:prstGeom>
          <a:solidFill>
            <a:srgbClr val="F4F5F9"/>
          </a:solidFill>
          <a:ln w="12700">
            <a:solidFill>
              <a:srgbClr val="DDE1EC"/>
            </a:solidFill>
            <a:prstDash val="solid"/>
          </a:ln>
        </p:spPr>
      </p:sp>
      <p:sp>
        <p:nvSpPr>
          <p:cNvPr id="26" name="Text 24"/>
          <p:cNvSpPr/>
          <p:nvPr/>
        </p:nvSpPr>
        <p:spPr>
          <a:xfrm>
            <a:off x="733348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before</a:t>
            </a:r>
            <a:endParaRPr lang="en-US" sz="1100" dirty="0"/>
          </a:p>
        </p:txBody>
      </p:sp>
      <p:sp>
        <p:nvSpPr>
          <p:cNvPr id="27" name="Shape 25"/>
          <p:cNvSpPr/>
          <p:nvPr/>
        </p:nvSpPr>
        <p:spPr>
          <a:xfrm>
            <a:off x="7900416" y="3639312"/>
            <a:ext cx="0" cy="-201168"/>
          </a:xfrm>
          <a:prstGeom prst="line">
            <a:avLst/>
          </a:prstGeom>
          <a:noFill/>
          <a:ln w="22225">
            <a:solidFill>
              <a:srgbClr val="8A93AB"/>
            </a:solidFill>
            <a:prstDash val="solid"/>
            <a:tailEnd type="triangle"/>
          </a:ln>
        </p:spPr>
      </p:sp>
      <p:sp>
        <p:nvSpPr>
          <p:cNvPr id="28" name="Shape 26"/>
          <p:cNvSpPr/>
          <p:nvPr/>
        </p:nvSpPr>
        <p:spPr>
          <a:xfrm>
            <a:off x="7379208" y="2743200"/>
            <a:ext cx="1051560" cy="658368"/>
          </a:xfrm>
          <a:prstGeom prst="roundRect">
            <a:avLst>
              <a:gd name="adj" fmla="val 8333"/>
            </a:avLst>
          </a:prstGeom>
          <a:solidFill>
            <a:srgbClr val="BDB6F4"/>
          </a:solidFill>
          <a:ln w="12700">
            <a:solidFill>
              <a:srgbClr val="DDE1EC"/>
            </a:solidFill>
            <a:prstDash val="solid"/>
          </a:ln>
        </p:spPr>
      </p:sp>
      <p:sp>
        <p:nvSpPr>
          <p:cNvPr id="29" name="Text 27"/>
          <p:cNvSpPr/>
          <p:nvPr/>
        </p:nvSpPr>
        <p:spPr>
          <a:xfrm>
            <a:off x="737920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30" name="Shape 28"/>
          <p:cNvSpPr/>
          <p:nvPr/>
        </p:nvSpPr>
        <p:spPr>
          <a:xfrm>
            <a:off x="8430768" y="3072384"/>
            <a:ext cx="1097280" cy="0"/>
          </a:xfrm>
          <a:prstGeom prst="line">
            <a:avLst/>
          </a:prstGeom>
          <a:noFill/>
          <a:ln w="31750">
            <a:solidFill>
              <a:srgbClr val="BDB6F4"/>
            </a:solidFill>
            <a:prstDash val="solid"/>
            <a:tailEnd type="triangle"/>
          </a:ln>
        </p:spPr>
      </p:sp>
      <p:sp>
        <p:nvSpPr>
          <p:cNvPr id="31" name="Shape 29"/>
          <p:cNvSpPr/>
          <p:nvPr/>
        </p:nvSpPr>
        <p:spPr>
          <a:xfrm>
            <a:off x="9528048" y="3657600"/>
            <a:ext cx="1143000" cy="457200"/>
          </a:xfrm>
          <a:prstGeom prst="roundRect">
            <a:avLst>
              <a:gd name="adj" fmla="val 12000"/>
            </a:avLst>
          </a:prstGeom>
          <a:solidFill>
            <a:srgbClr val="F4F5F9"/>
          </a:solidFill>
          <a:ln w="12700">
            <a:solidFill>
              <a:srgbClr val="DDE1EC"/>
            </a:solidFill>
            <a:prstDash val="solid"/>
          </a:ln>
        </p:spPr>
      </p:sp>
      <p:sp>
        <p:nvSpPr>
          <p:cNvPr id="32" name="Text 30"/>
          <p:cNvSpPr/>
          <p:nvPr/>
        </p:nvSpPr>
        <p:spPr>
          <a:xfrm>
            <a:off x="9528048" y="3657600"/>
            <a:ext cx="1143000" cy="45720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deductible</a:t>
            </a:r>
            <a:endParaRPr lang="en-US" sz="1100" dirty="0"/>
          </a:p>
        </p:txBody>
      </p:sp>
      <p:sp>
        <p:nvSpPr>
          <p:cNvPr id="33" name="Shape 31"/>
          <p:cNvSpPr/>
          <p:nvPr/>
        </p:nvSpPr>
        <p:spPr>
          <a:xfrm>
            <a:off x="10094976" y="3639312"/>
            <a:ext cx="0" cy="-201168"/>
          </a:xfrm>
          <a:prstGeom prst="line">
            <a:avLst/>
          </a:prstGeom>
          <a:noFill/>
          <a:ln w="22225">
            <a:solidFill>
              <a:srgbClr val="8A93AB"/>
            </a:solidFill>
            <a:prstDash val="solid"/>
            <a:tailEnd type="triangle"/>
          </a:ln>
        </p:spPr>
      </p:sp>
      <p:sp>
        <p:nvSpPr>
          <p:cNvPr id="34" name="Shape 32"/>
          <p:cNvSpPr/>
          <p:nvPr/>
        </p:nvSpPr>
        <p:spPr>
          <a:xfrm>
            <a:off x="9573768" y="2743200"/>
            <a:ext cx="1051560" cy="658368"/>
          </a:xfrm>
          <a:prstGeom prst="roundRect">
            <a:avLst>
              <a:gd name="adj" fmla="val 8333"/>
            </a:avLst>
          </a:prstGeom>
          <a:solidFill>
            <a:srgbClr val="D9D4FA"/>
          </a:solidFill>
          <a:ln w="12700">
            <a:solidFill>
              <a:srgbClr val="DDE1EC"/>
            </a:solidFill>
            <a:prstDash val="solid"/>
          </a:ln>
        </p:spPr>
      </p:sp>
      <p:sp>
        <p:nvSpPr>
          <p:cNvPr id="35" name="Text 33"/>
          <p:cNvSpPr/>
          <p:nvPr/>
        </p:nvSpPr>
        <p:spPr>
          <a:xfrm>
            <a:off x="9573768" y="2743200"/>
            <a:ext cx="1051560" cy="658368"/>
          </a:xfrm>
          <a:prstGeom prst="rect">
            <a:avLst/>
          </a:prstGeom>
          <a:noFill/>
          <a:ln/>
        </p:spPr>
        <p:txBody>
          <a:bodyPr wrap="square" lIns="25400" tIns="25400" rIns="25400" bIns="2540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6" name="Text 34"/>
          <p:cNvSpPr/>
          <p:nvPr/>
        </p:nvSpPr>
        <p:spPr>
          <a:xfrm>
            <a:off x="749808" y="2286000"/>
            <a:ext cx="10515600" cy="274320"/>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hidden state carries memory →  (colour fades = earlier words losing influence)</a:t>
            </a:r>
            <a:endParaRPr lang="en-US" sz="1050" dirty="0"/>
          </a:p>
        </p:txBody>
      </p:sp>
      <p:sp>
        <p:nvSpPr>
          <p:cNvPr id="37" name="Shape 35"/>
          <p:cNvSpPr/>
          <p:nvPr/>
        </p:nvSpPr>
        <p:spPr>
          <a:xfrm>
            <a:off x="566928" y="3977640"/>
            <a:ext cx="11045952" cy="548640"/>
          </a:xfrm>
          <a:prstGeom prst="roundRect">
            <a:avLst>
              <a:gd name="adj" fmla="val 16667"/>
            </a:avLst>
          </a:prstGeom>
          <a:solidFill>
            <a:srgbClr val="FBE7E7"/>
          </a:solidFill>
          <a:ln/>
        </p:spPr>
      </p:sp>
      <p:sp>
        <p:nvSpPr>
          <p:cNvPr id="38" name="Shape 36"/>
          <p:cNvSpPr/>
          <p:nvPr/>
        </p:nvSpPr>
        <p:spPr>
          <a:xfrm>
            <a:off x="713232" y="4069080"/>
            <a:ext cx="365760" cy="365760"/>
          </a:xfrm>
          <a:prstGeom prst="ellipse">
            <a:avLst/>
          </a:prstGeom>
          <a:solidFill>
            <a:srgbClr val="E5484D"/>
          </a:solidFill>
          <a:ln/>
        </p:spPr>
      </p:sp>
      <p:pic>
        <p:nvPicPr>
          <p:cNvPr id="39" name="Image 0" descr="preencoded.png">    </p:cNvPr>
          <p:cNvPicPr>
            <a:picLocks noChangeAspect="1"/>
          </p:cNvPicPr>
          <p:nvPr/>
        </p:nvPicPr>
        <p:blipFill>
          <a:blip r:embed="rId1"/>
          <a:stretch>
            <a:fillRect/>
          </a:stretch>
        </p:blipFill>
        <p:spPr>
          <a:xfrm>
            <a:off x="804672" y="4160520"/>
            <a:ext cx="182880" cy="182880"/>
          </a:xfrm>
          <a:prstGeom prst="rect">
            <a:avLst/>
          </a:prstGeom>
        </p:spPr>
      </p:pic>
      <p:sp>
        <p:nvSpPr>
          <p:cNvPr id="40" name="Text 37"/>
          <p:cNvSpPr/>
          <p:nvPr/>
        </p:nvSpPr>
        <p:spPr>
          <a:xfrm>
            <a:off x="1207008" y="3977640"/>
            <a:ext cx="10241280" cy="548640"/>
          </a:xfrm>
          <a:prstGeom prst="rect">
            <a:avLst/>
          </a:prstGeom>
          <a:noFill/>
          <a:ln/>
        </p:spPr>
        <p:txBody>
          <a:bodyPr wrap="square" lIns="0" tIns="0" rIns="0" bIns="0" rtlCol="0" anchor="ctr"/>
          <a:lstStyle/>
          <a:p>
            <a:pPr indent="0" marL="0">
              <a:buNone/>
            </a:pPr>
            <a:r>
              <a:rPr lang="en-US" sz="1250" b="1" dirty="0">
                <a:solidFill>
                  <a:srgbClr val="E5484D"/>
                </a:solidFill>
                <a:latin typeface="Calibri" pitchFamily="34" charset="0"/>
                <a:ea typeface="Calibri" pitchFamily="34" charset="-122"/>
                <a:cs typeface="Calibri" pitchFamily="34" charset="-120"/>
              </a:rPr>
              <a:t>The problem:  </a:t>
            </a:r>
            <a:pPr indent="0" marL="0">
              <a:buNone/>
            </a:pPr>
            <a:r>
              <a:rPr lang="en-US" sz="1250" dirty="0">
                <a:solidFill>
                  <a:srgbClr val="1B2440"/>
                </a:solidFill>
                <a:latin typeface="Calibri" pitchFamily="34" charset="0"/>
                <a:ea typeface="Calibri" pitchFamily="34" charset="-122"/>
                <a:cs typeface="Calibri" pitchFamily="34" charset="-120"/>
              </a:rPr>
              <a:t>by the time the model reaches “deductible”, the link back to “knee MRI” — which the answer depends on — has nearly faded.</a:t>
            </a:r>
            <a:endParaRPr lang="en-US" sz="1250" dirty="0"/>
          </a:p>
        </p:txBody>
      </p:sp>
      <p:sp>
        <p:nvSpPr>
          <p:cNvPr id="41" name="Shape 38"/>
          <p:cNvSpPr/>
          <p:nvPr/>
        </p:nvSpPr>
        <p:spPr>
          <a:xfrm>
            <a:off x="566928" y="4709160"/>
            <a:ext cx="5440680" cy="1417320"/>
          </a:xfrm>
          <a:prstGeom prst="roundRect">
            <a:avLst>
              <a:gd name="adj" fmla="val 6452"/>
            </a:avLst>
          </a:prstGeom>
          <a:solidFill>
            <a:srgbClr val="E3F4EA"/>
          </a:solidFill>
          <a:ln/>
          <a:effectLst>
            <a:outerShdw sx="100000" sy="100000" kx="0" ky="0" algn="bl" rotWithShape="0" blurRad="114300" dist="38100" dir="5400000">
              <a:srgbClr val="9AA2BC">
                <a:alpha val="16000"/>
              </a:srgbClr>
            </a:outerShdw>
          </a:effectLst>
        </p:spPr>
      </p:sp>
      <p:sp>
        <p:nvSpPr>
          <p:cNvPr id="42" name="Shape 39"/>
          <p:cNvSpPr/>
          <p:nvPr/>
        </p:nvSpPr>
        <p:spPr>
          <a:xfrm>
            <a:off x="768096" y="4910328"/>
            <a:ext cx="548640" cy="548640"/>
          </a:xfrm>
          <a:prstGeom prst="ellipse">
            <a:avLst/>
          </a:prstGeom>
          <a:solidFill>
            <a:srgbClr val="1B9C5A"/>
          </a:solidFill>
          <a:ln/>
        </p:spPr>
      </p:sp>
      <p:pic>
        <p:nvPicPr>
          <p:cNvPr id="43" name="Image 1" descr="preencoded.png">    </p:cNvPr>
          <p:cNvPicPr>
            <a:picLocks noChangeAspect="1"/>
          </p:cNvPicPr>
          <p:nvPr/>
        </p:nvPicPr>
        <p:blipFill>
          <a:blip r:embed="rId2"/>
          <a:stretch>
            <a:fillRect/>
          </a:stretch>
        </p:blipFill>
        <p:spPr>
          <a:xfrm>
            <a:off x="905256" y="5047488"/>
            <a:ext cx="274320" cy="274320"/>
          </a:xfrm>
          <a:prstGeom prst="rect">
            <a:avLst/>
          </a:prstGeom>
        </p:spPr>
      </p:pic>
      <p:sp>
        <p:nvSpPr>
          <p:cNvPr id="44" name="Text 40"/>
          <p:cNvSpPr/>
          <p:nvPr/>
        </p:nvSpPr>
        <p:spPr>
          <a:xfrm>
            <a:off x="1435608" y="4892040"/>
            <a:ext cx="4389120" cy="310896"/>
          </a:xfrm>
          <a:prstGeom prst="rect">
            <a:avLst/>
          </a:prstGeom>
          <a:noFill/>
          <a:ln/>
        </p:spPr>
        <p:txBody>
          <a:bodyPr wrap="square" lIns="0" tIns="0" rIns="0" bIns="0" rtlCol="0" anchor="ctr"/>
          <a:lstStyle/>
          <a:p>
            <a:pPr indent="0" marL="0">
              <a:buNone/>
            </a:pPr>
            <a:r>
              <a:rPr lang="en-US" sz="1350" b="1" dirty="0">
                <a:solidFill>
                  <a:srgbClr val="1B9C5A"/>
                </a:solidFill>
                <a:latin typeface="Calibri" pitchFamily="34" charset="0"/>
                <a:ea typeface="Calibri" pitchFamily="34" charset="-122"/>
                <a:cs typeface="Calibri" pitchFamily="34" charset="-120"/>
              </a:rPr>
              <a:t>What RNNs gave us</a:t>
            </a:r>
            <a:endParaRPr lang="en-US" sz="1350" dirty="0"/>
          </a:p>
        </p:txBody>
      </p:sp>
      <p:sp>
        <p:nvSpPr>
          <p:cNvPr id="45" name="Text 41"/>
          <p:cNvSpPr/>
          <p:nvPr/>
        </p:nvSpPr>
        <p:spPr>
          <a:xfrm>
            <a:off x="1435608" y="5239512"/>
            <a:ext cx="4480560" cy="822960"/>
          </a:xfrm>
          <a:prstGeom prst="rect">
            <a:avLst/>
          </a:prstGeom>
          <a:noFill/>
          <a:ln/>
        </p:spPr>
        <p:txBody>
          <a:bodyPr wrap="square" lIns="25400" tIns="25400" rIns="25400" bIns="25400" rtlCol="0" anchor="t"/>
          <a:lstStyle/>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Handle variable-length text naturally</a:t>
            </a:r>
            <a:endParaRPr lang="en-US" sz="1180" dirty="0"/>
          </a:p>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A genuine notion of sequential memory</a:t>
            </a:r>
            <a:endParaRPr lang="en-US" sz="1180" dirty="0"/>
          </a:p>
        </p:txBody>
      </p:sp>
      <p:sp>
        <p:nvSpPr>
          <p:cNvPr id="46" name="Shape 42"/>
          <p:cNvSpPr/>
          <p:nvPr/>
        </p:nvSpPr>
        <p:spPr>
          <a:xfrm>
            <a:off x="6400800" y="4709160"/>
            <a:ext cx="5212080" cy="1417320"/>
          </a:xfrm>
          <a:prstGeom prst="roundRect">
            <a:avLst>
              <a:gd name="adj" fmla="val 6452"/>
            </a:avLst>
          </a:prstGeom>
          <a:solidFill>
            <a:srgbClr val="FBE7E7"/>
          </a:solidFill>
          <a:ln/>
          <a:effectLst>
            <a:outerShdw sx="100000" sy="100000" kx="0" ky="0" algn="bl" rotWithShape="0" blurRad="114300" dist="38100" dir="5400000">
              <a:srgbClr val="9AA2BC">
                <a:alpha val="16000"/>
              </a:srgbClr>
            </a:outerShdw>
          </a:effectLst>
        </p:spPr>
      </p:sp>
      <p:sp>
        <p:nvSpPr>
          <p:cNvPr id="47" name="Shape 43"/>
          <p:cNvSpPr/>
          <p:nvPr/>
        </p:nvSpPr>
        <p:spPr>
          <a:xfrm>
            <a:off x="6601968" y="4910328"/>
            <a:ext cx="548640" cy="548640"/>
          </a:xfrm>
          <a:prstGeom prst="ellipse">
            <a:avLst/>
          </a:prstGeom>
          <a:solidFill>
            <a:srgbClr val="E5484D"/>
          </a:solidFill>
          <a:ln/>
        </p:spPr>
      </p:sp>
      <p:pic>
        <p:nvPicPr>
          <p:cNvPr id="48" name="Image 2" descr="preencoded.png">    </p:cNvPr>
          <p:cNvPicPr>
            <a:picLocks noChangeAspect="1"/>
          </p:cNvPicPr>
          <p:nvPr/>
        </p:nvPicPr>
        <p:blipFill>
          <a:blip r:embed="rId3"/>
          <a:stretch>
            <a:fillRect/>
          </a:stretch>
        </p:blipFill>
        <p:spPr>
          <a:xfrm>
            <a:off x="6739128" y="5047488"/>
            <a:ext cx="274320" cy="274320"/>
          </a:xfrm>
          <a:prstGeom prst="rect">
            <a:avLst/>
          </a:prstGeom>
        </p:spPr>
      </p:pic>
      <p:sp>
        <p:nvSpPr>
          <p:cNvPr id="49" name="Text 44"/>
          <p:cNvSpPr/>
          <p:nvPr/>
        </p:nvSpPr>
        <p:spPr>
          <a:xfrm>
            <a:off x="7086600" y="4892040"/>
            <a:ext cx="4297680" cy="310896"/>
          </a:xfrm>
          <a:prstGeom prst="rect">
            <a:avLst/>
          </a:prstGeom>
          <a:noFill/>
          <a:ln/>
        </p:spPr>
        <p:txBody>
          <a:bodyPr wrap="square" lIns="0" tIns="0" rIns="0" bIns="0" rtlCol="0" anchor="ctr"/>
          <a:lstStyle/>
          <a:p>
            <a:pPr indent="0" marL="0">
              <a:buNone/>
            </a:pPr>
            <a:r>
              <a:rPr lang="en-US" sz="1350" b="1" dirty="0">
                <a:solidFill>
                  <a:srgbClr val="E5484D"/>
                </a:solidFill>
                <a:latin typeface="Calibri" pitchFamily="34" charset="0"/>
                <a:ea typeface="Calibri" pitchFamily="34" charset="-122"/>
                <a:cs typeface="Calibri" pitchFamily="34" charset="-120"/>
              </a:rPr>
              <a:t>The fatal weaknesses</a:t>
            </a:r>
            <a:endParaRPr lang="en-US" sz="1350" dirty="0"/>
          </a:p>
        </p:txBody>
      </p:sp>
      <p:sp>
        <p:nvSpPr>
          <p:cNvPr id="50" name="Text 45"/>
          <p:cNvSpPr/>
          <p:nvPr/>
        </p:nvSpPr>
        <p:spPr>
          <a:xfrm>
            <a:off x="7086600" y="5239512"/>
            <a:ext cx="4206240" cy="822960"/>
          </a:xfrm>
          <a:prstGeom prst="rect">
            <a:avLst/>
          </a:prstGeom>
          <a:noFill/>
          <a:ln/>
        </p:spPr>
        <p:txBody>
          <a:bodyPr wrap="square" lIns="25400" tIns="25400" rIns="25400" bIns="25400" rtlCol="0" anchor="t"/>
          <a:lstStyle/>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Strictly sequential → can't parallelise on GPUs</a:t>
            </a:r>
            <a:endParaRPr lang="en-US" sz="1180" dirty="0"/>
          </a:p>
          <a:p>
            <a:pPr marL="177800" indent="-177800">
              <a:lnSpc>
                <a:spcPct val="104000"/>
              </a:lnSpc>
              <a:spcAft>
                <a:spcPts val="300"/>
              </a:spcAft>
              <a:buSzPct val="100000"/>
              <a:buChar char="•"/>
            </a:pPr>
            <a:r>
              <a:rPr lang="en-US" sz="1180" dirty="0">
                <a:solidFill>
                  <a:srgbClr val="1B2440"/>
                </a:solidFill>
                <a:latin typeface="Calibri" pitchFamily="34" charset="0"/>
                <a:ea typeface="Calibri" pitchFamily="34" charset="-122"/>
                <a:cs typeface="Calibri" pitchFamily="34" charset="-120"/>
              </a:rPr>
              <a:t>Long-range signal vanishes across many steps</a:t>
            </a:r>
            <a:endParaRPr lang="en-US" sz="11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1997, REVIVED ~2014</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LSTM &amp; GRU: gates that protect memory</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Hochreiter &amp; Schmidhuber, 'Long Short-Term Memory' (1997) · Cho et al., GRU (2014)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66928" y="1600200"/>
            <a:ext cx="576072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44068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Inside one LSTM cell — keep what matters, drop the rest</a:t>
            </a:r>
            <a:endParaRPr lang="en-US" sz="1500" dirty="0"/>
          </a:p>
        </p:txBody>
      </p:sp>
      <p:sp>
        <p:nvSpPr>
          <p:cNvPr id="8" name="Shape 6"/>
          <p:cNvSpPr/>
          <p:nvPr/>
        </p:nvSpPr>
        <p:spPr>
          <a:xfrm>
            <a:off x="978408" y="2468880"/>
            <a:ext cx="5120640" cy="0"/>
          </a:xfrm>
          <a:prstGeom prst="line">
            <a:avLst/>
          </a:prstGeom>
          <a:noFill/>
          <a:ln w="38100">
            <a:solidFill>
              <a:srgbClr val="D9820A"/>
            </a:solidFill>
            <a:prstDash val="solid"/>
            <a:tailEnd type="triangle"/>
          </a:ln>
        </p:spPr>
      </p:sp>
      <p:sp>
        <p:nvSpPr>
          <p:cNvPr id="9" name="Text 7"/>
          <p:cNvSpPr/>
          <p:nvPr/>
        </p:nvSpPr>
        <p:spPr>
          <a:xfrm>
            <a:off x="978408" y="2157984"/>
            <a:ext cx="5120640" cy="274320"/>
          </a:xfrm>
          <a:prstGeom prst="rect">
            <a:avLst/>
          </a:prstGeom>
          <a:noFill/>
          <a:ln/>
        </p:spPr>
        <p:txBody>
          <a:bodyPr wrap="square" lIns="0" tIns="0" rIns="0" bIns="0" rtlCol="0" anchor="ctr"/>
          <a:lstStyle/>
          <a:p>
            <a:pPr indent="0" marL="0">
              <a:buNone/>
            </a:pPr>
            <a:r>
              <a:rPr lang="en-US" sz="1050" b="1" i="1" dirty="0">
                <a:solidFill>
                  <a:srgbClr val="D9820A"/>
                </a:solidFill>
                <a:latin typeface="Calibri" pitchFamily="34" charset="0"/>
                <a:ea typeface="Calibri" pitchFamily="34" charset="-122"/>
                <a:cs typeface="Calibri" pitchFamily="34" charset="-120"/>
              </a:rPr>
              <a:t>cell state  (the long-term memory highway)</a:t>
            </a:r>
            <a:endParaRPr lang="en-US" sz="1050" dirty="0"/>
          </a:p>
        </p:txBody>
      </p:sp>
      <p:sp>
        <p:nvSpPr>
          <p:cNvPr id="10" name="Shape 8"/>
          <p:cNvSpPr/>
          <p:nvPr/>
        </p:nvSpPr>
        <p:spPr>
          <a:xfrm>
            <a:off x="978408" y="2880360"/>
            <a:ext cx="502920" cy="502920"/>
          </a:xfrm>
          <a:prstGeom prst="ellipse">
            <a:avLst/>
          </a:prstGeom>
          <a:solidFill>
            <a:srgbClr val="E5484D"/>
          </a:solidFill>
          <a:ln/>
        </p:spPr>
      </p:sp>
      <p:sp>
        <p:nvSpPr>
          <p:cNvPr id="11" name="Text 9"/>
          <p:cNvSpPr/>
          <p:nvPr/>
        </p:nvSpPr>
        <p:spPr>
          <a:xfrm>
            <a:off x="978408" y="2880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2" name="Text 10"/>
          <p:cNvSpPr/>
          <p:nvPr/>
        </p:nvSpPr>
        <p:spPr>
          <a:xfrm>
            <a:off x="1664208" y="2907792"/>
            <a:ext cx="4297680" cy="292608"/>
          </a:xfrm>
          <a:prstGeom prst="rect">
            <a:avLst/>
          </a:prstGeom>
          <a:noFill/>
          <a:ln/>
        </p:spPr>
        <p:txBody>
          <a:bodyPr wrap="square" lIns="0" tIns="0" rIns="0" bIns="0" rtlCol="0" anchor="ctr"/>
          <a:lstStyle/>
          <a:p>
            <a:pPr indent="0" marL="0">
              <a:buNone/>
            </a:pPr>
            <a:r>
              <a:rPr lang="en-US" sz="1350" b="1" dirty="0">
                <a:solidFill>
                  <a:srgbClr val="E5484D"/>
                </a:solidFill>
                <a:latin typeface="Calibri" pitchFamily="34" charset="0"/>
                <a:ea typeface="Calibri" pitchFamily="34" charset="-122"/>
                <a:cs typeface="Calibri" pitchFamily="34" charset="-120"/>
              </a:rPr>
              <a:t>Forget gate</a:t>
            </a:r>
            <a:endParaRPr lang="en-US" sz="1350" dirty="0"/>
          </a:p>
        </p:txBody>
      </p:sp>
      <p:sp>
        <p:nvSpPr>
          <p:cNvPr id="13" name="Text 11"/>
          <p:cNvSpPr/>
          <p:nvPr/>
        </p:nvSpPr>
        <p:spPr>
          <a:xfrm>
            <a:off x="1664208" y="3163824"/>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drop stale context — filler words</a:t>
            </a:r>
            <a:endParaRPr lang="en-US" sz="1150" dirty="0"/>
          </a:p>
        </p:txBody>
      </p:sp>
      <p:sp>
        <p:nvSpPr>
          <p:cNvPr id="14" name="Shape 12"/>
          <p:cNvSpPr/>
          <p:nvPr/>
        </p:nvSpPr>
        <p:spPr>
          <a:xfrm>
            <a:off x="1225296" y="2880360"/>
            <a:ext cx="0" cy="-146304"/>
          </a:xfrm>
          <a:prstGeom prst="line">
            <a:avLst/>
          </a:prstGeom>
          <a:noFill/>
          <a:ln w="22225">
            <a:solidFill>
              <a:srgbClr val="8A93AB"/>
            </a:solidFill>
            <a:prstDash val="solid"/>
            <a:tailEnd type="triangle"/>
          </a:ln>
        </p:spPr>
      </p:sp>
      <p:sp>
        <p:nvSpPr>
          <p:cNvPr id="15" name="Shape 13"/>
          <p:cNvSpPr/>
          <p:nvPr/>
        </p:nvSpPr>
        <p:spPr>
          <a:xfrm>
            <a:off x="978408" y="3904488"/>
            <a:ext cx="502920" cy="502920"/>
          </a:xfrm>
          <a:prstGeom prst="ellipse">
            <a:avLst/>
          </a:prstGeom>
          <a:solidFill>
            <a:srgbClr val="0E9E96"/>
          </a:solidFill>
          <a:ln/>
        </p:spPr>
      </p:sp>
      <p:sp>
        <p:nvSpPr>
          <p:cNvPr id="16" name="Text 14"/>
          <p:cNvSpPr/>
          <p:nvPr/>
        </p:nvSpPr>
        <p:spPr>
          <a:xfrm>
            <a:off x="978408" y="39044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17" name="Text 15"/>
          <p:cNvSpPr/>
          <p:nvPr/>
        </p:nvSpPr>
        <p:spPr>
          <a:xfrm>
            <a:off x="1664208" y="3931920"/>
            <a:ext cx="4297680" cy="292608"/>
          </a:xfrm>
          <a:prstGeom prst="rect">
            <a:avLst/>
          </a:prstGeom>
          <a:noFill/>
          <a:ln/>
        </p:spPr>
        <p:txBody>
          <a:bodyPr wrap="square" lIns="0" tIns="0" rIns="0" bIns="0" rtlCol="0" anchor="ctr"/>
          <a:lstStyle/>
          <a:p>
            <a:pPr indent="0" marL="0">
              <a:buNone/>
            </a:pPr>
            <a:r>
              <a:rPr lang="en-US" sz="1350" b="1" dirty="0">
                <a:solidFill>
                  <a:srgbClr val="0E9E96"/>
                </a:solidFill>
                <a:latin typeface="Calibri" pitchFamily="34" charset="0"/>
                <a:ea typeface="Calibri" pitchFamily="34" charset="-122"/>
                <a:cs typeface="Calibri" pitchFamily="34" charset="-120"/>
              </a:rPr>
              <a:t>Input gate</a:t>
            </a:r>
            <a:endParaRPr lang="en-US" sz="1350" dirty="0"/>
          </a:p>
        </p:txBody>
      </p:sp>
      <p:sp>
        <p:nvSpPr>
          <p:cNvPr id="18" name="Text 16"/>
          <p:cNvSpPr/>
          <p:nvPr/>
        </p:nvSpPr>
        <p:spPr>
          <a:xfrm>
            <a:off x="1664208" y="4187952"/>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store key facts: “knee MRI”, “deductible”</a:t>
            </a:r>
            <a:endParaRPr lang="en-US" sz="1150" dirty="0"/>
          </a:p>
        </p:txBody>
      </p:sp>
      <p:sp>
        <p:nvSpPr>
          <p:cNvPr id="19" name="Shape 17"/>
          <p:cNvSpPr/>
          <p:nvPr/>
        </p:nvSpPr>
        <p:spPr>
          <a:xfrm>
            <a:off x="1225296" y="3904488"/>
            <a:ext cx="0" cy="-146304"/>
          </a:xfrm>
          <a:prstGeom prst="line">
            <a:avLst/>
          </a:prstGeom>
          <a:noFill/>
          <a:ln w="22225">
            <a:solidFill>
              <a:srgbClr val="8A93AB"/>
            </a:solidFill>
            <a:prstDash val="solid"/>
            <a:tailEnd type="triangle"/>
          </a:ln>
        </p:spPr>
      </p:sp>
      <p:sp>
        <p:nvSpPr>
          <p:cNvPr id="20" name="Shape 18"/>
          <p:cNvSpPr/>
          <p:nvPr/>
        </p:nvSpPr>
        <p:spPr>
          <a:xfrm>
            <a:off x="978408" y="4928616"/>
            <a:ext cx="502920" cy="502920"/>
          </a:xfrm>
          <a:prstGeom prst="ellipse">
            <a:avLst/>
          </a:prstGeom>
          <a:solidFill>
            <a:srgbClr val="5B4BE0"/>
          </a:solidFill>
          <a:ln/>
        </p:spPr>
      </p:sp>
      <p:sp>
        <p:nvSpPr>
          <p:cNvPr id="21" name="Text 19"/>
          <p:cNvSpPr/>
          <p:nvPr/>
        </p:nvSpPr>
        <p:spPr>
          <a:xfrm>
            <a:off x="978408" y="49286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σ</a:t>
            </a:r>
            <a:endParaRPr lang="en-US" sz="1800" dirty="0"/>
          </a:p>
        </p:txBody>
      </p:sp>
      <p:sp>
        <p:nvSpPr>
          <p:cNvPr id="22" name="Text 20"/>
          <p:cNvSpPr/>
          <p:nvPr/>
        </p:nvSpPr>
        <p:spPr>
          <a:xfrm>
            <a:off x="1664208" y="4956048"/>
            <a:ext cx="4297680" cy="292608"/>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Output gate</a:t>
            </a:r>
            <a:endParaRPr lang="en-US" sz="1350" dirty="0"/>
          </a:p>
        </p:txBody>
      </p:sp>
      <p:sp>
        <p:nvSpPr>
          <p:cNvPr id="23" name="Text 21"/>
          <p:cNvSpPr/>
          <p:nvPr/>
        </p:nvSpPr>
        <p:spPr>
          <a:xfrm>
            <a:off x="1664208" y="5212080"/>
            <a:ext cx="4297680" cy="27432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emit what the next word needs</a:t>
            </a:r>
            <a:endParaRPr lang="en-US" sz="1150" dirty="0"/>
          </a:p>
        </p:txBody>
      </p:sp>
      <p:sp>
        <p:nvSpPr>
          <p:cNvPr id="24" name="Shape 22"/>
          <p:cNvSpPr/>
          <p:nvPr/>
        </p:nvSpPr>
        <p:spPr>
          <a:xfrm>
            <a:off x="1225296" y="4928616"/>
            <a:ext cx="0" cy="-146304"/>
          </a:xfrm>
          <a:prstGeom prst="line">
            <a:avLst/>
          </a:prstGeom>
          <a:noFill/>
          <a:ln w="22225">
            <a:solidFill>
              <a:srgbClr val="8A93AB"/>
            </a:solidFill>
            <a:prstDash val="solid"/>
            <a:tailEnd type="triangle"/>
          </a:ln>
        </p:spPr>
      </p:sp>
      <p:sp>
        <p:nvSpPr>
          <p:cNvPr id="25" name="Shape 23"/>
          <p:cNvSpPr/>
          <p:nvPr/>
        </p:nvSpPr>
        <p:spPr>
          <a:xfrm>
            <a:off x="6629400" y="1600200"/>
            <a:ext cx="4983480" cy="2011680"/>
          </a:xfrm>
          <a:prstGeom prst="roundRect">
            <a:avLst>
              <a:gd name="adj" fmla="val 4545"/>
            </a:avLst>
          </a:prstGeom>
          <a:solidFill>
            <a:srgbClr val="E3F4EA"/>
          </a:solidFill>
          <a:ln/>
          <a:effectLst>
            <a:outerShdw sx="100000" sy="100000" kx="0" ky="0" algn="bl" rotWithShape="0" blurRad="114300" dist="38100" dir="5400000">
              <a:srgbClr val="9AA2BC">
                <a:alpha val="16000"/>
              </a:srgbClr>
            </a:outerShdw>
          </a:effectLst>
        </p:spPr>
      </p:sp>
      <p:sp>
        <p:nvSpPr>
          <p:cNvPr id="26" name="Shape 24"/>
          <p:cNvSpPr/>
          <p:nvPr/>
        </p:nvSpPr>
        <p:spPr>
          <a:xfrm>
            <a:off x="6858000" y="1828800"/>
            <a:ext cx="640080" cy="640080"/>
          </a:xfrm>
          <a:prstGeom prst="ellipse">
            <a:avLst/>
          </a:prstGeom>
          <a:solidFill>
            <a:srgbClr val="1B9C5A"/>
          </a:solidFill>
          <a:ln/>
        </p:spPr>
      </p:sp>
      <p:pic>
        <p:nvPicPr>
          <p:cNvPr id="27" name="Image 0" descr="preencoded.png">    </p:cNvPr>
          <p:cNvPicPr>
            <a:picLocks noChangeAspect="1"/>
          </p:cNvPicPr>
          <p:nvPr/>
        </p:nvPicPr>
        <p:blipFill>
          <a:blip r:embed="rId1"/>
          <a:stretch>
            <a:fillRect/>
          </a:stretch>
        </p:blipFill>
        <p:spPr>
          <a:xfrm>
            <a:off x="7018020" y="1988820"/>
            <a:ext cx="320040" cy="320040"/>
          </a:xfrm>
          <a:prstGeom prst="rect">
            <a:avLst/>
          </a:prstGeom>
        </p:spPr>
      </p:pic>
      <p:sp>
        <p:nvSpPr>
          <p:cNvPr id="28" name="Text 25"/>
          <p:cNvSpPr/>
          <p:nvPr/>
        </p:nvSpPr>
        <p:spPr>
          <a:xfrm>
            <a:off x="7635240" y="1810512"/>
            <a:ext cx="3794760" cy="329184"/>
          </a:xfrm>
          <a:prstGeom prst="rect">
            <a:avLst/>
          </a:prstGeom>
          <a:noFill/>
          <a:ln/>
        </p:spPr>
        <p:txBody>
          <a:bodyPr wrap="square" lIns="0" tIns="0" rIns="0" bIns="0" rtlCol="0" anchor="ctr"/>
          <a:lstStyle/>
          <a:p>
            <a:pPr indent="0" marL="0">
              <a:buNone/>
            </a:pPr>
            <a:r>
              <a:rPr lang="en-US" sz="1500" b="1" dirty="0">
                <a:solidFill>
                  <a:srgbClr val="1B9C5A"/>
                </a:solidFill>
                <a:latin typeface="Calibri" pitchFamily="34" charset="0"/>
                <a:ea typeface="Calibri" pitchFamily="34" charset="-122"/>
                <a:cs typeface="Calibri" pitchFamily="34" charset="-120"/>
              </a:rPr>
              <a:t>Problem it solved</a:t>
            </a:r>
            <a:endParaRPr lang="en-US" sz="1500" dirty="0"/>
          </a:p>
        </p:txBody>
      </p:sp>
      <p:sp>
        <p:nvSpPr>
          <p:cNvPr id="29" name="Text 26"/>
          <p:cNvSpPr/>
          <p:nvPr/>
        </p:nvSpPr>
        <p:spPr>
          <a:xfrm>
            <a:off x="6903720" y="2468880"/>
            <a:ext cx="4480560" cy="1051560"/>
          </a:xfrm>
          <a:prstGeom prst="rect">
            <a:avLst/>
          </a:prstGeom>
          <a:noFill/>
          <a:ln/>
        </p:spPr>
        <p:txBody>
          <a:bodyPr wrap="square" lIns="0" tIns="0" rIns="0" bIns="0" rtlCol="0" anchor="t"/>
          <a:lstStyle/>
          <a:p>
            <a:pPr indent="0" marL="0">
              <a:lnSpc>
                <a:spcPct val="114000"/>
              </a:lnSpc>
              <a:buNone/>
            </a:pPr>
            <a:r>
              <a:rPr lang="en-US" sz="1240" dirty="0">
                <a:solidFill>
                  <a:srgbClr val="1B2440"/>
                </a:solidFill>
                <a:latin typeface="Calibri" pitchFamily="34" charset="0"/>
                <a:ea typeface="Calibri" pitchFamily="34" charset="-122"/>
                <a:cs typeface="Calibri" pitchFamily="34" charset="-120"/>
              </a:rPr>
              <a:t>Gates let gradients flow across far more time-steps, so “knee MRI” can survive until “deductible”. LSTMs powered Google Translate, Siri &amp; speech recognition for years (≈2014–2017).</a:t>
            </a:r>
            <a:endParaRPr lang="en-US" sz="1240" dirty="0"/>
          </a:p>
        </p:txBody>
      </p:sp>
      <p:sp>
        <p:nvSpPr>
          <p:cNvPr id="30" name="Shape 27"/>
          <p:cNvSpPr/>
          <p:nvPr/>
        </p:nvSpPr>
        <p:spPr>
          <a:xfrm>
            <a:off x="6629400" y="3794760"/>
            <a:ext cx="4983480" cy="2240280"/>
          </a:xfrm>
          <a:prstGeom prst="roundRect">
            <a:avLst>
              <a:gd name="adj" fmla="val 4082"/>
            </a:avLst>
          </a:prstGeom>
          <a:solidFill>
            <a:srgbClr val="FBE7E7"/>
          </a:solidFill>
          <a:ln/>
          <a:effectLst>
            <a:outerShdw sx="100000" sy="100000" kx="0" ky="0" algn="bl" rotWithShape="0" blurRad="114300" dist="38100" dir="5400000">
              <a:srgbClr val="9AA2BC">
                <a:alpha val="16000"/>
              </a:srgbClr>
            </a:outerShdw>
          </a:effectLst>
        </p:spPr>
      </p:sp>
      <p:sp>
        <p:nvSpPr>
          <p:cNvPr id="31" name="Shape 28"/>
          <p:cNvSpPr/>
          <p:nvPr/>
        </p:nvSpPr>
        <p:spPr>
          <a:xfrm>
            <a:off x="6858000" y="4023360"/>
            <a:ext cx="640080" cy="640080"/>
          </a:xfrm>
          <a:prstGeom prst="ellipse">
            <a:avLst/>
          </a:prstGeom>
          <a:solidFill>
            <a:srgbClr val="E5484D"/>
          </a:solidFill>
          <a:ln/>
        </p:spPr>
      </p:sp>
      <p:pic>
        <p:nvPicPr>
          <p:cNvPr id="32" name="Image 1" descr="preencoded.png">    </p:cNvPr>
          <p:cNvPicPr>
            <a:picLocks noChangeAspect="1"/>
          </p:cNvPicPr>
          <p:nvPr/>
        </p:nvPicPr>
        <p:blipFill>
          <a:blip r:embed="rId2"/>
          <a:stretch>
            <a:fillRect/>
          </a:stretch>
        </p:blipFill>
        <p:spPr>
          <a:xfrm>
            <a:off x="7018020" y="4183380"/>
            <a:ext cx="320040" cy="320040"/>
          </a:xfrm>
          <a:prstGeom prst="rect">
            <a:avLst/>
          </a:prstGeom>
        </p:spPr>
      </p:pic>
      <p:sp>
        <p:nvSpPr>
          <p:cNvPr id="33" name="Text 29"/>
          <p:cNvSpPr/>
          <p:nvPr/>
        </p:nvSpPr>
        <p:spPr>
          <a:xfrm>
            <a:off x="7635240" y="4005072"/>
            <a:ext cx="3794760" cy="329184"/>
          </a:xfrm>
          <a:prstGeom prst="rect">
            <a:avLst/>
          </a:prstGeom>
          <a:noFill/>
          <a:ln/>
        </p:spPr>
        <p:txBody>
          <a:bodyPr wrap="square" lIns="0" tIns="0" rIns="0" bIns="0" rtlCol="0" anchor="ctr"/>
          <a:lstStyle/>
          <a:p>
            <a:pPr indent="0" marL="0">
              <a:buNone/>
            </a:pPr>
            <a:r>
              <a:rPr lang="en-US" sz="1500" b="1" dirty="0">
                <a:solidFill>
                  <a:srgbClr val="E5484D"/>
                </a:solidFill>
                <a:latin typeface="Calibri" pitchFamily="34" charset="0"/>
                <a:ea typeface="Calibri" pitchFamily="34" charset="-122"/>
                <a:cs typeface="Calibri" pitchFamily="34" charset="-120"/>
              </a:rPr>
              <a:t>Problem it did NOT solve</a:t>
            </a:r>
            <a:endParaRPr lang="en-US" sz="1500" dirty="0"/>
          </a:p>
        </p:txBody>
      </p:sp>
      <p:sp>
        <p:nvSpPr>
          <p:cNvPr id="34" name="Text 30"/>
          <p:cNvSpPr/>
          <p:nvPr/>
        </p:nvSpPr>
        <p:spPr>
          <a:xfrm>
            <a:off x="6903720" y="4617720"/>
            <a:ext cx="4480560" cy="1371600"/>
          </a:xfrm>
          <a:prstGeom prst="rect">
            <a:avLst/>
          </a:prstGeom>
          <a:noFill/>
          <a:ln/>
        </p:spPr>
        <p:txBody>
          <a:bodyPr wrap="square" lIns="25400" tIns="25400" rIns="25400" bIns="25400" rtlCol="0" anchor="t"/>
          <a:lstStyle/>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Still strictly sequential — no parallel training</a:t>
            </a:r>
            <a:endParaRPr lang="en-US" sz="1240" dirty="0"/>
          </a:p>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Memory across hundreds/thousands of tokens stays weak</a:t>
            </a:r>
            <a:endParaRPr lang="en-US" sz="1240" dirty="0"/>
          </a:p>
          <a:p>
            <a:pPr marL="177800" indent="-177800">
              <a:lnSpc>
                <a:spcPct val="104000"/>
              </a:lnSpc>
              <a:spcAft>
                <a:spcPts val="500"/>
              </a:spcAft>
              <a:buSzPct val="100000"/>
              <a:buChar char="•"/>
            </a:pPr>
            <a:r>
              <a:rPr lang="en-US" sz="1240" dirty="0">
                <a:solidFill>
                  <a:srgbClr val="1B2440"/>
                </a:solidFill>
                <a:latin typeface="Calibri" pitchFamily="34" charset="0"/>
                <a:ea typeface="Calibri" pitchFamily="34" charset="-122"/>
                <a:cs typeface="Calibri" pitchFamily="34" charset="-120"/>
              </a:rPr>
              <a:t>A single fixed-size vector bottlenecks long inputs</a:t>
            </a:r>
            <a:endParaRPr lang="en-US" sz="12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WHY WE NEEDED SOMETHING NEW</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Four walls LSTMs could not break — at Cigna scale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arXiv:1706.03762 (motivation) · Express Scripts script volume &amp; Cigna membership, vendor disclosures 2024–25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66928" y="1444752"/>
            <a:ext cx="3566160" cy="713232"/>
          </a:xfrm>
          <a:prstGeom prst="roundRect">
            <a:avLst>
              <a:gd name="adj" fmla="val 11538"/>
            </a:avLst>
          </a:prstGeom>
          <a:solidFill>
            <a:srgbClr val="F4F5F9"/>
          </a:solidFill>
          <a:ln w="12700">
            <a:solidFill>
              <a:srgbClr val="DDE1EC"/>
            </a:solidFill>
            <a:prstDash val="solid"/>
          </a:ln>
        </p:spPr>
      </p:sp>
      <p:sp>
        <p:nvSpPr>
          <p:cNvPr id="7" name="Text 5"/>
          <p:cNvSpPr/>
          <p:nvPr/>
        </p:nvSpPr>
        <p:spPr>
          <a:xfrm>
            <a:off x="749808" y="1444752"/>
            <a:ext cx="1371600" cy="713232"/>
          </a:xfrm>
          <a:prstGeom prst="rect">
            <a:avLst/>
          </a:prstGeom>
          <a:noFill/>
          <a:ln/>
        </p:spPr>
        <p:txBody>
          <a:bodyPr wrap="square" lIns="0" tIns="0" rIns="0" bIns="0" rtlCol="0" anchor="ctr"/>
          <a:lstStyle/>
          <a:p>
            <a:pPr indent="0" marL="0">
              <a:buNone/>
            </a:pPr>
            <a:r>
              <a:rPr lang="en-US" sz="2400" b="1" dirty="0">
                <a:solidFill>
                  <a:srgbClr val="5B4BE0"/>
                </a:solidFill>
                <a:latin typeface="Cambria" pitchFamily="34" charset="0"/>
                <a:ea typeface="Cambria" pitchFamily="34" charset="-122"/>
                <a:cs typeface="Cambria" pitchFamily="34" charset="-120"/>
              </a:rPr>
              <a:t>~1.5B</a:t>
            </a:r>
            <a:endParaRPr lang="en-US" sz="2400" dirty="0"/>
          </a:p>
        </p:txBody>
      </p:sp>
      <p:sp>
        <p:nvSpPr>
          <p:cNvPr id="8" name="Text 6"/>
          <p:cNvSpPr/>
          <p:nvPr/>
        </p:nvSpPr>
        <p:spPr>
          <a:xfrm>
            <a:off x="2167128" y="1444752"/>
            <a:ext cx="1828800" cy="713232"/>
          </a:xfrm>
          <a:prstGeom prst="rect">
            <a:avLst/>
          </a:prstGeom>
          <a:noFill/>
          <a:ln/>
        </p:spPr>
        <p:txBody>
          <a:bodyPr wrap="square" lIns="0" tIns="0" rIns="0" bIns="0" rtlCol="0" anchor="ctr"/>
          <a:lstStyle/>
          <a:p>
            <a:pPr indent="0" marL="0">
              <a:lnSpc>
                <a:spcPct val="106000"/>
              </a:lnSpc>
              <a:buNone/>
            </a:pPr>
            <a:r>
              <a:rPr lang="en-US" sz="1050" dirty="0">
                <a:solidFill>
                  <a:srgbClr val="5A6685"/>
                </a:solidFill>
                <a:latin typeface="Calibri" pitchFamily="34" charset="0"/>
                <a:ea typeface="Calibri" pitchFamily="34" charset="-122"/>
                <a:cs typeface="Calibri" pitchFamily="34" charset="-120"/>
              </a:rPr>
              <a:t>prescriptions / yr at Express Scripts to process</a:t>
            </a:r>
            <a:endParaRPr lang="en-US" sz="1050" dirty="0"/>
          </a:p>
        </p:txBody>
      </p:sp>
      <p:sp>
        <p:nvSpPr>
          <p:cNvPr id="9" name="Shape 7"/>
          <p:cNvSpPr/>
          <p:nvPr/>
        </p:nvSpPr>
        <p:spPr>
          <a:xfrm>
            <a:off x="4306824" y="1444752"/>
            <a:ext cx="3566160" cy="713232"/>
          </a:xfrm>
          <a:prstGeom prst="roundRect">
            <a:avLst>
              <a:gd name="adj" fmla="val 11538"/>
            </a:avLst>
          </a:prstGeom>
          <a:solidFill>
            <a:srgbClr val="F4F5F9"/>
          </a:solidFill>
          <a:ln w="12700">
            <a:solidFill>
              <a:srgbClr val="DDE1EC"/>
            </a:solidFill>
            <a:prstDash val="solid"/>
          </a:ln>
        </p:spPr>
      </p:sp>
      <p:sp>
        <p:nvSpPr>
          <p:cNvPr id="10" name="Text 8"/>
          <p:cNvSpPr/>
          <p:nvPr/>
        </p:nvSpPr>
        <p:spPr>
          <a:xfrm>
            <a:off x="4489704" y="1444752"/>
            <a:ext cx="1371600" cy="713232"/>
          </a:xfrm>
          <a:prstGeom prst="rect">
            <a:avLst/>
          </a:prstGeom>
          <a:noFill/>
          <a:ln/>
        </p:spPr>
        <p:txBody>
          <a:bodyPr wrap="square" lIns="0" tIns="0" rIns="0" bIns="0" rtlCol="0" anchor="ctr"/>
          <a:lstStyle/>
          <a:p>
            <a:pPr indent="0" marL="0">
              <a:buNone/>
            </a:pPr>
            <a:r>
              <a:rPr lang="en-US" sz="2400" b="1" dirty="0">
                <a:solidFill>
                  <a:srgbClr val="0E9E96"/>
                </a:solidFill>
                <a:latin typeface="Cambria" pitchFamily="34" charset="0"/>
                <a:ea typeface="Cambria" pitchFamily="34" charset="-122"/>
                <a:cs typeface="Cambria" pitchFamily="34" charset="-120"/>
              </a:rPr>
              <a:t>18M+</a:t>
            </a:r>
            <a:endParaRPr lang="en-US" sz="2400" dirty="0"/>
          </a:p>
        </p:txBody>
      </p:sp>
      <p:sp>
        <p:nvSpPr>
          <p:cNvPr id="11" name="Text 9"/>
          <p:cNvSpPr/>
          <p:nvPr/>
        </p:nvSpPr>
        <p:spPr>
          <a:xfrm>
            <a:off x="5907024" y="1444752"/>
            <a:ext cx="1828800" cy="713232"/>
          </a:xfrm>
          <a:prstGeom prst="rect">
            <a:avLst/>
          </a:prstGeom>
          <a:noFill/>
          <a:ln/>
        </p:spPr>
        <p:txBody>
          <a:bodyPr wrap="square" lIns="0" tIns="0" rIns="0" bIns="0" rtlCol="0" anchor="ctr"/>
          <a:lstStyle/>
          <a:p>
            <a:pPr indent="0" marL="0">
              <a:lnSpc>
                <a:spcPct val="106000"/>
              </a:lnSpc>
              <a:buNone/>
            </a:pPr>
            <a:r>
              <a:rPr lang="en-US" sz="1050" dirty="0">
                <a:solidFill>
                  <a:srgbClr val="5A6685"/>
                </a:solidFill>
                <a:latin typeface="Calibri" pitchFamily="34" charset="0"/>
                <a:ea typeface="Calibri" pitchFamily="34" charset="-122"/>
                <a:cs typeface="Calibri" pitchFamily="34" charset="-120"/>
              </a:rPr>
              <a:t>medical members generating claims &amp; notes</a:t>
            </a:r>
            <a:endParaRPr lang="en-US" sz="1050" dirty="0"/>
          </a:p>
        </p:txBody>
      </p:sp>
      <p:sp>
        <p:nvSpPr>
          <p:cNvPr id="12" name="Shape 10"/>
          <p:cNvSpPr/>
          <p:nvPr/>
        </p:nvSpPr>
        <p:spPr>
          <a:xfrm>
            <a:off x="8046720" y="1444752"/>
            <a:ext cx="3566160" cy="713232"/>
          </a:xfrm>
          <a:prstGeom prst="roundRect">
            <a:avLst>
              <a:gd name="adj" fmla="val 11538"/>
            </a:avLst>
          </a:prstGeom>
          <a:solidFill>
            <a:srgbClr val="F4F5F9"/>
          </a:solidFill>
          <a:ln w="12700">
            <a:solidFill>
              <a:srgbClr val="DDE1EC"/>
            </a:solidFill>
            <a:prstDash val="solid"/>
          </a:ln>
        </p:spPr>
      </p:sp>
      <p:sp>
        <p:nvSpPr>
          <p:cNvPr id="13" name="Text 11"/>
          <p:cNvSpPr/>
          <p:nvPr/>
        </p:nvSpPr>
        <p:spPr>
          <a:xfrm>
            <a:off x="8229600" y="1444752"/>
            <a:ext cx="1371600" cy="713232"/>
          </a:xfrm>
          <a:prstGeom prst="rect">
            <a:avLst/>
          </a:prstGeom>
          <a:noFill/>
          <a:ln/>
        </p:spPr>
        <p:txBody>
          <a:bodyPr wrap="square" lIns="0" tIns="0" rIns="0" bIns="0" rtlCol="0" anchor="ctr"/>
          <a:lstStyle/>
          <a:p>
            <a:pPr indent="0" marL="0">
              <a:buNone/>
            </a:pPr>
            <a:r>
              <a:rPr lang="en-US" sz="2400" b="1" dirty="0">
                <a:solidFill>
                  <a:srgbClr val="D9820A"/>
                </a:solidFill>
                <a:latin typeface="Cambria" pitchFamily="34" charset="0"/>
                <a:ea typeface="Cambria" pitchFamily="34" charset="-122"/>
                <a:cs typeface="Cambria" pitchFamily="34" charset="-120"/>
              </a:rPr>
              <a:t>1,000s</a:t>
            </a:r>
            <a:endParaRPr lang="en-US" sz="2400" dirty="0"/>
          </a:p>
        </p:txBody>
      </p:sp>
      <p:sp>
        <p:nvSpPr>
          <p:cNvPr id="14" name="Text 12"/>
          <p:cNvSpPr/>
          <p:nvPr/>
        </p:nvSpPr>
        <p:spPr>
          <a:xfrm>
            <a:off x="9646920" y="1444752"/>
            <a:ext cx="1828800" cy="713232"/>
          </a:xfrm>
          <a:prstGeom prst="rect">
            <a:avLst/>
          </a:prstGeom>
          <a:noFill/>
          <a:ln/>
        </p:spPr>
        <p:txBody>
          <a:bodyPr wrap="square" lIns="0" tIns="0" rIns="0" bIns="0" rtlCol="0" anchor="ctr"/>
          <a:lstStyle/>
          <a:p>
            <a:pPr indent="0" marL="0">
              <a:lnSpc>
                <a:spcPct val="106000"/>
              </a:lnSpc>
              <a:buNone/>
            </a:pPr>
            <a:r>
              <a:rPr lang="en-US" sz="1050" dirty="0">
                <a:solidFill>
                  <a:srgbClr val="5A6685"/>
                </a:solidFill>
                <a:latin typeface="Calibri" pitchFamily="34" charset="0"/>
                <a:ea typeface="Calibri" pitchFamily="34" charset="-122"/>
                <a:cs typeface="Calibri" pitchFamily="34" charset="-120"/>
              </a:rPr>
              <a:t>of tokens in a single clinical note</a:t>
            </a:r>
            <a:endParaRPr lang="en-US" sz="1050" dirty="0"/>
          </a:p>
        </p:txBody>
      </p:sp>
      <p:sp>
        <p:nvSpPr>
          <p:cNvPr id="15" name="Shape 13"/>
          <p:cNvSpPr/>
          <p:nvPr/>
        </p:nvSpPr>
        <p:spPr>
          <a:xfrm>
            <a:off x="56692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6" name="Shape 14"/>
          <p:cNvSpPr/>
          <p:nvPr/>
        </p:nvSpPr>
        <p:spPr>
          <a:xfrm>
            <a:off x="1431036" y="2697480"/>
            <a:ext cx="950976" cy="950976"/>
          </a:xfrm>
          <a:prstGeom prst="ellipse">
            <a:avLst/>
          </a:prstGeom>
          <a:solidFill>
            <a:srgbClr val="FBE7E7"/>
          </a:solidFill>
          <a:ln/>
        </p:spPr>
      </p:sp>
      <p:pic>
        <p:nvPicPr>
          <p:cNvPr id="17" name="Image 0" descr="preencoded.png">    </p:cNvPr>
          <p:cNvPicPr>
            <a:picLocks noChangeAspect="1"/>
          </p:cNvPicPr>
          <p:nvPr/>
        </p:nvPicPr>
        <p:blipFill>
          <a:blip r:embed="rId1"/>
          <a:stretch>
            <a:fillRect/>
          </a:stretch>
        </p:blipFill>
        <p:spPr>
          <a:xfrm>
            <a:off x="1668780" y="2935224"/>
            <a:ext cx="475488" cy="475488"/>
          </a:xfrm>
          <a:prstGeom prst="rect">
            <a:avLst/>
          </a:prstGeom>
        </p:spPr>
      </p:pic>
      <p:sp>
        <p:nvSpPr>
          <p:cNvPr id="18" name="Text 15"/>
          <p:cNvSpPr/>
          <p:nvPr/>
        </p:nvSpPr>
        <p:spPr>
          <a:xfrm>
            <a:off x="731520" y="2587752"/>
            <a:ext cx="731520" cy="365760"/>
          </a:xfrm>
          <a:prstGeom prst="rect">
            <a:avLst/>
          </a:prstGeom>
          <a:noFill/>
          <a:ln/>
        </p:spPr>
        <p:txBody>
          <a:bodyPr wrap="square" lIns="0" tIns="0" rIns="0" bIns="0" rtlCol="0" anchor="ctr"/>
          <a:lstStyle/>
          <a:p>
            <a:pPr indent="0" marL="0">
              <a:buNone/>
            </a:pPr>
            <a:r>
              <a:rPr lang="en-US" sz="1500" b="1" dirty="0">
                <a:solidFill>
                  <a:srgbClr val="E5484D"/>
                </a:solidFill>
                <a:latin typeface="Cambria" pitchFamily="34" charset="0"/>
                <a:ea typeface="Cambria" pitchFamily="34" charset="-122"/>
                <a:cs typeface="Cambria" pitchFamily="34" charset="-120"/>
              </a:rPr>
              <a:t>01</a:t>
            </a:r>
            <a:endParaRPr lang="en-US" sz="1500" dirty="0"/>
          </a:p>
        </p:txBody>
      </p:sp>
      <p:sp>
        <p:nvSpPr>
          <p:cNvPr id="19" name="Text 16"/>
          <p:cNvSpPr/>
          <p:nvPr/>
        </p:nvSpPr>
        <p:spPr>
          <a:xfrm>
            <a:off x="73152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No parallelism</a:t>
            </a:r>
            <a:endParaRPr lang="en-US" sz="1500" dirty="0"/>
          </a:p>
        </p:txBody>
      </p:sp>
      <p:sp>
        <p:nvSpPr>
          <p:cNvPr id="20" name="Text 17"/>
          <p:cNvSpPr/>
          <p:nvPr/>
        </p:nvSpPr>
        <p:spPr>
          <a:xfrm>
            <a:off x="76809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Token t waits for t−1. A model can't read 18M members' notes fast if every word is serial.</a:t>
            </a:r>
            <a:endParaRPr lang="en-US" sz="1130" dirty="0"/>
          </a:p>
        </p:txBody>
      </p:sp>
      <p:sp>
        <p:nvSpPr>
          <p:cNvPr id="21" name="Shape 18"/>
          <p:cNvSpPr/>
          <p:nvPr/>
        </p:nvSpPr>
        <p:spPr>
          <a:xfrm>
            <a:off x="340156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9"/>
          <p:cNvSpPr/>
          <p:nvPr/>
        </p:nvSpPr>
        <p:spPr>
          <a:xfrm>
            <a:off x="4265676" y="2697480"/>
            <a:ext cx="950976" cy="950976"/>
          </a:xfrm>
          <a:prstGeom prst="ellipse">
            <a:avLst/>
          </a:prstGeom>
          <a:solidFill>
            <a:srgbClr val="FBEFD8"/>
          </a:solidFill>
          <a:ln/>
        </p:spPr>
      </p:sp>
      <p:pic>
        <p:nvPicPr>
          <p:cNvPr id="23" name="Image 1" descr="preencoded.png">    </p:cNvPr>
          <p:cNvPicPr>
            <a:picLocks noChangeAspect="1"/>
          </p:cNvPicPr>
          <p:nvPr/>
        </p:nvPicPr>
        <p:blipFill>
          <a:blip r:embed="rId2"/>
          <a:stretch>
            <a:fillRect/>
          </a:stretch>
        </p:blipFill>
        <p:spPr>
          <a:xfrm>
            <a:off x="4503420" y="2935224"/>
            <a:ext cx="475488" cy="475488"/>
          </a:xfrm>
          <a:prstGeom prst="rect">
            <a:avLst/>
          </a:prstGeom>
        </p:spPr>
      </p:pic>
      <p:sp>
        <p:nvSpPr>
          <p:cNvPr id="24" name="Text 20"/>
          <p:cNvSpPr/>
          <p:nvPr/>
        </p:nvSpPr>
        <p:spPr>
          <a:xfrm>
            <a:off x="3566160" y="2587752"/>
            <a:ext cx="731520" cy="365760"/>
          </a:xfrm>
          <a:prstGeom prst="rect">
            <a:avLst/>
          </a:prstGeom>
          <a:noFill/>
          <a:ln/>
        </p:spPr>
        <p:txBody>
          <a:bodyPr wrap="square" lIns="0" tIns="0" rIns="0" bIns="0" rtlCol="0" anchor="ctr"/>
          <a:lstStyle/>
          <a:p>
            <a:pPr indent="0" marL="0">
              <a:buNone/>
            </a:pPr>
            <a:r>
              <a:rPr lang="en-US" sz="1500" b="1" dirty="0">
                <a:solidFill>
                  <a:srgbClr val="D9820A"/>
                </a:solidFill>
                <a:latin typeface="Cambria" pitchFamily="34" charset="0"/>
                <a:ea typeface="Cambria" pitchFamily="34" charset="-122"/>
                <a:cs typeface="Cambria" pitchFamily="34" charset="-120"/>
              </a:rPr>
              <a:t>02</a:t>
            </a:r>
            <a:endParaRPr lang="en-US" sz="1500" dirty="0"/>
          </a:p>
        </p:txBody>
      </p:sp>
      <p:sp>
        <p:nvSpPr>
          <p:cNvPr id="25" name="Text 21"/>
          <p:cNvSpPr/>
          <p:nvPr/>
        </p:nvSpPr>
        <p:spPr>
          <a:xfrm>
            <a:off x="356616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Long-range amnesia</a:t>
            </a:r>
            <a:endParaRPr lang="en-US" sz="1500" dirty="0"/>
          </a:p>
        </p:txBody>
      </p:sp>
      <p:sp>
        <p:nvSpPr>
          <p:cNvPr id="26" name="Text 22"/>
          <p:cNvSpPr/>
          <p:nvPr/>
        </p:nvSpPr>
        <p:spPr>
          <a:xfrm>
            <a:off x="360273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Linking a diagnosis on line 1 to a code on line 50 means 49 fragile hops — signal decays.</a:t>
            </a:r>
            <a:endParaRPr lang="en-US" sz="1130" dirty="0"/>
          </a:p>
        </p:txBody>
      </p:sp>
      <p:sp>
        <p:nvSpPr>
          <p:cNvPr id="27" name="Shape 23"/>
          <p:cNvSpPr/>
          <p:nvPr/>
        </p:nvSpPr>
        <p:spPr>
          <a:xfrm>
            <a:off x="623620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4"/>
          <p:cNvSpPr/>
          <p:nvPr/>
        </p:nvSpPr>
        <p:spPr>
          <a:xfrm>
            <a:off x="7100316" y="2697480"/>
            <a:ext cx="950976" cy="950976"/>
          </a:xfrm>
          <a:prstGeom prst="ellipse">
            <a:avLst/>
          </a:prstGeom>
          <a:solidFill>
            <a:srgbClr val="E2F4F2"/>
          </a:solidFill>
          <a:ln/>
        </p:spPr>
      </p:sp>
      <p:pic>
        <p:nvPicPr>
          <p:cNvPr id="29" name="Image 2" descr="preencoded.png">    </p:cNvPr>
          <p:cNvPicPr>
            <a:picLocks noChangeAspect="1"/>
          </p:cNvPicPr>
          <p:nvPr/>
        </p:nvPicPr>
        <p:blipFill>
          <a:blip r:embed="rId3"/>
          <a:stretch>
            <a:fillRect/>
          </a:stretch>
        </p:blipFill>
        <p:spPr>
          <a:xfrm>
            <a:off x="7338060" y="2935224"/>
            <a:ext cx="475488" cy="475488"/>
          </a:xfrm>
          <a:prstGeom prst="rect">
            <a:avLst/>
          </a:prstGeom>
        </p:spPr>
      </p:pic>
      <p:sp>
        <p:nvSpPr>
          <p:cNvPr id="30" name="Text 25"/>
          <p:cNvSpPr/>
          <p:nvPr/>
        </p:nvSpPr>
        <p:spPr>
          <a:xfrm>
            <a:off x="6400800" y="2587752"/>
            <a:ext cx="731520" cy="365760"/>
          </a:xfrm>
          <a:prstGeom prst="rect">
            <a:avLst/>
          </a:prstGeom>
          <a:noFill/>
          <a:ln/>
        </p:spPr>
        <p:txBody>
          <a:bodyPr wrap="square" lIns="0" tIns="0" rIns="0" bIns="0" rtlCol="0" anchor="ctr"/>
          <a:lstStyle/>
          <a:p>
            <a:pPr indent="0" marL="0">
              <a:buNone/>
            </a:pPr>
            <a:r>
              <a:rPr lang="en-US" sz="1500" b="1" dirty="0">
                <a:solidFill>
                  <a:srgbClr val="0E9E96"/>
                </a:solidFill>
                <a:latin typeface="Cambria" pitchFamily="34" charset="0"/>
                <a:ea typeface="Cambria" pitchFamily="34" charset="-122"/>
                <a:cs typeface="Cambria" pitchFamily="34" charset="-120"/>
              </a:rPr>
              <a:t>03</a:t>
            </a:r>
            <a:endParaRPr lang="en-US" sz="1500" dirty="0"/>
          </a:p>
        </p:txBody>
      </p:sp>
      <p:sp>
        <p:nvSpPr>
          <p:cNvPr id="31" name="Text 26"/>
          <p:cNvSpPr/>
          <p:nvPr/>
        </p:nvSpPr>
        <p:spPr>
          <a:xfrm>
            <a:off x="640080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The fixed bottleneck</a:t>
            </a:r>
            <a:endParaRPr lang="en-US" sz="1500" dirty="0"/>
          </a:p>
        </p:txBody>
      </p:sp>
      <p:sp>
        <p:nvSpPr>
          <p:cNvPr id="32" name="Text 27"/>
          <p:cNvSpPr/>
          <p:nvPr/>
        </p:nvSpPr>
        <p:spPr>
          <a:xfrm>
            <a:off x="643737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Squeezing a whole claim history into one vector loses detail exactly where it's needed.</a:t>
            </a:r>
            <a:endParaRPr lang="en-US" sz="1130" dirty="0"/>
          </a:p>
        </p:txBody>
      </p:sp>
      <p:sp>
        <p:nvSpPr>
          <p:cNvPr id="33" name="Shape 28"/>
          <p:cNvSpPr/>
          <p:nvPr/>
        </p:nvSpPr>
        <p:spPr>
          <a:xfrm>
            <a:off x="9070848" y="2423160"/>
            <a:ext cx="2679192" cy="352044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4" name="Shape 29"/>
          <p:cNvSpPr/>
          <p:nvPr/>
        </p:nvSpPr>
        <p:spPr>
          <a:xfrm>
            <a:off x="9934956" y="2697480"/>
            <a:ext cx="950976" cy="950976"/>
          </a:xfrm>
          <a:prstGeom prst="ellipse">
            <a:avLst/>
          </a:prstGeom>
          <a:solidFill>
            <a:srgbClr val="EEECFB"/>
          </a:solidFill>
          <a:ln/>
        </p:spPr>
      </p:sp>
      <p:pic>
        <p:nvPicPr>
          <p:cNvPr id="35" name="Image 3" descr="preencoded.png">    </p:cNvPr>
          <p:cNvPicPr>
            <a:picLocks noChangeAspect="1"/>
          </p:cNvPicPr>
          <p:nvPr/>
        </p:nvPicPr>
        <p:blipFill>
          <a:blip r:embed="rId4"/>
          <a:stretch>
            <a:fillRect/>
          </a:stretch>
        </p:blipFill>
        <p:spPr>
          <a:xfrm>
            <a:off x="10172700" y="2935224"/>
            <a:ext cx="475488" cy="475488"/>
          </a:xfrm>
          <a:prstGeom prst="rect">
            <a:avLst/>
          </a:prstGeom>
        </p:spPr>
      </p:pic>
      <p:sp>
        <p:nvSpPr>
          <p:cNvPr id="36" name="Text 30"/>
          <p:cNvSpPr/>
          <p:nvPr/>
        </p:nvSpPr>
        <p:spPr>
          <a:xfrm>
            <a:off x="9235440" y="2587752"/>
            <a:ext cx="731520" cy="365760"/>
          </a:xfrm>
          <a:prstGeom prst="rect">
            <a:avLst/>
          </a:prstGeom>
          <a:noFill/>
          <a:ln/>
        </p:spPr>
        <p:txBody>
          <a:bodyPr wrap="square" lIns="0" tIns="0" rIns="0" bIns="0" rtlCol="0" anchor="ctr"/>
          <a:lstStyle/>
          <a:p>
            <a:pPr indent="0" marL="0">
              <a:buNone/>
            </a:pPr>
            <a:r>
              <a:rPr lang="en-US" sz="1500" b="1" dirty="0">
                <a:solidFill>
                  <a:srgbClr val="5B4BE0"/>
                </a:solidFill>
                <a:latin typeface="Cambria" pitchFamily="34" charset="0"/>
                <a:ea typeface="Cambria" pitchFamily="34" charset="-122"/>
                <a:cs typeface="Cambria" pitchFamily="34" charset="-120"/>
              </a:rPr>
              <a:t>04</a:t>
            </a:r>
            <a:endParaRPr lang="en-US" sz="1500" dirty="0"/>
          </a:p>
        </p:txBody>
      </p:sp>
      <p:sp>
        <p:nvSpPr>
          <p:cNvPr id="37" name="Text 31"/>
          <p:cNvSpPr/>
          <p:nvPr/>
        </p:nvSpPr>
        <p:spPr>
          <a:xfrm>
            <a:off x="9235440" y="374904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Doesn't scale gracefully</a:t>
            </a:r>
            <a:endParaRPr lang="en-US" sz="1500" dirty="0"/>
          </a:p>
        </p:txBody>
      </p:sp>
      <p:sp>
        <p:nvSpPr>
          <p:cNvPr id="38" name="Text 32"/>
          <p:cNvSpPr/>
          <p:nvPr/>
        </p:nvSpPr>
        <p:spPr>
          <a:xfrm>
            <a:off x="9272016" y="4389120"/>
            <a:ext cx="2276856" cy="1463040"/>
          </a:xfrm>
          <a:prstGeom prst="rect">
            <a:avLst/>
          </a:prstGeom>
          <a:noFill/>
          <a:ln/>
        </p:spPr>
        <p:txBody>
          <a:bodyPr wrap="square" lIns="0" tIns="0" rIns="0" bIns="0" rtlCol="0" anchor="ctr"/>
          <a:lstStyle/>
          <a:p>
            <a:pPr algn="ctr" indent="0" marL="0">
              <a:lnSpc>
                <a:spcPct val="114000"/>
              </a:lnSpc>
              <a:buNone/>
            </a:pPr>
            <a:r>
              <a:rPr lang="en-US" sz="1130" dirty="0">
                <a:solidFill>
                  <a:srgbClr val="5A6685"/>
                </a:solidFill>
                <a:latin typeface="Calibri" pitchFamily="34" charset="0"/>
                <a:ea typeface="Calibri" pitchFamily="34" charset="-122"/>
                <a:cs typeface="Calibri" pitchFamily="34" charset="-120"/>
              </a:rPr>
              <a:t>More data &amp; parameters gave diminishing returns — recurrence is the wrong shape for scale.</a:t>
            </a:r>
            <a:endParaRPr lang="en-US" sz="11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2014 · THE SEED IDEA</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Attention: let the model look where it matters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Bahdanau, Cho &amp; Bengio, 'Neural Machine Translation by Jointly Learning to Align and Translate', arXiv:1409.0473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66928" y="1554480"/>
            <a:ext cx="557784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29200" cy="640080"/>
          </a:xfrm>
          <a:prstGeom prst="rect">
            <a:avLst/>
          </a:prstGeom>
          <a:noFill/>
          <a:ln/>
        </p:spPr>
        <p:txBody>
          <a:bodyPr wrap="square" lIns="0" tIns="0" rIns="0" bIns="0" rtlCol="0" anchor="ctr"/>
          <a:lstStyle/>
          <a:p>
            <a:pPr indent="0" marL="0">
              <a:lnSpc>
                <a:spcPct val="100000"/>
              </a:lnSpc>
              <a:buNone/>
            </a:pPr>
            <a:r>
              <a:rPr lang="en-US" sz="1550" b="1" dirty="0">
                <a:solidFill>
                  <a:srgbClr val="1B2440"/>
                </a:solidFill>
                <a:latin typeface="Calibri" pitchFamily="34" charset="0"/>
                <a:ea typeface="Calibri" pitchFamily="34" charset="-122"/>
                <a:cs typeface="Calibri" pitchFamily="34" charset="-120"/>
              </a:rPr>
              <a:t>From one bottleneck vector → a weighted look-up</a:t>
            </a:r>
            <a:endParaRPr lang="en-US" sz="1550" dirty="0"/>
          </a:p>
        </p:txBody>
      </p:sp>
      <p:sp>
        <p:nvSpPr>
          <p:cNvPr id="8" name="Text 6"/>
          <p:cNvSpPr/>
          <p:nvPr/>
        </p:nvSpPr>
        <p:spPr>
          <a:xfrm>
            <a:off x="841248" y="2377440"/>
            <a:ext cx="5074920" cy="960120"/>
          </a:xfrm>
          <a:prstGeom prst="rect">
            <a:avLst/>
          </a:prstGeom>
          <a:noFill/>
          <a:ln/>
        </p:spPr>
        <p:txBody>
          <a:bodyPr wrap="square" lIns="0" tIns="0" rIns="0" bIns="0" rtlCol="0" anchor="ctr"/>
          <a:lstStyle/>
          <a:p>
            <a:pPr indent="0" marL="0">
              <a:lnSpc>
                <a:spcPct val="114000"/>
              </a:lnSpc>
              <a:buNone/>
            </a:pPr>
            <a:r>
              <a:rPr lang="en-US" sz="1260" dirty="0">
                <a:solidFill>
                  <a:srgbClr val="5A6685"/>
                </a:solidFill>
                <a:latin typeface="Calibri" pitchFamily="34" charset="0"/>
                <a:ea typeface="Calibri" pitchFamily="34" charset="-122"/>
                <a:cs typeface="Calibri" pitchFamily="34" charset="-120"/>
              </a:rPr>
              <a:t>Instead of cramming a sentence into a single vector, attention lets the model, for every word, take a weighted blend of all the other words — focusing on the ones that matter.</a:t>
            </a:r>
            <a:endParaRPr lang="en-US" sz="1260" dirty="0"/>
          </a:p>
        </p:txBody>
      </p:sp>
      <p:sp>
        <p:nvSpPr>
          <p:cNvPr id="9" name="Shape 7"/>
          <p:cNvSpPr/>
          <p:nvPr/>
        </p:nvSpPr>
        <p:spPr>
          <a:xfrm>
            <a:off x="841248" y="3383280"/>
            <a:ext cx="5074920" cy="868680"/>
          </a:xfrm>
          <a:prstGeom prst="roundRect">
            <a:avLst>
              <a:gd name="adj" fmla="val 8421"/>
            </a:avLst>
          </a:prstGeom>
          <a:solidFill>
            <a:srgbClr val="FFFFFF"/>
          </a:solidFill>
          <a:ln w="19050">
            <a:solidFill>
              <a:srgbClr val="E5484D"/>
            </a:solidFill>
            <a:prstDash val="solid"/>
          </a:ln>
        </p:spPr>
      </p:sp>
      <p:sp>
        <p:nvSpPr>
          <p:cNvPr id="10" name="Text 8"/>
          <p:cNvSpPr/>
          <p:nvPr/>
        </p:nvSpPr>
        <p:spPr>
          <a:xfrm>
            <a:off x="1024128" y="3383280"/>
            <a:ext cx="4754880" cy="868680"/>
          </a:xfrm>
          <a:prstGeom prst="rect">
            <a:avLst/>
          </a:prstGeom>
          <a:noFill/>
          <a:ln/>
        </p:spPr>
        <p:txBody>
          <a:bodyPr wrap="square" lIns="0" tIns="0" rIns="0" bIns="0" rtlCol="0" anchor="ctr"/>
          <a:lstStyle/>
          <a:p>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Read the note →  </a:t>
            </a:r>
            <a:pPr indent="0" marL="0">
              <a:lnSpc>
                <a:spcPct val="110000"/>
              </a:lnSpc>
              <a:buNone/>
            </a:pPr>
            <a:r>
              <a:rPr lang="en-US" sz="1250" b="1" i="1" dirty="0">
                <a:solidFill>
                  <a:srgbClr val="1B2440"/>
                </a:solidFill>
                <a:latin typeface="Calibri" pitchFamily="34" charset="0"/>
                <a:ea typeface="Calibri" pitchFamily="34" charset="-122"/>
                <a:cs typeface="Calibri" pitchFamily="34" charset="-120"/>
              </a:rPr>
              <a:t>“MRI claim denied — missing prior auth”</a:t>
            </a:r>
            <a:endParaRPr lang="en-US" sz="1250" dirty="0"/>
          </a:p>
        </p:txBody>
      </p:sp>
      <p:sp>
        <p:nvSpPr>
          <p:cNvPr id="11" name="Text 9"/>
          <p:cNvSpPr/>
          <p:nvPr/>
        </p:nvSpPr>
        <p:spPr>
          <a:xfrm>
            <a:off x="841248" y="4434840"/>
            <a:ext cx="5074920" cy="1280160"/>
          </a:xfrm>
          <a:prstGeom prst="rect">
            <a:avLst/>
          </a:prstGeom>
          <a:noFill/>
          <a:ln/>
        </p:spPr>
        <p:txBody>
          <a:bodyPr wrap="square" lIns="0" tIns="0" rIns="0" bIns="0" rtlCol="0" anchor="t"/>
          <a:lstStyle/>
          <a:p>
            <a:pPr indent="0" marL="0">
              <a:lnSpc>
                <a:spcPct val="116000"/>
              </a:lnSpc>
              <a:buNone/>
            </a:pPr>
            <a:r>
              <a:rPr lang="en-US" sz="1300" b="1" dirty="0">
                <a:solidFill>
                  <a:srgbClr val="5B4BE0"/>
                </a:solidFill>
                <a:latin typeface="Calibri" pitchFamily="34" charset="0"/>
                <a:ea typeface="Calibri" pitchFamily="34" charset="-122"/>
                <a:cs typeface="Calibri" pitchFamily="34" charset="-120"/>
              </a:rPr>
              <a:t>The leap the Transformer made:  </a:t>
            </a:r>
            <a:pPr indent="0" marL="0">
              <a:lnSpc>
                <a:spcPct val="116000"/>
              </a:lnSpc>
              <a:buNone/>
            </a:pPr>
            <a:r>
              <a:rPr lang="en-US" sz="1300" dirty="0">
                <a:solidFill>
                  <a:srgbClr val="1B2440"/>
                </a:solidFill>
                <a:latin typeface="Calibri" pitchFamily="34" charset="0"/>
                <a:ea typeface="Calibri" pitchFamily="34" charset="-122"/>
                <a:cs typeface="Calibri" pitchFamily="34" charset="-120"/>
              </a:rPr>
              <a:t>if attention is this useful as a helper — what if it is the </a:t>
            </a:r>
            <a:pPr indent="0" marL="0">
              <a:lnSpc>
                <a:spcPct val="116000"/>
              </a:lnSpc>
              <a:buNone/>
            </a:pPr>
            <a:r>
              <a:rPr lang="en-US" sz="1300" b="1" i="1" dirty="0">
                <a:solidFill>
                  <a:srgbClr val="5B4BE0"/>
                </a:solidFill>
                <a:latin typeface="Calibri" pitchFamily="34" charset="0"/>
                <a:ea typeface="Calibri" pitchFamily="34" charset="-122"/>
                <a:cs typeface="Calibri" pitchFamily="34" charset="-120"/>
              </a:rPr>
              <a:t>only</a:t>
            </a:r>
            <a:pPr indent="0" marL="0">
              <a:lnSpc>
                <a:spcPct val="116000"/>
              </a:lnSpc>
              <a:buNone/>
            </a:pPr>
            <a:r>
              <a:rPr lang="en-US" sz="1300" dirty="0">
                <a:solidFill>
                  <a:srgbClr val="1B2440"/>
                </a:solidFill>
                <a:latin typeface="Calibri" pitchFamily="34" charset="0"/>
                <a:ea typeface="Calibri" pitchFamily="34" charset="-122"/>
                <a:cs typeface="Calibri" pitchFamily="34" charset="-120"/>
              </a:rPr>
              <a:t> thing the model uses?</a:t>
            </a:r>
            <a:endParaRPr lang="en-US" sz="1300" dirty="0"/>
          </a:p>
        </p:txBody>
      </p:sp>
      <p:sp>
        <p:nvSpPr>
          <p:cNvPr id="12" name="Shape 10"/>
          <p:cNvSpPr/>
          <p:nvPr/>
        </p:nvSpPr>
        <p:spPr>
          <a:xfrm>
            <a:off x="6537960" y="1554480"/>
            <a:ext cx="507492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1"/>
          <p:cNvSpPr/>
          <p:nvPr/>
        </p:nvSpPr>
        <p:spPr>
          <a:xfrm>
            <a:off x="6766560" y="1737360"/>
            <a:ext cx="4617720" cy="292608"/>
          </a:xfrm>
          <a:prstGeom prst="rect">
            <a:avLst/>
          </a:prstGeom>
          <a:noFill/>
          <a:ln/>
        </p:spPr>
        <p:txBody>
          <a:bodyPr wrap="square" lIns="0" tIns="0" rIns="0" bIns="0" rtlCol="0" anchor="ctr"/>
          <a:lstStyle/>
          <a:p>
            <a:pPr algn="ctr" indent="0" marL="0">
              <a:buNone/>
            </a:pPr>
            <a:r>
              <a:rPr lang="en-US" sz="1250" b="1" dirty="0">
                <a:solidFill>
                  <a:srgbClr val="1B2440"/>
                </a:solidFill>
                <a:latin typeface="Calibri" pitchFamily="34" charset="0"/>
                <a:ea typeface="Calibri" pitchFamily="34" charset="-122"/>
                <a:cs typeface="Calibri" pitchFamily="34" charset="-120"/>
              </a:rPr>
              <a:t>Which words attend to which (illustrative)</a:t>
            </a:r>
            <a:endParaRPr lang="en-US" sz="1250" dirty="0"/>
          </a:p>
        </p:txBody>
      </p:sp>
      <p:sp>
        <p:nvSpPr>
          <p:cNvPr id="14" name="Text 12"/>
          <p:cNvSpPr/>
          <p:nvPr/>
        </p:nvSpPr>
        <p:spPr>
          <a:xfrm>
            <a:off x="7690104"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MRI</a:t>
            </a:r>
            <a:endParaRPr lang="en-US" sz="780" dirty="0"/>
          </a:p>
        </p:txBody>
      </p:sp>
      <p:sp>
        <p:nvSpPr>
          <p:cNvPr id="15" name="Text 13"/>
          <p:cNvSpPr/>
          <p:nvPr/>
        </p:nvSpPr>
        <p:spPr>
          <a:xfrm>
            <a:off x="8202168"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claim</a:t>
            </a:r>
            <a:endParaRPr lang="en-US" sz="780" dirty="0"/>
          </a:p>
        </p:txBody>
      </p:sp>
      <p:sp>
        <p:nvSpPr>
          <p:cNvPr id="16" name="Text 14"/>
          <p:cNvSpPr/>
          <p:nvPr/>
        </p:nvSpPr>
        <p:spPr>
          <a:xfrm>
            <a:off x="8714232"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denied</a:t>
            </a:r>
            <a:endParaRPr lang="en-US" sz="780" dirty="0"/>
          </a:p>
        </p:txBody>
      </p:sp>
      <p:sp>
        <p:nvSpPr>
          <p:cNvPr id="17" name="Text 15"/>
          <p:cNvSpPr/>
          <p:nvPr/>
        </p:nvSpPr>
        <p:spPr>
          <a:xfrm>
            <a:off x="9226296"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missing</a:t>
            </a:r>
            <a:endParaRPr lang="en-US" sz="780" dirty="0"/>
          </a:p>
        </p:txBody>
      </p:sp>
      <p:sp>
        <p:nvSpPr>
          <p:cNvPr id="18" name="Text 16"/>
          <p:cNvSpPr/>
          <p:nvPr/>
        </p:nvSpPr>
        <p:spPr>
          <a:xfrm>
            <a:off x="9738360"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prior</a:t>
            </a:r>
            <a:endParaRPr lang="en-US" sz="780" dirty="0"/>
          </a:p>
        </p:txBody>
      </p:sp>
      <p:sp>
        <p:nvSpPr>
          <p:cNvPr id="19" name="Text 17"/>
          <p:cNvSpPr/>
          <p:nvPr/>
        </p:nvSpPr>
        <p:spPr>
          <a:xfrm>
            <a:off x="10250424" y="2221992"/>
            <a:ext cx="585216" cy="329184"/>
          </a:xfrm>
          <a:prstGeom prst="rect">
            <a:avLst/>
          </a:prstGeom>
          <a:noFill/>
          <a:ln/>
        </p:spPr>
        <p:txBody>
          <a:bodyPr wrap="square" lIns="0" tIns="0" rIns="0" bIns="0" rtlCol="0" anchor="b"/>
          <a:lstStyle/>
          <a:p>
            <a:pPr algn="ctr" indent="0" marL="0">
              <a:buNone/>
            </a:pPr>
            <a:r>
              <a:rPr lang="en-US" sz="780" b="1" dirty="0">
                <a:solidFill>
                  <a:srgbClr val="5A6685"/>
                </a:solidFill>
                <a:latin typeface="Calibri" pitchFamily="34" charset="0"/>
                <a:ea typeface="Calibri" pitchFamily="34" charset="-122"/>
                <a:cs typeface="Calibri" pitchFamily="34" charset="-120"/>
              </a:rPr>
              <a:t>auth</a:t>
            </a:r>
            <a:endParaRPr lang="en-US" sz="780" dirty="0"/>
          </a:p>
        </p:txBody>
      </p:sp>
      <p:sp>
        <p:nvSpPr>
          <p:cNvPr id="20" name="Text 18"/>
          <p:cNvSpPr/>
          <p:nvPr/>
        </p:nvSpPr>
        <p:spPr>
          <a:xfrm>
            <a:off x="6702552" y="2606040"/>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MRI</a:t>
            </a:r>
            <a:endParaRPr lang="en-US" sz="850" dirty="0"/>
          </a:p>
        </p:txBody>
      </p:sp>
      <p:sp>
        <p:nvSpPr>
          <p:cNvPr id="21" name="Shape 19"/>
          <p:cNvSpPr/>
          <p:nvPr/>
        </p:nvSpPr>
        <p:spPr>
          <a:xfrm>
            <a:off x="7726680" y="2606040"/>
            <a:ext cx="466344" cy="466344"/>
          </a:xfrm>
          <a:prstGeom prst="rect">
            <a:avLst/>
          </a:prstGeom>
          <a:solidFill>
            <a:srgbClr val="5B4BE0"/>
          </a:solidFill>
          <a:ln w="19050">
            <a:solidFill>
              <a:srgbClr val="FFFFFF"/>
            </a:solidFill>
            <a:prstDash val="solid"/>
          </a:ln>
        </p:spPr>
      </p:sp>
      <p:sp>
        <p:nvSpPr>
          <p:cNvPr id="22" name="Shape 20"/>
          <p:cNvSpPr/>
          <p:nvPr/>
        </p:nvSpPr>
        <p:spPr>
          <a:xfrm>
            <a:off x="8238744" y="2606040"/>
            <a:ext cx="466344" cy="466344"/>
          </a:xfrm>
          <a:prstGeom prst="rect">
            <a:avLst/>
          </a:prstGeom>
          <a:solidFill>
            <a:srgbClr val="EFEDFB"/>
          </a:solidFill>
          <a:ln w="19050">
            <a:solidFill>
              <a:srgbClr val="FFFFFF"/>
            </a:solidFill>
            <a:prstDash val="solid"/>
          </a:ln>
        </p:spPr>
      </p:sp>
      <p:sp>
        <p:nvSpPr>
          <p:cNvPr id="23" name="Shape 21"/>
          <p:cNvSpPr/>
          <p:nvPr/>
        </p:nvSpPr>
        <p:spPr>
          <a:xfrm>
            <a:off x="8750808" y="2606040"/>
            <a:ext cx="466344" cy="466344"/>
          </a:xfrm>
          <a:prstGeom prst="rect">
            <a:avLst/>
          </a:prstGeom>
          <a:solidFill>
            <a:srgbClr val="EFEDFB"/>
          </a:solidFill>
          <a:ln w="19050">
            <a:solidFill>
              <a:srgbClr val="FFFFFF"/>
            </a:solidFill>
            <a:prstDash val="solid"/>
          </a:ln>
        </p:spPr>
      </p:sp>
      <p:sp>
        <p:nvSpPr>
          <p:cNvPr id="24" name="Shape 22"/>
          <p:cNvSpPr/>
          <p:nvPr/>
        </p:nvSpPr>
        <p:spPr>
          <a:xfrm>
            <a:off x="9262872" y="2606040"/>
            <a:ext cx="466344" cy="466344"/>
          </a:xfrm>
          <a:prstGeom prst="rect">
            <a:avLst/>
          </a:prstGeom>
          <a:solidFill>
            <a:srgbClr val="EFEDFB"/>
          </a:solidFill>
          <a:ln w="19050">
            <a:solidFill>
              <a:srgbClr val="FFFFFF"/>
            </a:solidFill>
            <a:prstDash val="solid"/>
          </a:ln>
        </p:spPr>
      </p:sp>
      <p:sp>
        <p:nvSpPr>
          <p:cNvPr id="25" name="Shape 23"/>
          <p:cNvSpPr/>
          <p:nvPr/>
        </p:nvSpPr>
        <p:spPr>
          <a:xfrm>
            <a:off x="9774936" y="2606040"/>
            <a:ext cx="466344" cy="466344"/>
          </a:xfrm>
          <a:prstGeom prst="rect">
            <a:avLst/>
          </a:prstGeom>
          <a:solidFill>
            <a:srgbClr val="EFEDFB"/>
          </a:solidFill>
          <a:ln w="19050">
            <a:solidFill>
              <a:srgbClr val="FFFFFF"/>
            </a:solidFill>
            <a:prstDash val="solid"/>
          </a:ln>
        </p:spPr>
      </p:sp>
      <p:sp>
        <p:nvSpPr>
          <p:cNvPr id="26" name="Shape 24"/>
          <p:cNvSpPr/>
          <p:nvPr/>
        </p:nvSpPr>
        <p:spPr>
          <a:xfrm>
            <a:off x="10287000" y="2606040"/>
            <a:ext cx="466344" cy="466344"/>
          </a:xfrm>
          <a:prstGeom prst="rect">
            <a:avLst/>
          </a:prstGeom>
          <a:solidFill>
            <a:srgbClr val="EFEDFB"/>
          </a:solidFill>
          <a:ln w="19050">
            <a:solidFill>
              <a:srgbClr val="FFFFFF"/>
            </a:solidFill>
            <a:prstDash val="solid"/>
          </a:ln>
        </p:spPr>
      </p:sp>
      <p:sp>
        <p:nvSpPr>
          <p:cNvPr id="27" name="Text 25"/>
          <p:cNvSpPr/>
          <p:nvPr/>
        </p:nvSpPr>
        <p:spPr>
          <a:xfrm>
            <a:off x="6702552" y="3118104"/>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claim</a:t>
            </a:r>
            <a:endParaRPr lang="en-US" sz="850" dirty="0"/>
          </a:p>
        </p:txBody>
      </p:sp>
      <p:sp>
        <p:nvSpPr>
          <p:cNvPr id="28" name="Shape 26"/>
          <p:cNvSpPr/>
          <p:nvPr/>
        </p:nvSpPr>
        <p:spPr>
          <a:xfrm>
            <a:off x="7726680" y="3118104"/>
            <a:ext cx="466344" cy="466344"/>
          </a:xfrm>
          <a:prstGeom prst="rect">
            <a:avLst/>
          </a:prstGeom>
          <a:solidFill>
            <a:srgbClr val="5B4BE0"/>
          </a:solidFill>
          <a:ln w="19050">
            <a:solidFill>
              <a:srgbClr val="FFFFFF"/>
            </a:solidFill>
            <a:prstDash val="solid"/>
          </a:ln>
        </p:spPr>
      </p:sp>
      <p:sp>
        <p:nvSpPr>
          <p:cNvPr id="29" name="Shape 27"/>
          <p:cNvSpPr/>
          <p:nvPr/>
        </p:nvSpPr>
        <p:spPr>
          <a:xfrm>
            <a:off x="8238744" y="3118104"/>
            <a:ext cx="466344" cy="466344"/>
          </a:xfrm>
          <a:prstGeom prst="rect">
            <a:avLst/>
          </a:prstGeom>
          <a:solidFill>
            <a:srgbClr val="9C92EE"/>
          </a:solidFill>
          <a:ln w="19050">
            <a:solidFill>
              <a:srgbClr val="FFFFFF"/>
            </a:solidFill>
            <a:prstDash val="solid"/>
          </a:ln>
        </p:spPr>
      </p:sp>
      <p:sp>
        <p:nvSpPr>
          <p:cNvPr id="30" name="Shape 28"/>
          <p:cNvSpPr/>
          <p:nvPr/>
        </p:nvSpPr>
        <p:spPr>
          <a:xfrm>
            <a:off x="8750808" y="3118104"/>
            <a:ext cx="466344" cy="466344"/>
          </a:xfrm>
          <a:prstGeom prst="rect">
            <a:avLst/>
          </a:prstGeom>
          <a:solidFill>
            <a:srgbClr val="EFEDFB"/>
          </a:solidFill>
          <a:ln w="19050">
            <a:solidFill>
              <a:srgbClr val="FFFFFF"/>
            </a:solidFill>
            <a:prstDash val="solid"/>
          </a:ln>
        </p:spPr>
      </p:sp>
      <p:sp>
        <p:nvSpPr>
          <p:cNvPr id="31" name="Shape 29"/>
          <p:cNvSpPr/>
          <p:nvPr/>
        </p:nvSpPr>
        <p:spPr>
          <a:xfrm>
            <a:off x="9262872" y="3118104"/>
            <a:ext cx="466344" cy="466344"/>
          </a:xfrm>
          <a:prstGeom prst="rect">
            <a:avLst/>
          </a:prstGeom>
          <a:solidFill>
            <a:srgbClr val="EFEDFB"/>
          </a:solidFill>
          <a:ln w="19050">
            <a:solidFill>
              <a:srgbClr val="FFFFFF"/>
            </a:solidFill>
            <a:prstDash val="solid"/>
          </a:ln>
        </p:spPr>
      </p:sp>
      <p:sp>
        <p:nvSpPr>
          <p:cNvPr id="32" name="Shape 30"/>
          <p:cNvSpPr/>
          <p:nvPr/>
        </p:nvSpPr>
        <p:spPr>
          <a:xfrm>
            <a:off x="9774936" y="3118104"/>
            <a:ext cx="466344" cy="466344"/>
          </a:xfrm>
          <a:prstGeom prst="rect">
            <a:avLst/>
          </a:prstGeom>
          <a:solidFill>
            <a:srgbClr val="EFEDFB"/>
          </a:solidFill>
          <a:ln w="19050">
            <a:solidFill>
              <a:srgbClr val="FFFFFF"/>
            </a:solidFill>
            <a:prstDash val="solid"/>
          </a:ln>
        </p:spPr>
      </p:sp>
      <p:sp>
        <p:nvSpPr>
          <p:cNvPr id="33" name="Shape 31"/>
          <p:cNvSpPr/>
          <p:nvPr/>
        </p:nvSpPr>
        <p:spPr>
          <a:xfrm>
            <a:off x="10287000" y="3118104"/>
            <a:ext cx="466344" cy="466344"/>
          </a:xfrm>
          <a:prstGeom prst="rect">
            <a:avLst/>
          </a:prstGeom>
          <a:solidFill>
            <a:srgbClr val="EFEDFB"/>
          </a:solidFill>
          <a:ln w="19050">
            <a:solidFill>
              <a:srgbClr val="FFFFFF"/>
            </a:solidFill>
            <a:prstDash val="solid"/>
          </a:ln>
        </p:spPr>
      </p:sp>
      <p:sp>
        <p:nvSpPr>
          <p:cNvPr id="34" name="Text 32"/>
          <p:cNvSpPr/>
          <p:nvPr/>
        </p:nvSpPr>
        <p:spPr>
          <a:xfrm>
            <a:off x="6702552" y="3630168"/>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denied</a:t>
            </a:r>
            <a:endParaRPr lang="en-US" sz="850" dirty="0"/>
          </a:p>
        </p:txBody>
      </p:sp>
      <p:sp>
        <p:nvSpPr>
          <p:cNvPr id="35" name="Shape 33"/>
          <p:cNvSpPr/>
          <p:nvPr/>
        </p:nvSpPr>
        <p:spPr>
          <a:xfrm>
            <a:off x="7726680" y="3630168"/>
            <a:ext cx="466344" cy="466344"/>
          </a:xfrm>
          <a:prstGeom prst="rect">
            <a:avLst/>
          </a:prstGeom>
          <a:solidFill>
            <a:srgbClr val="EFEDFB"/>
          </a:solidFill>
          <a:ln w="19050">
            <a:solidFill>
              <a:srgbClr val="FFFFFF"/>
            </a:solidFill>
            <a:prstDash val="solid"/>
          </a:ln>
        </p:spPr>
      </p:sp>
      <p:sp>
        <p:nvSpPr>
          <p:cNvPr id="36" name="Shape 34"/>
          <p:cNvSpPr/>
          <p:nvPr/>
        </p:nvSpPr>
        <p:spPr>
          <a:xfrm>
            <a:off x="8238744" y="3630168"/>
            <a:ext cx="466344" cy="466344"/>
          </a:xfrm>
          <a:prstGeom prst="rect">
            <a:avLst/>
          </a:prstGeom>
          <a:solidFill>
            <a:srgbClr val="EFEDFB"/>
          </a:solidFill>
          <a:ln w="19050">
            <a:solidFill>
              <a:srgbClr val="FFFFFF"/>
            </a:solidFill>
            <a:prstDash val="solid"/>
          </a:ln>
        </p:spPr>
      </p:sp>
      <p:sp>
        <p:nvSpPr>
          <p:cNvPr id="37" name="Shape 35"/>
          <p:cNvSpPr/>
          <p:nvPr/>
        </p:nvSpPr>
        <p:spPr>
          <a:xfrm>
            <a:off x="8750808" y="3630168"/>
            <a:ext cx="466344" cy="466344"/>
          </a:xfrm>
          <a:prstGeom prst="rect">
            <a:avLst/>
          </a:prstGeom>
          <a:solidFill>
            <a:srgbClr val="D7D2F7"/>
          </a:solidFill>
          <a:ln w="19050">
            <a:solidFill>
              <a:srgbClr val="FFFFFF"/>
            </a:solidFill>
            <a:prstDash val="solid"/>
          </a:ln>
        </p:spPr>
      </p:sp>
      <p:sp>
        <p:nvSpPr>
          <p:cNvPr id="38" name="Shape 36"/>
          <p:cNvSpPr/>
          <p:nvPr/>
        </p:nvSpPr>
        <p:spPr>
          <a:xfrm>
            <a:off x="9262872" y="3630168"/>
            <a:ext cx="466344" cy="466344"/>
          </a:xfrm>
          <a:prstGeom prst="rect">
            <a:avLst/>
          </a:prstGeom>
          <a:solidFill>
            <a:srgbClr val="9C92EE"/>
          </a:solidFill>
          <a:ln w="19050">
            <a:solidFill>
              <a:srgbClr val="FFFFFF"/>
            </a:solidFill>
            <a:prstDash val="solid"/>
          </a:ln>
        </p:spPr>
      </p:sp>
      <p:sp>
        <p:nvSpPr>
          <p:cNvPr id="39" name="Shape 37"/>
          <p:cNvSpPr/>
          <p:nvPr/>
        </p:nvSpPr>
        <p:spPr>
          <a:xfrm>
            <a:off x="9774936" y="3630168"/>
            <a:ext cx="466344" cy="466344"/>
          </a:xfrm>
          <a:prstGeom prst="rect">
            <a:avLst/>
          </a:prstGeom>
          <a:solidFill>
            <a:srgbClr val="D7D2F7"/>
          </a:solidFill>
          <a:ln w="19050">
            <a:solidFill>
              <a:srgbClr val="FFFFFF"/>
            </a:solidFill>
            <a:prstDash val="solid"/>
          </a:ln>
        </p:spPr>
      </p:sp>
      <p:sp>
        <p:nvSpPr>
          <p:cNvPr id="40" name="Shape 38"/>
          <p:cNvSpPr/>
          <p:nvPr/>
        </p:nvSpPr>
        <p:spPr>
          <a:xfrm>
            <a:off x="10287000" y="3630168"/>
            <a:ext cx="466344" cy="466344"/>
          </a:xfrm>
          <a:prstGeom prst="rect">
            <a:avLst/>
          </a:prstGeom>
          <a:solidFill>
            <a:srgbClr val="D7D2F7"/>
          </a:solidFill>
          <a:ln w="19050">
            <a:solidFill>
              <a:srgbClr val="FFFFFF"/>
            </a:solidFill>
            <a:prstDash val="solid"/>
          </a:ln>
        </p:spPr>
      </p:sp>
      <p:sp>
        <p:nvSpPr>
          <p:cNvPr id="41" name="Text 39"/>
          <p:cNvSpPr/>
          <p:nvPr/>
        </p:nvSpPr>
        <p:spPr>
          <a:xfrm>
            <a:off x="6702552" y="4142232"/>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missing</a:t>
            </a:r>
            <a:endParaRPr lang="en-US" sz="850" dirty="0"/>
          </a:p>
        </p:txBody>
      </p:sp>
      <p:sp>
        <p:nvSpPr>
          <p:cNvPr id="42" name="Shape 40"/>
          <p:cNvSpPr/>
          <p:nvPr/>
        </p:nvSpPr>
        <p:spPr>
          <a:xfrm>
            <a:off x="7726680" y="4142232"/>
            <a:ext cx="466344" cy="466344"/>
          </a:xfrm>
          <a:prstGeom prst="rect">
            <a:avLst/>
          </a:prstGeom>
          <a:solidFill>
            <a:srgbClr val="EFEDFB"/>
          </a:solidFill>
          <a:ln w="19050">
            <a:solidFill>
              <a:srgbClr val="FFFFFF"/>
            </a:solidFill>
            <a:prstDash val="solid"/>
          </a:ln>
        </p:spPr>
      </p:sp>
      <p:sp>
        <p:nvSpPr>
          <p:cNvPr id="43" name="Shape 41"/>
          <p:cNvSpPr/>
          <p:nvPr/>
        </p:nvSpPr>
        <p:spPr>
          <a:xfrm>
            <a:off x="8238744" y="4142232"/>
            <a:ext cx="466344" cy="466344"/>
          </a:xfrm>
          <a:prstGeom prst="rect">
            <a:avLst/>
          </a:prstGeom>
          <a:solidFill>
            <a:srgbClr val="EFEDFB"/>
          </a:solidFill>
          <a:ln w="19050">
            <a:solidFill>
              <a:srgbClr val="FFFFFF"/>
            </a:solidFill>
            <a:prstDash val="solid"/>
          </a:ln>
        </p:spPr>
      </p:sp>
      <p:sp>
        <p:nvSpPr>
          <p:cNvPr id="44" name="Shape 42"/>
          <p:cNvSpPr/>
          <p:nvPr/>
        </p:nvSpPr>
        <p:spPr>
          <a:xfrm>
            <a:off x="8750808" y="4142232"/>
            <a:ext cx="466344" cy="466344"/>
          </a:xfrm>
          <a:prstGeom prst="rect">
            <a:avLst/>
          </a:prstGeom>
          <a:solidFill>
            <a:srgbClr val="EFEDFB"/>
          </a:solidFill>
          <a:ln w="19050">
            <a:solidFill>
              <a:srgbClr val="FFFFFF"/>
            </a:solidFill>
            <a:prstDash val="solid"/>
          </a:ln>
        </p:spPr>
      </p:sp>
      <p:sp>
        <p:nvSpPr>
          <p:cNvPr id="45" name="Shape 43"/>
          <p:cNvSpPr/>
          <p:nvPr/>
        </p:nvSpPr>
        <p:spPr>
          <a:xfrm>
            <a:off x="9262872" y="4142232"/>
            <a:ext cx="466344" cy="466344"/>
          </a:xfrm>
          <a:prstGeom prst="rect">
            <a:avLst/>
          </a:prstGeom>
          <a:solidFill>
            <a:srgbClr val="9C92EE"/>
          </a:solidFill>
          <a:ln w="19050">
            <a:solidFill>
              <a:srgbClr val="FFFFFF"/>
            </a:solidFill>
            <a:prstDash val="solid"/>
          </a:ln>
        </p:spPr>
      </p:sp>
      <p:sp>
        <p:nvSpPr>
          <p:cNvPr id="46" name="Shape 44"/>
          <p:cNvSpPr/>
          <p:nvPr/>
        </p:nvSpPr>
        <p:spPr>
          <a:xfrm>
            <a:off x="9774936" y="4142232"/>
            <a:ext cx="466344" cy="466344"/>
          </a:xfrm>
          <a:prstGeom prst="rect">
            <a:avLst/>
          </a:prstGeom>
          <a:solidFill>
            <a:srgbClr val="9C92EE"/>
          </a:solidFill>
          <a:ln w="19050">
            <a:solidFill>
              <a:srgbClr val="FFFFFF"/>
            </a:solidFill>
            <a:prstDash val="solid"/>
          </a:ln>
        </p:spPr>
      </p:sp>
      <p:sp>
        <p:nvSpPr>
          <p:cNvPr id="47" name="Shape 45"/>
          <p:cNvSpPr/>
          <p:nvPr/>
        </p:nvSpPr>
        <p:spPr>
          <a:xfrm>
            <a:off x="10287000" y="4142232"/>
            <a:ext cx="466344" cy="466344"/>
          </a:xfrm>
          <a:prstGeom prst="rect">
            <a:avLst/>
          </a:prstGeom>
          <a:solidFill>
            <a:srgbClr val="D7D2F7"/>
          </a:solidFill>
          <a:ln w="19050">
            <a:solidFill>
              <a:srgbClr val="FFFFFF"/>
            </a:solidFill>
            <a:prstDash val="solid"/>
          </a:ln>
        </p:spPr>
      </p:sp>
      <p:sp>
        <p:nvSpPr>
          <p:cNvPr id="48" name="Text 46"/>
          <p:cNvSpPr/>
          <p:nvPr/>
        </p:nvSpPr>
        <p:spPr>
          <a:xfrm>
            <a:off x="6702552" y="4654296"/>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prior</a:t>
            </a:r>
            <a:endParaRPr lang="en-US" sz="850" dirty="0"/>
          </a:p>
        </p:txBody>
      </p:sp>
      <p:sp>
        <p:nvSpPr>
          <p:cNvPr id="49" name="Shape 47"/>
          <p:cNvSpPr/>
          <p:nvPr/>
        </p:nvSpPr>
        <p:spPr>
          <a:xfrm>
            <a:off x="7726680" y="4654296"/>
            <a:ext cx="466344" cy="466344"/>
          </a:xfrm>
          <a:prstGeom prst="rect">
            <a:avLst/>
          </a:prstGeom>
          <a:solidFill>
            <a:srgbClr val="EFEDFB"/>
          </a:solidFill>
          <a:ln w="19050">
            <a:solidFill>
              <a:srgbClr val="FFFFFF"/>
            </a:solidFill>
            <a:prstDash val="solid"/>
          </a:ln>
        </p:spPr>
      </p:sp>
      <p:sp>
        <p:nvSpPr>
          <p:cNvPr id="50" name="Shape 48"/>
          <p:cNvSpPr/>
          <p:nvPr/>
        </p:nvSpPr>
        <p:spPr>
          <a:xfrm>
            <a:off x="8238744" y="4654296"/>
            <a:ext cx="466344" cy="466344"/>
          </a:xfrm>
          <a:prstGeom prst="rect">
            <a:avLst/>
          </a:prstGeom>
          <a:solidFill>
            <a:srgbClr val="EFEDFB"/>
          </a:solidFill>
          <a:ln w="19050">
            <a:solidFill>
              <a:srgbClr val="FFFFFF"/>
            </a:solidFill>
            <a:prstDash val="solid"/>
          </a:ln>
        </p:spPr>
      </p:sp>
      <p:sp>
        <p:nvSpPr>
          <p:cNvPr id="51" name="Shape 49"/>
          <p:cNvSpPr/>
          <p:nvPr/>
        </p:nvSpPr>
        <p:spPr>
          <a:xfrm>
            <a:off x="8750808" y="4654296"/>
            <a:ext cx="466344" cy="466344"/>
          </a:xfrm>
          <a:prstGeom prst="rect">
            <a:avLst/>
          </a:prstGeom>
          <a:solidFill>
            <a:srgbClr val="EFEDFB"/>
          </a:solidFill>
          <a:ln w="19050">
            <a:solidFill>
              <a:srgbClr val="FFFFFF"/>
            </a:solidFill>
            <a:prstDash val="solid"/>
          </a:ln>
        </p:spPr>
      </p:sp>
      <p:sp>
        <p:nvSpPr>
          <p:cNvPr id="52" name="Shape 50"/>
          <p:cNvSpPr/>
          <p:nvPr/>
        </p:nvSpPr>
        <p:spPr>
          <a:xfrm>
            <a:off x="9262872" y="4654296"/>
            <a:ext cx="466344" cy="466344"/>
          </a:xfrm>
          <a:prstGeom prst="rect">
            <a:avLst/>
          </a:prstGeom>
          <a:solidFill>
            <a:srgbClr val="9C92EE"/>
          </a:solidFill>
          <a:ln w="19050">
            <a:solidFill>
              <a:srgbClr val="FFFFFF"/>
            </a:solidFill>
            <a:prstDash val="solid"/>
          </a:ln>
        </p:spPr>
      </p:sp>
      <p:sp>
        <p:nvSpPr>
          <p:cNvPr id="53" name="Shape 51"/>
          <p:cNvSpPr/>
          <p:nvPr/>
        </p:nvSpPr>
        <p:spPr>
          <a:xfrm>
            <a:off x="9774936" y="4654296"/>
            <a:ext cx="466344" cy="466344"/>
          </a:xfrm>
          <a:prstGeom prst="rect">
            <a:avLst/>
          </a:prstGeom>
          <a:solidFill>
            <a:srgbClr val="9C92EE"/>
          </a:solidFill>
          <a:ln w="19050">
            <a:solidFill>
              <a:srgbClr val="FFFFFF"/>
            </a:solidFill>
            <a:prstDash val="solid"/>
          </a:ln>
        </p:spPr>
      </p:sp>
      <p:sp>
        <p:nvSpPr>
          <p:cNvPr id="54" name="Shape 52"/>
          <p:cNvSpPr/>
          <p:nvPr/>
        </p:nvSpPr>
        <p:spPr>
          <a:xfrm>
            <a:off x="10287000" y="4654296"/>
            <a:ext cx="466344" cy="466344"/>
          </a:xfrm>
          <a:prstGeom prst="rect">
            <a:avLst/>
          </a:prstGeom>
          <a:solidFill>
            <a:srgbClr val="9C92EE"/>
          </a:solidFill>
          <a:ln w="19050">
            <a:solidFill>
              <a:srgbClr val="FFFFFF"/>
            </a:solidFill>
            <a:prstDash val="solid"/>
          </a:ln>
        </p:spPr>
      </p:sp>
      <p:sp>
        <p:nvSpPr>
          <p:cNvPr id="55" name="Text 53"/>
          <p:cNvSpPr/>
          <p:nvPr/>
        </p:nvSpPr>
        <p:spPr>
          <a:xfrm>
            <a:off x="6702552" y="5166360"/>
            <a:ext cx="987552" cy="512064"/>
          </a:xfrm>
          <a:prstGeom prst="rect">
            <a:avLst/>
          </a:prstGeom>
          <a:noFill/>
          <a:ln/>
        </p:spPr>
        <p:txBody>
          <a:bodyPr wrap="square" lIns="0" tIns="0" rIns="0" bIns="0" rtlCol="0" anchor="ctr"/>
          <a:lstStyle/>
          <a:p>
            <a:pPr algn="r" indent="0" marL="0">
              <a:buNone/>
            </a:pPr>
            <a:r>
              <a:rPr lang="en-US" sz="850" b="1" dirty="0">
                <a:solidFill>
                  <a:srgbClr val="5A6685"/>
                </a:solidFill>
                <a:latin typeface="Calibri" pitchFamily="34" charset="0"/>
                <a:ea typeface="Calibri" pitchFamily="34" charset="-122"/>
                <a:cs typeface="Calibri" pitchFamily="34" charset="-120"/>
              </a:rPr>
              <a:t>auth</a:t>
            </a:r>
            <a:endParaRPr lang="en-US" sz="850" dirty="0"/>
          </a:p>
        </p:txBody>
      </p:sp>
      <p:sp>
        <p:nvSpPr>
          <p:cNvPr id="56" name="Shape 54"/>
          <p:cNvSpPr/>
          <p:nvPr/>
        </p:nvSpPr>
        <p:spPr>
          <a:xfrm>
            <a:off x="7726680" y="5166360"/>
            <a:ext cx="466344" cy="466344"/>
          </a:xfrm>
          <a:prstGeom prst="rect">
            <a:avLst/>
          </a:prstGeom>
          <a:solidFill>
            <a:srgbClr val="EFEDFB"/>
          </a:solidFill>
          <a:ln w="19050">
            <a:solidFill>
              <a:srgbClr val="FFFFFF"/>
            </a:solidFill>
            <a:prstDash val="solid"/>
          </a:ln>
        </p:spPr>
      </p:sp>
      <p:sp>
        <p:nvSpPr>
          <p:cNvPr id="57" name="Shape 55"/>
          <p:cNvSpPr/>
          <p:nvPr/>
        </p:nvSpPr>
        <p:spPr>
          <a:xfrm>
            <a:off x="8238744" y="5166360"/>
            <a:ext cx="466344" cy="466344"/>
          </a:xfrm>
          <a:prstGeom prst="rect">
            <a:avLst/>
          </a:prstGeom>
          <a:solidFill>
            <a:srgbClr val="EFEDFB"/>
          </a:solidFill>
          <a:ln w="19050">
            <a:solidFill>
              <a:srgbClr val="FFFFFF"/>
            </a:solidFill>
            <a:prstDash val="solid"/>
          </a:ln>
        </p:spPr>
      </p:sp>
      <p:sp>
        <p:nvSpPr>
          <p:cNvPr id="58" name="Shape 56"/>
          <p:cNvSpPr/>
          <p:nvPr/>
        </p:nvSpPr>
        <p:spPr>
          <a:xfrm>
            <a:off x="8750808" y="5166360"/>
            <a:ext cx="466344" cy="466344"/>
          </a:xfrm>
          <a:prstGeom prst="rect">
            <a:avLst/>
          </a:prstGeom>
          <a:solidFill>
            <a:srgbClr val="EFEDFB"/>
          </a:solidFill>
          <a:ln w="19050">
            <a:solidFill>
              <a:srgbClr val="FFFFFF"/>
            </a:solidFill>
            <a:prstDash val="solid"/>
          </a:ln>
        </p:spPr>
      </p:sp>
      <p:sp>
        <p:nvSpPr>
          <p:cNvPr id="59" name="Shape 57"/>
          <p:cNvSpPr/>
          <p:nvPr/>
        </p:nvSpPr>
        <p:spPr>
          <a:xfrm>
            <a:off x="9262872" y="5166360"/>
            <a:ext cx="466344" cy="466344"/>
          </a:xfrm>
          <a:prstGeom prst="rect">
            <a:avLst/>
          </a:prstGeom>
          <a:solidFill>
            <a:srgbClr val="D7D2F7"/>
          </a:solidFill>
          <a:ln w="19050">
            <a:solidFill>
              <a:srgbClr val="FFFFFF"/>
            </a:solidFill>
            <a:prstDash val="solid"/>
          </a:ln>
        </p:spPr>
      </p:sp>
      <p:sp>
        <p:nvSpPr>
          <p:cNvPr id="60" name="Shape 58"/>
          <p:cNvSpPr/>
          <p:nvPr/>
        </p:nvSpPr>
        <p:spPr>
          <a:xfrm>
            <a:off x="9774936" y="5166360"/>
            <a:ext cx="466344" cy="466344"/>
          </a:xfrm>
          <a:prstGeom prst="rect">
            <a:avLst/>
          </a:prstGeom>
          <a:solidFill>
            <a:srgbClr val="9C92EE"/>
          </a:solidFill>
          <a:ln w="19050">
            <a:solidFill>
              <a:srgbClr val="FFFFFF"/>
            </a:solidFill>
            <a:prstDash val="solid"/>
          </a:ln>
        </p:spPr>
      </p:sp>
      <p:sp>
        <p:nvSpPr>
          <p:cNvPr id="61" name="Shape 59"/>
          <p:cNvSpPr/>
          <p:nvPr/>
        </p:nvSpPr>
        <p:spPr>
          <a:xfrm>
            <a:off x="10287000" y="5166360"/>
            <a:ext cx="466344" cy="466344"/>
          </a:xfrm>
          <a:prstGeom prst="rect">
            <a:avLst/>
          </a:prstGeom>
          <a:solidFill>
            <a:srgbClr val="9C92EE"/>
          </a:solidFill>
          <a:ln w="19050">
            <a:solidFill>
              <a:srgbClr val="FFFFFF"/>
            </a:solidFill>
            <a:prstDash val="solid"/>
          </a:ln>
        </p:spPr>
      </p:sp>
      <p:sp>
        <p:nvSpPr>
          <p:cNvPr id="62" name="Text 60"/>
          <p:cNvSpPr/>
          <p:nvPr/>
        </p:nvSpPr>
        <p:spPr>
          <a:xfrm>
            <a:off x="6720840" y="5724144"/>
            <a:ext cx="4709160" cy="219456"/>
          </a:xfrm>
          <a:prstGeom prst="rect">
            <a:avLst/>
          </a:prstGeom>
          <a:noFill/>
          <a:ln/>
        </p:spPr>
        <p:txBody>
          <a:bodyPr wrap="square" lIns="0" tIns="0" rIns="0" bIns="0" rtlCol="0" anchor="ctr"/>
          <a:lstStyle/>
          <a:p>
            <a:pPr algn="ctr" indent="0" marL="0">
              <a:buNone/>
            </a:pPr>
            <a:r>
              <a:rPr lang="en-US" sz="900" i="1" dirty="0">
                <a:solidFill>
                  <a:srgbClr val="8A93AB"/>
                </a:solidFill>
                <a:latin typeface="Calibri" pitchFamily="34" charset="0"/>
                <a:ea typeface="Calibri" pitchFamily="34" charset="-122"/>
                <a:cs typeface="Calibri" pitchFamily="34" charset="-120"/>
              </a:rPr>
              <a:t>rows = the word doing the looking</a:t>
            </a:r>
            <a:endParaRPr lang="en-US" sz="900" dirty="0"/>
          </a:p>
        </p:txBody>
      </p:sp>
      <p:sp>
        <p:nvSpPr>
          <p:cNvPr id="63" name="Text 61"/>
          <p:cNvSpPr/>
          <p:nvPr/>
        </p:nvSpPr>
        <p:spPr>
          <a:xfrm>
            <a:off x="6766560" y="5971032"/>
            <a:ext cx="4617720" cy="457200"/>
          </a:xfrm>
          <a:prstGeom prst="rect">
            <a:avLst/>
          </a:prstGeom>
          <a:noFill/>
          <a:ln/>
        </p:spPr>
        <p:txBody>
          <a:bodyPr wrap="square" lIns="0" tIns="0" rIns="0" bIns="0" rtlCol="0" anchor="ctr"/>
          <a:lstStyle/>
          <a:p>
            <a:pPr algn="ctr" indent="0" marL="0">
              <a:lnSpc>
                <a:spcPct val="108000"/>
              </a:lnSpc>
              <a:buNone/>
            </a:pPr>
            <a:r>
              <a:rPr lang="en-US" sz="1050" b="1" dirty="0">
                <a:solidFill>
                  <a:srgbClr val="5B4BE0"/>
                </a:solidFill>
                <a:latin typeface="Calibri" pitchFamily="34" charset="0"/>
                <a:ea typeface="Calibri" pitchFamily="34" charset="-122"/>
                <a:cs typeface="Calibri" pitchFamily="34" charset="-120"/>
              </a:rPr>
              <a:t>“denied”</a:t>
            </a:r>
            <a:pPr algn="ctr" indent="0" marL="0">
              <a:lnSpc>
                <a:spcPct val="108000"/>
              </a:lnSpc>
              <a:buNone/>
            </a:pPr>
            <a:r>
              <a:rPr lang="en-US" sz="1050" dirty="0">
                <a:solidFill>
                  <a:srgbClr val="5A6685"/>
                </a:solidFill>
                <a:latin typeface="Calibri" pitchFamily="34" charset="0"/>
                <a:ea typeface="Calibri" pitchFamily="34" charset="-122"/>
                <a:cs typeface="Calibri" pitchFamily="34" charset="-120"/>
              </a:rPr>
              <a:t> looks back at </a:t>
            </a:r>
            <a:pPr algn="ctr" indent="0" marL="0">
              <a:lnSpc>
                <a:spcPct val="108000"/>
              </a:lnSpc>
              <a:buNone/>
            </a:pPr>
            <a:r>
              <a:rPr lang="en-US" sz="1050" b="1" dirty="0">
                <a:solidFill>
                  <a:srgbClr val="5B4BE0"/>
                </a:solidFill>
                <a:latin typeface="Calibri" pitchFamily="34" charset="0"/>
                <a:ea typeface="Calibri" pitchFamily="34" charset="-122"/>
                <a:cs typeface="Calibri" pitchFamily="34" charset="-120"/>
              </a:rPr>
              <a:t>“missing prior auth”</a:t>
            </a:r>
            <a:pPr algn="ctr" indent="0" marL="0">
              <a:lnSpc>
                <a:spcPct val="108000"/>
              </a:lnSpc>
              <a:buNone/>
            </a:pPr>
            <a:r>
              <a:rPr lang="en-US" sz="1050" dirty="0">
                <a:solidFill>
                  <a:srgbClr val="5A6685"/>
                </a:solidFill>
                <a:latin typeface="Calibri" pitchFamily="34" charset="0"/>
                <a:ea typeface="Calibri" pitchFamily="34" charset="-122"/>
                <a:cs typeface="Calibri" pitchFamily="34" charset="-120"/>
              </a:rPr>
              <a:t> — the model finds the reason.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2</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2</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2017 — The Transformer</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Google Brain publishes 'Attention Is All You Need'. By dropping recurrence and keeping only attention, it becomes parallel, long-range and scalable. The same engine now runs inside real health-AI tools — including the clinical-support system built at Cigna's Evernorth.</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LANDMARK PAPER</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'Attention Is All You Need' — Vaswani et al., June 2017</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arXiv:1706.03762 · NeurIPS 2017 · Evernorth clinical-support tool: NLP Summit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554480"/>
            <a:ext cx="553212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783080"/>
            <a:ext cx="822960" cy="82296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46988" y="1988820"/>
            <a:ext cx="411480" cy="411480"/>
          </a:xfrm>
          <a:prstGeom prst="rect">
            <a:avLst/>
          </a:prstGeom>
        </p:spPr>
      </p:pic>
      <p:sp>
        <p:nvSpPr>
          <p:cNvPr id="9" name="Text 6"/>
          <p:cNvSpPr/>
          <p:nvPr/>
        </p:nvSpPr>
        <p:spPr>
          <a:xfrm>
            <a:off x="1801368" y="1810512"/>
            <a:ext cx="411480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The one-line thesis</a:t>
            </a:r>
            <a:endParaRPr lang="en-US" sz="1550" dirty="0"/>
          </a:p>
        </p:txBody>
      </p:sp>
      <p:sp>
        <p:nvSpPr>
          <p:cNvPr id="10" name="Text 7"/>
          <p:cNvSpPr/>
          <p:nvPr/>
        </p:nvSpPr>
        <p:spPr>
          <a:xfrm>
            <a:off x="1801368" y="2139696"/>
            <a:ext cx="4160520" cy="548640"/>
          </a:xfrm>
          <a:prstGeom prst="rect">
            <a:avLst/>
          </a:prstGeom>
          <a:noFill/>
          <a:ln/>
        </p:spPr>
        <p:txBody>
          <a:bodyPr wrap="square" lIns="0" tIns="0" rIns="0" bIns="0" rtlCol="0" anchor="ctr"/>
          <a:lstStyle/>
          <a:p>
            <a:pPr indent="0" marL="0">
              <a:lnSpc>
                <a:spcPct val="105000"/>
              </a:lnSpc>
              <a:buNone/>
            </a:pPr>
            <a:r>
              <a:rPr lang="en-US" sz="1250" i="1" dirty="0">
                <a:solidFill>
                  <a:srgbClr val="5B4BE0"/>
                </a:solidFill>
                <a:latin typeface="Calibri" pitchFamily="34" charset="0"/>
                <a:ea typeface="Calibri" pitchFamily="34" charset="-122"/>
                <a:cs typeface="Calibri" pitchFamily="34" charset="-120"/>
              </a:rPr>
              <a:t>"…dispensing with recurrence and convolutions entirely."</a:t>
            </a:r>
            <a:endParaRPr lang="en-US" sz="1250" dirty="0"/>
          </a:p>
        </p:txBody>
      </p:sp>
      <p:sp>
        <p:nvSpPr>
          <p:cNvPr id="11" name="Text 8"/>
          <p:cNvSpPr/>
          <p:nvPr/>
        </p:nvSpPr>
        <p:spPr>
          <a:xfrm>
            <a:off x="859536" y="2834640"/>
            <a:ext cx="5029200" cy="210312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Replaces RNN/CNN backbones with stacked self-attention</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Every token attends to every token in one parallel step</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Constant path length between any two positions</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Originally built for English→German / English→French translation</a:t>
            </a:r>
            <a:endParaRPr lang="en-US" sz="1260" dirty="0"/>
          </a:p>
        </p:txBody>
      </p:sp>
      <p:sp>
        <p:nvSpPr>
          <p:cNvPr id="12" name="Shape 9"/>
          <p:cNvSpPr/>
          <p:nvPr/>
        </p:nvSpPr>
        <p:spPr>
          <a:xfrm>
            <a:off x="859536" y="5029200"/>
            <a:ext cx="4983480" cy="868680"/>
          </a:xfrm>
          <a:prstGeom prst="roundRect">
            <a:avLst>
              <a:gd name="adj" fmla="val 9474"/>
            </a:avLst>
          </a:prstGeom>
          <a:solidFill>
            <a:srgbClr val="FBEFD8"/>
          </a:solidFill>
          <a:ln/>
        </p:spPr>
      </p:sp>
      <p:sp>
        <p:nvSpPr>
          <p:cNvPr id="13" name="Shape 10"/>
          <p:cNvSpPr/>
          <p:nvPr/>
        </p:nvSpPr>
        <p:spPr>
          <a:xfrm>
            <a:off x="1069848" y="5239512"/>
            <a:ext cx="457200" cy="457200"/>
          </a:xfrm>
          <a:prstGeom prst="ellipse">
            <a:avLst/>
          </a:prstGeom>
          <a:solidFill>
            <a:srgbClr val="D9820A"/>
          </a:solidFill>
          <a:ln/>
        </p:spPr>
      </p:sp>
      <p:pic>
        <p:nvPicPr>
          <p:cNvPr id="14" name="Image 1" descr="preencoded.png">    </p:cNvPr>
          <p:cNvPicPr>
            <a:picLocks noChangeAspect="1"/>
          </p:cNvPicPr>
          <p:nvPr/>
        </p:nvPicPr>
        <p:blipFill>
          <a:blip r:embed="rId2"/>
          <a:stretch>
            <a:fillRect/>
          </a:stretch>
        </p:blipFill>
        <p:spPr>
          <a:xfrm>
            <a:off x="1184148" y="5353812"/>
            <a:ext cx="228600" cy="228600"/>
          </a:xfrm>
          <a:prstGeom prst="rect">
            <a:avLst/>
          </a:prstGeom>
        </p:spPr>
      </p:pic>
      <p:sp>
        <p:nvSpPr>
          <p:cNvPr id="15" name="Text 11"/>
          <p:cNvSpPr/>
          <p:nvPr/>
        </p:nvSpPr>
        <p:spPr>
          <a:xfrm>
            <a:off x="1664208" y="5074920"/>
            <a:ext cx="4069080" cy="777240"/>
          </a:xfrm>
          <a:prstGeom prst="rect">
            <a:avLst/>
          </a:prstGeom>
          <a:noFill/>
          <a:ln/>
        </p:spPr>
        <p:txBody>
          <a:bodyPr wrap="square" lIns="0" tIns="0" rIns="0" bIns="0" rtlCol="0" anchor="ctr"/>
          <a:lstStyle/>
          <a:p>
            <a:pPr indent="0" marL="0">
              <a:lnSpc>
                <a:spcPct val="110000"/>
              </a:lnSpc>
              <a:buNone/>
            </a:pPr>
            <a:r>
              <a:rPr lang="en-US" sz="1100" b="1" dirty="0">
                <a:solidFill>
                  <a:srgbClr val="D9820A"/>
                </a:solidFill>
                <a:latin typeface="Calibri" pitchFamily="34" charset="0"/>
                <a:ea typeface="Calibri" pitchFamily="34" charset="-122"/>
                <a:cs typeface="Calibri" pitchFamily="34" charset="-120"/>
              </a:rPr>
              <a:t>You've already met it.  </a:t>
            </a:r>
            <a:pPr indent="0" marL="0">
              <a:lnSpc>
                <a:spcPct val="110000"/>
              </a:lnSpc>
              <a:buNone/>
            </a:pPr>
            <a:r>
              <a:rPr lang="en-US" sz="1100" dirty="0">
                <a:solidFill>
                  <a:srgbClr val="1B2440"/>
                </a:solidFill>
                <a:latin typeface="Calibri" pitchFamily="34" charset="0"/>
                <a:ea typeface="Calibri" pitchFamily="34" charset="-122"/>
                <a:cs typeface="Calibri" pitchFamily="34" charset="-120"/>
              </a:rPr>
              <a:t>Cigna's Evernorth built a clinical-support tool on this architecture — NLP + LLMs — in ~6 months.</a:t>
            </a:r>
            <a:endParaRPr lang="en-US" sz="1100" dirty="0"/>
          </a:p>
        </p:txBody>
      </p:sp>
      <p:sp>
        <p:nvSpPr>
          <p:cNvPr id="16" name="Shape 12"/>
          <p:cNvSpPr/>
          <p:nvPr/>
        </p:nvSpPr>
        <p:spPr>
          <a:xfrm>
            <a:off x="6537960" y="155448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Text 13"/>
          <p:cNvSpPr/>
          <p:nvPr/>
        </p:nvSpPr>
        <p:spPr>
          <a:xfrm>
            <a:off x="6766560" y="1719072"/>
            <a:ext cx="2103120" cy="1051560"/>
          </a:xfrm>
          <a:prstGeom prst="rect">
            <a:avLst/>
          </a:prstGeom>
          <a:noFill/>
          <a:ln/>
        </p:spPr>
        <p:txBody>
          <a:bodyPr wrap="square" lIns="0" tIns="0" rIns="0" bIns="0" rtlCol="0" anchor="ctr"/>
          <a:lstStyle/>
          <a:p>
            <a:pPr algn="l" indent="0" marL="0">
              <a:buNone/>
            </a:pPr>
            <a:r>
              <a:rPr lang="en-US" sz="4000" b="1" dirty="0">
                <a:solidFill>
                  <a:srgbClr val="5B4BE0"/>
                </a:solidFill>
                <a:latin typeface="Cambria" pitchFamily="34" charset="0"/>
                <a:ea typeface="Cambria" pitchFamily="34" charset="-122"/>
                <a:cs typeface="Cambria" pitchFamily="34" charset="-120"/>
              </a:rPr>
              <a:t>28.4</a:t>
            </a:r>
            <a:endParaRPr lang="en-US" sz="4000" dirty="0"/>
          </a:p>
        </p:txBody>
      </p:sp>
      <p:sp>
        <p:nvSpPr>
          <p:cNvPr id="18" name="Shape 14"/>
          <p:cNvSpPr/>
          <p:nvPr/>
        </p:nvSpPr>
        <p:spPr>
          <a:xfrm>
            <a:off x="8869680" y="1810512"/>
            <a:ext cx="0" cy="868680"/>
          </a:xfrm>
          <a:prstGeom prst="line">
            <a:avLst/>
          </a:prstGeom>
          <a:noFill/>
          <a:ln w="25400">
            <a:solidFill>
              <a:srgbClr val="EEECFB"/>
            </a:solidFill>
            <a:prstDash val="solid"/>
          </a:ln>
        </p:spPr>
      </p:sp>
      <p:sp>
        <p:nvSpPr>
          <p:cNvPr id="19" name="Text 15"/>
          <p:cNvSpPr/>
          <p:nvPr/>
        </p:nvSpPr>
        <p:spPr>
          <a:xfrm>
            <a:off x="9052560" y="173736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BLEU on WMT'14 EN→DE — a new state of the art, beating prior ensembles by &gt;2 BLEU</a:t>
            </a:r>
            <a:endParaRPr lang="en-US" sz="1230" dirty="0"/>
          </a:p>
        </p:txBody>
      </p:sp>
      <p:sp>
        <p:nvSpPr>
          <p:cNvPr id="20" name="Shape 16"/>
          <p:cNvSpPr/>
          <p:nvPr/>
        </p:nvSpPr>
        <p:spPr>
          <a:xfrm>
            <a:off x="6537960" y="306324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Text 17"/>
          <p:cNvSpPr/>
          <p:nvPr/>
        </p:nvSpPr>
        <p:spPr>
          <a:xfrm>
            <a:off x="6766560" y="3227832"/>
            <a:ext cx="2103120" cy="1051560"/>
          </a:xfrm>
          <a:prstGeom prst="rect">
            <a:avLst/>
          </a:prstGeom>
          <a:noFill/>
          <a:ln/>
        </p:spPr>
        <p:txBody>
          <a:bodyPr wrap="square" lIns="0" tIns="0" rIns="0" bIns="0" rtlCol="0" anchor="ctr"/>
          <a:lstStyle/>
          <a:p>
            <a:pPr algn="l" indent="0" marL="0">
              <a:buNone/>
            </a:pPr>
            <a:r>
              <a:rPr lang="en-US" sz="4000" b="1" dirty="0">
                <a:solidFill>
                  <a:srgbClr val="0E9E96"/>
                </a:solidFill>
                <a:latin typeface="Cambria" pitchFamily="34" charset="0"/>
                <a:ea typeface="Cambria" pitchFamily="34" charset="-122"/>
                <a:cs typeface="Cambria" pitchFamily="34" charset="-120"/>
              </a:rPr>
              <a:t>3.5 days</a:t>
            </a:r>
            <a:endParaRPr lang="en-US" sz="4000" dirty="0"/>
          </a:p>
        </p:txBody>
      </p:sp>
      <p:sp>
        <p:nvSpPr>
          <p:cNvPr id="22" name="Shape 18"/>
          <p:cNvSpPr/>
          <p:nvPr/>
        </p:nvSpPr>
        <p:spPr>
          <a:xfrm>
            <a:off x="8869680" y="3319272"/>
            <a:ext cx="0" cy="868680"/>
          </a:xfrm>
          <a:prstGeom prst="line">
            <a:avLst/>
          </a:prstGeom>
          <a:noFill/>
          <a:ln w="25400">
            <a:solidFill>
              <a:srgbClr val="E2F4F2"/>
            </a:solidFill>
            <a:prstDash val="solid"/>
          </a:ln>
        </p:spPr>
      </p:sp>
      <p:sp>
        <p:nvSpPr>
          <p:cNvPr id="23" name="Text 19"/>
          <p:cNvSpPr/>
          <p:nvPr/>
        </p:nvSpPr>
        <p:spPr>
          <a:xfrm>
            <a:off x="9052560" y="324612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to train the big model on just 8 GPUs — a fraction of prior compute</a:t>
            </a:r>
            <a:endParaRPr lang="en-US" sz="1230" dirty="0"/>
          </a:p>
        </p:txBody>
      </p:sp>
      <p:sp>
        <p:nvSpPr>
          <p:cNvPr id="24" name="Shape 20"/>
          <p:cNvSpPr/>
          <p:nvPr/>
        </p:nvSpPr>
        <p:spPr>
          <a:xfrm>
            <a:off x="6537960" y="4572000"/>
            <a:ext cx="5074920" cy="1371600"/>
          </a:xfrm>
          <a:prstGeom prst="roundRect">
            <a:avLst>
              <a:gd name="adj" fmla="val 666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Text 21"/>
          <p:cNvSpPr/>
          <p:nvPr/>
        </p:nvSpPr>
        <p:spPr>
          <a:xfrm>
            <a:off x="6766560" y="4736592"/>
            <a:ext cx="2103120" cy="1051560"/>
          </a:xfrm>
          <a:prstGeom prst="rect">
            <a:avLst/>
          </a:prstGeom>
          <a:noFill/>
          <a:ln/>
        </p:spPr>
        <p:txBody>
          <a:bodyPr wrap="square" lIns="0" tIns="0" rIns="0" bIns="0" rtlCol="0" anchor="ctr"/>
          <a:lstStyle/>
          <a:p>
            <a:pPr algn="l" indent="0" marL="0">
              <a:buNone/>
            </a:pPr>
            <a:r>
              <a:rPr lang="en-US" sz="4000" b="1" dirty="0">
                <a:solidFill>
                  <a:srgbClr val="D9820A"/>
                </a:solidFill>
                <a:latin typeface="Cambria" pitchFamily="34" charset="0"/>
                <a:ea typeface="Cambria" pitchFamily="34" charset="-122"/>
                <a:cs typeface="Cambria" pitchFamily="34" charset="-120"/>
              </a:rPr>
              <a:t>170,000+</a:t>
            </a:r>
            <a:endParaRPr lang="en-US" sz="4000" dirty="0"/>
          </a:p>
        </p:txBody>
      </p:sp>
      <p:sp>
        <p:nvSpPr>
          <p:cNvPr id="26" name="Shape 22"/>
          <p:cNvSpPr/>
          <p:nvPr/>
        </p:nvSpPr>
        <p:spPr>
          <a:xfrm>
            <a:off x="8869680" y="4828032"/>
            <a:ext cx="0" cy="868680"/>
          </a:xfrm>
          <a:prstGeom prst="line">
            <a:avLst/>
          </a:prstGeom>
          <a:noFill/>
          <a:ln w="25400">
            <a:solidFill>
              <a:srgbClr val="FBEFD8"/>
            </a:solidFill>
            <a:prstDash val="solid"/>
          </a:ln>
        </p:spPr>
      </p:sp>
      <p:sp>
        <p:nvSpPr>
          <p:cNvPr id="27" name="Text 23"/>
          <p:cNvSpPr/>
          <p:nvPr/>
        </p:nvSpPr>
        <p:spPr>
          <a:xfrm>
            <a:off x="9052560" y="4754880"/>
            <a:ext cx="2331720" cy="1005840"/>
          </a:xfrm>
          <a:prstGeom prst="rect">
            <a:avLst/>
          </a:prstGeom>
          <a:noFill/>
          <a:ln/>
        </p:spPr>
        <p:txBody>
          <a:bodyPr wrap="square" lIns="0" tIns="0" rIns="0" bIns="0" rtlCol="0" anchor="ctr"/>
          <a:lstStyle/>
          <a:p>
            <a:pPr indent="0" marL="0">
              <a:lnSpc>
                <a:spcPct val="110000"/>
              </a:lnSpc>
              <a:buNone/>
            </a:pPr>
            <a:r>
              <a:rPr lang="en-US" sz="1230" dirty="0">
                <a:solidFill>
                  <a:srgbClr val="1B2440"/>
                </a:solidFill>
                <a:latin typeface="Calibri" pitchFamily="34" charset="0"/>
                <a:ea typeface="Calibri" pitchFamily="34" charset="-122"/>
                <a:cs typeface="Calibri" pitchFamily="34" charset="-120"/>
              </a:rPr>
              <a:t>citations by 2026 — among the most-cited papers of the 21st century</a:t>
            </a:r>
            <a:endParaRPr lang="en-US" sz="12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BLUEPRINT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Transformer architecture: encoder + decoder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Redrawn from Vaswani et al., arXiv:1706.03762, Figure 1 — 'The Transformer model architecture'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44752"/>
            <a:ext cx="10972800" cy="292608"/>
          </a:xfrm>
          <a:prstGeom prst="rect">
            <a:avLst/>
          </a:prstGeom>
          <a:noFill/>
          <a:ln/>
        </p:spPr>
        <p:txBody>
          <a:bodyPr wrap="square" lIns="0" tIns="0" rIns="0" bIns="0" rtlCol="0" anchor="ctr"/>
          <a:lstStyle/>
          <a:p>
            <a:pPr indent="0" marL="0">
              <a:buNone/>
            </a:pPr>
            <a:r>
              <a:rPr lang="en-US" sz="1250" i="1" dirty="0">
                <a:solidFill>
                  <a:srgbClr val="5A6685"/>
                </a:solidFill>
                <a:latin typeface="Calibri" pitchFamily="34" charset="0"/>
                <a:ea typeface="Calibri" pitchFamily="34" charset="-122"/>
                <a:cs typeface="Calibri" pitchFamily="34" charset="-120"/>
              </a:rPr>
              <a:t>Read bottom → top (direction of data flow).  Each stack is repeated N× (N = 6 in the paper).</a:t>
            </a:r>
            <a:endParaRPr lang="en-US" sz="1250" dirty="0"/>
          </a:p>
        </p:txBody>
      </p:sp>
      <p:sp>
        <p:nvSpPr>
          <p:cNvPr id="7" name="Shape 5"/>
          <p:cNvSpPr/>
          <p:nvPr/>
        </p:nvSpPr>
        <p:spPr>
          <a:xfrm>
            <a:off x="1325880" y="1874520"/>
            <a:ext cx="4160520" cy="4160520"/>
          </a:xfrm>
          <a:prstGeom prst="roundRect">
            <a:avLst>
              <a:gd name="adj" fmla="val 2198"/>
            </a:avLst>
          </a:prstGeom>
          <a:solidFill>
            <a:srgbClr val="EEECFB"/>
          </a:solidFill>
          <a:ln/>
          <a:effectLst>
            <a:outerShdw sx="100000" sy="100000" kx="0" ky="0" algn="bl" rotWithShape="0" blurRad="114300" dist="38100" dir="5400000">
              <a:srgbClr val="9AA2BC">
                <a:alpha val="16000"/>
              </a:srgbClr>
            </a:outerShdw>
          </a:effectLst>
        </p:spPr>
      </p:sp>
      <p:sp>
        <p:nvSpPr>
          <p:cNvPr id="8" name="Shape 6"/>
          <p:cNvSpPr/>
          <p:nvPr/>
        </p:nvSpPr>
        <p:spPr>
          <a:xfrm>
            <a:off x="6629400" y="1874520"/>
            <a:ext cx="4206240" cy="4160520"/>
          </a:xfrm>
          <a:prstGeom prst="roundRect">
            <a:avLst>
              <a:gd name="adj" fmla="val 2198"/>
            </a:avLst>
          </a:prstGeom>
          <a:solidFill>
            <a:srgbClr val="E2F4F2"/>
          </a:solidFill>
          <a:ln/>
          <a:effectLst>
            <a:outerShdw sx="100000" sy="100000" kx="0" ky="0" algn="bl" rotWithShape="0" blurRad="114300" dist="38100" dir="5400000">
              <a:srgbClr val="9AA2BC">
                <a:alpha val="16000"/>
              </a:srgbClr>
            </a:outerShdw>
          </a:effectLst>
        </p:spPr>
      </p:sp>
      <p:sp>
        <p:nvSpPr>
          <p:cNvPr id="9" name="Text 7"/>
          <p:cNvSpPr/>
          <p:nvPr/>
        </p:nvSpPr>
        <p:spPr>
          <a:xfrm>
            <a:off x="1325880" y="1938528"/>
            <a:ext cx="4160520" cy="310896"/>
          </a:xfrm>
          <a:prstGeom prst="rect">
            <a:avLst/>
          </a:prstGeom>
          <a:noFill/>
          <a:ln/>
        </p:spPr>
        <p:txBody>
          <a:bodyPr wrap="square" lIns="0" tIns="0" rIns="0" bIns="0" rtlCol="0" anchor="ctr"/>
          <a:lstStyle/>
          <a:p>
            <a:pPr algn="ctr" indent="0" marL="0">
              <a:buNone/>
            </a:pPr>
            <a:r>
              <a:rPr lang="en-US" sz="1250" b="1" spc="150" kern="0" dirty="0">
                <a:solidFill>
                  <a:srgbClr val="5B4BE0"/>
                </a:solidFill>
                <a:latin typeface="Calibri" pitchFamily="34" charset="0"/>
                <a:ea typeface="Calibri" pitchFamily="34" charset="-122"/>
                <a:cs typeface="Calibri" pitchFamily="34" charset="-120"/>
              </a:rPr>
              <a:t>ENCODER   × N</a:t>
            </a:r>
            <a:endParaRPr lang="en-US" sz="1250" dirty="0"/>
          </a:p>
        </p:txBody>
      </p:sp>
      <p:sp>
        <p:nvSpPr>
          <p:cNvPr id="10" name="Text 8"/>
          <p:cNvSpPr/>
          <p:nvPr/>
        </p:nvSpPr>
        <p:spPr>
          <a:xfrm>
            <a:off x="6629400" y="1938528"/>
            <a:ext cx="4206240" cy="310896"/>
          </a:xfrm>
          <a:prstGeom prst="rect">
            <a:avLst/>
          </a:prstGeom>
          <a:noFill/>
          <a:ln/>
        </p:spPr>
        <p:txBody>
          <a:bodyPr wrap="square" lIns="0" tIns="0" rIns="0" bIns="0" rtlCol="0" anchor="ctr"/>
          <a:lstStyle/>
          <a:p>
            <a:pPr algn="ctr" indent="0" marL="0">
              <a:buNone/>
            </a:pPr>
            <a:r>
              <a:rPr lang="en-US" sz="1250" b="1" spc="150" kern="0" dirty="0">
                <a:solidFill>
                  <a:srgbClr val="0E9E96"/>
                </a:solidFill>
                <a:latin typeface="Calibri" pitchFamily="34" charset="0"/>
                <a:ea typeface="Calibri" pitchFamily="34" charset="-122"/>
                <a:cs typeface="Calibri" pitchFamily="34" charset="-120"/>
              </a:rPr>
              <a:t>DECODER   × N</a:t>
            </a:r>
            <a:endParaRPr lang="en-US" sz="1250" dirty="0"/>
          </a:p>
        </p:txBody>
      </p:sp>
      <p:sp>
        <p:nvSpPr>
          <p:cNvPr id="11" name="Shape 9"/>
          <p:cNvSpPr/>
          <p:nvPr/>
        </p:nvSpPr>
        <p:spPr>
          <a:xfrm>
            <a:off x="1691640" y="2331720"/>
            <a:ext cx="3429000" cy="566928"/>
          </a:xfrm>
          <a:prstGeom prst="roundRect">
            <a:avLst>
              <a:gd name="adj" fmla="val 9677"/>
            </a:avLst>
          </a:prstGeom>
          <a:solidFill>
            <a:srgbClr val="5B4BE0"/>
          </a:solidFill>
          <a:ln w="12700">
            <a:solidFill>
              <a:srgbClr val="DDE1EC"/>
            </a:solidFill>
            <a:prstDash val="solid"/>
          </a:ln>
        </p:spPr>
      </p:sp>
      <p:sp>
        <p:nvSpPr>
          <p:cNvPr id="12" name="Text 10"/>
          <p:cNvSpPr/>
          <p:nvPr/>
        </p:nvSpPr>
        <p:spPr>
          <a:xfrm>
            <a:off x="1691640" y="2331720"/>
            <a:ext cx="3429000" cy="566928"/>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Feed-Forward Network  +  Add &amp; Norm</a:t>
            </a:r>
            <a:endParaRPr lang="en-US" sz="1150" dirty="0"/>
          </a:p>
        </p:txBody>
      </p:sp>
      <p:sp>
        <p:nvSpPr>
          <p:cNvPr id="13" name="Shape 11"/>
          <p:cNvSpPr/>
          <p:nvPr/>
        </p:nvSpPr>
        <p:spPr>
          <a:xfrm>
            <a:off x="1691640" y="3063240"/>
            <a:ext cx="3429000" cy="566928"/>
          </a:xfrm>
          <a:prstGeom prst="roundRect">
            <a:avLst>
              <a:gd name="adj" fmla="val 9677"/>
            </a:avLst>
          </a:prstGeom>
          <a:solidFill>
            <a:srgbClr val="5B4BE0"/>
          </a:solidFill>
          <a:ln w="12700">
            <a:solidFill>
              <a:srgbClr val="DDE1EC"/>
            </a:solidFill>
            <a:prstDash val="solid"/>
          </a:ln>
        </p:spPr>
      </p:sp>
      <p:sp>
        <p:nvSpPr>
          <p:cNvPr id="14" name="Text 12"/>
          <p:cNvSpPr/>
          <p:nvPr/>
        </p:nvSpPr>
        <p:spPr>
          <a:xfrm>
            <a:off x="1691640" y="3063240"/>
            <a:ext cx="3429000" cy="566928"/>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Multi-Head Self-Attention  +  Add &amp; Norm</a:t>
            </a:r>
            <a:endParaRPr lang="en-US" sz="1150" dirty="0"/>
          </a:p>
        </p:txBody>
      </p:sp>
      <p:sp>
        <p:nvSpPr>
          <p:cNvPr id="15" name="Shape 13"/>
          <p:cNvSpPr/>
          <p:nvPr/>
        </p:nvSpPr>
        <p:spPr>
          <a:xfrm>
            <a:off x="1691640" y="3794760"/>
            <a:ext cx="3429000" cy="548640"/>
          </a:xfrm>
          <a:prstGeom prst="roundRect">
            <a:avLst>
              <a:gd name="adj" fmla="val 10000"/>
            </a:avLst>
          </a:prstGeom>
          <a:solidFill>
            <a:srgbClr val="FFFFFF"/>
          </a:solidFill>
          <a:ln w="12700">
            <a:solidFill>
              <a:srgbClr val="DDE1EC"/>
            </a:solidFill>
            <a:prstDash val="solid"/>
          </a:ln>
        </p:spPr>
      </p:sp>
      <p:sp>
        <p:nvSpPr>
          <p:cNvPr id="16" name="Text 14"/>
          <p:cNvSpPr/>
          <p:nvPr/>
        </p:nvSpPr>
        <p:spPr>
          <a:xfrm>
            <a:off x="1691640" y="3794760"/>
            <a:ext cx="3429000" cy="5486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  Positional Encoding</a:t>
            </a:r>
            <a:endParaRPr lang="en-US" sz="1100" dirty="0"/>
          </a:p>
        </p:txBody>
      </p:sp>
      <p:sp>
        <p:nvSpPr>
          <p:cNvPr id="17" name="Shape 15"/>
          <p:cNvSpPr/>
          <p:nvPr/>
        </p:nvSpPr>
        <p:spPr>
          <a:xfrm>
            <a:off x="1691640" y="4480560"/>
            <a:ext cx="3429000" cy="502920"/>
          </a:xfrm>
          <a:prstGeom prst="roundRect">
            <a:avLst>
              <a:gd name="adj" fmla="val 10909"/>
            </a:avLst>
          </a:prstGeom>
          <a:solidFill>
            <a:srgbClr val="F4F5F9"/>
          </a:solidFill>
          <a:ln w="12700">
            <a:solidFill>
              <a:srgbClr val="DDE1EC"/>
            </a:solidFill>
            <a:prstDash val="solid"/>
          </a:ln>
        </p:spPr>
      </p:sp>
      <p:sp>
        <p:nvSpPr>
          <p:cNvPr id="18" name="Text 16"/>
          <p:cNvSpPr/>
          <p:nvPr/>
        </p:nvSpPr>
        <p:spPr>
          <a:xfrm>
            <a:off x="1691640" y="4480560"/>
            <a:ext cx="3429000" cy="50292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Input Embedding</a:t>
            </a:r>
            <a:endParaRPr lang="en-US" sz="1100" dirty="0"/>
          </a:p>
        </p:txBody>
      </p:sp>
      <p:sp>
        <p:nvSpPr>
          <p:cNvPr id="19" name="Shape 17"/>
          <p:cNvSpPr/>
          <p:nvPr/>
        </p:nvSpPr>
        <p:spPr>
          <a:xfrm>
            <a:off x="1691640" y="5138928"/>
            <a:ext cx="3429000" cy="502920"/>
          </a:xfrm>
          <a:prstGeom prst="roundRect">
            <a:avLst>
              <a:gd name="adj" fmla="val 10909"/>
            </a:avLst>
          </a:prstGeom>
          <a:solidFill>
            <a:srgbClr val="D9DEF5"/>
          </a:solidFill>
          <a:ln w="12700">
            <a:solidFill>
              <a:srgbClr val="DDE1EC"/>
            </a:solidFill>
            <a:prstDash val="solid"/>
          </a:ln>
        </p:spPr>
      </p:sp>
      <p:sp>
        <p:nvSpPr>
          <p:cNvPr id="20" name="Text 18"/>
          <p:cNvSpPr/>
          <p:nvPr/>
        </p:nvSpPr>
        <p:spPr>
          <a:xfrm>
            <a:off x="1691640" y="5138928"/>
            <a:ext cx="3429000" cy="502920"/>
          </a:xfrm>
          <a:prstGeom prst="rect">
            <a:avLst/>
          </a:prstGeom>
          <a:noFill/>
          <a:ln/>
        </p:spPr>
        <p:txBody>
          <a:bodyPr wrap="square" lIns="25400" tIns="25400" rIns="25400" bIns="2540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Input:  member message / clinical note</a:t>
            </a:r>
            <a:endParaRPr lang="en-US" sz="1000" dirty="0"/>
          </a:p>
        </p:txBody>
      </p:sp>
      <p:sp>
        <p:nvSpPr>
          <p:cNvPr id="21" name="Shape 19"/>
          <p:cNvSpPr/>
          <p:nvPr/>
        </p:nvSpPr>
        <p:spPr>
          <a:xfrm>
            <a:off x="3406140" y="5120640"/>
            <a:ext cx="0" cy="-109728"/>
          </a:xfrm>
          <a:prstGeom prst="line">
            <a:avLst/>
          </a:prstGeom>
          <a:noFill/>
          <a:ln w="22225">
            <a:solidFill>
              <a:srgbClr val="8A93AB"/>
            </a:solidFill>
            <a:prstDash val="solid"/>
            <a:tailEnd type="triangle"/>
          </a:ln>
        </p:spPr>
      </p:sp>
      <p:sp>
        <p:nvSpPr>
          <p:cNvPr id="22" name="Shape 20"/>
          <p:cNvSpPr/>
          <p:nvPr/>
        </p:nvSpPr>
        <p:spPr>
          <a:xfrm>
            <a:off x="3406140" y="4462272"/>
            <a:ext cx="0" cy="-91440"/>
          </a:xfrm>
          <a:prstGeom prst="line">
            <a:avLst/>
          </a:prstGeom>
          <a:noFill/>
          <a:ln w="22225">
            <a:solidFill>
              <a:srgbClr val="8A93AB"/>
            </a:solidFill>
            <a:prstDash val="solid"/>
            <a:tailEnd type="triangle"/>
          </a:ln>
        </p:spPr>
      </p:sp>
      <p:sp>
        <p:nvSpPr>
          <p:cNvPr id="23" name="Shape 21"/>
          <p:cNvSpPr/>
          <p:nvPr/>
        </p:nvSpPr>
        <p:spPr>
          <a:xfrm>
            <a:off x="3406140" y="3776472"/>
            <a:ext cx="0" cy="-91440"/>
          </a:xfrm>
          <a:prstGeom prst="line">
            <a:avLst/>
          </a:prstGeom>
          <a:noFill/>
          <a:ln w="22225">
            <a:solidFill>
              <a:srgbClr val="8A93AB"/>
            </a:solidFill>
            <a:prstDash val="solid"/>
            <a:tailEnd type="triangle"/>
          </a:ln>
        </p:spPr>
      </p:sp>
      <p:sp>
        <p:nvSpPr>
          <p:cNvPr id="24" name="Shape 22"/>
          <p:cNvSpPr/>
          <p:nvPr/>
        </p:nvSpPr>
        <p:spPr>
          <a:xfrm>
            <a:off x="3406140" y="3044952"/>
            <a:ext cx="0" cy="-91440"/>
          </a:xfrm>
          <a:prstGeom prst="line">
            <a:avLst/>
          </a:prstGeom>
          <a:noFill/>
          <a:ln w="22225">
            <a:solidFill>
              <a:srgbClr val="8A93AB"/>
            </a:solidFill>
            <a:prstDash val="solid"/>
            <a:tailEnd type="triangle"/>
          </a:ln>
        </p:spPr>
      </p:sp>
      <p:sp>
        <p:nvSpPr>
          <p:cNvPr id="25" name="Shape 23"/>
          <p:cNvSpPr/>
          <p:nvPr/>
        </p:nvSpPr>
        <p:spPr>
          <a:xfrm>
            <a:off x="6949440" y="2331720"/>
            <a:ext cx="3520440" cy="530352"/>
          </a:xfrm>
          <a:prstGeom prst="roundRect">
            <a:avLst>
              <a:gd name="adj" fmla="val 10345"/>
            </a:avLst>
          </a:prstGeom>
          <a:solidFill>
            <a:srgbClr val="D9820A"/>
          </a:solidFill>
          <a:ln w="12700">
            <a:solidFill>
              <a:srgbClr val="DDE1EC"/>
            </a:solidFill>
            <a:prstDash val="solid"/>
          </a:ln>
        </p:spPr>
      </p:sp>
      <p:sp>
        <p:nvSpPr>
          <p:cNvPr id="26" name="Text 24"/>
          <p:cNvSpPr/>
          <p:nvPr/>
        </p:nvSpPr>
        <p:spPr>
          <a:xfrm>
            <a:off x="6949440" y="2331720"/>
            <a:ext cx="3520440" cy="530352"/>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Linear  →  Softmax  →  Output probabilities</a:t>
            </a:r>
            <a:endParaRPr lang="en-US" sz="1100" dirty="0"/>
          </a:p>
        </p:txBody>
      </p:sp>
      <p:sp>
        <p:nvSpPr>
          <p:cNvPr id="27" name="Shape 25"/>
          <p:cNvSpPr/>
          <p:nvPr/>
        </p:nvSpPr>
        <p:spPr>
          <a:xfrm>
            <a:off x="6949440" y="2971800"/>
            <a:ext cx="3520440" cy="502920"/>
          </a:xfrm>
          <a:prstGeom prst="roundRect">
            <a:avLst>
              <a:gd name="adj" fmla="val 10909"/>
            </a:avLst>
          </a:prstGeom>
          <a:solidFill>
            <a:srgbClr val="0E9E96"/>
          </a:solidFill>
          <a:ln w="12700">
            <a:solidFill>
              <a:srgbClr val="DDE1EC"/>
            </a:solidFill>
            <a:prstDash val="solid"/>
          </a:ln>
        </p:spPr>
      </p:sp>
      <p:sp>
        <p:nvSpPr>
          <p:cNvPr id="28" name="Text 26"/>
          <p:cNvSpPr/>
          <p:nvPr/>
        </p:nvSpPr>
        <p:spPr>
          <a:xfrm>
            <a:off x="6949440" y="2971800"/>
            <a:ext cx="3520440" cy="50292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Feed-Forward  +  Add &amp; Norm</a:t>
            </a:r>
            <a:endParaRPr lang="en-US" sz="1100" dirty="0"/>
          </a:p>
        </p:txBody>
      </p:sp>
      <p:sp>
        <p:nvSpPr>
          <p:cNvPr id="29" name="Shape 27"/>
          <p:cNvSpPr/>
          <p:nvPr/>
        </p:nvSpPr>
        <p:spPr>
          <a:xfrm>
            <a:off x="6949440" y="3584448"/>
            <a:ext cx="3520440" cy="548640"/>
          </a:xfrm>
          <a:prstGeom prst="roundRect">
            <a:avLst>
              <a:gd name="adj" fmla="val 10000"/>
            </a:avLst>
          </a:prstGeom>
          <a:solidFill>
            <a:srgbClr val="0C8C85"/>
          </a:solidFill>
          <a:ln w="12700">
            <a:solidFill>
              <a:srgbClr val="DDE1EC"/>
            </a:solidFill>
            <a:prstDash val="solid"/>
          </a:ln>
        </p:spPr>
      </p:sp>
      <p:sp>
        <p:nvSpPr>
          <p:cNvPr id="30" name="Text 28"/>
          <p:cNvSpPr/>
          <p:nvPr/>
        </p:nvSpPr>
        <p:spPr>
          <a:xfrm>
            <a:off x="6949440" y="3584448"/>
            <a:ext cx="3520440" cy="5486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Encoder–Decoder Cross-Attention</a:t>
            </a:r>
            <a:endParaRPr lang="en-US" sz="1100" dirty="0"/>
          </a:p>
        </p:txBody>
      </p:sp>
      <p:sp>
        <p:nvSpPr>
          <p:cNvPr id="31" name="Shape 29"/>
          <p:cNvSpPr/>
          <p:nvPr/>
        </p:nvSpPr>
        <p:spPr>
          <a:xfrm>
            <a:off x="6949440" y="4242816"/>
            <a:ext cx="3520440" cy="530352"/>
          </a:xfrm>
          <a:prstGeom prst="roundRect">
            <a:avLst>
              <a:gd name="adj" fmla="val 10345"/>
            </a:avLst>
          </a:prstGeom>
          <a:solidFill>
            <a:srgbClr val="0E9E96"/>
          </a:solidFill>
          <a:ln w="12700">
            <a:solidFill>
              <a:srgbClr val="DDE1EC"/>
            </a:solidFill>
            <a:prstDash val="solid"/>
          </a:ln>
        </p:spPr>
      </p:sp>
      <p:sp>
        <p:nvSpPr>
          <p:cNvPr id="32" name="Text 30"/>
          <p:cNvSpPr/>
          <p:nvPr/>
        </p:nvSpPr>
        <p:spPr>
          <a:xfrm>
            <a:off x="6949440" y="4242816"/>
            <a:ext cx="3520440" cy="530352"/>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Masked Multi-Head Self-Attention</a:t>
            </a:r>
            <a:endParaRPr lang="en-US" sz="1100" dirty="0"/>
          </a:p>
        </p:txBody>
      </p:sp>
      <p:sp>
        <p:nvSpPr>
          <p:cNvPr id="33" name="Shape 31"/>
          <p:cNvSpPr/>
          <p:nvPr/>
        </p:nvSpPr>
        <p:spPr>
          <a:xfrm>
            <a:off x="6949440" y="4882896"/>
            <a:ext cx="3520440" cy="420624"/>
          </a:xfrm>
          <a:prstGeom prst="roundRect">
            <a:avLst>
              <a:gd name="adj" fmla="val 13043"/>
            </a:avLst>
          </a:prstGeom>
          <a:solidFill>
            <a:srgbClr val="FFFFFF"/>
          </a:solidFill>
          <a:ln w="12700">
            <a:solidFill>
              <a:srgbClr val="DDE1EC"/>
            </a:solidFill>
            <a:prstDash val="solid"/>
          </a:ln>
        </p:spPr>
      </p:sp>
      <p:sp>
        <p:nvSpPr>
          <p:cNvPr id="34" name="Text 32"/>
          <p:cNvSpPr/>
          <p:nvPr/>
        </p:nvSpPr>
        <p:spPr>
          <a:xfrm>
            <a:off x="6949440" y="4882896"/>
            <a:ext cx="3520440" cy="420624"/>
          </a:xfrm>
          <a:prstGeom prst="rect">
            <a:avLst/>
          </a:prstGeom>
          <a:noFill/>
          <a:ln/>
        </p:spPr>
        <p:txBody>
          <a:bodyPr wrap="square" lIns="25400" tIns="25400" rIns="25400" bIns="25400" rtlCol="0" anchor="ctr"/>
          <a:lstStyle/>
          <a:p>
            <a:pPr algn="ctr" indent="0" marL="0">
              <a:lnSpc>
                <a:spcPct val="100000"/>
              </a:lnSpc>
              <a:buNone/>
            </a:pPr>
            <a:r>
              <a:rPr lang="en-US" sz="1050" b="1" dirty="0">
                <a:solidFill>
                  <a:srgbClr val="1B2440"/>
                </a:solidFill>
                <a:latin typeface="Calibri" pitchFamily="34" charset="0"/>
                <a:ea typeface="Calibri" pitchFamily="34" charset="-122"/>
                <a:cs typeface="Calibri" pitchFamily="34" charset="-120"/>
              </a:rPr>
              <a:t>⊕  Positional Encoding</a:t>
            </a:r>
            <a:endParaRPr lang="en-US" sz="1050" dirty="0"/>
          </a:p>
        </p:txBody>
      </p:sp>
      <p:sp>
        <p:nvSpPr>
          <p:cNvPr id="35" name="Shape 33"/>
          <p:cNvSpPr/>
          <p:nvPr/>
        </p:nvSpPr>
        <p:spPr>
          <a:xfrm>
            <a:off x="6949440" y="5376672"/>
            <a:ext cx="3520440" cy="457200"/>
          </a:xfrm>
          <a:prstGeom prst="roundRect">
            <a:avLst>
              <a:gd name="adj" fmla="val 12000"/>
            </a:avLst>
          </a:prstGeom>
          <a:solidFill>
            <a:srgbClr val="CDEBE8"/>
          </a:solidFill>
          <a:ln w="12700">
            <a:solidFill>
              <a:srgbClr val="DDE1EC"/>
            </a:solidFill>
            <a:prstDash val="solid"/>
          </a:ln>
        </p:spPr>
      </p:sp>
      <p:sp>
        <p:nvSpPr>
          <p:cNvPr id="36" name="Text 34"/>
          <p:cNvSpPr/>
          <p:nvPr/>
        </p:nvSpPr>
        <p:spPr>
          <a:xfrm>
            <a:off x="6949440" y="5376672"/>
            <a:ext cx="3520440" cy="457200"/>
          </a:xfrm>
          <a:prstGeom prst="rect">
            <a:avLst/>
          </a:prstGeom>
          <a:noFill/>
          <a:ln/>
        </p:spPr>
        <p:txBody>
          <a:bodyPr wrap="square" lIns="25400" tIns="25400" rIns="25400" bIns="2540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Output:  drafted reply (so far)</a:t>
            </a:r>
            <a:endParaRPr lang="en-US" sz="1000" dirty="0"/>
          </a:p>
        </p:txBody>
      </p:sp>
      <p:sp>
        <p:nvSpPr>
          <p:cNvPr id="37" name="Shape 35"/>
          <p:cNvSpPr/>
          <p:nvPr/>
        </p:nvSpPr>
        <p:spPr>
          <a:xfrm>
            <a:off x="8709660" y="5358384"/>
            <a:ext cx="0" cy="-91440"/>
          </a:xfrm>
          <a:prstGeom prst="line">
            <a:avLst/>
          </a:prstGeom>
          <a:noFill/>
          <a:ln w="22225">
            <a:solidFill>
              <a:srgbClr val="8A93AB"/>
            </a:solidFill>
            <a:prstDash val="solid"/>
            <a:tailEnd type="triangle"/>
          </a:ln>
        </p:spPr>
      </p:sp>
      <p:sp>
        <p:nvSpPr>
          <p:cNvPr id="38" name="Shape 36"/>
          <p:cNvSpPr/>
          <p:nvPr/>
        </p:nvSpPr>
        <p:spPr>
          <a:xfrm>
            <a:off x="8709660" y="4864608"/>
            <a:ext cx="0" cy="-91440"/>
          </a:xfrm>
          <a:prstGeom prst="line">
            <a:avLst/>
          </a:prstGeom>
          <a:noFill/>
          <a:ln w="22225">
            <a:solidFill>
              <a:srgbClr val="8A93AB"/>
            </a:solidFill>
            <a:prstDash val="solid"/>
            <a:tailEnd type="triangle"/>
          </a:ln>
        </p:spPr>
      </p:sp>
      <p:sp>
        <p:nvSpPr>
          <p:cNvPr id="39" name="Shape 37"/>
          <p:cNvSpPr/>
          <p:nvPr/>
        </p:nvSpPr>
        <p:spPr>
          <a:xfrm>
            <a:off x="8709660" y="4224528"/>
            <a:ext cx="0" cy="-91440"/>
          </a:xfrm>
          <a:prstGeom prst="line">
            <a:avLst/>
          </a:prstGeom>
          <a:noFill/>
          <a:ln w="22225">
            <a:solidFill>
              <a:srgbClr val="8A93AB"/>
            </a:solidFill>
            <a:prstDash val="solid"/>
            <a:tailEnd type="triangle"/>
          </a:ln>
        </p:spPr>
      </p:sp>
      <p:sp>
        <p:nvSpPr>
          <p:cNvPr id="40" name="Shape 38"/>
          <p:cNvSpPr/>
          <p:nvPr/>
        </p:nvSpPr>
        <p:spPr>
          <a:xfrm>
            <a:off x="8709660" y="3566160"/>
            <a:ext cx="0" cy="-91440"/>
          </a:xfrm>
          <a:prstGeom prst="line">
            <a:avLst/>
          </a:prstGeom>
          <a:noFill/>
          <a:ln w="22225">
            <a:solidFill>
              <a:srgbClr val="8A93AB"/>
            </a:solidFill>
            <a:prstDash val="solid"/>
            <a:tailEnd type="triangle"/>
          </a:ln>
        </p:spPr>
      </p:sp>
      <p:sp>
        <p:nvSpPr>
          <p:cNvPr id="41" name="Shape 39"/>
          <p:cNvSpPr/>
          <p:nvPr/>
        </p:nvSpPr>
        <p:spPr>
          <a:xfrm>
            <a:off x="8709660" y="2953512"/>
            <a:ext cx="0" cy="-91440"/>
          </a:xfrm>
          <a:prstGeom prst="line">
            <a:avLst/>
          </a:prstGeom>
          <a:noFill/>
          <a:ln w="22225">
            <a:solidFill>
              <a:srgbClr val="8A93AB"/>
            </a:solidFill>
            <a:prstDash val="solid"/>
            <a:tailEnd type="triangle"/>
          </a:ln>
        </p:spPr>
      </p:sp>
      <p:sp>
        <p:nvSpPr>
          <p:cNvPr id="42" name="Shape 40"/>
          <p:cNvSpPr/>
          <p:nvPr/>
        </p:nvSpPr>
        <p:spPr>
          <a:xfrm>
            <a:off x="5120640" y="3346704"/>
            <a:ext cx="1847088" cy="502920"/>
          </a:xfrm>
          <a:prstGeom prst="line">
            <a:avLst/>
          </a:prstGeom>
          <a:noFill/>
          <a:ln w="28575">
            <a:solidFill>
              <a:srgbClr val="E5484D"/>
            </a:solidFill>
            <a:prstDash val="solid"/>
            <a:tailEnd type="triangle"/>
          </a:ln>
        </p:spPr>
      </p:sp>
      <p:sp>
        <p:nvSpPr>
          <p:cNvPr id="43" name="Text 41"/>
          <p:cNvSpPr/>
          <p:nvPr/>
        </p:nvSpPr>
        <p:spPr>
          <a:xfrm>
            <a:off x="5166360" y="3017520"/>
            <a:ext cx="1554480" cy="274320"/>
          </a:xfrm>
          <a:prstGeom prst="rect">
            <a:avLst/>
          </a:prstGeom>
          <a:noFill/>
          <a:ln/>
        </p:spPr>
        <p:txBody>
          <a:bodyPr wrap="square" lIns="0" tIns="0" rIns="0" bIns="0" rtlCol="0" anchor="ctr"/>
          <a:lstStyle/>
          <a:p>
            <a:pPr algn="ctr" indent="0" marL="0">
              <a:buNone/>
            </a:pPr>
            <a:r>
              <a:rPr lang="en-US" sz="950" b="1" i="1" dirty="0">
                <a:solidFill>
                  <a:srgbClr val="E5484D"/>
                </a:solidFill>
                <a:latin typeface="Calibri" pitchFamily="34" charset="0"/>
                <a:ea typeface="Calibri" pitchFamily="34" charset="-122"/>
                <a:cs typeface="Calibri" pitchFamily="34" charset="-120"/>
              </a:rPr>
              <a:t>keys &amp; values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ENGINE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Self-attention: Query, Key, Value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3Blue1Brown, 'Attention in transformers, visually explained | Ch.6' · Vaswani et al., §3.2 (Scaled Dot-Product Attention)</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554480"/>
            <a:ext cx="5669280" cy="4480560"/>
          </a:xfrm>
          <a:prstGeom prst="roundRect">
            <a:avLst>
              <a:gd name="adj" fmla="val 2041"/>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12064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A content-based look-up, for every token</a:t>
            </a:r>
            <a:endParaRPr lang="en-US" sz="1550" dirty="0"/>
          </a:p>
        </p:txBody>
      </p:sp>
      <p:sp>
        <p:nvSpPr>
          <p:cNvPr id="8" name="Shape 6"/>
          <p:cNvSpPr/>
          <p:nvPr/>
        </p:nvSpPr>
        <p:spPr>
          <a:xfrm>
            <a:off x="841248" y="2286000"/>
            <a:ext cx="566928" cy="566928"/>
          </a:xfrm>
          <a:prstGeom prst="roundRect">
            <a:avLst>
              <a:gd name="adj" fmla="val 12903"/>
            </a:avLst>
          </a:prstGeom>
          <a:solidFill>
            <a:srgbClr val="5B4BE0"/>
          </a:solidFill>
          <a:ln/>
        </p:spPr>
      </p:sp>
      <p:sp>
        <p:nvSpPr>
          <p:cNvPr id="9" name="Text 7"/>
          <p:cNvSpPr/>
          <p:nvPr/>
        </p:nvSpPr>
        <p:spPr>
          <a:xfrm>
            <a:off x="841248" y="22860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Q</a:t>
            </a:r>
            <a:endParaRPr lang="en-US" sz="2200" dirty="0"/>
          </a:p>
        </p:txBody>
      </p:sp>
      <p:sp>
        <p:nvSpPr>
          <p:cNvPr id="10" name="Text 8"/>
          <p:cNvSpPr/>
          <p:nvPr/>
        </p:nvSpPr>
        <p:spPr>
          <a:xfrm>
            <a:off x="1572768" y="2304288"/>
            <a:ext cx="4389120" cy="292608"/>
          </a:xfrm>
          <a:prstGeom prst="rect">
            <a:avLst/>
          </a:prstGeom>
          <a:noFill/>
          <a:ln/>
        </p:spPr>
        <p:txBody>
          <a:bodyPr wrap="square" lIns="0" tIns="0" rIns="0" bIns="0" rtlCol="0" anchor="ctr"/>
          <a:lstStyle/>
          <a:p>
            <a:pPr indent="0" marL="0">
              <a:buNone/>
            </a:pPr>
            <a:r>
              <a:rPr lang="en-US" sz="1400" b="1" dirty="0">
                <a:solidFill>
                  <a:srgbClr val="5B4BE0"/>
                </a:solidFill>
                <a:latin typeface="Calibri" pitchFamily="34" charset="0"/>
                <a:ea typeface="Calibri" pitchFamily="34" charset="-122"/>
                <a:cs typeface="Calibri" pitchFamily="34" charset="-120"/>
              </a:rPr>
              <a:t>Query</a:t>
            </a:r>
            <a:endParaRPr lang="en-US" sz="1400" dirty="0"/>
          </a:p>
        </p:txBody>
      </p:sp>
      <p:sp>
        <p:nvSpPr>
          <p:cNvPr id="11" name="Text 9"/>
          <p:cNvSpPr/>
          <p:nvPr/>
        </p:nvSpPr>
        <p:spPr>
          <a:xfrm>
            <a:off x="1572768" y="2578608"/>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what this token is looking for</a:t>
            </a:r>
            <a:endParaRPr lang="en-US" sz="1200" dirty="0"/>
          </a:p>
        </p:txBody>
      </p:sp>
      <p:sp>
        <p:nvSpPr>
          <p:cNvPr id="12" name="Shape 10"/>
          <p:cNvSpPr/>
          <p:nvPr/>
        </p:nvSpPr>
        <p:spPr>
          <a:xfrm>
            <a:off x="841248" y="2999232"/>
            <a:ext cx="566928" cy="566928"/>
          </a:xfrm>
          <a:prstGeom prst="roundRect">
            <a:avLst>
              <a:gd name="adj" fmla="val 12903"/>
            </a:avLst>
          </a:prstGeom>
          <a:solidFill>
            <a:srgbClr val="0E9E96"/>
          </a:solidFill>
          <a:ln/>
        </p:spPr>
      </p:sp>
      <p:sp>
        <p:nvSpPr>
          <p:cNvPr id="13" name="Text 11"/>
          <p:cNvSpPr/>
          <p:nvPr/>
        </p:nvSpPr>
        <p:spPr>
          <a:xfrm>
            <a:off x="841248" y="2999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K</a:t>
            </a:r>
            <a:endParaRPr lang="en-US" sz="2200" dirty="0"/>
          </a:p>
        </p:txBody>
      </p:sp>
      <p:sp>
        <p:nvSpPr>
          <p:cNvPr id="14" name="Text 12"/>
          <p:cNvSpPr/>
          <p:nvPr/>
        </p:nvSpPr>
        <p:spPr>
          <a:xfrm>
            <a:off x="1572768" y="3017520"/>
            <a:ext cx="4389120" cy="292608"/>
          </a:xfrm>
          <a:prstGeom prst="rect">
            <a:avLst/>
          </a:prstGeom>
          <a:noFill/>
          <a:ln/>
        </p:spPr>
        <p:txBody>
          <a:bodyPr wrap="square" lIns="0" tIns="0" rIns="0" bIns="0" rtlCol="0" anchor="ctr"/>
          <a:lstStyle/>
          <a:p>
            <a:pPr indent="0" marL="0">
              <a:buNone/>
            </a:pPr>
            <a:r>
              <a:rPr lang="en-US" sz="1400" b="1" dirty="0">
                <a:solidFill>
                  <a:srgbClr val="0E9E96"/>
                </a:solidFill>
                <a:latin typeface="Calibri" pitchFamily="34" charset="0"/>
                <a:ea typeface="Calibri" pitchFamily="34" charset="-122"/>
                <a:cs typeface="Calibri" pitchFamily="34" charset="-120"/>
              </a:rPr>
              <a:t>Key</a:t>
            </a:r>
            <a:endParaRPr lang="en-US" sz="1400" dirty="0"/>
          </a:p>
        </p:txBody>
      </p:sp>
      <p:sp>
        <p:nvSpPr>
          <p:cNvPr id="15" name="Text 13"/>
          <p:cNvSpPr/>
          <p:nvPr/>
        </p:nvSpPr>
        <p:spPr>
          <a:xfrm>
            <a:off x="1572768" y="3291840"/>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what each token offers to be matched</a:t>
            </a:r>
            <a:endParaRPr lang="en-US" sz="1200" dirty="0"/>
          </a:p>
        </p:txBody>
      </p:sp>
      <p:sp>
        <p:nvSpPr>
          <p:cNvPr id="16" name="Shape 14"/>
          <p:cNvSpPr/>
          <p:nvPr/>
        </p:nvSpPr>
        <p:spPr>
          <a:xfrm>
            <a:off x="841248" y="3712464"/>
            <a:ext cx="566928" cy="566928"/>
          </a:xfrm>
          <a:prstGeom prst="roundRect">
            <a:avLst>
              <a:gd name="adj" fmla="val 12903"/>
            </a:avLst>
          </a:prstGeom>
          <a:solidFill>
            <a:srgbClr val="D9820A"/>
          </a:solidFill>
          <a:ln/>
        </p:spPr>
      </p:sp>
      <p:sp>
        <p:nvSpPr>
          <p:cNvPr id="17" name="Text 15"/>
          <p:cNvSpPr/>
          <p:nvPr/>
        </p:nvSpPr>
        <p:spPr>
          <a:xfrm>
            <a:off x="841248" y="37124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V</a:t>
            </a:r>
            <a:endParaRPr lang="en-US" sz="2200" dirty="0"/>
          </a:p>
        </p:txBody>
      </p:sp>
      <p:sp>
        <p:nvSpPr>
          <p:cNvPr id="18" name="Text 16"/>
          <p:cNvSpPr/>
          <p:nvPr/>
        </p:nvSpPr>
        <p:spPr>
          <a:xfrm>
            <a:off x="1572768" y="3730752"/>
            <a:ext cx="4389120" cy="292608"/>
          </a:xfrm>
          <a:prstGeom prst="rect">
            <a:avLst/>
          </a:prstGeom>
          <a:noFill/>
          <a:ln/>
        </p:spPr>
        <p:txBody>
          <a:bodyPr wrap="square" lIns="0" tIns="0" rIns="0" bIns="0" rtlCol="0" anchor="ctr"/>
          <a:lstStyle/>
          <a:p>
            <a:pPr indent="0" marL="0">
              <a:buNone/>
            </a:pPr>
            <a:r>
              <a:rPr lang="en-US" sz="1400" b="1" dirty="0">
                <a:solidFill>
                  <a:srgbClr val="D9820A"/>
                </a:solidFill>
                <a:latin typeface="Calibri" pitchFamily="34" charset="0"/>
                <a:ea typeface="Calibri" pitchFamily="34" charset="-122"/>
                <a:cs typeface="Calibri" pitchFamily="34" charset="-120"/>
              </a:rPr>
              <a:t>Value</a:t>
            </a:r>
            <a:endParaRPr lang="en-US" sz="1400" dirty="0"/>
          </a:p>
        </p:txBody>
      </p:sp>
      <p:sp>
        <p:nvSpPr>
          <p:cNvPr id="19" name="Text 17"/>
          <p:cNvSpPr/>
          <p:nvPr/>
        </p:nvSpPr>
        <p:spPr>
          <a:xfrm>
            <a:off x="1572768" y="4005072"/>
            <a:ext cx="4389120" cy="274320"/>
          </a:xfrm>
          <a:prstGeom prst="rect">
            <a:avLst/>
          </a:prstGeom>
          <a:noFill/>
          <a:ln/>
        </p:spPr>
        <p:txBody>
          <a:bodyPr wrap="square" lIns="0" tIns="0" rIns="0" bIns="0" rtlCol="0" anchor="ctr"/>
          <a:lstStyle/>
          <a:p>
            <a:pPr indent="0" marL="0">
              <a:buNone/>
            </a:pPr>
            <a:r>
              <a:rPr lang="en-US" sz="1200" dirty="0">
                <a:solidFill>
                  <a:srgbClr val="5A6685"/>
                </a:solidFill>
                <a:latin typeface="Calibri" pitchFamily="34" charset="0"/>
                <a:ea typeface="Calibri" pitchFamily="34" charset="-122"/>
                <a:cs typeface="Calibri" pitchFamily="34" charset="-120"/>
              </a:rPr>
              <a:t>the information actually retrieved</a:t>
            </a:r>
            <a:endParaRPr lang="en-US" sz="1200" dirty="0"/>
          </a:p>
        </p:txBody>
      </p:sp>
      <p:sp>
        <p:nvSpPr>
          <p:cNvPr id="20" name="Shape 18"/>
          <p:cNvSpPr/>
          <p:nvPr/>
        </p:nvSpPr>
        <p:spPr>
          <a:xfrm>
            <a:off x="841248" y="4572000"/>
            <a:ext cx="5166360" cy="1280160"/>
          </a:xfrm>
          <a:prstGeom prst="roundRect">
            <a:avLst>
              <a:gd name="adj" fmla="val 5714"/>
            </a:avLst>
          </a:prstGeom>
          <a:solidFill>
            <a:srgbClr val="EEECFB"/>
          </a:solidFill>
          <a:ln/>
        </p:spPr>
      </p:sp>
      <p:sp>
        <p:nvSpPr>
          <p:cNvPr id="21" name="Text 19"/>
          <p:cNvSpPr/>
          <p:nvPr/>
        </p:nvSpPr>
        <p:spPr>
          <a:xfrm>
            <a:off x="1069848" y="4572000"/>
            <a:ext cx="4754880" cy="1280160"/>
          </a:xfrm>
          <a:prstGeom prst="rect">
            <a:avLst/>
          </a:prstGeom>
          <a:noFill/>
          <a:ln/>
        </p:spPr>
        <p:txBody>
          <a:bodyPr wrap="square" lIns="0" tIns="0" rIns="0" bIns="0" rtlCol="0" anchor="ctr"/>
          <a:lstStyle/>
          <a:p>
            <a:pPr indent="0" marL="0">
              <a:lnSpc>
                <a:spcPct val="118000"/>
              </a:lnSpc>
              <a:buNone/>
            </a:pPr>
            <a:r>
              <a:rPr lang="en-US" sz="1200" b="1" dirty="0">
                <a:solidFill>
                  <a:srgbClr val="5B4BE0"/>
                </a:solidFill>
                <a:latin typeface="Calibri" pitchFamily="34" charset="0"/>
                <a:ea typeface="Calibri" pitchFamily="34" charset="-122"/>
                <a:cs typeface="Calibri" pitchFamily="34" charset="-120"/>
              </a:rPr>
              <a:t>Worked example.  </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The token </a:t>
            </a:r>
            <a:pPr indent="0" marL="0">
              <a:lnSpc>
                <a:spcPct val="118000"/>
              </a:lnSpc>
              <a:buNone/>
            </a:pPr>
            <a:r>
              <a:rPr lang="en-US" sz="1200" b="1" dirty="0">
                <a:solidFill>
                  <a:srgbClr val="5B4BE0"/>
                </a:solidFill>
                <a:latin typeface="Calibri" pitchFamily="34" charset="0"/>
                <a:ea typeface="Calibri" pitchFamily="34" charset="-122"/>
                <a:cs typeface="Calibri" pitchFamily="34" charset="-120"/>
              </a:rPr>
              <a:t>“MRI”</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 (Query) scans the note; </a:t>
            </a:r>
            <a:pPr indent="0" marL="0">
              <a:lnSpc>
                <a:spcPct val="118000"/>
              </a:lnSpc>
              <a:buNone/>
            </a:pPr>
            <a:r>
              <a:rPr lang="en-US" sz="1200" b="1" dirty="0">
                <a:solidFill>
                  <a:srgbClr val="0E9E96"/>
                </a:solidFill>
                <a:latin typeface="Calibri" pitchFamily="34" charset="0"/>
                <a:ea typeface="Calibri" pitchFamily="34" charset="-122"/>
                <a:cs typeface="Calibri" pitchFamily="34" charset="-120"/>
              </a:rPr>
              <a:t>“knee”</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 and </a:t>
            </a:r>
            <a:pPr indent="0" marL="0">
              <a:lnSpc>
                <a:spcPct val="118000"/>
              </a:lnSpc>
              <a:buNone/>
            </a:pPr>
            <a:r>
              <a:rPr lang="en-US" sz="1200" b="1" dirty="0">
                <a:solidFill>
                  <a:srgbClr val="0E9E96"/>
                </a:solidFill>
                <a:latin typeface="Calibri" pitchFamily="34" charset="0"/>
                <a:ea typeface="Calibri" pitchFamily="34" charset="-122"/>
                <a:cs typeface="Calibri" pitchFamily="34" charset="-120"/>
              </a:rPr>
              <a:t>“prior auth”</a:t>
            </a:r>
            <a:pPr indent="0" marL="0">
              <a:lnSpc>
                <a:spcPct val="118000"/>
              </a:lnSpc>
              <a:buNone/>
            </a:pPr>
            <a:r>
              <a:rPr lang="en-US" sz="1200" dirty="0">
                <a:solidFill>
                  <a:srgbClr val="1B2440"/>
                </a:solidFill>
                <a:latin typeface="Calibri" pitchFamily="34" charset="0"/>
                <a:ea typeface="Calibri" pitchFamily="34" charset="-122"/>
                <a:cs typeface="Calibri" pitchFamily="34" charset="-120"/>
              </a:rPr>
              <a:t> (Keys) match best, so their Values blend into MRI's new, context-aware meaning.</a:t>
            </a:r>
            <a:endParaRPr lang="en-US" sz="1200" dirty="0"/>
          </a:p>
        </p:txBody>
      </p:sp>
      <p:sp>
        <p:nvSpPr>
          <p:cNvPr id="22" name="Shape 20"/>
          <p:cNvSpPr/>
          <p:nvPr/>
        </p:nvSpPr>
        <p:spPr>
          <a:xfrm>
            <a:off x="6537960" y="1554480"/>
            <a:ext cx="5074920" cy="1691640"/>
          </a:xfrm>
          <a:prstGeom prst="roundRect">
            <a:avLst>
              <a:gd name="adj" fmla="val 5405"/>
            </a:avLst>
          </a:prstGeom>
          <a:solidFill>
            <a:srgbClr val="16213E"/>
          </a:solidFill>
          <a:ln/>
          <a:effectLst>
            <a:outerShdw sx="100000" sy="100000" kx="0" ky="0" algn="bl" rotWithShape="0" blurRad="114300" dist="38100" dir="5400000">
              <a:srgbClr val="9AA2BC">
                <a:alpha val="16000"/>
              </a:srgbClr>
            </a:outerShdw>
          </a:effectLst>
        </p:spPr>
      </p:sp>
      <p:sp>
        <p:nvSpPr>
          <p:cNvPr id="23" name="Text 21"/>
          <p:cNvSpPr/>
          <p:nvPr/>
        </p:nvSpPr>
        <p:spPr>
          <a:xfrm>
            <a:off x="6812280" y="1737360"/>
            <a:ext cx="4526280" cy="310896"/>
          </a:xfrm>
          <a:prstGeom prst="rect">
            <a:avLst/>
          </a:prstGeom>
          <a:noFill/>
          <a:ln/>
        </p:spPr>
        <p:txBody>
          <a:bodyPr wrap="square" lIns="0" tIns="0" rIns="0" bIns="0" rtlCol="0" anchor="ctr"/>
          <a:lstStyle/>
          <a:p>
            <a:pPr indent="0" marL="0">
              <a:buNone/>
            </a:pPr>
            <a:r>
              <a:rPr lang="en-US" sz="1250" b="1" dirty="0">
                <a:solidFill>
                  <a:srgbClr val="7C6FF0"/>
                </a:solidFill>
                <a:latin typeface="Calibri" pitchFamily="34" charset="0"/>
                <a:ea typeface="Calibri" pitchFamily="34" charset="-122"/>
                <a:cs typeface="Calibri" pitchFamily="34" charset="-120"/>
              </a:rPr>
              <a:t>Scaled dot-product attention</a:t>
            </a:r>
            <a:endParaRPr lang="en-US" sz="1250" dirty="0"/>
          </a:p>
        </p:txBody>
      </p:sp>
      <p:sp>
        <p:nvSpPr>
          <p:cNvPr id="24" name="Text 22"/>
          <p:cNvSpPr/>
          <p:nvPr/>
        </p:nvSpPr>
        <p:spPr>
          <a:xfrm>
            <a:off x="6812280" y="2194560"/>
            <a:ext cx="4526280" cy="640080"/>
          </a:xfrm>
          <a:prstGeom prst="rect">
            <a:avLst/>
          </a:prstGeom>
          <a:noFill/>
          <a:ln/>
        </p:spPr>
        <p:txBody>
          <a:bodyPr wrap="square" lIns="0" tIns="0" rIns="0" bIns="0" rtlCol="0" anchor="ctr"/>
          <a:lstStyle/>
          <a:p>
            <a:pPr algn="ctr" indent="0" marL="0">
              <a:buNone/>
            </a:pPr>
            <a:r>
              <a:rPr lang="en-US" sz="1650" b="1" dirty="0">
                <a:solidFill>
                  <a:srgbClr val="FFFFFF"/>
                </a:solidFill>
                <a:latin typeface="Courier New" pitchFamily="34" charset="0"/>
                <a:ea typeface="Courier New" pitchFamily="34" charset="-122"/>
                <a:cs typeface="Courier New" pitchFamily="34" charset="-120"/>
              </a:rPr>
              <a:t>Attention(Q,K,V) = softmax( Q·Kᵀ / √d_k ) · V</a:t>
            </a:r>
            <a:endParaRPr lang="en-US" sz="1650" dirty="0"/>
          </a:p>
        </p:txBody>
      </p:sp>
      <p:sp>
        <p:nvSpPr>
          <p:cNvPr id="25" name="Text 23"/>
          <p:cNvSpPr/>
          <p:nvPr/>
        </p:nvSpPr>
        <p:spPr>
          <a:xfrm>
            <a:off x="6812280" y="2852928"/>
            <a:ext cx="4526280" cy="310896"/>
          </a:xfrm>
          <a:prstGeom prst="rect">
            <a:avLst/>
          </a:prstGeom>
          <a:noFill/>
          <a:ln/>
        </p:spPr>
        <p:txBody>
          <a:bodyPr wrap="square" lIns="0" tIns="0" rIns="0" bIns="0" rtlCol="0" anchor="ctr"/>
          <a:lstStyle/>
          <a:p>
            <a:pPr algn="ctr" indent="0" marL="0">
              <a:buNone/>
            </a:pPr>
            <a:r>
              <a:rPr lang="en-US" sz="1080" i="1" dirty="0">
                <a:solidFill>
                  <a:srgbClr val="AEB6D6"/>
                </a:solidFill>
                <a:latin typeface="Calibri" pitchFamily="34" charset="0"/>
                <a:ea typeface="Calibri" pitchFamily="34" charset="-122"/>
                <a:cs typeface="Calibri" pitchFamily="34" charset="-120"/>
              </a:rPr>
              <a:t>√d_k  keeps the dot-products from blowing up as dimension grows.</a:t>
            </a:r>
            <a:endParaRPr lang="en-US" sz="1080" dirty="0"/>
          </a:p>
        </p:txBody>
      </p:sp>
      <p:sp>
        <p:nvSpPr>
          <p:cNvPr id="26" name="Shape 24"/>
          <p:cNvSpPr/>
          <p:nvPr/>
        </p:nvSpPr>
        <p:spPr>
          <a:xfrm>
            <a:off x="6537960" y="3429000"/>
            <a:ext cx="5074920" cy="2606040"/>
          </a:xfrm>
          <a:prstGeom prst="roundRect">
            <a:avLst>
              <a:gd name="adj" fmla="val 3509"/>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Text 25"/>
          <p:cNvSpPr/>
          <p:nvPr/>
        </p:nvSpPr>
        <p:spPr>
          <a:xfrm>
            <a:off x="6812280" y="3611880"/>
            <a:ext cx="4526280" cy="310896"/>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Why it beats recurrence</a:t>
            </a:r>
            <a:endParaRPr lang="en-US" sz="1400" dirty="0"/>
          </a:p>
        </p:txBody>
      </p:sp>
      <p:sp>
        <p:nvSpPr>
          <p:cNvPr id="28" name="Text 26"/>
          <p:cNvSpPr/>
          <p:nvPr/>
        </p:nvSpPr>
        <p:spPr>
          <a:xfrm>
            <a:off x="6830568" y="4023360"/>
            <a:ext cx="4526280" cy="187452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Any two tokens are 1 hop apart → no long-range decay</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Entire sequence processed at once → GPU-parallel</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Weights are data-dependent → genuine, learned focus</a:t>
            </a:r>
            <a:endParaRPr lang="en-US" sz="1230" dirty="0"/>
          </a:p>
          <a:p>
            <a:pPr marL="177800" indent="-177800">
              <a:lnSpc>
                <a:spcPct val="104000"/>
              </a:lnSpc>
              <a:spcAft>
                <a:spcPts val="700"/>
              </a:spcAft>
              <a:buSzPct val="100000"/>
              <a:buChar char="•"/>
            </a:pPr>
            <a:r>
              <a:rPr lang="en-US" sz="1230" dirty="0">
                <a:solidFill>
                  <a:srgbClr val="1B2440"/>
                </a:solidFill>
                <a:latin typeface="Calibri" pitchFamily="34" charset="0"/>
                <a:ea typeface="Calibri" pitchFamily="34" charset="-122"/>
                <a:cs typeface="Calibri" pitchFamily="34" charset="-120"/>
              </a:rPr>
              <a:t>Self-attention: Q, K, V all come from the same sequence</a:t>
            </a:r>
            <a:endParaRPr lang="en-US" sz="12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TWO FINISHING TOUCHES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Multi-head attention &amp; positional encoding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Vaswani et al., §3.2.2 (Multi-Head Attention) &amp; §3.5 (Positional Encoding), arXiv:1706.03762</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66928" y="1554480"/>
            <a:ext cx="557784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783080"/>
            <a:ext cx="777240" cy="77724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35558" y="1977390"/>
            <a:ext cx="388620" cy="388620"/>
          </a:xfrm>
          <a:prstGeom prst="rect">
            <a:avLst/>
          </a:prstGeom>
        </p:spPr>
      </p:pic>
      <p:sp>
        <p:nvSpPr>
          <p:cNvPr id="9" name="Text 6"/>
          <p:cNvSpPr/>
          <p:nvPr/>
        </p:nvSpPr>
        <p:spPr>
          <a:xfrm>
            <a:off x="1755648" y="1810512"/>
            <a:ext cx="420624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Multi-Head Attention</a:t>
            </a:r>
            <a:endParaRPr lang="en-US" sz="1600" dirty="0"/>
          </a:p>
        </p:txBody>
      </p:sp>
      <p:sp>
        <p:nvSpPr>
          <p:cNvPr id="10" name="Text 7"/>
          <p:cNvSpPr/>
          <p:nvPr/>
        </p:nvSpPr>
        <p:spPr>
          <a:xfrm>
            <a:off x="1755648" y="2212848"/>
            <a:ext cx="4206240" cy="548640"/>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Run attention h times in parallel with different learned projections, then concatenate.</a:t>
            </a:r>
            <a:endParaRPr lang="en-US" sz="1200" dirty="0"/>
          </a:p>
        </p:txBody>
      </p:sp>
      <p:sp>
        <p:nvSpPr>
          <p:cNvPr id="11" name="Shape 8"/>
          <p:cNvSpPr/>
          <p:nvPr/>
        </p:nvSpPr>
        <p:spPr>
          <a:xfrm>
            <a:off x="932688" y="3108960"/>
            <a:ext cx="1143000" cy="777240"/>
          </a:xfrm>
          <a:prstGeom prst="roundRect">
            <a:avLst>
              <a:gd name="adj" fmla="val 7059"/>
            </a:avLst>
          </a:prstGeom>
          <a:solidFill>
            <a:srgbClr val="EEECFB"/>
          </a:solidFill>
          <a:ln w="12700">
            <a:solidFill>
              <a:srgbClr val="DDE1EC"/>
            </a:solidFill>
            <a:prstDash val="solid"/>
          </a:ln>
        </p:spPr>
      </p:sp>
      <p:sp>
        <p:nvSpPr>
          <p:cNvPr id="12" name="Text 9"/>
          <p:cNvSpPr/>
          <p:nvPr/>
        </p:nvSpPr>
        <p:spPr>
          <a:xfrm>
            <a:off x="932688"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1</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procedure</a:t>
            </a:r>
            <a:endParaRPr lang="en-US" sz="1100" dirty="0"/>
          </a:p>
        </p:txBody>
      </p:sp>
      <p:sp>
        <p:nvSpPr>
          <p:cNvPr id="13" name="Shape 10"/>
          <p:cNvSpPr/>
          <p:nvPr/>
        </p:nvSpPr>
        <p:spPr>
          <a:xfrm>
            <a:off x="2194560" y="3108960"/>
            <a:ext cx="1143000" cy="777240"/>
          </a:xfrm>
          <a:prstGeom prst="roundRect">
            <a:avLst>
              <a:gd name="adj" fmla="val 7059"/>
            </a:avLst>
          </a:prstGeom>
          <a:solidFill>
            <a:srgbClr val="E2F4F2"/>
          </a:solidFill>
          <a:ln w="12700">
            <a:solidFill>
              <a:srgbClr val="DDE1EC"/>
            </a:solidFill>
            <a:prstDash val="solid"/>
          </a:ln>
        </p:spPr>
      </p:sp>
      <p:sp>
        <p:nvSpPr>
          <p:cNvPr id="14" name="Text 11"/>
          <p:cNvSpPr/>
          <p:nvPr/>
        </p:nvSpPr>
        <p:spPr>
          <a:xfrm>
            <a:off x="2194560"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2</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coverage</a:t>
            </a:r>
            <a:endParaRPr lang="en-US" sz="1100" dirty="0"/>
          </a:p>
        </p:txBody>
      </p:sp>
      <p:sp>
        <p:nvSpPr>
          <p:cNvPr id="15" name="Shape 12"/>
          <p:cNvSpPr/>
          <p:nvPr/>
        </p:nvSpPr>
        <p:spPr>
          <a:xfrm>
            <a:off x="3456432" y="3108960"/>
            <a:ext cx="1143000" cy="777240"/>
          </a:xfrm>
          <a:prstGeom prst="roundRect">
            <a:avLst>
              <a:gd name="adj" fmla="val 7059"/>
            </a:avLst>
          </a:prstGeom>
          <a:solidFill>
            <a:srgbClr val="FBEFD8"/>
          </a:solidFill>
          <a:ln w="12700">
            <a:solidFill>
              <a:srgbClr val="DDE1EC"/>
            </a:solidFill>
            <a:prstDash val="solid"/>
          </a:ln>
        </p:spPr>
      </p:sp>
      <p:sp>
        <p:nvSpPr>
          <p:cNvPr id="16" name="Text 13"/>
          <p:cNvSpPr/>
          <p:nvPr/>
        </p:nvSpPr>
        <p:spPr>
          <a:xfrm>
            <a:off x="3456432"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3</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negation</a:t>
            </a:r>
            <a:endParaRPr lang="en-US" sz="1100" dirty="0"/>
          </a:p>
        </p:txBody>
      </p:sp>
      <p:sp>
        <p:nvSpPr>
          <p:cNvPr id="17" name="Shape 14"/>
          <p:cNvSpPr/>
          <p:nvPr/>
        </p:nvSpPr>
        <p:spPr>
          <a:xfrm>
            <a:off x="4718304" y="3108960"/>
            <a:ext cx="1143000" cy="777240"/>
          </a:xfrm>
          <a:prstGeom prst="roundRect">
            <a:avLst>
              <a:gd name="adj" fmla="val 7059"/>
            </a:avLst>
          </a:prstGeom>
          <a:solidFill>
            <a:srgbClr val="E3F4EA"/>
          </a:solidFill>
          <a:ln w="12700">
            <a:solidFill>
              <a:srgbClr val="DDE1EC"/>
            </a:solidFill>
            <a:prstDash val="solid"/>
          </a:ln>
        </p:spPr>
      </p:sp>
      <p:sp>
        <p:nvSpPr>
          <p:cNvPr id="18" name="Text 15"/>
          <p:cNvSpPr/>
          <p:nvPr/>
        </p:nvSpPr>
        <p:spPr>
          <a:xfrm>
            <a:off x="4718304" y="3108960"/>
            <a:ext cx="1143000" cy="777240"/>
          </a:xfrm>
          <a:prstGeom prst="rect">
            <a:avLst/>
          </a:prstGeom>
          <a:noFill/>
          <a:ln/>
        </p:spPr>
        <p:txBody>
          <a:bodyPr wrap="square" lIns="25400" tIns="25400" rIns="25400" bIns="25400" rtlCol="0" anchor="ctr"/>
          <a:lstStyle/>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head 4</a:t>
            </a:r>
            <a:endParaRPr lang="en-US" sz="1100" dirty="0"/>
          </a:p>
          <a:p>
            <a:pPr algn="ctr" indent="0" marL="0">
              <a:lnSpc>
                <a:spcPct val="100000"/>
              </a:lnSpc>
              <a:buNone/>
            </a:pPr>
            <a:r>
              <a:rPr lang="en-US" sz="1100" b="1" dirty="0">
                <a:solidFill>
                  <a:srgbClr val="1B2440"/>
                </a:solidFill>
                <a:latin typeface="Calibri" pitchFamily="34" charset="0"/>
                <a:ea typeface="Calibri" pitchFamily="34" charset="-122"/>
                <a:cs typeface="Calibri" pitchFamily="34" charset="-120"/>
              </a:rPr>
              <a:t>drug↔dx</a:t>
            </a:r>
            <a:endParaRPr lang="en-US" sz="1100" dirty="0"/>
          </a:p>
        </p:txBody>
      </p:sp>
      <p:sp>
        <p:nvSpPr>
          <p:cNvPr id="19" name="Shape 16"/>
          <p:cNvSpPr/>
          <p:nvPr/>
        </p:nvSpPr>
        <p:spPr>
          <a:xfrm>
            <a:off x="1499616" y="3904488"/>
            <a:ext cx="0" cy="201168"/>
          </a:xfrm>
          <a:prstGeom prst="line">
            <a:avLst/>
          </a:prstGeom>
          <a:noFill/>
          <a:ln w="22225">
            <a:solidFill>
              <a:srgbClr val="8A93AB"/>
            </a:solidFill>
            <a:prstDash val="solid"/>
            <a:tailEnd type="triangle"/>
          </a:ln>
        </p:spPr>
      </p:sp>
      <p:sp>
        <p:nvSpPr>
          <p:cNvPr id="20" name="Shape 17"/>
          <p:cNvSpPr/>
          <p:nvPr/>
        </p:nvSpPr>
        <p:spPr>
          <a:xfrm>
            <a:off x="2761488" y="3904488"/>
            <a:ext cx="0" cy="201168"/>
          </a:xfrm>
          <a:prstGeom prst="line">
            <a:avLst/>
          </a:prstGeom>
          <a:noFill/>
          <a:ln w="22225">
            <a:solidFill>
              <a:srgbClr val="8A93AB"/>
            </a:solidFill>
            <a:prstDash val="solid"/>
            <a:tailEnd type="triangle"/>
          </a:ln>
        </p:spPr>
      </p:sp>
      <p:sp>
        <p:nvSpPr>
          <p:cNvPr id="21" name="Shape 18"/>
          <p:cNvSpPr/>
          <p:nvPr/>
        </p:nvSpPr>
        <p:spPr>
          <a:xfrm>
            <a:off x="4023360" y="3904488"/>
            <a:ext cx="0" cy="201168"/>
          </a:xfrm>
          <a:prstGeom prst="line">
            <a:avLst/>
          </a:prstGeom>
          <a:noFill/>
          <a:ln w="22225">
            <a:solidFill>
              <a:srgbClr val="8A93AB"/>
            </a:solidFill>
            <a:prstDash val="solid"/>
            <a:tailEnd type="triangle"/>
          </a:ln>
        </p:spPr>
      </p:sp>
      <p:sp>
        <p:nvSpPr>
          <p:cNvPr id="22" name="Shape 19"/>
          <p:cNvSpPr/>
          <p:nvPr/>
        </p:nvSpPr>
        <p:spPr>
          <a:xfrm>
            <a:off x="5285232" y="3904488"/>
            <a:ext cx="0" cy="201168"/>
          </a:xfrm>
          <a:prstGeom prst="line">
            <a:avLst/>
          </a:prstGeom>
          <a:noFill/>
          <a:ln w="22225">
            <a:solidFill>
              <a:srgbClr val="8A93AB"/>
            </a:solidFill>
            <a:prstDash val="solid"/>
            <a:tailEnd type="triangle"/>
          </a:ln>
        </p:spPr>
      </p:sp>
      <p:sp>
        <p:nvSpPr>
          <p:cNvPr id="23" name="Shape 20"/>
          <p:cNvSpPr/>
          <p:nvPr/>
        </p:nvSpPr>
        <p:spPr>
          <a:xfrm>
            <a:off x="1481328" y="4206240"/>
            <a:ext cx="3931920" cy="502920"/>
          </a:xfrm>
          <a:prstGeom prst="roundRect">
            <a:avLst>
              <a:gd name="adj" fmla="val 10909"/>
            </a:avLst>
          </a:prstGeom>
          <a:solidFill>
            <a:srgbClr val="5B4BE0"/>
          </a:solidFill>
          <a:ln w="12700">
            <a:solidFill>
              <a:srgbClr val="DDE1EC"/>
            </a:solidFill>
            <a:prstDash val="solid"/>
          </a:ln>
        </p:spPr>
      </p:sp>
      <p:sp>
        <p:nvSpPr>
          <p:cNvPr id="24" name="Text 21"/>
          <p:cNvSpPr/>
          <p:nvPr/>
        </p:nvSpPr>
        <p:spPr>
          <a:xfrm>
            <a:off x="1481328" y="4206240"/>
            <a:ext cx="3931920" cy="502920"/>
          </a:xfrm>
          <a:prstGeom prst="rect">
            <a:avLst/>
          </a:prstGeom>
          <a:noFill/>
          <a:ln/>
        </p:spPr>
        <p:txBody>
          <a:bodyPr wrap="square" lIns="25400" tIns="25400" rIns="25400" bIns="2540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Concat  →  Linear</a:t>
            </a:r>
            <a:endParaRPr lang="en-US" sz="1200" dirty="0"/>
          </a:p>
        </p:txBody>
      </p:sp>
      <p:sp>
        <p:nvSpPr>
          <p:cNvPr id="25" name="Text 22"/>
          <p:cNvSpPr/>
          <p:nvPr/>
        </p:nvSpPr>
        <p:spPr>
          <a:xfrm>
            <a:off x="841248" y="4892040"/>
            <a:ext cx="5120640" cy="777240"/>
          </a:xfrm>
          <a:prstGeom prst="rect">
            <a:avLst/>
          </a:prstGeom>
          <a:noFill/>
          <a:ln/>
        </p:spPr>
        <p:txBody>
          <a:bodyPr wrap="square" lIns="0" tIns="0" rIns="0" bIns="0" rtlCol="0" anchor="ctr"/>
          <a:lstStyle/>
          <a:p>
            <a:pPr indent="0" marL="0">
              <a:lnSpc>
                <a:spcPct val="112000"/>
              </a:lnSpc>
              <a:buNone/>
            </a:pPr>
            <a:r>
              <a:rPr lang="en-US" sz="1140" i="1" dirty="0">
                <a:solidFill>
                  <a:srgbClr val="5A6685"/>
                </a:solidFill>
                <a:latin typeface="Calibri" pitchFamily="34" charset="0"/>
                <a:ea typeface="Calibri" pitchFamily="34" charset="-122"/>
                <a:cs typeface="Calibri" pitchFamily="34" charset="-120"/>
              </a:rPr>
              <a:t>Different heads track different relations — one links body-part↔procedure, another spots “denied/missing”. (8 heads in the base model).</a:t>
            </a:r>
            <a:endParaRPr lang="en-US" sz="1140" dirty="0"/>
          </a:p>
        </p:txBody>
      </p:sp>
      <p:sp>
        <p:nvSpPr>
          <p:cNvPr id="26" name="Shape 23"/>
          <p:cNvSpPr/>
          <p:nvPr/>
        </p:nvSpPr>
        <p:spPr>
          <a:xfrm>
            <a:off x="6446520" y="1554480"/>
            <a:ext cx="5166360" cy="4480560"/>
          </a:xfrm>
          <a:prstGeom prst="roundRect">
            <a:avLst>
              <a:gd name="adj" fmla="val 204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4"/>
          <p:cNvSpPr/>
          <p:nvPr/>
        </p:nvSpPr>
        <p:spPr>
          <a:xfrm>
            <a:off x="6720840" y="1783080"/>
            <a:ext cx="777240" cy="777240"/>
          </a:xfrm>
          <a:prstGeom prst="ellipse">
            <a:avLst/>
          </a:prstGeom>
          <a:solidFill>
            <a:srgbClr val="E2F4F2"/>
          </a:solidFill>
          <a:ln/>
        </p:spPr>
      </p:sp>
      <p:pic>
        <p:nvPicPr>
          <p:cNvPr id="28" name="Image 1" descr="preencoded.png">    </p:cNvPr>
          <p:cNvPicPr>
            <a:picLocks noChangeAspect="1"/>
          </p:cNvPicPr>
          <p:nvPr/>
        </p:nvPicPr>
        <p:blipFill>
          <a:blip r:embed="rId2"/>
          <a:stretch>
            <a:fillRect/>
          </a:stretch>
        </p:blipFill>
        <p:spPr>
          <a:xfrm>
            <a:off x="6915150" y="1977390"/>
            <a:ext cx="388620" cy="388620"/>
          </a:xfrm>
          <a:prstGeom prst="rect">
            <a:avLst/>
          </a:prstGeom>
        </p:spPr>
      </p:pic>
      <p:sp>
        <p:nvSpPr>
          <p:cNvPr id="29" name="Text 25"/>
          <p:cNvSpPr/>
          <p:nvPr/>
        </p:nvSpPr>
        <p:spPr>
          <a:xfrm>
            <a:off x="7635240" y="1810512"/>
            <a:ext cx="374904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Positional Encoding</a:t>
            </a:r>
            <a:endParaRPr lang="en-US" sz="1600" dirty="0"/>
          </a:p>
        </p:txBody>
      </p:sp>
      <p:sp>
        <p:nvSpPr>
          <p:cNvPr id="30" name="Text 26"/>
          <p:cNvSpPr/>
          <p:nvPr/>
        </p:nvSpPr>
        <p:spPr>
          <a:xfrm>
            <a:off x="7635240" y="2212848"/>
            <a:ext cx="3749040" cy="603504"/>
          </a:xfrm>
          <a:prstGeom prst="rect">
            <a:avLst/>
          </a:prstGeom>
          <a:noFill/>
          <a:ln/>
        </p:spPr>
        <p:txBody>
          <a:bodyPr wrap="square" lIns="0" tIns="0" rIns="0" bIns="0" rtlCol="0" anchor="ctr"/>
          <a:lstStyle/>
          <a:p>
            <a:pPr indent="0" marL="0">
              <a:lnSpc>
                <a:spcPct val="108000"/>
              </a:lnSpc>
              <a:buNone/>
            </a:pPr>
            <a:r>
              <a:rPr lang="en-US" sz="1200" dirty="0">
                <a:solidFill>
                  <a:srgbClr val="5A6685"/>
                </a:solidFill>
                <a:latin typeface="Calibri" pitchFamily="34" charset="0"/>
                <a:ea typeface="Calibri" pitchFamily="34" charset="-122"/>
                <a:cs typeface="Calibri" pitchFamily="34" charset="-120"/>
              </a:rPr>
              <a:t>Attention is order-blind by itself — it sees a set, not a sequence. So position must be injected.</a:t>
            </a:r>
            <a:endParaRPr lang="en-US" sz="1200" dirty="0"/>
          </a:p>
        </p:txBody>
      </p:sp>
      <p:sp>
        <p:nvSpPr>
          <p:cNvPr id="31" name="Shape 27"/>
          <p:cNvSpPr/>
          <p:nvPr/>
        </p:nvSpPr>
        <p:spPr>
          <a:xfrm>
            <a:off x="6720840" y="3063240"/>
            <a:ext cx="4617720" cy="713232"/>
          </a:xfrm>
          <a:prstGeom prst="roundRect">
            <a:avLst>
              <a:gd name="adj" fmla="val 7692"/>
            </a:avLst>
          </a:prstGeom>
          <a:solidFill>
            <a:srgbClr val="16213E"/>
          </a:solidFill>
          <a:ln/>
        </p:spPr>
      </p:sp>
      <p:sp>
        <p:nvSpPr>
          <p:cNvPr id="32" name="Text 28"/>
          <p:cNvSpPr/>
          <p:nvPr/>
        </p:nvSpPr>
        <p:spPr>
          <a:xfrm>
            <a:off x="6812280" y="3063240"/>
            <a:ext cx="4434840" cy="713232"/>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PE(pos,2i) = sin(pos / 10000^(2i/d))</a:t>
            </a:r>
            <a:endParaRPr lang="en-US" sz="1350" dirty="0"/>
          </a:p>
        </p:txBody>
      </p:sp>
      <p:sp>
        <p:nvSpPr>
          <p:cNvPr id="33" name="Text 29"/>
          <p:cNvSpPr/>
          <p:nvPr/>
        </p:nvSpPr>
        <p:spPr>
          <a:xfrm>
            <a:off x="6766560" y="3977640"/>
            <a:ext cx="4572000" cy="192024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Original paper: fixed sinusoids of many frequencies</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Adds a unique, smooth 'timestamp' to each position</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Lets the model reason about relative distance</a:t>
            </a:r>
            <a:endParaRPr lang="en-US" sz="1220" dirty="0"/>
          </a:p>
          <a:p>
            <a:pPr marL="177800" indent="-177800">
              <a:lnSpc>
                <a:spcPct val="104000"/>
              </a:lnSpc>
              <a:spcAft>
                <a:spcPts val="700"/>
              </a:spcAft>
              <a:buSzPct val="100000"/>
              <a:buChar char="•"/>
            </a:pPr>
            <a:r>
              <a:rPr lang="en-US" sz="1220" dirty="0">
                <a:solidFill>
                  <a:srgbClr val="1B2440"/>
                </a:solidFill>
                <a:latin typeface="Calibri" pitchFamily="34" charset="0"/>
                <a:ea typeface="Calibri" pitchFamily="34" charset="-122"/>
                <a:cs typeface="Calibri" pitchFamily="34" charset="-120"/>
              </a:rPr>
              <a:t>This exact design is what RoPE later improves (Part 4)</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ONE ARCHITECTURE, THREE LINEAGES — MAPPED TO REAL WORK</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Encoder-only · Decoder-only · Encoder–Decoder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Devlin et al., BERT (arXiv:1810.04805) · Radford et al., GPT · Raffel et al., T5 (arXiv:1910.10683) · Cigna/Evernorth AI disclosures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645920"/>
            <a:ext cx="3593592" cy="420624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22960" y="1901952"/>
            <a:ext cx="868680" cy="86868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40130" y="2119122"/>
            <a:ext cx="434340" cy="434340"/>
          </a:xfrm>
          <a:prstGeom prst="rect">
            <a:avLst/>
          </a:prstGeom>
        </p:spPr>
      </p:pic>
      <p:sp>
        <p:nvSpPr>
          <p:cNvPr id="9" name="Text 6"/>
          <p:cNvSpPr/>
          <p:nvPr/>
        </p:nvSpPr>
        <p:spPr>
          <a:xfrm>
            <a:off x="2468880" y="2011680"/>
            <a:ext cx="1463040" cy="502920"/>
          </a:xfrm>
          <a:prstGeom prst="rect">
            <a:avLst/>
          </a:prstGeom>
          <a:noFill/>
          <a:ln/>
        </p:spPr>
        <p:txBody>
          <a:bodyPr wrap="square" lIns="0" tIns="0" rIns="0" bIns="0" rtlCol="0" anchor="ctr"/>
          <a:lstStyle/>
          <a:p>
            <a:pPr algn="r" indent="0" marL="0">
              <a:buNone/>
            </a:pPr>
            <a:r>
              <a:rPr lang="en-US" sz="1400" b="1" i="1" dirty="0">
                <a:solidFill>
                  <a:srgbClr val="5B4BE0"/>
                </a:solidFill>
                <a:latin typeface="Cambria" pitchFamily="34" charset="0"/>
                <a:ea typeface="Cambria" pitchFamily="34" charset="-122"/>
                <a:cs typeface="Cambria" pitchFamily="34" charset="-120"/>
              </a:rPr>
              <a:t>Understand</a:t>
            </a:r>
            <a:endParaRPr lang="en-US" sz="1400" dirty="0"/>
          </a:p>
        </p:txBody>
      </p:sp>
      <p:sp>
        <p:nvSpPr>
          <p:cNvPr id="10" name="Text 7"/>
          <p:cNvSpPr/>
          <p:nvPr/>
        </p:nvSpPr>
        <p:spPr>
          <a:xfrm>
            <a:off x="822960" y="2907792"/>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Encoder-only</a:t>
            </a:r>
            <a:endParaRPr lang="en-US" sz="1800" dirty="0"/>
          </a:p>
        </p:txBody>
      </p:sp>
      <p:sp>
        <p:nvSpPr>
          <p:cNvPr id="11" name="Text 8"/>
          <p:cNvSpPr/>
          <p:nvPr/>
        </p:nvSpPr>
        <p:spPr>
          <a:xfrm>
            <a:off x="841248" y="3291840"/>
            <a:ext cx="3090672" cy="310896"/>
          </a:xfrm>
          <a:prstGeom prst="rect">
            <a:avLst/>
          </a:prstGeom>
          <a:noFill/>
          <a:ln/>
        </p:spPr>
        <p:txBody>
          <a:bodyPr wrap="square" lIns="0" tIns="0" rIns="0" bIns="0" rtlCol="0" anchor="ctr"/>
          <a:lstStyle/>
          <a:p>
            <a:pPr indent="0" marL="0">
              <a:buNone/>
            </a:pPr>
            <a:r>
              <a:rPr lang="en-US" sz="1100" b="1" i="1" dirty="0">
                <a:solidFill>
                  <a:srgbClr val="5B4BE0"/>
                </a:solidFill>
                <a:latin typeface="Calibri" pitchFamily="34" charset="0"/>
                <a:ea typeface="Calibri" pitchFamily="34" charset="-122"/>
                <a:cs typeface="Calibri" pitchFamily="34" charset="-120"/>
              </a:rPr>
              <a:t>BERT · RoBERTa · ClinicalBERT</a:t>
            </a:r>
            <a:endParaRPr lang="en-US" sz="1100" dirty="0"/>
          </a:p>
        </p:txBody>
      </p:sp>
      <p:sp>
        <p:nvSpPr>
          <p:cNvPr id="12" name="Text 9"/>
          <p:cNvSpPr/>
          <p:nvPr/>
        </p:nvSpPr>
        <p:spPr>
          <a:xfrm>
            <a:off x="841248" y="3703320"/>
            <a:ext cx="3090672" cy="109728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Sees the whole note at once (bidirectional)</a:t>
            </a:r>
            <a:endParaRPr lang="en-US" sz="1180" dirty="0"/>
          </a:p>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Best at classification, search &amp; extraction</a:t>
            </a:r>
            <a:endParaRPr lang="en-US" sz="1180" dirty="0"/>
          </a:p>
        </p:txBody>
      </p:sp>
      <p:sp>
        <p:nvSpPr>
          <p:cNvPr id="13" name="Shape 10"/>
          <p:cNvSpPr/>
          <p:nvPr/>
        </p:nvSpPr>
        <p:spPr>
          <a:xfrm>
            <a:off x="822960" y="4846320"/>
            <a:ext cx="3081528" cy="804672"/>
          </a:xfrm>
          <a:prstGeom prst="roundRect">
            <a:avLst>
              <a:gd name="adj" fmla="val 10227"/>
            </a:avLst>
          </a:prstGeom>
          <a:solidFill>
            <a:srgbClr val="EEECFB"/>
          </a:solidFill>
          <a:ln/>
        </p:spPr>
      </p:sp>
      <p:sp>
        <p:nvSpPr>
          <p:cNvPr id="14" name="Text 11"/>
          <p:cNvSpPr/>
          <p:nvPr/>
        </p:nvSpPr>
        <p:spPr>
          <a:xfrm>
            <a:off x="978408" y="4937760"/>
            <a:ext cx="2862072" cy="219456"/>
          </a:xfrm>
          <a:prstGeom prst="rect">
            <a:avLst/>
          </a:prstGeom>
          <a:noFill/>
          <a:ln/>
        </p:spPr>
        <p:txBody>
          <a:bodyPr wrap="square" lIns="0" tIns="0" rIns="0" bIns="0" rtlCol="0" anchor="ctr"/>
          <a:lstStyle/>
          <a:p>
            <a:pPr indent="0" marL="0">
              <a:buNone/>
            </a:pPr>
            <a:r>
              <a:rPr lang="en-US" sz="900" b="1" spc="150" kern="0" dirty="0">
                <a:solidFill>
                  <a:srgbClr val="5B4BE0"/>
                </a:solidFill>
                <a:latin typeface="Calibri" pitchFamily="34" charset="0"/>
                <a:ea typeface="Calibri" pitchFamily="34" charset="-122"/>
                <a:cs typeface="Calibri" pitchFamily="34" charset="-120"/>
              </a:rPr>
              <a:t>AT CIGNA</a:t>
            </a:r>
            <a:endParaRPr lang="en-US" sz="900" dirty="0"/>
          </a:p>
        </p:txBody>
      </p:sp>
      <p:sp>
        <p:nvSpPr>
          <p:cNvPr id="15" name="Text 12"/>
          <p:cNvSpPr/>
          <p:nvPr/>
        </p:nvSpPr>
        <p:spPr>
          <a:xfrm>
            <a:off x="978408" y="5148072"/>
            <a:ext cx="2807208" cy="457200"/>
          </a:xfrm>
          <a:prstGeom prst="rect">
            <a:avLst/>
          </a:prstGeom>
          <a:noFill/>
          <a:ln/>
        </p:spPr>
        <p:txBody>
          <a:bodyPr wrap="square" lIns="0" tIns="0" rIns="0" bIns="0" rtlCol="0" anchor="ctr"/>
          <a:lstStyle/>
          <a:p>
            <a:pPr indent="0" marL="0">
              <a:lnSpc>
                <a:spcPct val="106000"/>
              </a:lnSpc>
              <a:buNone/>
            </a:pPr>
            <a:r>
              <a:rPr lang="en-US" sz="1100" b="1" dirty="0">
                <a:solidFill>
                  <a:srgbClr val="1B2440"/>
                </a:solidFill>
                <a:latin typeface="Calibri" pitchFamily="34" charset="0"/>
                <a:ea typeface="Calibri" pitchFamily="34" charset="-122"/>
                <a:cs typeface="Calibri" pitchFamily="34" charset="-120"/>
              </a:rPr>
              <a:t>Extract diagnoses &amp; billing codes from a clinical note</a:t>
            </a:r>
            <a:endParaRPr lang="en-US" sz="1100" dirty="0"/>
          </a:p>
        </p:txBody>
      </p:sp>
      <p:sp>
        <p:nvSpPr>
          <p:cNvPr id="16" name="Shape 13"/>
          <p:cNvSpPr/>
          <p:nvPr/>
        </p:nvSpPr>
        <p:spPr>
          <a:xfrm>
            <a:off x="4315968" y="1645920"/>
            <a:ext cx="3593592" cy="420624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4"/>
          <p:cNvSpPr/>
          <p:nvPr/>
        </p:nvSpPr>
        <p:spPr>
          <a:xfrm>
            <a:off x="4572000" y="1901952"/>
            <a:ext cx="868680" cy="868680"/>
          </a:xfrm>
          <a:prstGeom prst="ellipse">
            <a:avLst/>
          </a:prstGeom>
          <a:solidFill>
            <a:srgbClr val="E2F4F2"/>
          </a:solidFill>
          <a:ln/>
        </p:spPr>
      </p:sp>
      <p:pic>
        <p:nvPicPr>
          <p:cNvPr id="18" name="Image 1" descr="preencoded.png">    </p:cNvPr>
          <p:cNvPicPr>
            <a:picLocks noChangeAspect="1"/>
          </p:cNvPicPr>
          <p:nvPr/>
        </p:nvPicPr>
        <p:blipFill>
          <a:blip r:embed="rId2"/>
          <a:stretch>
            <a:fillRect/>
          </a:stretch>
        </p:blipFill>
        <p:spPr>
          <a:xfrm>
            <a:off x="4789170" y="2119122"/>
            <a:ext cx="434340" cy="434340"/>
          </a:xfrm>
          <a:prstGeom prst="rect">
            <a:avLst/>
          </a:prstGeom>
        </p:spPr>
      </p:pic>
      <p:sp>
        <p:nvSpPr>
          <p:cNvPr id="19" name="Text 15"/>
          <p:cNvSpPr/>
          <p:nvPr/>
        </p:nvSpPr>
        <p:spPr>
          <a:xfrm>
            <a:off x="6217920" y="2011680"/>
            <a:ext cx="1463040" cy="502920"/>
          </a:xfrm>
          <a:prstGeom prst="rect">
            <a:avLst/>
          </a:prstGeom>
          <a:noFill/>
          <a:ln/>
        </p:spPr>
        <p:txBody>
          <a:bodyPr wrap="square" lIns="0" tIns="0" rIns="0" bIns="0" rtlCol="0" anchor="ctr"/>
          <a:lstStyle/>
          <a:p>
            <a:pPr algn="r" indent="0" marL="0">
              <a:buNone/>
            </a:pPr>
            <a:r>
              <a:rPr lang="en-US" sz="1400" b="1" i="1" dirty="0">
                <a:solidFill>
                  <a:srgbClr val="0E9E96"/>
                </a:solidFill>
                <a:latin typeface="Cambria" pitchFamily="34" charset="0"/>
                <a:ea typeface="Cambria" pitchFamily="34" charset="-122"/>
                <a:cs typeface="Cambria" pitchFamily="34" charset="-120"/>
              </a:rPr>
              <a:t>Generate</a:t>
            </a:r>
            <a:endParaRPr lang="en-US" sz="1400" dirty="0"/>
          </a:p>
        </p:txBody>
      </p:sp>
      <p:sp>
        <p:nvSpPr>
          <p:cNvPr id="20" name="Text 16"/>
          <p:cNvSpPr/>
          <p:nvPr/>
        </p:nvSpPr>
        <p:spPr>
          <a:xfrm>
            <a:off x="4572000" y="2907792"/>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Decoder-only</a:t>
            </a:r>
            <a:endParaRPr lang="en-US" sz="1800" dirty="0"/>
          </a:p>
        </p:txBody>
      </p:sp>
      <p:sp>
        <p:nvSpPr>
          <p:cNvPr id="21" name="Text 17"/>
          <p:cNvSpPr/>
          <p:nvPr/>
        </p:nvSpPr>
        <p:spPr>
          <a:xfrm>
            <a:off x="4590288" y="3291840"/>
            <a:ext cx="3090672" cy="310896"/>
          </a:xfrm>
          <a:prstGeom prst="rect">
            <a:avLst/>
          </a:prstGeom>
          <a:noFill/>
          <a:ln/>
        </p:spPr>
        <p:txBody>
          <a:bodyPr wrap="square" lIns="0" tIns="0" rIns="0" bIns="0" rtlCol="0" anchor="ctr"/>
          <a:lstStyle/>
          <a:p>
            <a:pPr indent="0" marL="0">
              <a:buNone/>
            </a:pPr>
            <a:r>
              <a:rPr lang="en-US" sz="1100" b="1" i="1" dirty="0">
                <a:solidFill>
                  <a:srgbClr val="0E9E96"/>
                </a:solidFill>
                <a:latin typeface="Calibri" pitchFamily="34" charset="0"/>
                <a:ea typeface="Calibri" pitchFamily="34" charset="-122"/>
                <a:cs typeface="Calibri" pitchFamily="34" charset="-120"/>
              </a:rPr>
              <a:t>GPT · LLaMA · Claude · Gemini</a:t>
            </a:r>
            <a:endParaRPr lang="en-US" sz="1100" dirty="0"/>
          </a:p>
        </p:txBody>
      </p:sp>
      <p:sp>
        <p:nvSpPr>
          <p:cNvPr id="22" name="Text 18"/>
          <p:cNvSpPr/>
          <p:nvPr/>
        </p:nvSpPr>
        <p:spPr>
          <a:xfrm>
            <a:off x="4590288" y="3703320"/>
            <a:ext cx="3090672" cy="109728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Masked attention → predicts the next token</a:t>
            </a:r>
            <a:endParaRPr lang="en-US" sz="1180" dirty="0"/>
          </a:p>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The dominant design for modern LLMs</a:t>
            </a:r>
            <a:endParaRPr lang="en-US" sz="1180" dirty="0"/>
          </a:p>
        </p:txBody>
      </p:sp>
      <p:sp>
        <p:nvSpPr>
          <p:cNvPr id="23" name="Shape 19"/>
          <p:cNvSpPr/>
          <p:nvPr/>
        </p:nvSpPr>
        <p:spPr>
          <a:xfrm>
            <a:off x="4572000" y="4846320"/>
            <a:ext cx="3081528" cy="804672"/>
          </a:xfrm>
          <a:prstGeom prst="roundRect">
            <a:avLst>
              <a:gd name="adj" fmla="val 10227"/>
            </a:avLst>
          </a:prstGeom>
          <a:solidFill>
            <a:srgbClr val="E2F4F2"/>
          </a:solidFill>
          <a:ln/>
        </p:spPr>
      </p:sp>
      <p:sp>
        <p:nvSpPr>
          <p:cNvPr id="24" name="Text 20"/>
          <p:cNvSpPr/>
          <p:nvPr/>
        </p:nvSpPr>
        <p:spPr>
          <a:xfrm>
            <a:off x="4727448" y="4937760"/>
            <a:ext cx="2862072" cy="219456"/>
          </a:xfrm>
          <a:prstGeom prst="rect">
            <a:avLst/>
          </a:prstGeom>
          <a:noFill/>
          <a:ln/>
        </p:spPr>
        <p:txBody>
          <a:bodyPr wrap="square" lIns="0" tIns="0" rIns="0" bIns="0" rtlCol="0" anchor="ctr"/>
          <a:lstStyle/>
          <a:p>
            <a:pPr indent="0" marL="0">
              <a:buNone/>
            </a:pPr>
            <a:r>
              <a:rPr lang="en-US" sz="900" b="1" spc="150" kern="0" dirty="0">
                <a:solidFill>
                  <a:srgbClr val="0E9E96"/>
                </a:solidFill>
                <a:latin typeface="Calibri" pitchFamily="34" charset="0"/>
                <a:ea typeface="Calibri" pitchFamily="34" charset="-122"/>
                <a:cs typeface="Calibri" pitchFamily="34" charset="-120"/>
              </a:rPr>
              <a:t>AT CIGNA</a:t>
            </a:r>
            <a:endParaRPr lang="en-US" sz="900" dirty="0"/>
          </a:p>
        </p:txBody>
      </p:sp>
      <p:sp>
        <p:nvSpPr>
          <p:cNvPr id="25" name="Text 21"/>
          <p:cNvSpPr/>
          <p:nvPr/>
        </p:nvSpPr>
        <p:spPr>
          <a:xfrm>
            <a:off x="4727448" y="5148072"/>
            <a:ext cx="2807208" cy="457200"/>
          </a:xfrm>
          <a:prstGeom prst="rect">
            <a:avLst/>
          </a:prstGeom>
          <a:noFill/>
          <a:ln/>
        </p:spPr>
        <p:txBody>
          <a:bodyPr wrap="square" lIns="0" tIns="0" rIns="0" bIns="0" rtlCol="0" anchor="ctr"/>
          <a:lstStyle/>
          <a:p>
            <a:pPr indent="0" marL="0">
              <a:lnSpc>
                <a:spcPct val="106000"/>
              </a:lnSpc>
              <a:buNone/>
            </a:pPr>
            <a:r>
              <a:rPr lang="en-US" sz="1100" b="1" dirty="0">
                <a:solidFill>
                  <a:srgbClr val="1B2440"/>
                </a:solidFill>
                <a:latin typeface="Calibri" pitchFamily="34" charset="0"/>
                <a:ea typeface="Calibri" pitchFamily="34" charset="-122"/>
                <a:cs typeface="Calibri" pitchFamily="34" charset="-120"/>
              </a:rPr>
              <a:t>Draft a member reply explaining MRI coverage</a:t>
            </a:r>
            <a:endParaRPr lang="en-US" sz="1100" dirty="0"/>
          </a:p>
        </p:txBody>
      </p:sp>
      <p:sp>
        <p:nvSpPr>
          <p:cNvPr id="26" name="Shape 22"/>
          <p:cNvSpPr/>
          <p:nvPr/>
        </p:nvSpPr>
        <p:spPr>
          <a:xfrm>
            <a:off x="8065008" y="1645920"/>
            <a:ext cx="3593592" cy="420624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3"/>
          <p:cNvSpPr/>
          <p:nvPr/>
        </p:nvSpPr>
        <p:spPr>
          <a:xfrm>
            <a:off x="8321040" y="1901952"/>
            <a:ext cx="868680" cy="868680"/>
          </a:xfrm>
          <a:prstGeom prst="ellipse">
            <a:avLst/>
          </a:prstGeom>
          <a:solidFill>
            <a:srgbClr val="FBEFD8"/>
          </a:solidFill>
          <a:ln/>
        </p:spPr>
      </p:sp>
      <p:pic>
        <p:nvPicPr>
          <p:cNvPr id="28" name="Image 2" descr="preencoded.png">    </p:cNvPr>
          <p:cNvPicPr>
            <a:picLocks noChangeAspect="1"/>
          </p:cNvPicPr>
          <p:nvPr/>
        </p:nvPicPr>
        <p:blipFill>
          <a:blip r:embed="rId3"/>
          <a:stretch>
            <a:fillRect/>
          </a:stretch>
        </p:blipFill>
        <p:spPr>
          <a:xfrm>
            <a:off x="8538210" y="2119122"/>
            <a:ext cx="434340" cy="434340"/>
          </a:xfrm>
          <a:prstGeom prst="rect">
            <a:avLst/>
          </a:prstGeom>
        </p:spPr>
      </p:pic>
      <p:sp>
        <p:nvSpPr>
          <p:cNvPr id="29" name="Text 24"/>
          <p:cNvSpPr/>
          <p:nvPr/>
        </p:nvSpPr>
        <p:spPr>
          <a:xfrm>
            <a:off x="9966960" y="2011680"/>
            <a:ext cx="1463040" cy="502920"/>
          </a:xfrm>
          <a:prstGeom prst="rect">
            <a:avLst/>
          </a:prstGeom>
          <a:noFill/>
          <a:ln/>
        </p:spPr>
        <p:txBody>
          <a:bodyPr wrap="square" lIns="0" tIns="0" rIns="0" bIns="0" rtlCol="0" anchor="ctr"/>
          <a:lstStyle/>
          <a:p>
            <a:pPr algn="r" indent="0" marL="0">
              <a:buNone/>
            </a:pPr>
            <a:r>
              <a:rPr lang="en-US" sz="1400" b="1" i="1" dirty="0">
                <a:solidFill>
                  <a:srgbClr val="D9820A"/>
                </a:solidFill>
                <a:latin typeface="Cambria" pitchFamily="34" charset="0"/>
                <a:ea typeface="Cambria" pitchFamily="34" charset="-122"/>
                <a:cs typeface="Cambria" pitchFamily="34" charset="-120"/>
              </a:rPr>
              <a:t>Transform</a:t>
            </a:r>
            <a:endParaRPr lang="en-US" sz="1400" dirty="0"/>
          </a:p>
        </p:txBody>
      </p:sp>
      <p:sp>
        <p:nvSpPr>
          <p:cNvPr id="30" name="Text 25"/>
          <p:cNvSpPr/>
          <p:nvPr/>
        </p:nvSpPr>
        <p:spPr>
          <a:xfrm>
            <a:off x="8321040" y="2907792"/>
            <a:ext cx="313639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Encoder–Decoder</a:t>
            </a:r>
            <a:endParaRPr lang="en-US" sz="1800" dirty="0"/>
          </a:p>
        </p:txBody>
      </p:sp>
      <p:sp>
        <p:nvSpPr>
          <p:cNvPr id="31" name="Text 26"/>
          <p:cNvSpPr/>
          <p:nvPr/>
        </p:nvSpPr>
        <p:spPr>
          <a:xfrm>
            <a:off x="8339328" y="3291840"/>
            <a:ext cx="3090672" cy="310896"/>
          </a:xfrm>
          <a:prstGeom prst="rect">
            <a:avLst/>
          </a:prstGeom>
          <a:noFill/>
          <a:ln/>
        </p:spPr>
        <p:txBody>
          <a:bodyPr wrap="square" lIns="0" tIns="0" rIns="0" bIns="0" rtlCol="0" anchor="ctr"/>
          <a:lstStyle/>
          <a:p>
            <a:pPr indent="0" marL="0">
              <a:buNone/>
            </a:pPr>
            <a:r>
              <a:rPr lang="en-US" sz="1100" b="1" i="1" dirty="0">
                <a:solidFill>
                  <a:srgbClr val="D9820A"/>
                </a:solidFill>
                <a:latin typeface="Calibri" pitchFamily="34" charset="0"/>
                <a:ea typeface="Calibri" pitchFamily="34" charset="-122"/>
                <a:cs typeface="Calibri" pitchFamily="34" charset="-120"/>
              </a:rPr>
              <a:t>T5 · BART · original Transformer</a:t>
            </a:r>
            <a:endParaRPr lang="en-US" sz="1100" dirty="0"/>
          </a:p>
        </p:txBody>
      </p:sp>
      <p:sp>
        <p:nvSpPr>
          <p:cNvPr id="32" name="Text 27"/>
          <p:cNvSpPr/>
          <p:nvPr/>
        </p:nvSpPr>
        <p:spPr>
          <a:xfrm>
            <a:off x="8339328" y="3703320"/>
            <a:ext cx="3090672" cy="109728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Reads input fully, then generates output</a:t>
            </a:r>
            <a:endParaRPr lang="en-US" sz="1180" dirty="0"/>
          </a:p>
          <a:p>
            <a:pPr marL="177800" indent="-177800">
              <a:lnSpc>
                <a:spcPct val="104000"/>
              </a:lnSpc>
              <a:spcAft>
                <a:spcPts val="600"/>
              </a:spcAft>
              <a:buSzPct val="100000"/>
              <a:buChar char="•"/>
            </a:pPr>
            <a:r>
              <a:rPr lang="en-US" sz="1180" dirty="0">
                <a:solidFill>
                  <a:srgbClr val="1B2440"/>
                </a:solidFill>
                <a:latin typeface="Calibri" pitchFamily="34" charset="0"/>
                <a:ea typeface="Calibri" pitchFamily="34" charset="-122"/>
                <a:cs typeface="Calibri" pitchFamily="34" charset="-120"/>
              </a:rPr>
              <a:t>Natural for translation &amp; summarisation</a:t>
            </a:r>
            <a:endParaRPr lang="en-US" sz="1180" dirty="0"/>
          </a:p>
        </p:txBody>
      </p:sp>
      <p:sp>
        <p:nvSpPr>
          <p:cNvPr id="33" name="Shape 28"/>
          <p:cNvSpPr/>
          <p:nvPr/>
        </p:nvSpPr>
        <p:spPr>
          <a:xfrm>
            <a:off x="8321040" y="4846320"/>
            <a:ext cx="3081528" cy="804672"/>
          </a:xfrm>
          <a:prstGeom prst="roundRect">
            <a:avLst>
              <a:gd name="adj" fmla="val 10227"/>
            </a:avLst>
          </a:prstGeom>
          <a:solidFill>
            <a:srgbClr val="FBEFD8"/>
          </a:solidFill>
          <a:ln/>
        </p:spPr>
      </p:sp>
      <p:sp>
        <p:nvSpPr>
          <p:cNvPr id="34" name="Text 29"/>
          <p:cNvSpPr/>
          <p:nvPr/>
        </p:nvSpPr>
        <p:spPr>
          <a:xfrm>
            <a:off x="8476488" y="4937760"/>
            <a:ext cx="2862072" cy="219456"/>
          </a:xfrm>
          <a:prstGeom prst="rect">
            <a:avLst/>
          </a:prstGeom>
          <a:noFill/>
          <a:ln/>
        </p:spPr>
        <p:txBody>
          <a:bodyPr wrap="square" lIns="0" tIns="0" rIns="0" bIns="0" rtlCol="0" anchor="ctr"/>
          <a:lstStyle/>
          <a:p>
            <a:pPr indent="0" marL="0">
              <a:buNone/>
            </a:pPr>
            <a:r>
              <a:rPr lang="en-US" sz="900" b="1" spc="150" kern="0" dirty="0">
                <a:solidFill>
                  <a:srgbClr val="D9820A"/>
                </a:solidFill>
                <a:latin typeface="Calibri" pitchFamily="34" charset="0"/>
                <a:ea typeface="Calibri" pitchFamily="34" charset="-122"/>
                <a:cs typeface="Calibri" pitchFamily="34" charset="-120"/>
              </a:rPr>
              <a:t>AT CIGNA</a:t>
            </a:r>
            <a:endParaRPr lang="en-US" sz="900" dirty="0"/>
          </a:p>
        </p:txBody>
      </p:sp>
      <p:sp>
        <p:nvSpPr>
          <p:cNvPr id="35" name="Text 30"/>
          <p:cNvSpPr/>
          <p:nvPr/>
        </p:nvSpPr>
        <p:spPr>
          <a:xfrm>
            <a:off x="8476488" y="5148072"/>
            <a:ext cx="2807208" cy="457200"/>
          </a:xfrm>
          <a:prstGeom prst="rect">
            <a:avLst/>
          </a:prstGeom>
          <a:noFill/>
          <a:ln/>
        </p:spPr>
        <p:txBody>
          <a:bodyPr wrap="square" lIns="0" tIns="0" rIns="0" bIns="0" rtlCol="0" anchor="ctr"/>
          <a:lstStyle/>
          <a:p>
            <a:pPr indent="0" marL="0">
              <a:lnSpc>
                <a:spcPct val="106000"/>
              </a:lnSpc>
              <a:buNone/>
            </a:pPr>
            <a:r>
              <a:rPr lang="en-US" sz="1100" b="1" dirty="0">
                <a:solidFill>
                  <a:srgbClr val="1B2440"/>
                </a:solidFill>
                <a:latin typeface="Calibri" pitchFamily="34" charset="0"/>
                <a:ea typeface="Calibri" pitchFamily="34" charset="-122"/>
                <a:cs typeface="Calibri" pitchFamily="34" charset="-120"/>
              </a:rPr>
              <a:t>Summarise a long claim history into one paragraph</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3</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3</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Scaling Era (2018 – 2022)</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Take the decoder, add parameters, add data, add compute — and watch new abilities appear. This is the era of GPT-1 → GPT-3, the scaling laws that explained it, and the RLHF step that turned a predictor into an assistant.</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2018 · TWO BETS ARE PLACED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BERT and GPT-1: understanding vs. generation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Devlin et al., BERT (arXiv:1810.04805) · Radford et al., 'Improving Language Understanding by Generative Pre-Training'</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645920"/>
            <a:ext cx="539496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874520"/>
            <a:ext cx="914400" cy="914400"/>
          </a:xfrm>
          <a:prstGeom prst="ellipse">
            <a:avLst/>
          </a:prstGeom>
          <a:solidFill>
            <a:srgbClr val="E2F4F2"/>
          </a:solidFill>
          <a:ln/>
        </p:spPr>
      </p:sp>
      <p:pic>
        <p:nvPicPr>
          <p:cNvPr id="8" name="Image 0" descr="preencoded.png">    </p:cNvPr>
          <p:cNvPicPr>
            <a:picLocks noChangeAspect="1"/>
          </p:cNvPicPr>
          <p:nvPr/>
        </p:nvPicPr>
        <p:blipFill>
          <a:blip r:embed="rId1"/>
          <a:stretch>
            <a:fillRect/>
          </a:stretch>
        </p:blipFill>
        <p:spPr>
          <a:xfrm>
            <a:off x="1069848" y="2103120"/>
            <a:ext cx="457200" cy="457200"/>
          </a:xfrm>
          <a:prstGeom prst="rect">
            <a:avLst/>
          </a:prstGeom>
        </p:spPr>
      </p:pic>
      <p:sp>
        <p:nvSpPr>
          <p:cNvPr id="9" name="Text 6"/>
          <p:cNvSpPr/>
          <p:nvPr/>
        </p:nvSpPr>
        <p:spPr>
          <a:xfrm>
            <a:off x="1892808" y="1874520"/>
            <a:ext cx="3840480" cy="457200"/>
          </a:xfrm>
          <a:prstGeom prst="rect">
            <a:avLst/>
          </a:prstGeom>
          <a:noFill/>
          <a:ln/>
        </p:spPr>
        <p:txBody>
          <a:bodyPr wrap="square" lIns="0" tIns="0" rIns="0" bIns="0" rtlCol="0" anchor="ctr"/>
          <a:lstStyle/>
          <a:p>
            <a:pPr indent="0" marL="0">
              <a:buNone/>
            </a:pPr>
            <a:r>
              <a:rPr lang="en-US" sz="2400" b="1" dirty="0">
                <a:solidFill>
                  <a:srgbClr val="0E9E96"/>
                </a:solidFill>
                <a:latin typeface="Cambria" pitchFamily="34" charset="0"/>
                <a:ea typeface="Cambria" pitchFamily="34" charset="-122"/>
                <a:cs typeface="Cambria" pitchFamily="34" charset="-120"/>
              </a:rPr>
              <a:t>GPT-1</a:t>
            </a:r>
            <a:endParaRPr lang="en-US" sz="2400" dirty="0"/>
          </a:p>
        </p:txBody>
      </p:sp>
      <p:sp>
        <p:nvSpPr>
          <p:cNvPr id="10" name="Text 7"/>
          <p:cNvSpPr/>
          <p:nvPr/>
        </p:nvSpPr>
        <p:spPr>
          <a:xfrm>
            <a:off x="1892808" y="2377440"/>
            <a:ext cx="3840480" cy="292608"/>
          </a:xfrm>
          <a:prstGeom prst="rect">
            <a:avLst/>
          </a:prstGeom>
          <a:noFill/>
          <a:ln/>
        </p:spPr>
        <p:txBody>
          <a:bodyPr wrap="square" lIns="0" tIns="0" rIns="0" bIns="0" rtlCol="0" anchor="ctr"/>
          <a:lstStyle/>
          <a:p>
            <a:pPr indent="0" marL="0">
              <a:buNone/>
            </a:pPr>
            <a:r>
              <a:rPr lang="en-US" sz="1200" b="1" dirty="0">
                <a:solidFill>
                  <a:srgbClr val="5A6685"/>
                </a:solidFill>
                <a:latin typeface="Calibri" pitchFamily="34" charset="0"/>
                <a:ea typeface="Calibri" pitchFamily="34" charset="-122"/>
                <a:cs typeface="Calibri" pitchFamily="34" charset="-120"/>
              </a:rPr>
              <a:t>OpenAI · June 2018</a:t>
            </a:r>
            <a:endParaRPr lang="en-US" sz="1200" dirty="0"/>
          </a:p>
        </p:txBody>
      </p:sp>
      <p:sp>
        <p:nvSpPr>
          <p:cNvPr id="11" name="Shape 8"/>
          <p:cNvSpPr/>
          <p:nvPr/>
        </p:nvSpPr>
        <p:spPr>
          <a:xfrm>
            <a:off x="859536" y="2971800"/>
            <a:ext cx="4800600" cy="566928"/>
          </a:xfrm>
          <a:prstGeom prst="roundRect">
            <a:avLst>
              <a:gd name="adj" fmla="val 48387"/>
            </a:avLst>
          </a:prstGeom>
          <a:solidFill>
            <a:srgbClr val="E2F4F2"/>
          </a:solidFill>
          <a:ln/>
        </p:spPr>
      </p:sp>
      <p:sp>
        <p:nvSpPr>
          <p:cNvPr id="12" name="Text 9"/>
          <p:cNvSpPr/>
          <p:nvPr/>
        </p:nvSpPr>
        <p:spPr>
          <a:xfrm>
            <a:off x="859536" y="2971800"/>
            <a:ext cx="4800600" cy="566928"/>
          </a:xfrm>
          <a:prstGeom prst="rect">
            <a:avLst/>
          </a:prstGeom>
          <a:noFill/>
          <a:ln/>
        </p:spPr>
        <p:txBody>
          <a:bodyPr wrap="square" lIns="0" tIns="0" rIns="0" bIns="0" rtlCol="0" anchor="ctr"/>
          <a:lstStyle/>
          <a:p>
            <a:pPr algn="ctr" indent="0" marL="0">
              <a:buNone/>
            </a:pPr>
            <a:r>
              <a:rPr lang="en-US" sz="1500" b="1" dirty="0">
                <a:solidFill>
                  <a:srgbClr val="0E9E96"/>
                </a:solidFill>
                <a:latin typeface="Calibri" pitchFamily="34" charset="0"/>
                <a:ea typeface="Calibri" pitchFamily="34" charset="-122"/>
                <a:cs typeface="Calibri" pitchFamily="34" charset="-120"/>
              </a:rPr>
              <a:t>117M parameters</a:t>
            </a:r>
            <a:endParaRPr lang="en-US" sz="1500" dirty="0"/>
          </a:p>
        </p:txBody>
      </p:sp>
      <p:sp>
        <p:nvSpPr>
          <p:cNvPr id="13" name="Text 10"/>
          <p:cNvSpPr/>
          <p:nvPr/>
        </p:nvSpPr>
        <p:spPr>
          <a:xfrm>
            <a:off x="877824" y="3703320"/>
            <a:ext cx="4800600" cy="21945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Decoder-only Transformer, 12 layers</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Generative pre-training, then fine-tune</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Proved one pre-trained model transfers to many tasks</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The blueprint for the entire GPT line</a:t>
            </a:r>
            <a:endParaRPr lang="en-US" sz="1260" dirty="0"/>
          </a:p>
        </p:txBody>
      </p:sp>
      <p:sp>
        <p:nvSpPr>
          <p:cNvPr id="14" name="Shape 11"/>
          <p:cNvSpPr/>
          <p:nvPr/>
        </p:nvSpPr>
        <p:spPr>
          <a:xfrm>
            <a:off x="6144768" y="1645920"/>
            <a:ext cx="539496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5" name="Shape 12"/>
          <p:cNvSpPr/>
          <p:nvPr/>
        </p:nvSpPr>
        <p:spPr>
          <a:xfrm>
            <a:off x="6419088" y="1874520"/>
            <a:ext cx="914400" cy="914400"/>
          </a:xfrm>
          <a:prstGeom prst="ellipse">
            <a:avLst/>
          </a:prstGeom>
          <a:solidFill>
            <a:srgbClr val="EEECFB"/>
          </a:solidFill>
          <a:ln/>
        </p:spPr>
      </p:sp>
      <p:pic>
        <p:nvPicPr>
          <p:cNvPr id="16" name="Image 1" descr="preencoded.png">    </p:cNvPr>
          <p:cNvPicPr>
            <a:picLocks noChangeAspect="1"/>
          </p:cNvPicPr>
          <p:nvPr/>
        </p:nvPicPr>
        <p:blipFill>
          <a:blip r:embed="rId2"/>
          <a:stretch>
            <a:fillRect/>
          </a:stretch>
        </p:blipFill>
        <p:spPr>
          <a:xfrm>
            <a:off x="6647688" y="2103120"/>
            <a:ext cx="457200" cy="457200"/>
          </a:xfrm>
          <a:prstGeom prst="rect">
            <a:avLst/>
          </a:prstGeom>
        </p:spPr>
      </p:pic>
      <p:sp>
        <p:nvSpPr>
          <p:cNvPr id="17" name="Text 13"/>
          <p:cNvSpPr/>
          <p:nvPr/>
        </p:nvSpPr>
        <p:spPr>
          <a:xfrm>
            <a:off x="7470648" y="1874520"/>
            <a:ext cx="3840480" cy="457200"/>
          </a:xfrm>
          <a:prstGeom prst="rect">
            <a:avLst/>
          </a:prstGeom>
          <a:noFill/>
          <a:ln/>
        </p:spPr>
        <p:txBody>
          <a:bodyPr wrap="square" lIns="0" tIns="0" rIns="0" bIns="0" rtlCol="0" anchor="ctr"/>
          <a:lstStyle/>
          <a:p>
            <a:pPr indent="0" marL="0">
              <a:buNone/>
            </a:pPr>
            <a:r>
              <a:rPr lang="en-US" sz="2400" b="1" dirty="0">
                <a:solidFill>
                  <a:srgbClr val="5B4BE0"/>
                </a:solidFill>
                <a:latin typeface="Cambria" pitchFamily="34" charset="0"/>
                <a:ea typeface="Cambria" pitchFamily="34" charset="-122"/>
                <a:cs typeface="Cambria" pitchFamily="34" charset="-120"/>
              </a:rPr>
              <a:t>BERT</a:t>
            </a:r>
            <a:endParaRPr lang="en-US" sz="2400" dirty="0"/>
          </a:p>
        </p:txBody>
      </p:sp>
      <p:sp>
        <p:nvSpPr>
          <p:cNvPr id="18" name="Text 14"/>
          <p:cNvSpPr/>
          <p:nvPr/>
        </p:nvSpPr>
        <p:spPr>
          <a:xfrm>
            <a:off x="7470648" y="2377440"/>
            <a:ext cx="3840480" cy="292608"/>
          </a:xfrm>
          <a:prstGeom prst="rect">
            <a:avLst/>
          </a:prstGeom>
          <a:noFill/>
          <a:ln/>
        </p:spPr>
        <p:txBody>
          <a:bodyPr wrap="square" lIns="0" tIns="0" rIns="0" bIns="0" rtlCol="0" anchor="ctr"/>
          <a:lstStyle/>
          <a:p>
            <a:pPr indent="0" marL="0">
              <a:buNone/>
            </a:pPr>
            <a:r>
              <a:rPr lang="en-US" sz="1200" b="1" dirty="0">
                <a:solidFill>
                  <a:srgbClr val="5A6685"/>
                </a:solidFill>
                <a:latin typeface="Calibri" pitchFamily="34" charset="0"/>
                <a:ea typeface="Calibri" pitchFamily="34" charset="-122"/>
                <a:cs typeface="Calibri" pitchFamily="34" charset="-120"/>
              </a:rPr>
              <a:t>Google · Oct 2018</a:t>
            </a:r>
            <a:endParaRPr lang="en-US" sz="1200" dirty="0"/>
          </a:p>
        </p:txBody>
      </p:sp>
      <p:sp>
        <p:nvSpPr>
          <p:cNvPr id="19" name="Shape 15"/>
          <p:cNvSpPr/>
          <p:nvPr/>
        </p:nvSpPr>
        <p:spPr>
          <a:xfrm>
            <a:off x="6437376" y="2971800"/>
            <a:ext cx="4800600" cy="566928"/>
          </a:xfrm>
          <a:prstGeom prst="roundRect">
            <a:avLst>
              <a:gd name="adj" fmla="val 48387"/>
            </a:avLst>
          </a:prstGeom>
          <a:solidFill>
            <a:srgbClr val="EEECFB"/>
          </a:solidFill>
          <a:ln/>
        </p:spPr>
      </p:sp>
      <p:sp>
        <p:nvSpPr>
          <p:cNvPr id="20" name="Text 16"/>
          <p:cNvSpPr/>
          <p:nvPr/>
        </p:nvSpPr>
        <p:spPr>
          <a:xfrm>
            <a:off x="6437376" y="2971800"/>
            <a:ext cx="4800600" cy="566928"/>
          </a:xfrm>
          <a:prstGeom prst="rect">
            <a:avLst/>
          </a:prstGeom>
          <a:noFill/>
          <a:ln/>
        </p:spPr>
        <p:txBody>
          <a:bodyPr wrap="square" lIns="0" tIns="0" rIns="0" bIns="0" rtlCol="0" anchor="ctr"/>
          <a:lstStyle/>
          <a:p>
            <a:pPr algn="ctr" indent="0" marL="0">
              <a:buNone/>
            </a:pPr>
            <a:r>
              <a:rPr lang="en-US" sz="1500" b="1" dirty="0">
                <a:solidFill>
                  <a:srgbClr val="5B4BE0"/>
                </a:solidFill>
                <a:latin typeface="Calibri" pitchFamily="34" charset="0"/>
                <a:ea typeface="Calibri" pitchFamily="34" charset="-122"/>
                <a:cs typeface="Calibri" pitchFamily="34" charset="-120"/>
              </a:rPr>
              <a:t>340M parameters (Large)</a:t>
            </a:r>
            <a:endParaRPr lang="en-US" sz="1500" dirty="0"/>
          </a:p>
        </p:txBody>
      </p:sp>
      <p:sp>
        <p:nvSpPr>
          <p:cNvPr id="21" name="Text 17"/>
          <p:cNvSpPr/>
          <p:nvPr/>
        </p:nvSpPr>
        <p:spPr>
          <a:xfrm>
            <a:off x="6455664" y="3703320"/>
            <a:ext cx="4800600" cy="21945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Encoder-only, deeply bidirectional</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Masked-language-model pre-training</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Shattered NLP benchmarks; powered Google Search</a:t>
            </a:r>
            <a:endParaRPr lang="en-US" sz="1260" dirty="0"/>
          </a:p>
          <a:p>
            <a:pPr marL="177800" indent="-177800">
              <a:lnSpc>
                <a:spcPct val="104000"/>
              </a:lnSpc>
              <a:spcAft>
                <a:spcPts val="800"/>
              </a:spcAft>
              <a:buSzPct val="100000"/>
              <a:buChar char="•"/>
            </a:pPr>
            <a:r>
              <a:rPr lang="en-US" sz="1260" dirty="0">
                <a:solidFill>
                  <a:srgbClr val="1B2440"/>
                </a:solidFill>
                <a:latin typeface="Calibri" pitchFamily="34" charset="0"/>
                <a:ea typeface="Calibri" pitchFamily="34" charset="-122"/>
                <a:cs typeface="Calibri" pitchFamily="34" charset="-120"/>
              </a:rPr>
              <a:t>Defined 'understanding' models for years</a:t>
            </a:r>
            <a:endParaRPr lang="en-US" sz="12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2019 → 2020 · SCALE STARTS TO SURPRISE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GPT-2 to GPT-3: emergence of in-context learning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Radford et al., GPT-2 (2019) · Brown et al., 'Language Models are Few-Shot Learners', arXiv:2005.14165 (GPT-3)</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66928" y="1600200"/>
            <a:ext cx="5394960" cy="1417320"/>
          </a:xfrm>
          <a:prstGeom prst="roundRect">
            <a:avLst>
              <a:gd name="adj" fmla="val 645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55648"/>
            <a:ext cx="2743200" cy="310896"/>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GPT-2 · 2019</a:t>
            </a:r>
            <a:endParaRPr lang="en-US" sz="1300" dirty="0"/>
          </a:p>
        </p:txBody>
      </p:sp>
      <p:sp>
        <p:nvSpPr>
          <p:cNvPr id="8" name="Text 6"/>
          <p:cNvSpPr/>
          <p:nvPr/>
        </p:nvSpPr>
        <p:spPr>
          <a:xfrm>
            <a:off x="822960" y="2011680"/>
            <a:ext cx="2331720" cy="868680"/>
          </a:xfrm>
          <a:prstGeom prst="rect">
            <a:avLst/>
          </a:prstGeom>
          <a:noFill/>
          <a:ln/>
        </p:spPr>
        <p:txBody>
          <a:bodyPr wrap="square" lIns="0" tIns="0" rIns="0" bIns="0" rtlCol="0" anchor="ctr"/>
          <a:lstStyle/>
          <a:p>
            <a:pPr indent="0" marL="0">
              <a:buNone/>
            </a:pPr>
            <a:r>
              <a:rPr lang="en-US" sz="3800" b="1" dirty="0">
                <a:solidFill>
                  <a:srgbClr val="0E9E96"/>
                </a:solidFill>
                <a:latin typeface="Cambria" pitchFamily="34" charset="0"/>
                <a:ea typeface="Cambria" pitchFamily="34" charset="-122"/>
                <a:cs typeface="Cambria" pitchFamily="34" charset="-120"/>
              </a:rPr>
              <a:t>1.5B</a:t>
            </a:r>
            <a:endParaRPr lang="en-US" sz="3800" dirty="0"/>
          </a:p>
        </p:txBody>
      </p:sp>
      <p:sp>
        <p:nvSpPr>
          <p:cNvPr id="9" name="Text 7"/>
          <p:cNvSpPr/>
          <p:nvPr/>
        </p:nvSpPr>
        <p:spPr>
          <a:xfrm>
            <a:off x="841248" y="2743200"/>
            <a:ext cx="2103120" cy="237744"/>
          </a:xfrm>
          <a:prstGeom prst="rect">
            <a:avLst/>
          </a:prstGeom>
          <a:noFill/>
          <a:ln/>
        </p:spPr>
        <p:txBody>
          <a:bodyPr wrap="square" lIns="0" tIns="0" rIns="0" bIns="0" rtlCol="0" anchor="ctr"/>
          <a:lstStyle/>
          <a:p>
            <a:pPr indent="0" marL="0">
              <a:buNone/>
            </a:pPr>
            <a:r>
              <a:rPr lang="en-US" sz="1050" dirty="0">
                <a:solidFill>
                  <a:srgbClr val="5A6685"/>
                </a:solidFill>
                <a:latin typeface="Calibri" pitchFamily="34" charset="0"/>
                <a:ea typeface="Calibri" pitchFamily="34" charset="-122"/>
                <a:cs typeface="Calibri" pitchFamily="34" charset="-120"/>
              </a:rPr>
              <a:t>parameters</a:t>
            </a:r>
            <a:endParaRPr lang="en-US" sz="1050" dirty="0"/>
          </a:p>
        </p:txBody>
      </p:sp>
      <p:sp>
        <p:nvSpPr>
          <p:cNvPr id="10" name="Text 8"/>
          <p:cNvSpPr/>
          <p:nvPr/>
        </p:nvSpPr>
        <p:spPr>
          <a:xfrm>
            <a:off x="3218688" y="1783080"/>
            <a:ext cx="2606040" cy="1143000"/>
          </a:xfrm>
          <a:prstGeom prst="rect">
            <a:avLst/>
          </a:prstGeom>
          <a:noFill/>
          <a:ln/>
        </p:spPr>
        <p:txBody>
          <a:bodyPr wrap="square" lIns="0" tIns="0" rIns="0" bIns="0" rtlCol="0" anchor="ctr"/>
          <a:lstStyle/>
          <a:p>
            <a:pPr indent="0" marL="0">
              <a:lnSpc>
                <a:spcPct val="112000"/>
              </a:lnSpc>
              <a:buNone/>
            </a:pPr>
            <a:r>
              <a:rPr lang="en-US" sz="1200" dirty="0">
                <a:solidFill>
                  <a:srgbClr val="1B2440"/>
                </a:solidFill>
                <a:latin typeface="Calibri" pitchFamily="34" charset="0"/>
                <a:ea typeface="Calibri" pitchFamily="34" charset="-122"/>
                <a:cs typeface="Calibri" pitchFamily="34" charset="-120"/>
              </a:rPr>
              <a:t>≈10× GPT-1. Text so fluent OpenAI staged its release over misuse fears.</a:t>
            </a:r>
            <a:endParaRPr lang="en-US" sz="1200" dirty="0"/>
          </a:p>
        </p:txBody>
      </p:sp>
      <p:sp>
        <p:nvSpPr>
          <p:cNvPr id="11" name="Shape 9"/>
          <p:cNvSpPr/>
          <p:nvPr/>
        </p:nvSpPr>
        <p:spPr>
          <a:xfrm>
            <a:off x="6144768" y="1600200"/>
            <a:ext cx="5394960" cy="1417320"/>
          </a:xfrm>
          <a:prstGeom prst="roundRect">
            <a:avLst>
              <a:gd name="adj" fmla="val 645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10"/>
          <p:cNvSpPr/>
          <p:nvPr/>
        </p:nvSpPr>
        <p:spPr>
          <a:xfrm>
            <a:off x="6419088" y="1755648"/>
            <a:ext cx="2743200" cy="310896"/>
          </a:xfrm>
          <a:prstGeom prst="rect">
            <a:avLst/>
          </a:prstGeom>
          <a:noFill/>
          <a:ln/>
        </p:spPr>
        <p:txBody>
          <a:bodyPr wrap="square" lIns="0" tIns="0" rIns="0" bIns="0" rtlCol="0" anchor="ctr"/>
          <a:lstStyle/>
          <a:p>
            <a:pPr indent="0" marL="0">
              <a:buNone/>
            </a:pPr>
            <a:r>
              <a:rPr lang="en-US" sz="1300" b="1" dirty="0">
                <a:solidFill>
                  <a:srgbClr val="5A6685"/>
                </a:solidFill>
                <a:latin typeface="Calibri" pitchFamily="34" charset="0"/>
                <a:ea typeface="Calibri" pitchFamily="34" charset="-122"/>
                <a:cs typeface="Calibri" pitchFamily="34" charset="-120"/>
              </a:rPr>
              <a:t>GPT-3 · 2020</a:t>
            </a:r>
            <a:endParaRPr lang="en-US" sz="1300" dirty="0"/>
          </a:p>
        </p:txBody>
      </p:sp>
      <p:sp>
        <p:nvSpPr>
          <p:cNvPr id="13" name="Text 11"/>
          <p:cNvSpPr/>
          <p:nvPr/>
        </p:nvSpPr>
        <p:spPr>
          <a:xfrm>
            <a:off x="6400800" y="2011680"/>
            <a:ext cx="2331720" cy="868680"/>
          </a:xfrm>
          <a:prstGeom prst="rect">
            <a:avLst/>
          </a:prstGeom>
          <a:noFill/>
          <a:ln/>
        </p:spPr>
        <p:txBody>
          <a:bodyPr wrap="square" lIns="0" tIns="0" rIns="0" bIns="0" rtlCol="0" anchor="ctr"/>
          <a:lstStyle/>
          <a:p>
            <a:pPr indent="0" marL="0">
              <a:buNone/>
            </a:pPr>
            <a:r>
              <a:rPr lang="en-US" sz="3800" b="1" dirty="0">
                <a:solidFill>
                  <a:srgbClr val="5B4BE0"/>
                </a:solidFill>
                <a:latin typeface="Cambria" pitchFamily="34" charset="0"/>
                <a:ea typeface="Cambria" pitchFamily="34" charset="-122"/>
                <a:cs typeface="Cambria" pitchFamily="34" charset="-120"/>
              </a:rPr>
              <a:t>175B</a:t>
            </a:r>
            <a:endParaRPr lang="en-US" sz="3800" dirty="0"/>
          </a:p>
        </p:txBody>
      </p:sp>
      <p:sp>
        <p:nvSpPr>
          <p:cNvPr id="14" name="Text 12"/>
          <p:cNvSpPr/>
          <p:nvPr/>
        </p:nvSpPr>
        <p:spPr>
          <a:xfrm>
            <a:off x="6419088" y="2743200"/>
            <a:ext cx="2103120" cy="237744"/>
          </a:xfrm>
          <a:prstGeom prst="rect">
            <a:avLst/>
          </a:prstGeom>
          <a:noFill/>
          <a:ln/>
        </p:spPr>
        <p:txBody>
          <a:bodyPr wrap="square" lIns="0" tIns="0" rIns="0" bIns="0" rtlCol="0" anchor="ctr"/>
          <a:lstStyle/>
          <a:p>
            <a:pPr indent="0" marL="0">
              <a:buNone/>
            </a:pPr>
            <a:r>
              <a:rPr lang="en-US" sz="1050" dirty="0">
                <a:solidFill>
                  <a:srgbClr val="5A6685"/>
                </a:solidFill>
                <a:latin typeface="Calibri" pitchFamily="34" charset="0"/>
                <a:ea typeface="Calibri" pitchFamily="34" charset="-122"/>
                <a:cs typeface="Calibri" pitchFamily="34" charset="-120"/>
              </a:rPr>
              <a:t>parameters</a:t>
            </a:r>
            <a:endParaRPr lang="en-US" sz="1050" dirty="0"/>
          </a:p>
        </p:txBody>
      </p:sp>
      <p:sp>
        <p:nvSpPr>
          <p:cNvPr id="15" name="Text 13"/>
          <p:cNvSpPr/>
          <p:nvPr/>
        </p:nvSpPr>
        <p:spPr>
          <a:xfrm>
            <a:off x="8796528" y="1783080"/>
            <a:ext cx="2606040" cy="1143000"/>
          </a:xfrm>
          <a:prstGeom prst="rect">
            <a:avLst/>
          </a:prstGeom>
          <a:noFill/>
          <a:ln/>
        </p:spPr>
        <p:txBody>
          <a:bodyPr wrap="square" lIns="0" tIns="0" rIns="0" bIns="0" rtlCol="0" anchor="ctr"/>
          <a:lstStyle/>
          <a:p>
            <a:pPr indent="0" marL="0">
              <a:lnSpc>
                <a:spcPct val="112000"/>
              </a:lnSpc>
              <a:buNone/>
            </a:pPr>
            <a:r>
              <a:rPr lang="en-US" sz="1200" dirty="0">
                <a:solidFill>
                  <a:srgbClr val="1B2440"/>
                </a:solidFill>
                <a:latin typeface="Calibri" pitchFamily="34" charset="0"/>
                <a:ea typeface="Calibri" pitchFamily="34" charset="-122"/>
                <a:cs typeface="Calibri" pitchFamily="34" charset="-120"/>
              </a:rPr>
              <a:t>≈117× GPT-2. 96 layers, 12,288-dim, 2,048-token context.</a:t>
            </a:r>
            <a:endParaRPr lang="en-US" sz="1200" dirty="0"/>
          </a:p>
        </p:txBody>
      </p:sp>
      <p:sp>
        <p:nvSpPr>
          <p:cNvPr id="16" name="Shape 14"/>
          <p:cNvSpPr/>
          <p:nvPr/>
        </p:nvSpPr>
        <p:spPr>
          <a:xfrm>
            <a:off x="566928" y="3246120"/>
            <a:ext cx="11045952" cy="2743200"/>
          </a:xfrm>
          <a:prstGeom prst="roundRect">
            <a:avLst>
              <a:gd name="adj" fmla="val 3333"/>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5"/>
          <p:cNvSpPr/>
          <p:nvPr/>
        </p:nvSpPr>
        <p:spPr>
          <a:xfrm>
            <a:off x="886968" y="3520440"/>
            <a:ext cx="868680" cy="868680"/>
          </a:xfrm>
          <a:prstGeom prst="ellipse">
            <a:avLst/>
          </a:prstGeom>
          <a:solidFill>
            <a:srgbClr val="FBEFD8"/>
          </a:solidFill>
          <a:ln/>
        </p:spPr>
      </p:sp>
      <p:pic>
        <p:nvPicPr>
          <p:cNvPr id="18" name="Image 0" descr="preencoded.png">    </p:cNvPr>
          <p:cNvPicPr>
            <a:picLocks noChangeAspect="1"/>
          </p:cNvPicPr>
          <p:nvPr/>
        </p:nvPicPr>
        <p:blipFill>
          <a:blip r:embed="rId1"/>
          <a:stretch>
            <a:fillRect/>
          </a:stretch>
        </p:blipFill>
        <p:spPr>
          <a:xfrm>
            <a:off x="1104138" y="3737610"/>
            <a:ext cx="434340" cy="434340"/>
          </a:xfrm>
          <a:prstGeom prst="rect">
            <a:avLst/>
          </a:prstGeom>
        </p:spPr>
      </p:pic>
      <p:sp>
        <p:nvSpPr>
          <p:cNvPr id="19" name="Text 16"/>
          <p:cNvSpPr/>
          <p:nvPr/>
        </p:nvSpPr>
        <p:spPr>
          <a:xfrm>
            <a:off x="1938528" y="3520440"/>
            <a:ext cx="9326880" cy="411480"/>
          </a:xfrm>
          <a:prstGeom prst="rect">
            <a:avLst/>
          </a:prstGeom>
          <a:noFill/>
          <a:ln/>
        </p:spPr>
        <p:txBody>
          <a:bodyPr wrap="square" lIns="0" tIns="0" rIns="0" bIns="0" rtlCol="0" anchor="ctr"/>
          <a:lstStyle/>
          <a:p>
            <a:pPr indent="0" marL="0">
              <a:buNone/>
            </a:pPr>
            <a:r>
              <a:rPr lang="en-US" sz="1700" b="1" dirty="0">
                <a:solidFill>
                  <a:srgbClr val="1B2440"/>
                </a:solidFill>
                <a:latin typeface="Calibri" pitchFamily="34" charset="0"/>
                <a:ea typeface="Calibri" pitchFamily="34" charset="-122"/>
                <a:cs typeface="Calibri" pitchFamily="34" charset="-120"/>
              </a:rPr>
              <a:t>The breakthrough wasn't size — it was in-context learning</a:t>
            </a:r>
            <a:endParaRPr lang="en-US" sz="1700" dirty="0"/>
          </a:p>
        </p:txBody>
      </p:sp>
      <p:sp>
        <p:nvSpPr>
          <p:cNvPr id="20" name="Text 17"/>
          <p:cNvSpPr/>
          <p:nvPr/>
        </p:nvSpPr>
        <p:spPr>
          <a:xfrm>
            <a:off x="1938528" y="3950208"/>
            <a:ext cx="9326880" cy="868680"/>
          </a:xfrm>
          <a:prstGeom prst="rect">
            <a:avLst/>
          </a:prstGeom>
          <a:noFill/>
          <a:ln/>
        </p:spPr>
        <p:txBody>
          <a:bodyPr wrap="square" lIns="0" tIns="0" rIns="0" bIns="0" rtlCol="0" anchor="ctr"/>
          <a:lstStyle/>
          <a:p>
            <a:pPr indent="0" marL="0">
              <a:lnSpc>
                <a:spcPct val="116000"/>
              </a:lnSpc>
              <a:buNone/>
            </a:pPr>
            <a:r>
              <a:rPr lang="en-US" sz="1300" dirty="0">
                <a:solidFill>
                  <a:srgbClr val="5A6685"/>
                </a:solidFill>
                <a:latin typeface="Calibri" pitchFamily="34" charset="0"/>
                <a:ea typeface="Calibri" pitchFamily="34" charset="-122"/>
                <a:cs typeface="Calibri" pitchFamily="34" charset="-120"/>
              </a:rPr>
              <a:t>GPT-3 could perform a brand-new task from a few examples in the prompt — no weight updates, no fine-tuning. This 'few-shot' ability was an emergent property of scale, and it reframed the model from a tool you retrain into a tool you simply instruct.</a:t>
            </a:r>
            <a:endParaRPr lang="en-US" sz="1300" dirty="0"/>
          </a:p>
        </p:txBody>
      </p:sp>
      <p:sp>
        <p:nvSpPr>
          <p:cNvPr id="21" name="Shape 18"/>
          <p:cNvSpPr/>
          <p:nvPr/>
        </p:nvSpPr>
        <p:spPr>
          <a:xfrm>
            <a:off x="932688" y="4983480"/>
            <a:ext cx="3383280" cy="822960"/>
          </a:xfrm>
          <a:prstGeom prst="roundRect">
            <a:avLst>
              <a:gd name="adj" fmla="val 8889"/>
            </a:avLst>
          </a:prstGeom>
          <a:solidFill>
            <a:srgbClr val="FFFFFF"/>
          </a:solidFill>
          <a:ln w="15875">
            <a:solidFill>
              <a:srgbClr val="5B4BE0"/>
            </a:solidFill>
            <a:prstDash val="solid"/>
          </a:ln>
        </p:spPr>
      </p:sp>
      <p:sp>
        <p:nvSpPr>
          <p:cNvPr id="22" name="Text 19"/>
          <p:cNvSpPr/>
          <p:nvPr/>
        </p:nvSpPr>
        <p:spPr>
          <a:xfrm>
            <a:off x="111556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Zero-shot</a:t>
            </a:r>
            <a:endParaRPr lang="en-US" sz="1350" dirty="0"/>
          </a:p>
        </p:txBody>
      </p:sp>
      <p:sp>
        <p:nvSpPr>
          <p:cNvPr id="23" name="Text 20"/>
          <p:cNvSpPr/>
          <p:nvPr/>
        </p:nvSpPr>
        <p:spPr>
          <a:xfrm>
            <a:off x="111556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just the task description</a:t>
            </a:r>
            <a:endParaRPr lang="en-US" sz="1150" dirty="0"/>
          </a:p>
        </p:txBody>
      </p:sp>
      <p:sp>
        <p:nvSpPr>
          <p:cNvPr id="24" name="Shape 21"/>
          <p:cNvSpPr/>
          <p:nvPr/>
        </p:nvSpPr>
        <p:spPr>
          <a:xfrm>
            <a:off x="4544568" y="4983480"/>
            <a:ext cx="3383280" cy="822960"/>
          </a:xfrm>
          <a:prstGeom prst="roundRect">
            <a:avLst>
              <a:gd name="adj" fmla="val 8889"/>
            </a:avLst>
          </a:prstGeom>
          <a:solidFill>
            <a:srgbClr val="FFFFFF"/>
          </a:solidFill>
          <a:ln w="15875">
            <a:solidFill>
              <a:srgbClr val="5B4BE0"/>
            </a:solidFill>
            <a:prstDash val="solid"/>
          </a:ln>
        </p:spPr>
      </p:sp>
      <p:sp>
        <p:nvSpPr>
          <p:cNvPr id="25" name="Text 22"/>
          <p:cNvSpPr/>
          <p:nvPr/>
        </p:nvSpPr>
        <p:spPr>
          <a:xfrm>
            <a:off x="472744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One-shot</a:t>
            </a:r>
            <a:endParaRPr lang="en-US" sz="1350" dirty="0"/>
          </a:p>
        </p:txBody>
      </p:sp>
      <p:sp>
        <p:nvSpPr>
          <p:cNvPr id="26" name="Text 23"/>
          <p:cNvSpPr/>
          <p:nvPr/>
        </p:nvSpPr>
        <p:spPr>
          <a:xfrm>
            <a:off x="472744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one worked example</a:t>
            </a:r>
            <a:endParaRPr lang="en-US" sz="1150" dirty="0"/>
          </a:p>
        </p:txBody>
      </p:sp>
      <p:sp>
        <p:nvSpPr>
          <p:cNvPr id="27" name="Shape 24"/>
          <p:cNvSpPr/>
          <p:nvPr/>
        </p:nvSpPr>
        <p:spPr>
          <a:xfrm>
            <a:off x="8156448" y="4983480"/>
            <a:ext cx="3383280" cy="822960"/>
          </a:xfrm>
          <a:prstGeom prst="roundRect">
            <a:avLst>
              <a:gd name="adj" fmla="val 8889"/>
            </a:avLst>
          </a:prstGeom>
          <a:solidFill>
            <a:srgbClr val="FFFFFF"/>
          </a:solidFill>
          <a:ln w="15875">
            <a:solidFill>
              <a:srgbClr val="5B4BE0"/>
            </a:solidFill>
            <a:prstDash val="solid"/>
          </a:ln>
        </p:spPr>
      </p:sp>
      <p:sp>
        <p:nvSpPr>
          <p:cNvPr id="28" name="Text 25"/>
          <p:cNvSpPr/>
          <p:nvPr/>
        </p:nvSpPr>
        <p:spPr>
          <a:xfrm>
            <a:off x="8339328" y="5074920"/>
            <a:ext cx="3108960" cy="310896"/>
          </a:xfrm>
          <a:prstGeom prst="rect">
            <a:avLst/>
          </a:prstGeom>
          <a:noFill/>
          <a:ln/>
        </p:spPr>
        <p:txBody>
          <a:bodyPr wrap="square" lIns="0" tIns="0" rIns="0" bIns="0" rtlCol="0" anchor="ctr"/>
          <a:lstStyle/>
          <a:p>
            <a:pPr indent="0" marL="0">
              <a:buNone/>
            </a:pPr>
            <a:r>
              <a:rPr lang="en-US" sz="1350" b="1" dirty="0">
                <a:solidFill>
                  <a:srgbClr val="5B4BE0"/>
                </a:solidFill>
                <a:latin typeface="Calibri" pitchFamily="34" charset="0"/>
                <a:ea typeface="Calibri" pitchFamily="34" charset="-122"/>
                <a:cs typeface="Calibri" pitchFamily="34" charset="-120"/>
              </a:rPr>
              <a:t>Few-shot</a:t>
            </a:r>
            <a:endParaRPr lang="en-US" sz="1350" dirty="0"/>
          </a:p>
        </p:txBody>
      </p:sp>
      <p:sp>
        <p:nvSpPr>
          <p:cNvPr id="29" name="Text 26"/>
          <p:cNvSpPr/>
          <p:nvPr/>
        </p:nvSpPr>
        <p:spPr>
          <a:xfrm>
            <a:off x="8339328" y="5376672"/>
            <a:ext cx="3108960" cy="365760"/>
          </a:xfrm>
          <a:prstGeom prst="rect">
            <a:avLst/>
          </a:prstGeom>
          <a:noFill/>
          <a:ln/>
        </p:spPr>
        <p:txBody>
          <a:bodyPr wrap="square" lIns="0" tIns="0" rIns="0" bIns="0" rtlCol="0" anchor="ctr"/>
          <a:lstStyle/>
          <a:p>
            <a:pPr indent="0" marL="0">
              <a:buNone/>
            </a:pPr>
            <a:r>
              <a:rPr lang="en-US" sz="1150" dirty="0">
                <a:solidFill>
                  <a:srgbClr val="5A6685"/>
                </a:solidFill>
                <a:latin typeface="Calibri" pitchFamily="34" charset="0"/>
                <a:ea typeface="Calibri" pitchFamily="34" charset="-122"/>
                <a:cs typeface="Calibri" pitchFamily="34" charset="-120"/>
              </a:rPr>
              <a:t>a handful of examples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FIVE ORDERS OF MAGNITUDE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parameter explosion, 2017 → 2023</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Counts compiled from each model's paper/report; GPT-4 is a widely-cited estimate (OpenAI has not confirmed)</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444752"/>
            <a:ext cx="10972800" cy="292608"/>
          </a:xfrm>
          <a:prstGeom prst="rect">
            <a:avLst/>
          </a:prstGeom>
          <a:noFill/>
          <a:ln/>
        </p:spPr>
        <p:txBody>
          <a:bodyPr wrap="square" lIns="0" tIns="0" rIns="0" bIns="0" rtlCol="0" anchor="ctr"/>
          <a:lstStyle/>
          <a:p>
            <a:pPr indent="0" marL="0">
              <a:buNone/>
            </a:pPr>
            <a:r>
              <a:rPr lang="en-US" sz="1250" i="1" dirty="0">
                <a:solidFill>
                  <a:srgbClr val="5A6685"/>
                </a:solidFill>
                <a:latin typeface="Calibri" pitchFamily="34" charset="0"/>
                <a:ea typeface="Calibri" pitchFamily="34" charset="-122"/>
                <a:cs typeface="Calibri" pitchFamily="34" charset="-120"/>
              </a:rPr>
              <a:t>Bar length is on a logarithmic scale — each major gridline is ≈10× more parameters.</a:t>
            </a:r>
            <a:endParaRPr lang="en-US" sz="1250" dirty="0"/>
          </a:p>
        </p:txBody>
      </p:sp>
      <p:sp>
        <p:nvSpPr>
          <p:cNvPr id="7" name="Shape 5"/>
          <p:cNvSpPr/>
          <p:nvPr/>
        </p:nvSpPr>
        <p:spPr>
          <a:xfrm>
            <a:off x="3708133" y="1920240"/>
            <a:ext cx="0" cy="3698748"/>
          </a:xfrm>
          <a:prstGeom prst="line">
            <a:avLst/>
          </a:prstGeom>
          <a:noFill/>
          <a:ln w="12700">
            <a:solidFill>
              <a:srgbClr val="DDE1EC"/>
            </a:solidFill>
            <a:prstDash val="dash"/>
          </a:ln>
        </p:spPr>
      </p:sp>
      <p:sp>
        <p:nvSpPr>
          <p:cNvPr id="8" name="Text 6"/>
          <p:cNvSpPr/>
          <p:nvPr/>
        </p:nvSpPr>
        <p:spPr>
          <a:xfrm>
            <a:off x="3342373"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100M</a:t>
            </a:r>
            <a:endParaRPr lang="en-US" sz="900" dirty="0"/>
          </a:p>
        </p:txBody>
      </p:sp>
      <p:sp>
        <p:nvSpPr>
          <p:cNvPr id="9" name="Shape 7"/>
          <p:cNvSpPr/>
          <p:nvPr/>
        </p:nvSpPr>
        <p:spPr>
          <a:xfrm>
            <a:off x="5248175" y="1920240"/>
            <a:ext cx="0" cy="3698748"/>
          </a:xfrm>
          <a:prstGeom prst="line">
            <a:avLst/>
          </a:prstGeom>
          <a:noFill/>
          <a:ln w="12700">
            <a:solidFill>
              <a:srgbClr val="DDE1EC"/>
            </a:solidFill>
            <a:prstDash val="dash"/>
          </a:ln>
        </p:spPr>
      </p:sp>
      <p:sp>
        <p:nvSpPr>
          <p:cNvPr id="10" name="Text 8"/>
          <p:cNvSpPr/>
          <p:nvPr/>
        </p:nvSpPr>
        <p:spPr>
          <a:xfrm>
            <a:off x="4882415"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1B</a:t>
            </a:r>
            <a:endParaRPr lang="en-US" sz="900" dirty="0"/>
          </a:p>
        </p:txBody>
      </p:sp>
      <p:sp>
        <p:nvSpPr>
          <p:cNvPr id="11" name="Shape 9"/>
          <p:cNvSpPr/>
          <p:nvPr/>
        </p:nvSpPr>
        <p:spPr>
          <a:xfrm>
            <a:off x="6788217" y="1920240"/>
            <a:ext cx="0" cy="3698748"/>
          </a:xfrm>
          <a:prstGeom prst="line">
            <a:avLst/>
          </a:prstGeom>
          <a:noFill/>
          <a:ln w="12700">
            <a:solidFill>
              <a:srgbClr val="DDE1EC"/>
            </a:solidFill>
            <a:prstDash val="dash"/>
          </a:ln>
        </p:spPr>
      </p:sp>
      <p:sp>
        <p:nvSpPr>
          <p:cNvPr id="12" name="Text 10"/>
          <p:cNvSpPr/>
          <p:nvPr/>
        </p:nvSpPr>
        <p:spPr>
          <a:xfrm>
            <a:off x="6422457"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10B</a:t>
            </a:r>
            <a:endParaRPr lang="en-US" sz="900" dirty="0"/>
          </a:p>
        </p:txBody>
      </p:sp>
      <p:sp>
        <p:nvSpPr>
          <p:cNvPr id="13" name="Shape 11"/>
          <p:cNvSpPr/>
          <p:nvPr/>
        </p:nvSpPr>
        <p:spPr>
          <a:xfrm>
            <a:off x="8328259" y="1920240"/>
            <a:ext cx="0" cy="3698748"/>
          </a:xfrm>
          <a:prstGeom prst="line">
            <a:avLst/>
          </a:prstGeom>
          <a:noFill/>
          <a:ln w="12700">
            <a:solidFill>
              <a:srgbClr val="DDE1EC"/>
            </a:solidFill>
            <a:prstDash val="dash"/>
          </a:ln>
        </p:spPr>
      </p:sp>
      <p:sp>
        <p:nvSpPr>
          <p:cNvPr id="14" name="Text 12"/>
          <p:cNvSpPr/>
          <p:nvPr/>
        </p:nvSpPr>
        <p:spPr>
          <a:xfrm>
            <a:off x="7962499"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100B</a:t>
            </a:r>
            <a:endParaRPr lang="en-US" sz="900" dirty="0"/>
          </a:p>
        </p:txBody>
      </p:sp>
      <p:sp>
        <p:nvSpPr>
          <p:cNvPr id="15" name="Shape 13"/>
          <p:cNvSpPr/>
          <p:nvPr/>
        </p:nvSpPr>
        <p:spPr>
          <a:xfrm>
            <a:off x="9868301" y="1920240"/>
            <a:ext cx="0" cy="3698748"/>
          </a:xfrm>
          <a:prstGeom prst="line">
            <a:avLst/>
          </a:prstGeom>
          <a:noFill/>
          <a:ln w="12700">
            <a:solidFill>
              <a:srgbClr val="DDE1EC"/>
            </a:solidFill>
            <a:prstDash val="dash"/>
          </a:ln>
        </p:spPr>
      </p:sp>
      <p:sp>
        <p:nvSpPr>
          <p:cNvPr id="16" name="Text 14"/>
          <p:cNvSpPr/>
          <p:nvPr/>
        </p:nvSpPr>
        <p:spPr>
          <a:xfrm>
            <a:off x="9502541" y="5664708"/>
            <a:ext cx="731520" cy="237744"/>
          </a:xfrm>
          <a:prstGeom prst="rect">
            <a:avLst/>
          </a:prstGeom>
          <a:noFill/>
          <a:ln/>
        </p:spPr>
        <p:txBody>
          <a:bodyPr wrap="square" lIns="0" tIns="0" rIns="0" bIns="0" rtlCol="0" anchor="ctr"/>
          <a:lstStyle/>
          <a:p>
            <a:pPr algn="ctr" indent="0" marL="0">
              <a:buNone/>
            </a:pPr>
            <a:r>
              <a:rPr lang="en-US" sz="900" dirty="0">
                <a:solidFill>
                  <a:srgbClr val="8A93AB"/>
                </a:solidFill>
                <a:latin typeface="Calibri" pitchFamily="34" charset="0"/>
                <a:ea typeface="Calibri" pitchFamily="34" charset="-122"/>
                <a:cs typeface="Calibri" pitchFamily="34" charset="-120"/>
              </a:rPr>
              <a:t>1T</a:t>
            </a:r>
            <a:endParaRPr lang="en-US" sz="900" dirty="0"/>
          </a:p>
        </p:txBody>
      </p:sp>
      <p:sp>
        <p:nvSpPr>
          <p:cNvPr id="17" name="Text 15"/>
          <p:cNvSpPr/>
          <p:nvPr/>
        </p:nvSpPr>
        <p:spPr>
          <a:xfrm>
            <a:off x="566928" y="1984248"/>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Transformer (big)</a:t>
            </a:r>
            <a:endParaRPr lang="en-US" sz="1150" dirty="0"/>
          </a:p>
        </p:txBody>
      </p:sp>
      <p:sp>
        <p:nvSpPr>
          <p:cNvPr id="18" name="Text 16"/>
          <p:cNvSpPr/>
          <p:nvPr/>
        </p:nvSpPr>
        <p:spPr>
          <a:xfrm>
            <a:off x="548640" y="2212848"/>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2017</a:t>
            </a:r>
            <a:endParaRPr lang="en-US" sz="900" dirty="0"/>
          </a:p>
        </p:txBody>
      </p:sp>
      <p:sp>
        <p:nvSpPr>
          <p:cNvPr id="19" name="Shape 17"/>
          <p:cNvSpPr/>
          <p:nvPr/>
        </p:nvSpPr>
        <p:spPr>
          <a:xfrm>
            <a:off x="3246120" y="2002536"/>
            <a:ext cx="173891" cy="365760"/>
          </a:xfrm>
          <a:prstGeom prst="roundRect">
            <a:avLst>
              <a:gd name="adj" fmla="val 26292"/>
            </a:avLst>
          </a:prstGeom>
          <a:solidFill>
            <a:srgbClr val="8A93AB"/>
          </a:solidFill>
          <a:ln/>
        </p:spPr>
      </p:sp>
      <p:sp>
        <p:nvSpPr>
          <p:cNvPr id="20" name="Text 18"/>
          <p:cNvSpPr/>
          <p:nvPr/>
        </p:nvSpPr>
        <p:spPr>
          <a:xfrm>
            <a:off x="3493163" y="1984248"/>
            <a:ext cx="1280160" cy="365760"/>
          </a:xfrm>
          <a:prstGeom prst="rect">
            <a:avLst/>
          </a:prstGeom>
          <a:noFill/>
          <a:ln/>
        </p:spPr>
        <p:txBody>
          <a:bodyPr wrap="square" lIns="0" tIns="0" rIns="0" bIns="0" rtlCol="0" anchor="ctr"/>
          <a:lstStyle/>
          <a:p>
            <a:pPr indent="0" marL="0">
              <a:buNone/>
            </a:pPr>
            <a:r>
              <a:rPr lang="en-US" sz="1200" b="1" dirty="0">
                <a:solidFill>
                  <a:srgbClr val="8A93AB"/>
                </a:solidFill>
                <a:latin typeface="Calibri" pitchFamily="34" charset="0"/>
                <a:ea typeface="Calibri" pitchFamily="34" charset="-122"/>
                <a:cs typeface="Calibri" pitchFamily="34" charset="-120"/>
              </a:rPr>
              <a:t>65 M</a:t>
            </a:r>
            <a:endParaRPr lang="en-US" sz="1200" dirty="0"/>
          </a:p>
        </p:txBody>
      </p:sp>
      <p:sp>
        <p:nvSpPr>
          <p:cNvPr id="21" name="Text 19"/>
          <p:cNvSpPr/>
          <p:nvPr/>
        </p:nvSpPr>
        <p:spPr>
          <a:xfrm>
            <a:off x="566928" y="2519172"/>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GPT-1</a:t>
            </a:r>
            <a:endParaRPr lang="en-US" sz="1150" dirty="0"/>
          </a:p>
        </p:txBody>
      </p:sp>
      <p:sp>
        <p:nvSpPr>
          <p:cNvPr id="22" name="Text 20"/>
          <p:cNvSpPr/>
          <p:nvPr/>
        </p:nvSpPr>
        <p:spPr>
          <a:xfrm>
            <a:off x="548640" y="2747772"/>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2018</a:t>
            </a:r>
            <a:endParaRPr lang="en-US" sz="900" dirty="0"/>
          </a:p>
        </p:txBody>
      </p:sp>
      <p:sp>
        <p:nvSpPr>
          <p:cNvPr id="23" name="Shape 21"/>
          <p:cNvSpPr/>
          <p:nvPr/>
        </p:nvSpPr>
        <p:spPr>
          <a:xfrm>
            <a:off x="3246120" y="2537460"/>
            <a:ext cx="567022" cy="365760"/>
          </a:xfrm>
          <a:prstGeom prst="roundRect">
            <a:avLst>
              <a:gd name="adj" fmla="val 12500"/>
            </a:avLst>
          </a:prstGeom>
          <a:solidFill>
            <a:srgbClr val="0E9E96"/>
          </a:solidFill>
          <a:ln/>
        </p:spPr>
      </p:sp>
      <p:sp>
        <p:nvSpPr>
          <p:cNvPr id="24" name="Text 22"/>
          <p:cNvSpPr/>
          <p:nvPr/>
        </p:nvSpPr>
        <p:spPr>
          <a:xfrm>
            <a:off x="3886294" y="2519172"/>
            <a:ext cx="1280160" cy="365760"/>
          </a:xfrm>
          <a:prstGeom prst="rect">
            <a:avLst/>
          </a:prstGeom>
          <a:noFill/>
          <a:ln/>
        </p:spPr>
        <p:txBody>
          <a:bodyPr wrap="square" lIns="0" tIns="0" rIns="0" bIns="0" rtlCol="0" anchor="ctr"/>
          <a:lstStyle/>
          <a:p>
            <a:pPr indent="0" marL="0">
              <a:buNone/>
            </a:pPr>
            <a:r>
              <a:rPr lang="en-US" sz="1200" b="1" dirty="0">
                <a:solidFill>
                  <a:srgbClr val="0E9E96"/>
                </a:solidFill>
                <a:latin typeface="Calibri" pitchFamily="34" charset="0"/>
                <a:ea typeface="Calibri" pitchFamily="34" charset="-122"/>
                <a:cs typeface="Calibri" pitchFamily="34" charset="-120"/>
              </a:rPr>
              <a:t>117 M</a:t>
            </a:r>
            <a:endParaRPr lang="en-US" sz="1200" dirty="0"/>
          </a:p>
        </p:txBody>
      </p:sp>
      <p:sp>
        <p:nvSpPr>
          <p:cNvPr id="25" name="Text 23"/>
          <p:cNvSpPr/>
          <p:nvPr/>
        </p:nvSpPr>
        <p:spPr>
          <a:xfrm>
            <a:off x="566928" y="3054096"/>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BERT-Large</a:t>
            </a:r>
            <a:endParaRPr lang="en-US" sz="1150" dirty="0"/>
          </a:p>
        </p:txBody>
      </p:sp>
      <p:sp>
        <p:nvSpPr>
          <p:cNvPr id="26" name="Text 24"/>
          <p:cNvSpPr/>
          <p:nvPr/>
        </p:nvSpPr>
        <p:spPr>
          <a:xfrm>
            <a:off x="548640" y="3282696"/>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2018</a:t>
            </a:r>
            <a:endParaRPr lang="en-US" sz="900" dirty="0"/>
          </a:p>
        </p:txBody>
      </p:sp>
      <p:sp>
        <p:nvSpPr>
          <p:cNvPr id="27" name="Shape 25"/>
          <p:cNvSpPr/>
          <p:nvPr/>
        </p:nvSpPr>
        <p:spPr>
          <a:xfrm>
            <a:off x="3246120" y="3072384"/>
            <a:ext cx="1280513" cy="365760"/>
          </a:xfrm>
          <a:prstGeom prst="roundRect">
            <a:avLst>
              <a:gd name="adj" fmla="val 12500"/>
            </a:avLst>
          </a:prstGeom>
          <a:solidFill>
            <a:srgbClr val="7C6FF0"/>
          </a:solidFill>
          <a:ln/>
        </p:spPr>
      </p:sp>
      <p:sp>
        <p:nvSpPr>
          <p:cNvPr id="28" name="Text 26"/>
          <p:cNvSpPr/>
          <p:nvPr/>
        </p:nvSpPr>
        <p:spPr>
          <a:xfrm>
            <a:off x="4599785" y="3054096"/>
            <a:ext cx="1280160" cy="365760"/>
          </a:xfrm>
          <a:prstGeom prst="rect">
            <a:avLst/>
          </a:prstGeom>
          <a:noFill/>
          <a:ln/>
        </p:spPr>
        <p:txBody>
          <a:bodyPr wrap="square" lIns="0" tIns="0" rIns="0" bIns="0" rtlCol="0" anchor="ctr"/>
          <a:lstStyle/>
          <a:p>
            <a:pPr indent="0" marL="0">
              <a:buNone/>
            </a:pPr>
            <a:r>
              <a:rPr lang="en-US" sz="1200" b="1" dirty="0">
                <a:solidFill>
                  <a:srgbClr val="7C6FF0"/>
                </a:solidFill>
                <a:latin typeface="Calibri" pitchFamily="34" charset="0"/>
                <a:ea typeface="Calibri" pitchFamily="34" charset="-122"/>
                <a:cs typeface="Calibri" pitchFamily="34" charset="-120"/>
              </a:rPr>
              <a:t>340 M</a:t>
            </a:r>
            <a:endParaRPr lang="en-US" sz="1200" dirty="0"/>
          </a:p>
        </p:txBody>
      </p:sp>
      <p:sp>
        <p:nvSpPr>
          <p:cNvPr id="29" name="Text 27"/>
          <p:cNvSpPr/>
          <p:nvPr/>
        </p:nvSpPr>
        <p:spPr>
          <a:xfrm>
            <a:off x="566928" y="3589020"/>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GPT-2</a:t>
            </a:r>
            <a:endParaRPr lang="en-US" sz="1150" dirty="0"/>
          </a:p>
        </p:txBody>
      </p:sp>
      <p:sp>
        <p:nvSpPr>
          <p:cNvPr id="30" name="Text 28"/>
          <p:cNvSpPr/>
          <p:nvPr/>
        </p:nvSpPr>
        <p:spPr>
          <a:xfrm>
            <a:off x="548640" y="3817620"/>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2019</a:t>
            </a:r>
            <a:endParaRPr lang="en-US" sz="900" dirty="0"/>
          </a:p>
        </p:txBody>
      </p:sp>
      <p:sp>
        <p:nvSpPr>
          <p:cNvPr id="31" name="Shape 29"/>
          <p:cNvSpPr/>
          <p:nvPr/>
        </p:nvSpPr>
        <p:spPr>
          <a:xfrm>
            <a:off x="3246120" y="3607308"/>
            <a:ext cx="2273243" cy="365760"/>
          </a:xfrm>
          <a:prstGeom prst="roundRect">
            <a:avLst>
              <a:gd name="adj" fmla="val 12500"/>
            </a:avLst>
          </a:prstGeom>
          <a:solidFill>
            <a:srgbClr val="0E9E96"/>
          </a:solidFill>
          <a:ln/>
        </p:spPr>
      </p:sp>
      <p:sp>
        <p:nvSpPr>
          <p:cNvPr id="32" name="Text 30"/>
          <p:cNvSpPr/>
          <p:nvPr/>
        </p:nvSpPr>
        <p:spPr>
          <a:xfrm>
            <a:off x="5592515" y="3589020"/>
            <a:ext cx="1280160" cy="365760"/>
          </a:xfrm>
          <a:prstGeom prst="rect">
            <a:avLst/>
          </a:prstGeom>
          <a:noFill/>
          <a:ln/>
        </p:spPr>
        <p:txBody>
          <a:bodyPr wrap="square" lIns="0" tIns="0" rIns="0" bIns="0" rtlCol="0" anchor="ctr"/>
          <a:lstStyle/>
          <a:p>
            <a:pPr indent="0" marL="0">
              <a:buNone/>
            </a:pPr>
            <a:r>
              <a:rPr lang="en-US" sz="1200" b="1" dirty="0">
                <a:solidFill>
                  <a:srgbClr val="0E9E96"/>
                </a:solidFill>
                <a:latin typeface="Calibri" pitchFamily="34" charset="0"/>
                <a:ea typeface="Calibri" pitchFamily="34" charset="-122"/>
                <a:cs typeface="Calibri" pitchFamily="34" charset="-120"/>
              </a:rPr>
              <a:t>1.5 B</a:t>
            </a:r>
            <a:endParaRPr lang="en-US" sz="1200" dirty="0"/>
          </a:p>
        </p:txBody>
      </p:sp>
      <p:sp>
        <p:nvSpPr>
          <p:cNvPr id="33" name="Text 31"/>
          <p:cNvSpPr/>
          <p:nvPr/>
        </p:nvSpPr>
        <p:spPr>
          <a:xfrm>
            <a:off x="566928" y="4123944"/>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GPT-3</a:t>
            </a:r>
            <a:endParaRPr lang="en-US" sz="1150" dirty="0"/>
          </a:p>
        </p:txBody>
      </p:sp>
      <p:sp>
        <p:nvSpPr>
          <p:cNvPr id="34" name="Text 32"/>
          <p:cNvSpPr/>
          <p:nvPr/>
        </p:nvSpPr>
        <p:spPr>
          <a:xfrm>
            <a:off x="548640" y="4352544"/>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2020</a:t>
            </a:r>
            <a:endParaRPr lang="en-US" sz="900" dirty="0"/>
          </a:p>
        </p:txBody>
      </p:sp>
      <p:sp>
        <p:nvSpPr>
          <p:cNvPr id="35" name="Shape 33"/>
          <p:cNvSpPr/>
          <p:nvPr/>
        </p:nvSpPr>
        <p:spPr>
          <a:xfrm>
            <a:off x="3246120" y="4142232"/>
            <a:ext cx="5456428" cy="365760"/>
          </a:xfrm>
          <a:prstGeom prst="roundRect">
            <a:avLst>
              <a:gd name="adj" fmla="val 12500"/>
            </a:avLst>
          </a:prstGeom>
          <a:solidFill>
            <a:srgbClr val="5B4BE0"/>
          </a:solidFill>
          <a:ln/>
        </p:spPr>
      </p:sp>
      <p:sp>
        <p:nvSpPr>
          <p:cNvPr id="36" name="Text 34"/>
          <p:cNvSpPr/>
          <p:nvPr/>
        </p:nvSpPr>
        <p:spPr>
          <a:xfrm>
            <a:off x="8775700" y="4123944"/>
            <a:ext cx="1280160" cy="365760"/>
          </a:xfrm>
          <a:prstGeom prst="rect">
            <a:avLst/>
          </a:prstGeom>
          <a:noFill/>
          <a:ln/>
        </p:spPr>
        <p:txBody>
          <a:bodyPr wrap="square" lIns="0" tIns="0" rIns="0" bIns="0" rtlCol="0" anchor="ctr"/>
          <a:lstStyle/>
          <a:p>
            <a:pPr indent="0" marL="0">
              <a:buNone/>
            </a:pPr>
            <a:r>
              <a:rPr lang="en-US" sz="1200" b="1" dirty="0">
                <a:solidFill>
                  <a:srgbClr val="5B4BE0"/>
                </a:solidFill>
                <a:latin typeface="Calibri" pitchFamily="34" charset="0"/>
                <a:ea typeface="Calibri" pitchFamily="34" charset="-122"/>
                <a:cs typeface="Calibri" pitchFamily="34" charset="-120"/>
              </a:rPr>
              <a:t>175 B</a:t>
            </a:r>
            <a:endParaRPr lang="en-US" sz="1200" dirty="0"/>
          </a:p>
        </p:txBody>
      </p:sp>
      <p:sp>
        <p:nvSpPr>
          <p:cNvPr id="37" name="Text 35"/>
          <p:cNvSpPr/>
          <p:nvPr/>
        </p:nvSpPr>
        <p:spPr>
          <a:xfrm>
            <a:off x="566928" y="4658868"/>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PaLM</a:t>
            </a:r>
            <a:endParaRPr lang="en-US" sz="1150" dirty="0"/>
          </a:p>
        </p:txBody>
      </p:sp>
      <p:sp>
        <p:nvSpPr>
          <p:cNvPr id="38" name="Text 36"/>
          <p:cNvSpPr/>
          <p:nvPr/>
        </p:nvSpPr>
        <p:spPr>
          <a:xfrm>
            <a:off x="548640" y="4887468"/>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2022</a:t>
            </a:r>
            <a:endParaRPr lang="en-US" sz="900" dirty="0"/>
          </a:p>
        </p:txBody>
      </p:sp>
      <p:sp>
        <p:nvSpPr>
          <p:cNvPr id="39" name="Shape 37"/>
          <p:cNvSpPr/>
          <p:nvPr/>
        </p:nvSpPr>
        <p:spPr>
          <a:xfrm>
            <a:off x="3246120" y="4677156"/>
            <a:ext cx="6210056" cy="365760"/>
          </a:xfrm>
          <a:prstGeom prst="roundRect">
            <a:avLst>
              <a:gd name="adj" fmla="val 12500"/>
            </a:avLst>
          </a:prstGeom>
          <a:solidFill>
            <a:srgbClr val="D9820A"/>
          </a:solidFill>
          <a:ln/>
        </p:spPr>
      </p:sp>
      <p:sp>
        <p:nvSpPr>
          <p:cNvPr id="40" name="Text 38"/>
          <p:cNvSpPr/>
          <p:nvPr/>
        </p:nvSpPr>
        <p:spPr>
          <a:xfrm>
            <a:off x="9529328" y="4658868"/>
            <a:ext cx="1280160" cy="365760"/>
          </a:xfrm>
          <a:prstGeom prst="rect">
            <a:avLst/>
          </a:prstGeom>
          <a:noFill/>
          <a:ln/>
        </p:spPr>
        <p:txBody>
          <a:bodyPr wrap="square" lIns="0" tIns="0" rIns="0" bIns="0" rtlCol="0" anchor="ctr"/>
          <a:lstStyle/>
          <a:p>
            <a:pPr indent="0" marL="0">
              <a:buNone/>
            </a:pPr>
            <a:r>
              <a:rPr lang="en-US" sz="1200" b="1" dirty="0">
                <a:solidFill>
                  <a:srgbClr val="D9820A"/>
                </a:solidFill>
                <a:latin typeface="Calibri" pitchFamily="34" charset="0"/>
                <a:ea typeface="Calibri" pitchFamily="34" charset="-122"/>
                <a:cs typeface="Calibri" pitchFamily="34" charset="-120"/>
              </a:rPr>
              <a:t>540 B</a:t>
            </a:r>
            <a:endParaRPr lang="en-US" sz="1200" dirty="0"/>
          </a:p>
        </p:txBody>
      </p:sp>
      <p:sp>
        <p:nvSpPr>
          <p:cNvPr id="41" name="Text 39"/>
          <p:cNvSpPr/>
          <p:nvPr/>
        </p:nvSpPr>
        <p:spPr>
          <a:xfrm>
            <a:off x="566928" y="5193792"/>
            <a:ext cx="2240280" cy="274320"/>
          </a:xfrm>
          <a:prstGeom prst="rect">
            <a:avLst/>
          </a:prstGeom>
          <a:noFill/>
          <a:ln/>
        </p:spPr>
        <p:txBody>
          <a:bodyPr wrap="square" lIns="0" tIns="0" rIns="0" bIns="0" rtlCol="0" anchor="ctr"/>
          <a:lstStyle/>
          <a:p>
            <a:pPr algn="r" indent="0" marL="0">
              <a:buNone/>
            </a:pPr>
            <a:r>
              <a:rPr lang="en-US" sz="1150" b="1" dirty="0">
                <a:solidFill>
                  <a:srgbClr val="1B2440"/>
                </a:solidFill>
                <a:latin typeface="Calibri" pitchFamily="34" charset="0"/>
                <a:ea typeface="Calibri" pitchFamily="34" charset="-122"/>
                <a:cs typeface="Calibri" pitchFamily="34" charset="-120"/>
              </a:rPr>
              <a:t>GPT-4 (est.)</a:t>
            </a:r>
            <a:endParaRPr lang="en-US" sz="1150" dirty="0"/>
          </a:p>
        </p:txBody>
      </p:sp>
      <p:sp>
        <p:nvSpPr>
          <p:cNvPr id="42" name="Text 40"/>
          <p:cNvSpPr/>
          <p:nvPr/>
        </p:nvSpPr>
        <p:spPr>
          <a:xfrm>
            <a:off x="548640" y="5422392"/>
            <a:ext cx="2240280" cy="201168"/>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2023</a:t>
            </a:r>
            <a:endParaRPr lang="en-US" sz="900" dirty="0"/>
          </a:p>
        </p:txBody>
      </p:sp>
      <p:sp>
        <p:nvSpPr>
          <p:cNvPr id="43" name="Shape 41"/>
          <p:cNvSpPr/>
          <p:nvPr/>
        </p:nvSpPr>
        <p:spPr>
          <a:xfrm>
            <a:off x="3246120" y="5212080"/>
            <a:ext cx="7015311" cy="365760"/>
          </a:xfrm>
          <a:prstGeom prst="roundRect">
            <a:avLst>
              <a:gd name="adj" fmla="val 12500"/>
            </a:avLst>
          </a:prstGeom>
          <a:solidFill>
            <a:srgbClr val="E5484D"/>
          </a:solidFill>
          <a:ln/>
        </p:spPr>
      </p:sp>
      <p:sp>
        <p:nvSpPr>
          <p:cNvPr id="44" name="Text 42"/>
          <p:cNvSpPr/>
          <p:nvPr/>
        </p:nvSpPr>
        <p:spPr>
          <a:xfrm>
            <a:off x="10334583" y="5193792"/>
            <a:ext cx="1280160" cy="365760"/>
          </a:xfrm>
          <a:prstGeom prst="rect">
            <a:avLst/>
          </a:prstGeom>
          <a:noFill/>
          <a:ln/>
        </p:spPr>
        <p:txBody>
          <a:bodyPr wrap="square" lIns="0" tIns="0" rIns="0" bIns="0" rtlCol="0" anchor="ctr"/>
          <a:lstStyle/>
          <a:p>
            <a:pPr indent="0" marL="0">
              <a:buNone/>
            </a:pPr>
            <a:r>
              <a:rPr lang="en-US" sz="1200" b="1" dirty="0">
                <a:solidFill>
                  <a:srgbClr val="E5484D"/>
                </a:solidFill>
                <a:latin typeface="Calibri" pitchFamily="34" charset="0"/>
                <a:ea typeface="Calibri" pitchFamily="34" charset="-122"/>
                <a:cs typeface="Calibri" pitchFamily="34" charset="-120"/>
              </a:rPr>
              <a:t>≈1.8 T</a:t>
            </a:r>
            <a:endParaRPr lang="en-US" sz="1200" dirty="0"/>
          </a:p>
        </p:txBody>
      </p:sp>
      <p:sp>
        <p:nvSpPr>
          <p:cNvPr id="45" name="Text 43"/>
          <p:cNvSpPr/>
          <p:nvPr/>
        </p:nvSpPr>
        <p:spPr>
          <a:xfrm>
            <a:off x="566928" y="5897880"/>
            <a:ext cx="11064240" cy="502920"/>
          </a:xfrm>
          <a:prstGeom prst="rect">
            <a:avLst/>
          </a:prstGeom>
          <a:noFill/>
          <a:ln/>
        </p:spPr>
        <p:txBody>
          <a:bodyPr wrap="square" lIns="0" tIns="0" rIns="0" bIns="0" rtlCol="0" anchor="ctr"/>
          <a:lstStyle/>
          <a:p>
            <a:pPr indent="0" marL="0">
              <a:lnSpc>
                <a:spcPct val="110000"/>
              </a:lnSpc>
              <a:buNone/>
            </a:pPr>
            <a:r>
              <a:rPr lang="en-US" sz="1250" b="1" dirty="0">
                <a:solidFill>
                  <a:srgbClr val="5B4BE0"/>
                </a:solidFill>
                <a:latin typeface="Calibri" pitchFamily="34" charset="0"/>
                <a:ea typeface="Calibri" pitchFamily="34" charset="-122"/>
                <a:cs typeface="Calibri" pitchFamily="34" charset="-120"/>
              </a:rPr>
              <a:t>Take-away:  </a:t>
            </a:r>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~5 orders of magnitude in 6 years. But notice GPT-4 is a Mixture-of-Experts estimate — after 2022 the field stops chasing raw parameter count and starts chasing </a:t>
            </a:r>
            <a:pPr indent="0" marL="0">
              <a:lnSpc>
                <a:spcPct val="110000"/>
              </a:lnSpc>
              <a:buNone/>
            </a:pPr>
            <a:r>
              <a:rPr lang="en-US" sz="1250" b="1" dirty="0">
                <a:solidFill>
                  <a:srgbClr val="1B2440"/>
                </a:solidFill>
                <a:latin typeface="Calibri" pitchFamily="34" charset="0"/>
                <a:ea typeface="Calibri" pitchFamily="34" charset="-122"/>
                <a:cs typeface="Calibri" pitchFamily="34" charset="-120"/>
              </a:rPr>
              <a:t>smarter scaling</a:t>
            </a:r>
            <a:pPr indent="0" marL="0">
              <a:lnSpc>
                <a:spcPct val="110000"/>
              </a:lnSpc>
              <a:buNone/>
            </a:pPr>
            <a:r>
              <a:rPr lang="en-US" sz="1250" dirty="0">
                <a:solidFill>
                  <a:srgbClr val="5A6685"/>
                </a:solidFill>
                <a:latin typeface="Calibri" pitchFamily="34" charset="0"/>
                <a:ea typeface="Calibri" pitchFamily="34" charset="-122"/>
                <a:cs typeface="Calibri" pitchFamily="34" charset="-120"/>
              </a:rPr>
              <a:t> (next slide).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SCIENCE OF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Scaling laws: from 'bigger' to 'compute-optimal'</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Kaplan et al., arXiv:2001.08361 · Hoffmann et al. (Chinchilla), 'Training Compute-Optimal LLMs', arXiv:2203.15556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66928" y="1645920"/>
            <a:ext cx="5486400" cy="4343400"/>
          </a:xfrm>
          <a:prstGeom prst="roundRect">
            <a:avLst>
              <a:gd name="adj" fmla="val 210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828800"/>
            <a:ext cx="4937760" cy="329184"/>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Kaplan et al. · 2020</a:t>
            </a:r>
            <a:endParaRPr lang="en-US" sz="1500" dirty="0"/>
          </a:p>
        </p:txBody>
      </p:sp>
      <p:sp>
        <p:nvSpPr>
          <p:cNvPr id="8" name="Text 6"/>
          <p:cNvSpPr/>
          <p:nvPr/>
        </p:nvSpPr>
        <p:spPr>
          <a:xfrm>
            <a:off x="841248" y="2157984"/>
            <a:ext cx="4937760" cy="329184"/>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"Bigger is better"</a:t>
            </a:r>
            <a:endParaRPr lang="en-US" sz="1350" dirty="0"/>
          </a:p>
        </p:txBody>
      </p:sp>
      <p:sp>
        <p:nvSpPr>
          <p:cNvPr id="9" name="Text 7"/>
          <p:cNvSpPr/>
          <p:nvPr/>
        </p:nvSpPr>
        <p:spPr>
          <a:xfrm>
            <a:off x="859536" y="2606040"/>
            <a:ext cx="4937760" cy="155448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Loss falls as a smooth power-law in parameters, data &amp; compute</a:t>
            </a:r>
            <a:endParaRPr lang="en-US" sz="1240" dirty="0"/>
          </a:p>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Predictable: you can forecast a model's loss before training</a:t>
            </a:r>
            <a:endParaRPr lang="en-US" sz="1240" dirty="0"/>
          </a:p>
          <a:p>
            <a:pPr marL="177800" indent="-177800">
              <a:lnSpc>
                <a:spcPct val="104000"/>
              </a:lnSpc>
              <a:spcAft>
                <a:spcPts val="700"/>
              </a:spcAft>
              <a:buSzPct val="100000"/>
              <a:buChar char="•"/>
            </a:pPr>
            <a:r>
              <a:rPr lang="en-US" sz="1240" dirty="0">
                <a:solidFill>
                  <a:srgbClr val="1B2440"/>
                </a:solidFill>
                <a:latin typeface="Calibri" pitchFamily="34" charset="0"/>
                <a:ea typeface="Calibri" pitchFamily="34" charset="-122"/>
                <a:cs typeface="Calibri" pitchFamily="34" charset="-120"/>
              </a:rPr>
              <a:t>Early reading emphasised pouring budget into model size</a:t>
            </a:r>
            <a:endParaRPr lang="en-US" sz="1240" dirty="0"/>
          </a:p>
        </p:txBody>
      </p:sp>
      <p:sp>
        <p:nvSpPr>
          <p:cNvPr id="10" name="Shape 8"/>
          <p:cNvSpPr/>
          <p:nvPr/>
        </p:nvSpPr>
        <p:spPr>
          <a:xfrm>
            <a:off x="841248" y="4297680"/>
            <a:ext cx="4937760" cy="1463040"/>
          </a:xfrm>
          <a:prstGeom prst="roundRect">
            <a:avLst>
              <a:gd name="adj" fmla="val 5000"/>
            </a:avLst>
          </a:prstGeom>
          <a:solidFill>
            <a:srgbClr val="16213E"/>
          </a:solidFill>
          <a:ln/>
        </p:spPr>
      </p:sp>
      <p:sp>
        <p:nvSpPr>
          <p:cNvPr id="11" name="Text 9"/>
          <p:cNvSpPr/>
          <p:nvPr/>
        </p:nvSpPr>
        <p:spPr>
          <a:xfrm>
            <a:off x="841248" y="4407408"/>
            <a:ext cx="49377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L(N,D) = E + A/Nᵅ + B/Dᵝ</a:t>
            </a:r>
            <a:endParaRPr lang="en-US" sz="1500" dirty="0"/>
          </a:p>
        </p:txBody>
      </p:sp>
      <p:sp>
        <p:nvSpPr>
          <p:cNvPr id="12" name="Text 10"/>
          <p:cNvSpPr/>
          <p:nvPr/>
        </p:nvSpPr>
        <p:spPr>
          <a:xfrm>
            <a:off x="841248" y="4919472"/>
            <a:ext cx="4937760" cy="274320"/>
          </a:xfrm>
          <a:prstGeom prst="rect">
            <a:avLst/>
          </a:prstGeom>
          <a:noFill/>
          <a:ln/>
        </p:spPr>
        <p:txBody>
          <a:bodyPr wrap="square" lIns="0" tIns="0" rIns="0" bIns="0" rtlCol="0" anchor="ctr"/>
          <a:lstStyle/>
          <a:p>
            <a:pPr algn="ctr" indent="0" marL="0">
              <a:buNone/>
            </a:pPr>
            <a:r>
              <a:rPr lang="en-US" sz="1000" i="1" dirty="0">
                <a:solidFill>
                  <a:srgbClr val="AEB6D6"/>
                </a:solidFill>
                <a:latin typeface="Calibri" pitchFamily="34" charset="0"/>
                <a:ea typeface="Calibri" pitchFamily="34" charset="-122"/>
                <a:cs typeface="Calibri" pitchFamily="34" charset="-120"/>
              </a:rPr>
              <a:t>loss decomposes into irreducible + model-size + data terms</a:t>
            </a:r>
            <a:endParaRPr lang="en-US" sz="1000" dirty="0"/>
          </a:p>
        </p:txBody>
      </p:sp>
      <p:sp>
        <p:nvSpPr>
          <p:cNvPr id="13" name="Text 11"/>
          <p:cNvSpPr/>
          <p:nvPr/>
        </p:nvSpPr>
        <p:spPr>
          <a:xfrm>
            <a:off x="841248" y="5248656"/>
            <a:ext cx="4937760" cy="411480"/>
          </a:xfrm>
          <a:prstGeom prst="rect">
            <a:avLst/>
          </a:prstGeom>
          <a:noFill/>
          <a:ln/>
        </p:spPr>
        <p:txBody>
          <a:bodyPr wrap="square" lIns="0" tIns="0" rIns="0" bIns="0" rtlCol="0" anchor="ctr"/>
          <a:lstStyle/>
          <a:p>
            <a:pPr algn="ctr" indent="0" marL="0">
              <a:buNone/>
            </a:pPr>
            <a:r>
              <a:rPr lang="en-US" sz="1400" b="1" dirty="0">
                <a:solidFill>
                  <a:srgbClr val="7C6FF0"/>
                </a:solidFill>
                <a:latin typeface="Courier New" pitchFamily="34" charset="0"/>
                <a:ea typeface="Courier New" pitchFamily="34" charset="-122"/>
                <a:cs typeface="Courier New" pitchFamily="34" charset="-120"/>
              </a:rPr>
              <a:t>compute  C ≈ 6 · N · D</a:t>
            </a:r>
            <a:endParaRPr lang="en-US" sz="1400" dirty="0"/>
          </a:p>
        </p:txBody>
      </p:sp>
      <p:sp>
        <p:nvSpPr>
          <p:cNvPr id="14" name="Shape 12"/>
          <p:cNvSpPr/>
          <p:nvPr/>
        </p:nvSpPr>
        <p:spPr>
          <a:xfrm>
            <a:off x="6400800" y="1645920"/>
            <a:ext cx="5212080" cy="4343400"/>
          </a:xfrm>
          <a:prstGeom prst="roundRect">
            <a:avLst>
              <a:gd name="adj" fmla="val 2105"/>
            </a:avLst>
          </a:prstGeom>
          <a:solidFill>
            <a:srgbClr val="EEECFB"/>
          </a:solidFill>
          <a:ln/>
          <a:effectLst>
            <a:outerShdw sx="100000" sy="100000" kx="0" ky="0" algn="bl" rotWithShape="0" blurRad="114300" dist="38100" dir="5400000">
              <a:srgbClr val="9AA2BC">
                <a:alpha val="16000"/>
              </a:srgbClr>
            </a:outerShdw>
          </a:effectLst>
        </p:spPr>
      </p:sp>
      <p:sp>
        <p:nvSpPr>
          <p:cNvPr id="15" name="Text 13"/>
          <p:cNvSpPr/>
          <p:nvPr/>
        </p:nvSpPr>
        <p:spPr>
          <a:xfrm>
            <a:off x="6675120" y="1828800"/>
            <a:ext cx="4663440" cy="329184"/>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Hoffmann et al. (Chinchilla) · 2022</a:t>
            </a:r>
            <a:endParaRPr lang="en-US" sz="1500" dirty="0"/>
          </a:p>
        </p:txBody>
      </p:sp>
      <p:sp>
        <p:nvSpPr>
          <p:cNvPr id="16" name="Text 14"/>
          <p:cNvSpPr/>
          <p:nvPr/>
        </p:nvSpPr>
        <p:spPr>
          <a:xfrm>
            <a:off x="6675120" y="2157984"/>
            <a:ext cx="4663440" cy="329184"/>
          </a:xfrm>
          <a:prstGeom prst="rect">
            <a:avLst/>
          </a:prstGeom>
          <a:noFill/>
          <a:ln/>
        </p:spPr>
        <p:txBody>
          <a:bodyPr wrap="square" lIns="0" tIns="0" rIns="0" bIns="0" rtlCol="0" anchor="ctr"/>
          <a:lstStyle/>
          <a:p>
            <a:pPr indent="0" marL="0">
              <a:buNone/>
            </a:pPr>
            <a:r>
              <a:rPr lang="en-US" sz="1350" i="1" dirty="0">
                <a:solidFill>
                  <a:srgbClr val="1B2440"/>
                </a:solidFill>
                <a:latin typeface="Calibri" pitchFamily="34" charset="0"/>
                <a:ea typeface="Calibri" pitchFamily="34" charset="-122"/>
                <a:cs typeface="Calibri" pitchFamily="34" charset="-120"/>
              </a:rPr>
              <a:t>"Most big models were under-trained"</a:t>
            </a:r>
            <a:endParaRPr lang="en-US" sz="1350" dirty="0"/>
          </a:p>
        </p:txBody>
      </p:sp>
      <p:sp>
        <p:nvSpPr>
          <p:cNvPr id="17" name="Text 15"/>
          <p:cNvSpPr/>
          <p:nvPr/>
        </p:nvSpPr>
        <p:spPr>
          <a:xfrm>
            <a:off x="6693408" y="2606040"/>
            <a:ext cx="4663440" cy="160020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Over 400 runs → model size and tokens should scale equally</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Compute-optimal ratio ≈ 20 training tokens per parameter</a:t>
            </a:r>
            <a:endParaRPr lang="en-US" sz="1260" dirty="0"/>
          </a:p>
          <a:p>
            <a:pPr marL="177800" indent="-177800">
              <a:lnSpc>
                <a:spcPct val="104000"/>
              </a:lnSpc>
              <a:spcAft>
                <a:spcPts val="700"/>
              </a:spcAft>
              <a:buSzPct val="100000"/>
              <a:buChar char="•"/>
            </a:pPr>
            <a:r>
              <a:rPr lang="en-US" sz="1260" dirty="0">
                <a:solidFill>
                  <a:srgbClr val="1B2440"/>
                </a:solidFill>
                <a:latin typeface="Calibri" pitchFamily="34" charset="0"/>
                <a:ea typeface="Calibri" pitchFamily="34" charset="-122"/>
                <a:cs typeface="Calibri" pitchFamily="34" charset="-120"/>
              </a:rPr>
              <a:t>Chinchilla 70B beat Gopher 280B at equal compute</a:t>
            </a:r>
            <a:endParaRPr lang="en-US" sz="1260" dirty="0"/>
          </a:p>
        </p:txBody>
      </p:sp>
      <p:sp>
        <p:nvSpPr>
          <p:cNvPr id="18" name="Shape 16"/>
          <p:cNvSpPr/>
          <p:nvPr/>
        </p:nvSpPr>
        <p:spPr>
          <a:xfrm>
            <a:off x="6675120" y="4297680"/>
            <a:ext cx="4663440" cy="1463040"/>
          </a:xfrm>
          <a:prstGeom prst="roundRect">
            <a:avLst>
              <a:gd name="adj" fmla="val 6250"/>
            </a:avLst>
          </a:prstGeom>
          <a:solidFill>
            <a:srgbClr val="FFFFFF"/>
          </a:solidFill>
          <a:ln w="15875">
            <a:solidFill>
              <a:srgbClr val="5B4BE0"/>
            </a:solidFill>
            <a:prstDash val="solid"/>
          </a:ln>
        </p:spPr>
      </p:sp>
      <p:sp>
        <p:nvSpPr>
          <p:cNvPr id="19" name="Text 17"/>
          <p:cNvSpPr/>
          <p:nvPr/>
        </p:nvSpPr>
        <p:spPr>
          <a:xfrm>
            <a:off x="6675120" y="4370832"/>
            <a:ext cx="4663440" cy="777240"/>
          </a:xfrm>
          <a:prstGeom prst="rect">
            <a:avLst/>
          </a:prstGeom>
          <a:noFill/>
          <a:ln/>
        </p:spPr>
        <p:txBody>
          <a:bodyPr wrap="square" lIns="0" tIns="0" rIns="0" bIns="0" rtlCol="0" anchor="ctr"/>
          <a:lstStyle/>
          <a:p>
            <a:pPr algn="ctr" indent="0" marL="0">
              <a:buNone/>
            </a:pPr>
            <a:r>
              <a:rPr lang="en-US" sz="4000" b="1" dirty="0">
                <a:solidFill>
                  <a:srgbClr val="5B4BE0"/>
                </a:solidFill>
                <a:latin typeface="Cambria" pitchFamily="34" charset="0"/>
                <a:ea typeface="Cambria" pitchFamily="34" charset="-122"/>
                <a:cs typeface="Cambria" pitchFamily="34" charset="-120"/>
              </a:rPr>
              <a:t>20 : 1</a:t>
            </a:r>
            <a:endParaRPr lang="en-US" sz="4000" dirty="0"/>
          </a:p>
        </p:txBody>
      </p:sp>
      <p:sp>
        <p:nvSpPr>
          <p:cNvPr id="20" name="Text 18"/>
          <p:cNvSpPr/>
          <p:nvPr/>
        </p:nvSpPr>
        <p:spPr>
          <a:xfrm>
            <a:off x="6812280" y="5138928"/>
            <a:ext cx="4389120" cy="566928"/>
          </a:xfrm>
          <a:prstGeom prst="rect">
            <a:avLst/>
          </a:prstGeom>
          <a:noFill/>
          <a:ln/>
        </p:spPr>
        <p:txBody>
          <a:bodyPr wrap="square" lIns="0" tIns="0" rIns="0" bIns="0" rtlCol="0" anchor="ctr"/>
          <a:lstStyle/>
          <a:p>
            <a:pPr algn="ctr" indent="0" marL="0">
              <a:lnSpc>
                <a:spcPct val="108000"/>
              </a:lnSpc>
              <a:buNone/>
            </a:pPr>
            <a:r>
              <a:rPr lang="en-US" sz="1100" dirty="0">
                <a:solidFill>
                  <a:srgbClr val="5A6685"/>
                </a:solidFill>
                <a:latin typeface="Calibri" pitchFamily="34" charset="0"/>
                <a:ea typeface="Calibri" pitchFamily="34" charset="-122"/>
                <a:cs typeface="Calibri" pitchFamily="34" charset="-120"/>
              </a:rPr>
              <a:t>tokens : parameters  —  the rule of thumb that reshaped how every lab budgets training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2022 · THE ALIGNMENT STEP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RLHF &amp; ChatGPT: from predictor to assistant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Ouyang et al., 'Training language models to follow instructions' (InstructGPT), arXiv:2203.02155 · OpenAI, ChatGPT (Nov 2022)</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66928" y="1481328"/>
            <a:ext cx="10972800" cy="310896"/>
          </a:xfrm>
          <a:prstGeom prst="rect">
            <a:avLst/>
          </a:prstGeom>
          <a:noFill/>
          <a:ln/>
        </p:spPr>
        <p:txBody>
          <a:bodyPr wrap="square" lIns="0" tIns="0" rIns="0" bIns="0" rtlCol="0" anchor="ctr"/>
          <a:lstStyle/>
          <a:p>
            <a:pPr indent="0" marL="0">
              <a:buNone/>
            </a:pPr>
            <a:r>
              <a:rPr lang="en-US" sz="1300" dirty="0">
                <a:solidFill>
                  <a:srgbClr val="5A6685"/>
                </a:solidFill>
                <a:latin typeface="Calibri" pitchFamily="34" charset="0"/>
                <a:ea typeface="Calibri" pitchFamily="34" charset="-122"/>
                <a:cs typeface="Calibri" pitchFamily="34" charset="-120"/>
              </a:rPr>
              <a:t>A raw language model predicts plausible text — not necessarily helpful, honest, or safe text. RLHF closes that gap.</a:t>
            </a:r>
            <a:endParaRPr lang="en-US" sz="1300" dirty="0"/>
          </a:p>
        </p:txBody>
      </p:sp>
      <p:sp>
        <p:nvSpPr>
          <p:cNvPr id="7" name="Shape 5"/>
          <p:cNvSpPr/>
          <p:nvPr/>
        </p:nvSpPr>
        <p:spPr>
          <a:xfrm>
            <a:off x="566928"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1417320" y="2313432"/>
            <a:ext cx="914400" cy="914400"/>
          </a:xfrm>
          <a:prstGeom prst="ellipse">
            <a:avLst/>
          </a:prstGeom>
          <a:solidFill>
            <a:srgbClr val="EEECFB"/>
          </a:solidFill>
          <a:ln/>
        </p:spPr>
      </p:sp>
      <p:pic>
        <p:nvPicPr>
          <p:cNvPr id="9" name="Image 0" descr="preencoded.png">    </p:cNvPr>
          <p:cNvPicPr>
            <a:picLocks noChangeAspect="1"/>
          </p:cNvPicPr>
          <p:nvPr/>
        </p:nvPicPr>
        <p:blipFill>
          <a:blip r:embed="rId1"/>
          <a:stretch>
            <a:fillRect/>
          </a:stretch>
        </p:blipFill>
        <p:spPr>
          <a:xfrm>
            <a:off x="1645920" y="2542032"/>
            <a:ext cx="457200" cy="457200"/>
          </a:xfrm>
          <a:prstGeom prst="rect">
            <a:avLst/>
          </a:prstGeom>
        </p:spPr>
      </p:pic>
      <p:sp>
        <p:nvSpPr>
          <p:cNvPr id="10" name="Text 7"/>
          <p:cNvSpPr/>
          <p:nvPr/>
        </p:nvSpPr>
        <p:spPr>
          <a:xfrm>
            <a:off x="749808" y="2240280"/>
            <a:ext cx="548640" cy="36576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1</a:t>
            </a:r>
            <a:endParaRPr lang="en-US" sz="1600" dirty="0"/>
          </a:p>
        </p:txBody>
      </p:sp>
      <p:sp>
        <p:nvSpPr>
          <p:cNvPr id="11" name="Text 8"/>
          <p:cNvSpPr/>
          <p:nvPr/>
        </p:nvSpPr>
        <p:spPr>
          <a:xfrm>
            <a:off x="731520"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Pre-training</a:t>
            </a:r>
            <a:endParaRPr lang="en-US" sz="1400" dirty="0"/>
          </a:p>
        </p:txBody>
      </p:sp>
      <p:sp>
        <p:nvSpPr>
          <p:cNvPr id="12" name="Text 9"/>
          <p:cNvSpPr/>
          <p:nvPr/>
        </p:nvSpPr>
        <p:spPr>
          <a:xfrm>
            <a:off x="768096"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Learn language from trillions of tokens (next-token prediction)</a:t>
            </a:r>
            <a:endParaRPr lang="en-US" sz="1130" dirty="0"/>
          </a:p>
        </p:txBody>
      </p:sp>
      <p:sp>
        <p:nvSpPr>
          <p:cNvPr id="13" name="Shape 10"/>
          <p:cNvSpPr/>
          <p:nvPr/>
        </p:nvSpPr>
        <p:spPr>
          <a:xfrm>
            <a:off x="3191256" y="3406140"/>
            <a:ext cx="146304" cy="0"/>
          </a:xfrm>
          <a:prstGeom prst="line">
            <a:avLst/>
          </a:prstGeom>
          <a:noFill/>
          <a:ln w="22225">
            <a:solidFill>
              <a:srgbClr val="8A93AB"/>
            </a:solidFill>
            <a:prstDash val="solid"/>
            <a:tailEnd type="triangle"/>
          </a:ln>
        </p:spPr>
      </p:sp>
      <p:sp>
        <p:nvSpPr>
          <p:cNvPr id="14" name="Shape 11"/>
          <p:cNvSpPr/>
          <p:nvPr/>
        </p:nvSpPr>
        <p:spPr>
          <a:xfrm>
            <a:off x="3346704"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5" name="Shape 12"/>
          <p:cNvSpPr/>
          <p:nvPr/>
        </p:nvSpPr>
        <p:spPr>
          <a:xfrm>
            <a:off x="4197096" y="2313432"/>
            <a:ext cx="914400" cy="914400"/>
          </a:xfrm>
          <a:prstGeom prst="ellipse">
            <a:avLst/>
          </a:prstGeom>
          <a:solidFill>
            <a:srgbClr val="E2F4F2"/>
          </a:solidFill>
          <a:ln/>
        </p:spPr>
      </p:sp>
      <p:pic>
        <p:nvPicPr>
          <p:cNvPr id="16" name="Image 1" descr="preencoded.png">    </p:cNvPr>
          <p:cNvPicPr>
            <a:picLocks noChangeAspect="1"/>
          </p:cNvPicPr>
          <p:nvPr/>
        </p:nvPicPr>
        <p:blipFill>
          <a:blip r:embed="rId2"/>
          <a:stretch>
            <a:fillRect/>
          </a:stretch>
        </p:blipFill>
        <p:spPr>
          <a:xfrm>
            <a:off x="4425696" y="2542032"/>
            <a:ext cx="457200" cy="457200"/>
          </a:xfrm>
          <a:prstGeom prst="rect">
            <a:avLst/>
          </a:prstGeom>
        </p:spPr>
      </p:pic>
      <p:sp>
        <p:nvSpPr>
          <p:cNvPr id="17" name="Text 13"/>
          <p:cNvSpPr/>
          <p:nvPr/>
        </p:nvSpPr>
        <p:spPr>
          <a:xfrm>
            <a:off x="3529584" y="2240280"/>
            <a:ext cx="548640" cy="365760"/>
          </a:xfrm>
          <a:prstGeom prst="rect">
            <a:avLst/>
          </a:prstGeom>
          <a:noFill/>
          <a:ln/>
        </p:spPr>
        <p:txBody>
          <a:bodyPr wrap="square" lIns="0" tIns="0" rIns="0" bIns="0" rtlCol="0" anchor="ctr"/>
          <a:lstStyle/>
          <a:p>
            <a:pPr indent="0" marL="0">
              <a:buNone/>
            </a:pPr>
            <a:r>
              <a:rPr lang="en-US" sz="1600" b="1" dirty="0">
                <a:solidFill>
                  <a:srgbClr val="0E9E96"/>
                </a:solidFill>
                <a:latin typeface="Cambria" pitchFamily="34" charset="0"/>
                <a:ea typeface="Cambria" pitchFamily="34" charset="-122"/>
                <a:cs typeface="Cambria" pitchFamily="34" charset="-120"/>
              </a:rPr>
              <a:t>2</a:t>
            </a:r>
            <a:endParaRPr lang="en-US" sz="1600" dirty="0"/>
          </a:p>
        </p:txBody>
      </p:sp>
      <p:sp>
        <p:nvSpPr>
          <p:cNvPr id="18" name="Text 14"/>
          <p:cNvSpPr/>
          <p:nvPr/>
        </p:nvSpPr>
        <p:spPr>
          <a:xfrm>
            <a:off x="3511296"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Supervised fine-tuning</a:t>
            </a:r>
            <a:endParaRPr lang="en-US" sz="1400" dirty="0"/>
          </a:p>
        </p:txBody>
      </p:sp>
      <p:sp>
        <p:nvSpPr>
          <p:cNvPr id="19" name="Text 15"/>
          <p:cNvSpPr/>
          <p:nvPr/>
        </p:nvSpPr>
        <p:spPr>
          <a:xfrm>
            <a:off x="3547872"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Humans write ideal answers; model imitates the desired style</a:t>
            </a:r>
            <a:endParaRPr lang="en-US" sz="1130" dirty="0"/>
          </a:p>
        </p:txBody>
      </p:sp>
      <p:sp>
        <p:nvSpPr>
          <p:cNvPr id="20" name="Shape 16"/>
          <p:cNvSpPr/>
          <p:nvPr/>
        </p:nvSpPr>
        <p:spPr>
          <a:xfrm>
            <a:off x="5971032" y="3406140"/>
            <a:ext cx="146304" cy="0"/>
          </a:xfrm>
          <a:prstGeom prst="line">
            <a:avLst/>
          </a:prstGeom>
          <a:noFill/>
          <a:ln w="22225">
            <a:solidFill>
              <a:srgbClr val="8A93AB"/>
            </a:solidFill>
            <a:prstDash val="solid"/>
            <a:tailEnd type="triangle"/>
          </a:ln>
        </p:spPr>
      </p:sp>
      <p:sp>
        <p:nvSpPr>
          <p:cNvPr id="21" name="Shape 17"/>
          <p:cNvSpPr/>
          <p:nvPr/>
        </p:nvSpPr>
        <p:spPr>
          <a:xfrm>
            <a:off x="6126480"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8"/>
          <p:cNvSpPr/>
          <p:nvPr/>
        </p:nvSpPr>
        <p:spPr>
          <a:xfrm>
            <a:off x="6976872" y="2313432"/>
            <a:ext cx="914400" cy="914400"/>
          </a:xfrm>
          <a:prstGeom prst="ellipse">
            <a:avLst/>
          </a:prstGeom>
          <a:solidFill>
            <a:srgbClr val="FBEFD8"/>
          </a:solidFill>
          <a:ln/>
        </p:spPr>
      </p:sp>
      <p:pic>
        <p:nvPicPr>
          <p:cNvPr id="23" name="Image 2" descr="preencoded.png">    </p:cNvPr>
          <p:cNvPicPr>
            <a:picLocks noChangeAspect="1"/>
          </p:cNvPicPr>
          <p:nvPr/>
        </p:nvPicPr>
        <p:blipFill>
          <a:blip r:embed="rId3"/>
          <a:stretch>
            <a:fillRect/>
          </a:stretch>
        </p:blipFill>
        <p:spPr>
          <a:xfrm>
            <a:off x="7205472" y="2542032"/>
            <a:ext cx="457200" cy="457200"/>
          </a:xfrm>
          <a:prstGeom prst="rect">
            <a:avLst/>
          </a:prstGeom>
        </p:spPr>
      </p:pic>
      <p:sp>
        <p:nvSpPr>
          <p:cNvPr id="24" name="Text 19"/>
          <p:cNvSpPr/>
          <p:nvPr/>
        </p:nvSpPr>
        <p:spPr>
          <a:xfrm>
            <a:off x="6309360" y="2240280"/>
            <a:ext cx="548640" cy="365760"/>
          </a:xfrm>
          <a:prstGeom prst="rect">
            <a:avLst/>
          </a:prstGeom>
          <a:noFill/>
          <a:ln/>
        </p:spPr>
        <p:txBody>
          <a:bodyPr wrap="square" lIns="0" tIns="0" rIns="0" bIns="0" rtlCol="0" anchor="ctr"/>
          <a:lstStyle/>
          <a:p>
            <a:pPr indent="0" marL="0">
              <a:buNone/>
            </a:pPr>
            <a:r>
              <a:rPr lang="en-US" sz="1600" b="1" dirty="0">
                <a:solidFill>
                  <a:srgbClr val="D9820A"/>
                </a:solidFill>
                <a:latin typeface="Cambria" pitchFamily="34" charset="0"/>
                <a:ea typeface="Cambria" pitchFamily="34" charset="-122"/>
                <a:cs typeface="Cambria" pitchFamily="34" charset="-120"/>
              </a:rPr>
              <a:t>3</a:t>
            </a:r>
            <a:endParaRPr lang="en-US" sz="1600" dirty="0"/>
          </a:p>
        </p:txBody>
      </p:sp>
      <p:sp>
        <p:nvSpPr>
          <p:cNvPr id="25" name="Text 20"/>
          <p:cNvSpPr/>
          <p:nvPr/>
        </p:nvSpPr>
        <p:spPr>
          <a:xfrm>
            <a:off x="6291072"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Reward model</a:t>
            </a:r>
            <a:endParaRPr lang="en-US" sz="1400" dirty="0"/>
          </a:p>
        </p:txBody>
      </p:sp>
      <p:sp>
        <p:nvSpPr>
          <p:cNvPr id="26" name="Text 21"/>
          <p:cNvSpPr/>
          <p:nvPr/>
        </p:nvSpPr>
        <p:spPr>
          <a:xfrm>
            <a:off x="6327648"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Humans rank outputs; train a model to predict their preferences</a:t>
            </a:r>
            <a:endParaRPr lang="en-US" sz="1130" dirty="0"/>
          </a:p>
        </p:txBody>
      </p:sp>
      <p:sp>
        <p:nvSpPr>
          <p:cNvPr id="27" name="Shape 22"/>
          <p:cNvSpPr/>
          <p:nvPr/>
        </p:nvSpPr>
        <p:spPr>
          <a:xfrm>
            <a:off x="8750808" y="3406140"/>
            <a:ext cx="146304" cy="0"/>
          </a:xfrm>
          <a:prstGeom prst="line">
            <a:avLst/>
          </a:prstGeom>
          <a:noFill/>
          <a:ln w="22225">
            <a:solidFill>
              <a:srgbClr val="8A93AB"/>
            </a:solidFill>
            <a:prstDash val="solid"/>
            <a:tailEnd type="triangle"/>
          </a:ln>
        </p:spPr>
      </p:sp>
      <p:sp>
        <p:nvSpPr>
          <p:cNvPr id="28" name="Shape 23"/>
          <p:cNvSpPr/>
          <p:nvPr/>
        </p:nvSpPr>
        <p:spPr>
          <a:xfrm>
            <a:off x="8906256" y="2057400"/>
            <a:ext cx="2615184" cy="2697480"/>
          </a:xfrm>
          <a:prstGeom prst="roundRect">
            <a:avLst>
              <a:gd name="adj" fmla="val 34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9" name="Shape 24"/>
          <p:cNvSpPr/>
          <p:nvPr/>
        </p:nvSpPr>
        <p:spPr>
          <a:xfrm>
            <a:off x="9756648" y="2313432"/>
            <a:ext cx="914400" cy="914400"/>
          </a:xfrm>
          <a:prstGeom prst="ellipse">
            <a:avLst/>
          </a:prstGeom>
          <a:solidFill>
            <a:srgbClr val="E3F4EA"/>
          </a:solidFill>
          <a:ln/>
        </p:spPr>
      </p:sp>
      <p:pic>
        <p:nvPicPr>
          <p:cNvPr id="30" name="Image 3" descr="preencoded.png">    </p:cNvPr>
          <p:cNvPicPr>
            <a:picLocks noChangeAspect="1"/>
          </p:cNvPicPr>
          <p:nvPr/>
        </p:nvPicPr>
        <p:blipFill>
          <a:blip r:embed="rId4"/>
          <a:stretch>
            <a:fillRect/>
          </a:stretch>
        </p:blipFill>
        <p:spPr>
          <a:xfrm>
            <a:off x="9985248" y="2542032"/>
            <a:ext cx="457200" cy="457200"/>
          </a:xfrm>
          <a:prstGeom prst="rect">
            <a:avLst/>
          </a:prstGeom>
        </p:spPr>
      </p:pic>
      <p:sp>
        <p:nvSpPr>
          <p:cNvPr id="31" name="Text 25"/>
          <p:cNvSpPr/>
          <p:nvPr/>
        </p:nvSpPr>
        <p:spPr>
          <a:xfrm>
            <a:off x="9089136" y="2240280"/>
            <a:ext cx="548640" cy="365760"/>
          </a:xfrm>
          <a:prstGeom prst="rect">
            <a:avLst/>
          </a:prstGeom>
          <a:noFill/>
          <a:ln/>
        </p:spPr>
        <p:txBody>
          <a:bodyPr wrap="square" lIns="0" tIns="0" rIns="0" bIns="0" rtlCol="0" anchor="ctr"/>
          <a:lstStyle/>
          <a:p>
            <a:pPr indent="0" marL="0">
              <a:buNone/>
            </a:pPr>
            <a:r>
              <a:rPr lang="en-US" sz="1600" b="1" dirty="0">
                <a:solidFill>
                  <a:srgbClr val="1B9C5A"/>
                </a:solidFill>
                <a:latin typeface="Cambria" pitchFamily="34" charset="0"/>
                <a:ea typeface="Cambria" pitchFamily="34" charset="-122"/>
                <a:cs typeface="Cambria" pitchFamily="34" charset="-120"/>
              </a:rPr>
              <a:t>4</a:t>
            </a:r>
            <a:endParaRPr lang="en-US" sz="1600" dirty="0"/>
          </a:p>
        </p:txBody>
      </p:sp>
      <p:sp>
        <p:nvSpPr>
          <p:cNvPr id="32" name="Text 26"/>
          <p:cNvSpPr/>
          <p:nvPr/>
        </p:nvSpPr>
        <p:spPr>
          <a:xfrm>
            <a:off x="9070848" y="3355848"/>
            <a:ext cx="2286000" cy="566928"/>
          </a:xfrm>
          <a:prstGeom prst="rect">
            <a:avLst/>
          </a:prstGeom>
          <a:noFill/>
          <a:ln/>
        </p:spPr>
        <p:txBody>
          <a:bodyPr wrap="square" lIns="0" tIns="0" rIns="0" bIns="0" rtlCol="0" anchor="ctr"/>
          <a:lstStyle/>
          <a:p>
            <a:pPr algn="ctr" indent="0" marL="0">
              <a:lnSpc>
                <a:spcPct val="100000"/>
              </a:lnSpc>
              <a:buNone/>
            </a:pPr>
            <a:r>
              <a:rPr lang="en-US" sz="1400" b="1" dirty="0">
                <a:solidFill>
                  <a:srgbClr val="1B2440"/>
                </a:solidFill>
                <a:latin typeface="Calibri" pitchFamily="34" charset="0"/>
                <a:ea typeface="Calibri" pitchFamily="34" charset="-122"/>
                <a:cs typeface="Calibri" pitchFamily="34" charset="-120"/>
              </a:rPr>
              <a:t>RL optimisation</a:t>
            </a:r>
            <a:endParaRPr lang="en-US" sz="1400" dirty="0"/>
          </a:p>
        </p:txBody>
      </p:sp>
      <p:sp>
        <p:nvSpPr>
          <p:cNvPr id="33" name="Text 27"/>
          <p:cNvSpPr/>
          <p:nvPr/>
        </p:nvSpPr>
        <p:spPr>
          <a:xfrm>
            <a:off x="9107424" y="3931920"/>
            <a:ext cx="2212848" cy="777240"/>
          </a:xfrm>
          <a:prstGeom prst="rect">
            <a:avLst/>
          </a:prstGeom>
          <a:noFill/>
          <a:ln/>
        </p:spPr>
        <p:txBody>
          <a:bodyPr wrap="square" lIns="0" tIns="0" rIns="0" bIns="0" rtlCol="0" anchor="ctr"/>
          <a:lstStyle/>
          <a:p>
            <a:pPr algn="ctr" indent="0" marL="0">
              <a:lnSpc>
                <a:spcPct val="110000"/>
              </a:lnSpc>
              <a:buNone/>
            </a:pPr>
            <a:r>
              <a:rPr lang="en-US" sz="1130" dirty="0">
                <a:solidFill>
                  <a:srgbClr val="5A6685"/>
                </a:solidFill>
                <a:latin typeface="Calibri" pitchFamily="34" charset="0"/>
                <a:ea typeface="Calibri" pitchFamily="34" charset="-122"/>
                <a:cs typeface="Calibri" pitchFamily="34" charset="-120"/>
              </a:rPr>
              <a:t>Policy is optimised (PPO) against the reward model</a:t>
            </a:r>
            <a:endParaRPr lang="en-US" sz="1130" dirty="0"/>
          </a:p>
        </p:txBody>
      </p:sp>
      <p:sp>
        <p:nvSpPr>
          <p:cNvPr id="34" name="Shape 28"/>
          <p:cNvSpPr/>
          <p:nvPr/>
        </p:nvSpPr>
        <p:spPr>
          <a:xfrm>
            <a:off x="566928" y="5029200"/>
            <a:ext cx="11045952" cy="960120"/>
          </a:xfrm>
          <a:prstGeom prst="roundRect">
            <a:avLst>
              <a:gd name="adj" fmla="val 9524"/>
            </a:avLst>
          </a:prstGeom>
          <a:solidFill>
            <a:srgbClr val="16213E"/>
          </a:solidFill>
          <a:ln/>
          <a:effectLst>
            <a:outerShdw sx="100000" sy="100000" kx="0" ky="0" algn="bl" rotWithShape="0" blurRad="114300" dist="38100" dir="5400000">
              <a:srgbClr val="9AA2BC">
                <a:alpha val="16000"/>
              </a:srgbClr>
            </a:outerShdw>
          </a:effectLst>
        </p:spPr>
      </p:sp>
      <p:sp>
        <p:nvSpPr>
          <p:cNvPr id="35" name="Shape 29"/>
          <p:cNvSpPr/>
          <p:nvPr/>
        </p:nvSpPr>
        <p:spPr>
          <a:xfrm>
            <a:off x="841248" y="5166360"/>
            <a:ext cx="658368" cy="658368"/>
          </a:xfrm>
          <a:prstGeom prst="ellipse">
            <a:avLst/>
          </a:prstGeom>
          <a:solidFill>
            <a:srgbClr val="5B4BE0"/>
          </a:solidFill>
          <a:ln/>
        </p:spPr>
      </p:sp>
      <p:pic>
        <p:nvPicPr>
          <p:cNvPr id="36" name="Image 4" descr="preencoded.png">    </p:cNvPr>
          <p:cNvPicPr>
            <a:picLocks noChangeAspect="1"/>
          </p:cNvPicPr>
          <p:nvPr/>
        </p:nvPicPr>
        <p:blipFill>
          <a:blip r:embed="rId5"/>
          <a:stretch>
            <a:fillRect/>
          </a:stretch>
        </p:blipFill>
        <p:spPr>
          <a:xfrm>
            <a:off x="1005840" y="5330952"/>
            <a:ext cx="329184" cy="329184"/>
          </a:xfrm>
          <a:prstGeom prst="rect">
            <a:avLst/>
          </a:prstGeom>
        </p:spPr>
      </p:pic>
      <p:sp>
        <p:nvSpPr>
          <p:cNvPr id="37" name="Text 30"/>
          <p:cNvSpPr/>
          <p:nvPr/>
        </p:nvSpPr>
        <p:spPr>
          <a:xfrm>
            <a:off x="1709928" y="5138928"/>
            <a:ext cx="10607040" cy="777240"/>
          </a:xfrm>
          <a:prstGeom prst="rect">
            <a:avLst/>
          </a:prstGeom>
          <a:noFill/>
          <a:ln/>
        </p:spPr>
        <p:txBody>
          <a:bodyPr wrap="square" lIns="0" tIns="0" rIns="0" bIns="0" rtlCol="0" anchor="ctr"/>
          <a:lstStyle/>
          <a:p>
            <a:pPr indent="0" marL="0">
              <a:lnSpc>
                <a:spcPct val="112000"/>
              </a:lnSpc>
              <a:buNone/>
            </a:pPr>
            <a:r>
              <a:rPr lang="en-US" sz="1260" b="1" dirty="0">
                <a:solidFill>
                  <a:srgbClr val="7C6FF0"/>
                </a:solidFill>
                <a:latin typeface="Calibri" pitchFamily="34" charset="0"/>
                <a:ea typeface="Calibri" pitchFamily="34" charset="-122"/>
                <a:cs typeface="Calibri" pitchFamily="34" charset="-120"/>
              </a:rPr>
              <a:t>The ChatGPT moment (Nov 2022):  </a:t>
            </a:r>
            <a:pPr indent="0" marL="0">
              <a:lnSpc>
                <a:spcPct val="112000"/>
              </a:lnSpc>
              <a:buNone/>
            </a:pPr>
            <a:r>
              <a:rPr lang="en-US" sz="1260" dirty="0">
                <a:solidFill>
                  <a:srgbClr val="D8DCEC"/>
                </a:solidFill>
                <a:latin typeface="Calibri" pitchFamily="34" charset="0"/>
                <a:ea typeface="Calibri" pitchFamily="34" charset="-122"/>
                <a:cs typeface="Calibri" pitchFamily="34" charset="-120"/>
              </a:rPr>
              <a:t>this recipe — applied on top of GPT-3.5 — produced a model people could simply talk to. It reached 100M users in ~2 months, the fastest-growing consumer app in history, and put LLMs in front of the whole world.</a:t>
            </a:r>
            <a:endParaRPr lang="en-US" sz="12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4</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4</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Architectural Innovations</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The vanilla 2017 Transformer is expensive: attention is quadratic, the KV cache eats memory, positions don't extrapolate, and dense models waste compute. These four ideas — RoPE, GQA, FlashAttention and MoE — are why 2024-era models are fast, long-context and affordable.</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WHAT NEEDED FIXING</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Four bottlenecks of the vanilla Transformer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Dao et al., FlashAttention (arXiv:2205.14135) · Shazeer, MQA (arXiv:1911.02150) · Su et al., RoFormer (arXiv:2104.09864)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6692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1403604" y="1965960"/>
            <a:ext cx="1005840" cy="1005840"/>
          </a:xfrm>
          <a:prstGeom prst="ellipse">
            <a:avLst/>
          </a:prstGeom>
          <a:solidFill>
            <a:srgbClr val="FBE7E7"/>
          </a:solidFill>
          <a:ln/>
        </p:spPr>
      </p:sp>
      <p:pic>
        <p:nvPicPr>
          <p:cNvPr id="8" name="Image 0" descr="preencoded.png">    </p:cNvPr>
          <p:cNvPicPr>
            <a:picLocks noChangeAspect="1"/>
          </p:cNvPicPr>
          <p:nvPr/>
        </p:nvPicPr>
        <p:blipFill>
          <a:blip r:embed="rId1"/>
          <a:stretch>
            <a:fillRect/>
          </a:stretch>
        </p:blipFill>
        <p:spPr>
          <a:xfrm>
            <a:off x="1655064" y="2217420"/>
            <a:ext cx="502920" cy="502920"/>
          </a:xfrm>
          <a:prstGeom prst="rect">
            <a:avLst/>
          </a:prstGeom>
        </p:spPr>
      </p:pic>
      <p:sp>
        <p:nvSpPr>
          <p:cNvPr id="9" name="Text 6"/>
          <p:cNvSpPr/>
          <p:nvPr/>
        </p:nvSpPr>
        <p:spPr>
          <a:xfrm>
            <a:off x="73152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Quadratic attention</a:t>
            </a:r>
            <a:endParaRPr lang="en-US" sz="1500" dirty="0"/>
          </a:p>
        </p:txBody>
      </p:sp>
      <p:sp>
        <p:nvSpPr>
          <p:cNvPr id="10" name="Text 7"/>
          <p:cNvSpPr/>
          <p:nvPr/>
        </p:nvSpPr>
        <p:spPr>
          <a:xfrm>
            <a:off x="76809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Attention cost grows with the square of sequence length — doubling context ≈ 4× the work and memory.</a:t>
            </a:r>
            <a:endParaRPr lang="en-US" sz="1150" dirty="0"/>
          </a:p>
        </p:txBody>
      </p:sp>
      <p:sp>
        <p:nvSpPr>
          <p:cNvPr id="11" name="Shape 8"/>
          <p:cNvSpPr/>
          <p:nvPr/>
        </p:nvSpPr>
        <p:spPr>
          <a:xfrm>
            <a:off x="841248" y="5193792"/>
            <a:ext cx="2130552" cy="411480"/>
          </a:xfrm>
          <a:prstGeom prst="roundRect">
            <a:avLst>
              <a:gd name="adj" fmla="val 48889"/>
            </a:avLst>
          </a:prstGeom>
          <a:solidFill>
            <a:srgbClr val="FBE7E7"/>
          </a:solidFill>
          <a:ln/>
        </p:spPr>
      </p:sp>
      <p:sp>
        <p:nvSpPr>
          <p:cNvPr id="12" name="Text 9"/>
          <p:cNvSpPr/>
          <p:nvPr/>
        </p:nvSpPr>
        <p:spPr>
          <a:xfrm>
            <a:off x="841248" y="5193792"/>
            <a:ext cx="2130552" cy="411480"/>
          </a:xfrm>
          <a:prstGeom prst="rect">
            <a:avLst/>
          </a:prstGeom>
          <a:noFill/>
          <a:ln/>
        </p:spPr>
        <p:txBody>
          <a:bodyPr wrap="square" lIns="0" tIns="0" rIns="0" bIns="0" rtlCol="0" anchor="ctr"/>
          <a:lstStyle/>
          <a:p>
            <a:pPr algn="ctr" indent="0" marL="0">
              <a:buNone/>
            </a:pPr>
            <a:r>
              <a:rPr lang="en-US" sz="1000" b="1" dirty="0">
                <a:solidFill>
                  <a:srgbClr val="E5484D"/>
                </a:solidFill>
                <a:latin typeface="Calibri" pitchFamily="34" charset="0"/>
                <a:ea typeface="Calibri" pitchFamily="34" charset="-122"/>
                <a:cs typeface="Calibri" pitchFamily="34" charset="-120"/>
              </a:rPr>
              <a:t>RoPE-adjacent · FlashAttention</a:t>
            </a:r>
            <a:endParaRPr lang="en-US" sz="1000" dirty="0"/>
          </a:p>
        </p:txBody>
      </p:sp>
      <p:sp>
        <p:nvSpPr>
          <p:cNvPr id="13" name="Shape 10"/>
          <p:cNvSpPr/>
          <p:nvPr/>
        </p:nvSpPr>
        <p:spPr>
          <a:xfrm>
            <a:off x="340156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Shape 11"/>
          <p:cNvSpPr/>
          <p:nvPr/>
        </p:nvSpPr>
        <p:spPr>
          <a:xfrm>
            <a:off x="4238244" y="1965960"/>
            <a:ext cx="1005840" cy="1005840"/>
          </a:xfrm>
          <a:prstGeom prst="ellipse">
            <a:avLst/>
          </a:prstGeom>
          <a:solidFill>
            <a:srgbClr val="FBEFD8"/>
          </a:solidFill>
          <a:ln/>
        </p:spPr>
      </p:sp>
      <p:pic>
        <p:nvPicPr>
          <p:cNvPr id="15" name="Image 1" descr="preencoded.png">    </p:cNvPr>
          <p:cNvPicPr>
            <a:picLocks noChangeAspect="1"/>
          </p:cNvPicPr>
          <p:nvPr/>
        </p:nvPicPr>
        <p:blipFill>
          <a:blip r:embed="rId2"/>
          <a:stretch>
            <a:fillRect/>
          </a:stretch>
        </p:blipFill>
        <p:spPr>
          <a:xfrm>
            <a:off x="4489704" y="2217420"/>
            <a:ext cx="502920" cy="502920"/>
          </a:xfrm>
          <a:prstGeom prst="rect">
            <a:avLst/>
          </a:prstGeom>
        </p:spPr>
      </p:pic>
      <p:sp>
        <p:nvSpPr>
          <p:cNvPr id="16" name="Text 12"/>
          <p:cNvSpPr/>
          <p:nvPr/>
        </p:nvSpPr>
        <p:spPr>
          <a:xfrm>
            <a:off x="356616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The KV cache</a:t>
            </a:r>
            <a:endParaRPr lang="en-US" sz="1500" dirty="0"/>
          </a:p>
        </p:txBody>
      </p:sp>
      <p:sp>
        <p:nvSpPr>
          <p:cNvPr id="17" name="Text 13"/>
          <p:cNvSpPr/>
          <p:nvPr/>
        </p:nvSpPr>
        <p:spPr>
          <a:xfrm>
            <a:off x="360273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During generation, keys &amp; values for every past token are cached. At long context this dominates GPU memory.</a:t>
            </a:r>
            <a:endParaRPr lang="en-US" sz="1150" dirty="0"/>
          </a:p>
        </p:txBody>
      </p:sp>
      <p:sp>
        <p:nvSpPr>
          <p:cNvPr id="18" name="Shape 14"/>
          <p:cNvSpPr/>
          <p:nvPr/>
        </p:nvSpPr>
        <p:spPr>
          <a:xfrm>
            <a:off x="3675888" y="5193792"/>
            <a:ext cx="2130552" cy="411480"/>
          </a:xfrm>
          <a:prstGeom prst="roundRect">
            <a:avLst>
              <a:gd name="adj" fmla="val 48889"/>
            </a:avLst>
          </a:prstGeom>
          <a:solidFill>
            <a:srgbClr val="FBEFD8"/>
          </a:solidFill>
          <a:ln/>
        </p:spPr>
      </p:sp>
      <p:sp>
        <p:nvSpPr>
          <p:cNvPr id="19" name="Text 15"/>
          <p:cNvSpPr/>
          <p:nvPr/>
        </p:nvSpPr>
        <p:spPr>
          <a:xfrm>
            <a:off x="3675888" y="5193792"/>
            <a:ext cx="2130552" cy="411480"/>
          </a:xfrm>
          <a:prstGeom prst="rect">
            <a:avLst/>
          </a:prstGeom>
          <a:noFill/>
          <a:ln/>
        </p:spPr>
        <p:txBody>
          <a:bodyPr wrap="square" lIns="0" tIns="0" rIns="0" bIns="0" rtlCol="0" anchor="ctr"/>
          <a:lstStyle/>
          <a:p>
            <a:pPr algn="ctr" indent="0" marL="0">
              <a:buNone/>
            </a:pPr>
            <a:r>
              <a:rPr lang="en-US" sz="1000" b="1" dirty="0">
                <a:solidFill>
                  <a:srgbClr val="D9820A"/>
                </a:solidFill>
                <a:latin typeface="Calibri" pitchFamily="34" charset="0"/>
                <a:ea typeface="Calibri" pitchFamily="34" charset="-122"/>
                <a:cs typeface="Calibri" pitchFamily="34" charset="-120"/>
              </a:rPr>
              <a:t>MQA / GQA</a:t>
            </a:r>
            <a:endParaRPr lang="en-US" sz="1000" dirty="0"/>
          </a:p>
        </p:txBody>
      </p:sp>
      <p:sp>
        <p:nvSpPr>
          <p:cNvPr id="20" name="Shape 16"/>
          <p:cNvSpPr/>
          <p:nvPr/>
        </p:nvSpPr>
        <p:spPr>
          <a:xfrm>
            <a:off x="623620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7"/>
          <p:cNvSpPr/>
          <p:nvPr/>
        </p:nvSpPr>
        <p:spPr>
          <a:xfrm>
            <a:off x="7072884" y="1965960"/>
            <a:ext cx="1005840" cy="1005840"/>
          </a:xfrm>
          <a:prstGeom prst="ellipse">
            <a:avLst/>
          </a:prstGeom>
          <a:solidFill>
            <a:srgbClr val="EEECFB"/>
          </a:solidFill>
          <a:ln/>
        </p:spPr>
      </p:sp>
      <p:pic>
        <p:nvPicPr>
          <p:cNvPr id="22" name="Image 2" descr="preencoded.png">    </p:cNvPr>
          <p:cNvPicPr>
            <a:picLocks noChangeAspect="1"/>
          </p:cNvPicPr>
          <p:nvPr/>
        </p:nvPicPr>
        <p:blipFill>
          <a:blip r:embed="rId3"/>
          <a:stretch>
            <a:fillRect/>
          </a:stretch>
        </p:blipFill>
        <p:spPr>
          <a:xfrm>
            <a:off x="7324344" y="2217420"/>
            <a:ext cx="502920" cy="502920"/>
          </a:xfrm>
          <a:prstGeom prst="rect">
            <a:avLst/>
          </a:prstGeom>
        </p:spPr>
      </p:pic>
      <p:sp>
        <p:nvSpPr>
          <p:cNvPr id="23" name="Text 18"/>
          <p:cNvSpPr/>
          <p:nvPr/>
        </p:nvSpPr>
        <p:spPr>
          <a:xfrm>
            <a:off x="640080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Position extrapolation</a:t>
            </a:r>
            <a:endParaRPr lang="en-US" sz="1500" dirty="0"/>
          </a:p>
        </p:txBody>
      </p:sp>
      <p:sp>
        <p:nvSpPr>
          <p:cNvPr id="24" name="Text 19"/>
          <p:cNvSpPr/>
          <p:nvPr/>
        </p:nvSpPr>
        <p:spPr>
          <a:xfrm>
            <a:off x="643737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Absolute sinusoids don't generalise well beyond the training length — models break on longer inputs.</a:t>
            </a:r>
            <a:endParaRPr lang="en-US" sz="1150" dirty="0"/>
          </a:p>
        </p:txBody>
      </p:sp>
      <p:sp>
        <p:nvSpPr>
          <p:cNvPr id="25" name="Shape 20"/>
          <p:cNvSpPr/>
          <p:nvPr/>
        </p:nvSpPr>
        <p:spPr>
          <a:xfrm>
            <a:off x="6510528" y="5193792"/>
            <a:ext cx="2130552" cy="411480"/>
          </a:xfrm>
          <a:prstGeom prst="roundRect">
            <a:avLst>
              <a:gd name="adj" fmla="val 48889"/>
            </a:avLst>
          </a:prstGeom>
          <a:solidFill>
            <a:srgbClr val="EEECFB"/>
          </a:solidFill>
          <a:ln/>
        </p:spPr>
      </p:sp>
      <p:sp>
        <p:nvSpPr>
          <p:cNvPr id="26" name="Text 21"/>
          <p:cNvSpPr/>
          <p:nvPr/>
        </p:nvSpPr>
        <p:spPr>
          <a:xfrm>
            <a:off x="6510528" y="5193792"/>
            <a:ext cx="2130552" cy="411480"/>
          </a:xfrm>
          <a:prstGeom prst="rect">
            <a:avLst/>
          </a:prstGeom>
          <a:noFill/>
          <a:ln/>
        </p:spPr>
        <p:txBody>
          <a:bodyPr wrap="square" lIns="0" tIns="0" rIns="0" bIns="0" rtlCol="0" anchor="ctr"/>
          <a:lstStyle/>
          <a:p>
            <a:pPr algn="ctr" indent="0" marL="0">
              <a:buNone/>
            </a:pPr>
            <a:r>
              <a:rPr lang="en-US" sz="1000" b="1" dirty="0">
                <a:solidFill>
                  <a:srgbClr val="5B4BE0"/>
                </a:solidFill>
                <a:latin typeface="Calibri" pitchFamily="34" charset="0"/>
                <a:ea typeface="Calibri" pitchFamily="34" charset="-122"/>
                <a:cs typeface="Calibri" pitchFamily="34" charset="-120"/>
              </a:rPr>
              <a:t>RoPE</a:t>
            </a:r>
            <a:endParaRPr lang="en-US" sz="1000" dirty="0"/>
          </a:p>
        </p:txBody>
      </p:sp>
      <p:sp>
        <p:nvSpPr>
          <p:cNvPr id="27" name="Shape 22"/>
          <p:cNvSpPr/>
          <p:nvPr/>
        </p:nvSpPr>
        <p:spPr>
          <a:xfrm>
            <a:off x="9070848" y="1691640"/>
            <a:ext cx="2679192" cy="4069080"/>
          </a:xfrm>
          <a:prstGeom prst="roundRect">
            <a:avLst>
              <a:gd name="adj" fmla="val 3413"/>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3"/>
          <p:cNvSpPr/>
          <p:nvPr/>
        </p:nvSpPr>
        <p:spPr>
          <a:xfrm>
            <a:off x="9907524" y="1965960"/>
            <a:ext cx="1005840" cy="1005840"/>
          </a:xfrm>
          <a:prstGeom prst="ellipse">
            <a:avLst/>
          </a:prstGeom>
          <a:solidFill>
            <a:srgbClr val="E2F4F2"/>
          </a:solidFill>
          <a:ln/>
        </p:spPr>
      </p:sp>
      <p:pic>
        <p:nvPicPr>
          <p:cNvPr id="29" name="Image 3" descr="preencoded.png">    </p:cNvPr>
          <p:cNvPicPr>
            <a:picLocks noChangeAspect="1"/>
          </p:cNvPicPr>
          <p:nvPr/>
        </p:nvPicPr>
        <p:blipFill>
          <a:blip r:embed="rId4"/>
          <a:stretch>
            <a:fillRect/>
          </a:stretch>
        </p:blipFill>
        <p:spPr>
          <a:xfrm>
            <a:off x="10158984" y="2217420"/>
            <a:ext cx="502920" cy="502920"/>
          </a:xfrm>
          <a:prstGeom prst="rect">
            <a:avLst/>
          </a:prstGeom>
        </p:spPr>
      </p:pic>
      <p:sp>
        <p:nvSpPr>
          <p:cNvPr id="30" name="Text 24"/>
          <p:cNvSpPr/>
          <p:nvPr/>
        </p:nvSpPr>
        <p:spPr>
          <a:xfrm>
            <a:off x="9235440" y="3108960"/>
            <a:ext cx="2350008" cy="640080"/>
          </a:xfrm>
          <a:prstGeom prst="rect">
            <a:avLst/>
          </a:prstGeom>
          <a:noFill/>
          <a:ln/>
        </p:spPr>
        <p:txBody>
          <a:bodyPr wrap="square" lIns="0" tIns="0" rIns="0" bIns="0" rtlCol="0" anchor="ctr"/>
          <a:lstStyle/>
          <a:p>
            <a:pPr algn="ctr" indent="0" marL="0">
              <a:lnSpc>
                <a:spcPct val="100000"/>
              </a:lnSpc>
              <a:buNone/>
            </a:pPr>
            <a:r>
              <a:rPr lang="en-US" sz="1500" b="1" dirty="0">
                <a:solidFill>
                  <a:srgbClr val="1B2440"/>
                </a:solidFill>
                <a:latin typeface="Calibri" pitchFamily="34" charset="0"/>
                <a:ea typeface="Calibri" pitchFamily="34" charset="-122"/>
                <a:cs typeface="Calibri" pitchFamily="34" charset="-120"/>
              </a:rPr>
              <a:t>Dense compute waste</a:t>
            </a:r>
            <a:endParaRPr lang="en-US" sz="1500" dirty="0"/>
          </a:p>
        </p:txBody>
      </p:sp>
      <p:sp>
        <p:nvSpPr>
          <p:cNvPr id="31" name="Text 25"/>
          <p:cNvSpPr/>
          <p:nvPr/>
        </p:nvSpPr>
        <p:spPr>
          <a:xfrm>
            <a:off x="9272016" y="3749040"/>
            <a:ext cx="2276856" cy="1417320"/>
          </a:xfrm>
          <a:prstGeom prst="rect">
            <a:avLst/>
          </a:prstGeom>
          <a:noFill/>
          <a:ln/>
        </p:spPr>
        <p:txBody>
          <a:bodyPr wrap="square" lIns="0" tIns="0" rIns="0" bIns="0" rtlCol="0" anchor="ctr"/>
          <a:lstStyle/>
          <a:p>
            <a:pPr algn="ctr" indent="0" marL="0">
              <a:lnSpc>
                <a:spcPct val="112000"/>
              </a:lnSpc>
              <a:buNone/>
            </a:pPr>
            <a:r>
              <a:rPr lang="en-US" sz="1150" dirty="0">
                <a:solidFill>
                  <a:srgbClr val="5A6685"/>
                </a:solidFill>
                <a:latin typeface="Calibri" pitchFamily="34" charset="0"/>
                <a:ea typeface="Calibri" pitchFamily="34" charset="-122"/>
                <a:cs typeface="Calibri" pitchFamily="34" charset="-120"/>
              </a:rPr>
              <a:t>A dense model runs every parameter for every token, even when most aren't relevant — costly to scale.</a:t>
            </a:r>
            <a:endParaRPr lang="en-US" sz="1150" dirty="0"/>
          </a:p>
        </p:txBody>
      </p:sp>
      <p:sp>
        <p:nvSpPr>
          <p:cNvPr id="32" name="Shape 26"/>
          <p:cNvSpPr/>
          <p:nvPr/>
        </p:nvSpPr>
        <p:spPr>
          <a:xfrm>
            <a:off x="9345168" y="5193792"/>
            <a:ext cx="2130552" cy="411480"/>
          </a:xfrm>
          <a:prstGeom prst="roundRect">
            <a:avLst>
              <a:gd name="adj" fmla="val 48889"/>
            </a:avLst>
          </a:prstGeom>
          <a:solidFill>
            <a:srgbClr val="E2F4F2"/>
          </a:solidFill>
          <a:ln/>
        </p:spPr>
      </p:sp>
      <p:sp>
        <p:nvSpPr>
          <p:cNvPr id="33" name="Text 27"/>
          <p:cNvSpPr/>
          <p:nvPr/>
        </p:nvSpPr>
        <p:spPr>
          <a:xfrm>
            <a:off x="9345168" y="5193792"/>
            <a:ext cx="2130552" cy="411480"/>
          </a:xfrm>
          <a:prstGeom prst="rect">
            <a:avLst/>
          </a:prstGeom>
          <a:noFill/>
          <a:ln/>
        </p:spPr>
        <p:txBody>
          <a:bodyPr wrap="square" lIns="0" tIns="0" rIns="0" bIns="0" rtlCol="0" anchor="ctr"/>
          <a:lstStyle/>
          <a:p>
            <a:pPr algn="ctr" indent="0" marL="0">
              <a:buNone/>
            </a:pPr>
            <a:r>
              <a:rPr lang="en-US" sz="1000" b="1" dirty="0">
                <a:solidFill>
                  <a:srgbClr val="0E9E96"/>
                </a:solidFill>
                <a:latin typeface="Calibri" pitchFamily="34" charset="0"/>
                <a:ea typeface="Calibri" pitchFamily="34" charset="-122"/>
                <a:cs typeface="Calibri" pitchFamily="34" charset="-120"/>
              </a:rPr>
              <a:t>Mixture-of-Experts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1 · POSITIONS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RoPE — Rotary Position Embedding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Su et al., 'RoFormer: Enhanced Transformer with Rotary Position Embedding', arXiv:2104.09864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66928" y="1600200"/>
            <a:ext cx="557784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2920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Encode position by rotating, not adding</a:t>
            </a:r>
            <a:endParaRPr lang="en-US" sz="1550" dirty="0"/>
          </a:p>
        </p:txBody>
      </p:sp>
      <p:sp>
        <p:nvSpPr>
          <p:cNvPr id="8" name="Text 6"/>
          <p:cNvSpPr/>
          <p:nvPr/>
        </p:nvSpPr>
        <p:spPr>
          <a:xfrm>
            <a:off x="841248" y="2157984"/>
            <a:ext cx="5074920" cy="868680"/>
          </a:xfrm>
          <a:prstGeom prst="rect">
            <a:avLst/>
          </a:prstGeom>
          <a:noFill/>
          <a:ln/>
        </p:spPr>
        <p:txBody>
          <a:bodyPr wrap="square" lIns="0" tIns="0" rIns="0" bIns="0" rtlCol="0" anchor="ctr"/>
          <a:lstStyle/>
          <a:p>
            <a:pPr indent="0" marL="0">
              <a:lnSpc>
                <a:spcPct val="113000"/>
              </a:lnSpc>
              <a:buNone/>
            </a:pPr>
            <a:r>
              <a:rPr lang="en-US" sz="1240" dirty="0">
                <a:solidFill>
                  <a:srgbClr val="5A6685"/>
                </a:solidFill>
                <a:latin typeface="Calibri" pitchFamily="34" charset="0"/>
                <a:ea typeface="Calibri" pitchFamily="34" charset="-122"/>
                <a:cs typeface="Calibri" pitchFamily="34" charset="-120"/>
              </a:rPr>
              <a:t>Each token's query/key vector is rotated by an angle proportional to its position. The dot-product between two tokens then depends only on their relative distance.</a:t>
            </a:r>
            <a:endParaRPr lang="en-US" sz="1240" dirty="0"/>
          </a:p>
        </p:txBody>
      </p:sp>
      <p:sp>
        <p:nvSpPr>
          <p:cNvPr id="9" name="Shape 7"/>
          <p:cNvSpPr/>
          <p:nvPr/>
        </p:nvSpPr>
        <p:spPr>
          <a:xfrm>
            <a:off x="841248" y="3063240"/>
            <a:ext cx="5074920" cy="713232"/>
          </a:xfrm>
          <a:prstGeom prst="roundRect">
            <a:avLst>
              <a:gd name="adj" fmla="val 7692"/>
            </a:avLst>
          </a:prstGeom>
          <a:solidFill>
            <a:srgbClr val="16213E"/>
          </a:solidFill>
          <a:ln/>
        </p:spPr>
      </p:sp>
      <p:sp>
        <p:nvSpPr>
          <p:cNvPr id="10" name="Text 8"/>
          <p:cNvSpPr/>
          <p:nvPr/>
        </p:nvSpPr>
        <p:spPr>
          <a:xfrm>
            <a:off x="841248" y="3063240"/>
            <a:ext cx="5074920" cy="713232"/>
          </a:xfrm>
          <a:prstGeom prst="rect">
            <a:avLst/>
          </a:prstGeom>
          <a:noFill/>
          <a:ln/>
        </p:spPr>
        <p:txBody>
          <a:bodyPr wrap="square" lIns="0" tIns="0" rIns="0" bIns="0" rtlCol="0" anchor="ctr"/>
          <a:lstStyle/>
          <a:p>
            <a:pPr algn="ctr" indent="0" marL="0">
              <a:buNone/>
            </a:pPr>
            <a:r>
              <a:rPr lang="en-US" sz="1450" b="1" dirty="0">
                <a:solidFill>
                  <a:srgbClr val="FFFFFF"/>
                </a:solidFill>
                <a:latin typeface="Courier New" pitchFamily="34" charset="0"/>
                <a:ea typeface="Courier New" pitchFamily="34" charset="-122"/>
                <a:cs typeface="Courier New" pitchFamily="34" charset="-120"/>
              </a:rPr>
              <a:t>⟨ R(m)·q ,  R(n)·k ⟩  =  qᵀ · R(n−m) · k</a:t>
            </a:r>
            <a:endParaRPr lang="en-US" sz="1450" dirty="0"/>
          </a:p>
        </p:txBody>
      </p:sp>
      <p:sp>
        <p:nvSpPr>
          <p:cNvPr id="11" name="Text 9"/>
          <p:cNvSpPr/>
          <p:nvPr/>
        </p:nvSpPr>
        <p:spPr>
          <a:xfrm>
            <a:off x="841248" y="3794760"/>
            <a:ext cx="5074920" cy="274320"/>
          </a:xfrm>
          <a:prstGeom prst="rect">
            <a:avLst/>
          </a:prstGeom>
          <a:noFill/>
          <a:ln/>
        </p:spPr>
        <p:txBody>
          <a:bodyPr wrap="square" lIns="0" tIns="0" rIns="0" bIns="0" rtlCol="0" anchor="ctr"/>
          <a:lstStyle/>
          <a:p>
            <a:pPr algn="ctr" indent="0" marL="0">
              <a:buNone/>
            </a:pPr>
            <a:r>
              <a:rPr lang="en-US" sz="1050" i="1" dirty="0">
                <a:solidFill>
                  <a:srgbClr val="5B4BE0"/>
                </a:solidFill>
                <a:latin typeface="Calibri" pitchFamily="34" charset="0"/>
                <a:ea typeface="Calibri" pitchFamily="34" charset="-122"/>
                <a:cs typeface="Calibri" pitchFamily="34" charset="-120"/>
              </a:rPr>
              <a:t>the score sees only (n − m): the relative position</a:t>
            </a:r>
            <a:endParaRPr lang="en-US" sz="1050" dirty="0"/>
          </a:p>
        </p:txBody>
      </p:sp>
      <p:sp>
        <p:nvSpPr>
          <p:cNvPr id="12" name="Text 10"/>
          <p:cNvSpPr/>
          <p:nvPr/>
        </p:nvSpPr>
        <p:spPr>
          <a:xfrm>
            <a:off x="859536" y="4160520"/>
            <a:ext cx="5029200" cy="1783080"/>
          </a:xfrm>
          <a:prstGeom prst="rect">
            <a:avLst/>
          </a:prstGeom>
          <a:noFill/>
          <a:ln/>
        </p:spPr>
        <p:txBody>
          <a:bodyPr wrap="square" lIns="25400" tIns="25400" rIns="25400" bIns="25400" rtlCol="0" anchor="t"/>
          <a:lstStyle/>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No learned position parameters — pure geometry</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Attention naturally decays with distance</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Extrapolates to longer sequences far better</a:t>
            </a:r>
            <a:endParaRPr lang="en-US" sz="1180" dirty="0"/>
          </a:p>
          <a:p>
            <a:pPr marL="177800" indent="-177800">
              <a:lnSpc>
                <a:spcPct val="104000"/>
              </a:lnSpc>
              <a:spcAft>
                <a:spcPts val="500"/>
              </a:spcAft>
              <a:buSzPct val="100000"/>
              <a:buChar char="•"/>
            </a:pPr>
            <a:r>
              <a:rPr lang="en-US" sz="1180" dirty="0">
                <a:solidFill>
                  <a:srgbClr val="1B2440"/>
                </a:solidFill>
                <a:latin typeface="Calibri" pitchFamily="34" charset="0"/>
                <a:ea typeface="Calibri" pitchFamily="34" charset="-122"/>
                <a:cs typeface="Calibri" pitchFamily="34" charset="-120"/>
              </a:rPr>
              <a:t>Now standard: LLaMA, GPT-NeoX, PaLM, Qwen, DeepSeek…</a:t>
            </a:r>
            <a:endParaRPr lang="en-US" sz="1180" dirty="0"/>
          </a:p>
        </p:txBody>
      </p:sp>
      <p:sp>
        <p:nvSpPr>
          <p:cNvPr id="13" name="Shape 11"/>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4" name="Text 12"/>
          <p:cNvSpPr/>
          <p:nvPr/>
        </p:nvSpPr>
        <p:spPr>
          <a:xfrm>
            <a:off x="6812280" y="1783080"/>
            <a:ext cx="45720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Same vector, rotated by position</a:t>
            </a:r>
            <a:endParaRPr lang="en-US" sz="1300" dirty="0"/>
          </a:p>
        </p:txBody>
      </p:sp>
      <p:sp>
        <p:nvSpPr>
          <p:cNvPr id="15" name="Shape 13"/>
          <p:cNvSpPr/>
          <p:nvPr/>
        </p:nvSpPr>
        <p:spPr>
          <a:xfrm>
            <a:off x="6995160" y="2468880"/>
            <a:ext cx="1828800" cy="1828800"/>
          </a:xfrm>
          <a:prstGeom prst="ellipse">
            <a:avLst/>
          </a:prstGeom>
          <a:solidFill>
            <a:srgbClr val="F4F5F9"/>
          </a:solidFill>
          <a:ln w="12700">
            <a:solidFill>
              <a:srgbClr val="DDE1EC"/>
            </a:solidFill>
            <a:prstDash val="solid"/>
          </a:ln>
        </p:spPr>
      </p:sp>
      <p:sp>
        <p:nvSpPr>
          <p:cNvPr id="16" name="Shape 14"/>
          <p:cNvSpPr/>
          <p:nvPr/>
        </p:nvSpPr>
        <p:spPr>
          <a:xfrm>
            <a:off x="7909560" y="3383280"/>
            <a:ext cx="793534" cy="-454347"/>
          </a:xfrm>
          <a:prstGeom prst="line">
            <a:avLst/>
          </a:prstGeom>
          <a:noFill/>
          <a:ln w="38100">
            <a:solidFill>
              <a:srgbClr val="5B4BE0"/>
            </a:solidFill>
            <a:prstDash val="solid"/>
            <a:tailEnd type="triangle"/>
          </a:ln>
        </p:spPr>
      </p:sp>
      <p:sp>
        <p:nvSpPr>
          <p:cNvPr id="17" name="Shape 15"/>
          <p:cNvSpPr/>
          <p:nvPr/>
        </p:nvSpPr>
        <p:spPr>
          <a:xfrm>
            <a:off x="6995160" y="3383280"/>
            <a:ext cx="1828800" cy="0"/>
          </a:xfrm>
          <a:prstGeom prst="line">
            <a:avLst/>
          </a:prstGeom>
          <a:noFill/>
          <a:ln w="9525">
            <a:solidFill>
              <a:srgbClr val="8A93AB"/>
            </a:solidFill>
            <a:prstDash val="dash"/>
          </a:ln>
        </p:spPr>
      </p:sp>
      <p:sp>
        <p:nvSpPr>
          <p:cNvPr id="18" name="Text 16"/>
          <p:cNvSpPr/>
          <p:nvPr/>
        </p:nvSpPr>
        <p:spPr>
          <a:xfrm>
            <a:off x="6995160" y="4370832"/>
            <a:ext cx="1828800" cy="274320"/>
          </a:xfrm>
          <a:prstGeom prst="rect">
            <a:avLst/>
          </a:prstGeom>
          <a:noFill/>
          <a:ln/>
        </p:spPr>
        <p:txBody>
          <a:bodyPr wrap="square" lIns="0" tIns="0" rIns="0" bIns="0" rtlCol="0" anchor="ctr"/>
          <a:lstStyle/>
          <a:p>
            <a:pPr algn="ctr" indent="0" marL="0">
              <a:buNone/>
            </a:pPr>
            <a:r>
              <a:rPr lang="en-US" sz="1150" b="1" dirty="0">
                <a:solidFill>
                  <a:srgbClr val="5B4BE0"/>
                </a:solidFill>
                <a:latin typeface="Calibri" pitchFamily="34" charset="0"/>
                <a:ea typeface="Calibri" pitchFamily="34" charset="-122"/>
                <a:cs typeface="Calibri" pitchFamily="34" charset="-120"/>
              </a:rPr>
              <a:t>position m</a:t>
            </a:r>
            <a:endParaRPr lang="en-US" sz="1150" dirty="0"/>
          </a:p>
        </p:txBody>
      </p:sp>
      <p:sp>
        <p:nvSpPr>
          <p:cNvPr id="19" name="Text 17"/>
          <p:cNvSpPr/>
          <p:nvPr/>
        </p:nvSpPr>
        <p:spPr>
          <a:xfrm>
            <a:off x="6995160" y="4626864"/>
            <a:ext cx="1828800" cy="256032"/>
          </a:xfrm>
          <a:prstGeom prst="rect">
            <a:avLst/>
          </a:prstGeom>
          <a:noFill/>
          <a:ln/>
        </p:spPr>
        <p:txBody>
          <a:bodyPr wrap="square" lIns="0" tIns="0" rIns="0" bIns="0" rtlCol="0" anchor="ctr"/>
          <a:lstStyle/>
          <a:p>
            <a:pPr algn="ctr" indent="0" marL="0">
              <a:buNone/>
            </a:pPr>
            <a:r>
              <a:rPr lang="en-US" sz="1000" i="1" dirty="0">
                <a:solidFill>
                  <a:srgbClr val="5A6685"/>
                </a:solidFill>
                <a:latin typeface="Calibri" pitchFamily="34" charset="0"/>
                <a:ea typeface="Calibri" pitchFamily="34" charset="-122"/>
                <a:cs typeface="Calibri" pitchFamily="34" charset="-120"/>
              </a:rPr>
              <a:t>angle ∝ 30°</a:t>
            </a:r>
            <a:endParaRPr lang="en-US" sz="1000" dirty="0"/>
          </a:p>
        </p:txBody>
      </p:sp>
      <p:sp>
        <p:nvSpPr>
          <p:cNvPr id="20" name="Shape 18"/>
          <p:cNvSpPr/>
          <p:nvPr/>
        </p:nvSpPr>
        <p:spPr>
          <a:xfrm>
            <a:off x="9372600" y="2468880"/>
            <a:ext cx="1828800" cy="1828800"/>
          </a:xfrm>
          <a:prstGeom prst="ellipse">
            <a:avLst/>
          </a:prstGeom>
          <a:solidFill>
            <a:srgbClr val="F4F5F9"/>
          </a:solidFill>
          <a:ln w="12700">
            <a:solidFill>
              <a:srgbClr val="DDE1EC"/>
            </a:solidFill>
            <a:prstDash val="solid"/>
          </a:ln>
        </p:spPr>
      </p:sp>
      <p:sp>
        <p:nvSpPr>
          <p:cNvPr id="21" name="Shape 19"/>
          <p:cNvSpPr/>
          <p:nvPr/>
        </p:nvSpPr>
        <p:spPr>
          <a:xfrm>
            <a:off x="10287000" y="3383280"/>
            <a:ext cx="-312862" cy="-859212"/>
          </a:xfrm>
          <a:prstGeom prst="line">
            <a:avLst/>
          </a:prstGeom>
          <a:noFill/>
          <a:ln w="38100">
            <a:solidFill>
              <a:srgbClr val="0E9E96"/>
            </a:solidFill>
            <a:prstDash val="solid"/>
            <a:tailEnd type="triangle"/>
          </a:ln>
        </p:spPr>
      </p:sp>
      <p:sp>
        <p:nvSpPr>
          <p:cNvPr id="22" name="Shape 20"/>
          <p:cNvSpPr/>
          <p:nvPr/>
        </p:nvSpPr>
        <p:spPr>
          <a:xfrm>
            <a:off x="9372600" y="3383280"/>
            <a:ext cx="1828800" cy="0"/>
          </a:xfrm>
          <a:prstGeom prst="line">
            <a:avLst/>
          </a:prstGeom>
          <a:noFill/>
          <a:ln w="9525">
            <a:solidFill>
              <a:srgbClr val="8A93AB"/>
            </a:solidFill>
            <a:prstDash val="dash"/>
          </a:ln>
        </p:spPr>
      </p:sp>
      <p:sp>
        <p:nvSpPr>
          <p:cNvPr id="23" name="Text 21"/>
          <p:cNvSpPr/>
          <p:nvPr/>
        </p:nvSpPr>
        <p:spPr>
          <a:xfrm>
            <a:off x="9372600" y="4370832"/>
            <a:ext cx="1828800" cy="274320"/>
          </a:xfrm>
          <a:prstGeom prst="rect">
            <a:avLst/>
          </a:prstGeom>
          <a:noFill/>
          <a:ln/>
        </p:spPr>
        <p:txBody>
          <a:bodyPr wrap="square" lIns="0" tIns="0" rIns="0" bIns="0" rtlCol="0" anchor="ctr"/>
          <a:lstStyle/>
          <a:p>
            <a:pPr algn="ctr" indent="0" marL="0">
              <a:buNone/>
            </a:pPr>
            <a:r>
              <a:rPr lang="en-US" sz="1150" b="1" dirty="0">
                <a:solidFill>
                  <a:srgbClr val="0E9E96"/>
                </a:solidFill>
                <a:latin typeface="Calibri" pitchFamily="34" charset="0"/>
                <a:ea typeface="Calibri" pitchFamily="34" charset="-122"/>
                <a:cs typeface="Calibri" pitchFamily="34" charset="-120"/>
              </a:rPr>
              <a:t>position n</a:t>
            </a:r>
            <a:endParaRPr lang="en-US" sz="1150" dirty="0"/>
          </a:p>
        </p:txBody>
      </p:sp>
      <p:sp>
        <p:nvSpPr>
          <p:cNvPr id="24" name="Text 22"/>
          <p:cNvSpPr/>
          <p:nvPr/>
        </p:nvSpPr>
        <p:spPr>
          <a:xfrm>
            <a:off x="9372600" y="4626864"/>
            <a:ext cx="1828800" cy="256032"/>
          </a:xfrm>
          <a:prstGeom prst="rect">
            <a:avLst/>
          </a:prstGeom>
          <a:noFill/>
          <a:ln/>
        </p:spPr>
        <p:txBody>
          <a:bodyPr wrap="square" lIns="0" tIns="0" rIns="0" bIns="0" rtlCol="0" anchor="ctr"/>
          <a:lstStyle/>
          <a:p>
            <a:pPr algn="ctr" indent="0" marL="0">
              <a:buNone/>
            </a:pPr>
            <a:r>
              <a:rPr lang="en-US" sz="1000" i="1" dirty="0">
                <a:solidFill>
                  <a:srgbClr val="5A6685"/>
                </a:solidFill>
                <a:latin typeface="Calibri" pitchFamily="34" charset="0"/>
                <a:ea typeface="Calibri" pitchFamily="34" charset="-122"/>
                <a:cs typeface="Calibri" pitchFamily="34" charset="-120"/>
              </a:rPr>
              <a:t>angle ∝ 110°</a:t>
            </a:r>
            <a:endParaRPr lang="en-US" sz="1000" dirty="0"/>
          </a:p>
        </p:txBody>
      </p:sp>
      <p:sp>
        <p:nvSpPr>
          <p:cNvPr id="25" name="Text 23"/>
          <p:cNvSpPr/>
          <p:nvPr/>
        </p:nvSpPr>
        <p:spPr>
          <a:xfrm>
            <a:off x="6858000" y="5074920"/>
            <a:ext cx="4480560" cy="822960"/>
          </a:xfrm>
          <a:prstGeom prst="rect">
            <a:avLst/>
          </a:prstGeom>
          <a:noFill/>
          <a:ln/>
        </p:spPr>
        <p:txBody>
          <a:bodyPr wrap="square" lIns="0" tIns="0" rIns="0" bIns="0" rtlCol="0" anchor="ctr"/>
          <a:lstStyle/>
          <a:p>
            <a:pPr algn="ctr" indent="0" marL="0">
              <a:lnSpc>
                <a:spcPct val="112000"/>
              </a:lnSpc>
              <a:buNone/>
            </a:pPr>
            <a:r>
              <a:rPr lang="en-US" sz="1150" i="1" dirty="0">
                <a:solidFill>
                  <a:srgbClr val="5A6685"/>
                </a:solidFill>
                <a:latin typeface="Calibri" pitchFamily="34" charset="0"/>
                <a:ea typeface="Calibri" pitchFamily="34" charset="-122"/>
                <a:cs typeface="Calibri" pitchFamily="34" charset="-120"/>
              </a:rPr>
              <a:t>Different positions → different rotation angles. Their relative angle (n−m) is what attention actually 'feels'.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2 · MEMORY</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MQA &amp; GQA — shrinking the KV cache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Shazeer, MQA (arXiv:1911.02150) · Ainslie et al., GQA (arXiv:2305.13245)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26</a:t>
            </a:r>
            <a:endParaRPr lang="en-US" sz="900" dirty="0"/>
          </a:p>
        </p:txBody>
      </p:sp>
      <p:sp>
        <p:nvSpPr>
          <p:cNvPr id="6" name="Text 4"/>
          <p:cNvSpPr/>
          <p:nvPr/>
        </p:nvSpPr>
        <p:spPr>
          <a:xfrm>
            <a:off x="566928" y="1463040"/>
            <a:ext cx="10972800" cy="310896"/>
          </a:xfrm>
          <a:prstGeom prst="rect">
            <a:avLst/>
          </a:prstGeom>
          <a:noFill/>
          <a:ln/>
        </p:spPr>
        <p:txBody>
          <a:bodyPr wrap="square" lIns="0" tIns="0" rIns="0" bIns="0" rtlCol="0" anchor="ctr"/>
          <a:lstStyle/>
          <a:p>
            <a:pPr indent="0" marL="0">
              <a:buNone/>
            </a:pPr>
            <a:r>
              <a:rPr lang="en-US" sz="1280" dirty="0">
                <a:solidFill>
                  <a:srgbClr val="5A6685"/>
                </a:solidFill>
                <a:latin typeface="Calibri" pitchFamily="34" charset="0"/>
                <a:ea typeface="Calibri" pitchFamily="34" charset="-122"/>
                <a:cs typeface="Calibri" pitchFamily="34" charset="-120"/>
              </a:rPr>
              <a:t>Multiple query heads can share a smaller set of key/value heads — cutting the cache that dominates long-context inference.</a:t>
            </a:r>
            <a:endParaRPr lang="en-US" sz="1280" dirty="0"/>
          </a:p>
        </p:txBody>
      </p:sp>
      <p:sp>
        <p:nvSpPr>
          <p:cNvPr id="7" name="Shape 5"/>
          <p:cNvSpPr/>
          <p:nvPr/>
        </p:nvSpPr>
        <p:spPr>
          <a:xfrm>
            <a:off x="56692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79552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Multi-Head (MHA)</a:t>
            </a:r>
            <a:endParaRPr lang="en-US" sz="1550" dirty="0"/>
          </a:p>
        </p:txBody>
      </p:sp>
      <p:sp>
        <p:nvSpPr>
          <p:cNvPr id="9" name="Text 7"/>
          <p:cNvSpPr/>
          <p:nvPr/>
        </p:nvSpPr>
        <p:spPr>
          <a:xfrm>
            <a:off x="79552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Every head has its own K &amp; V</a:t>
            </a:r>
            <a:endParaRPr lang="en-US" sz="1150" dirty="0"/>
          </a:p>
        </p:txBody>
      </p:sp>
      <p:sp>
        <p:nvSpPr>
          <p:cNvPr id="10" name="Shape 8"/>
          <p:cNvSpPr/>
          <p:nvPr/>
        </p:nvSpPr>
        <p:spPr>
          <a:xfrm>
            <a:off x="886968" y="3108960"/>
            <a:ext cx="329184" cy="329184"/>
          </a:xfrm>
          <a:prstGeom prst="rect">
            <a:avLst/>
          </a:prstGeom>
          <a:solidFill>
            <a:srgbClr val="5B4BE0"/>
          </a:solidFill>
          <a:ln w="12700">
            <a:solidFill>
              <a:srgbClr val="FFFFFF"/>
            </a:solidFill>
            <a:prstDash val="solid"/>
          </a:ln>
        </p:spPr>
      </p:sp>
      <p:sp>
        <p:nvSpPr>
          <p:cNvPr id="11" name="Shape 9"/>
          <p:cNvSpPr/>
          <p:nvPr/>
        </p:nvSpPr>
        <p:spPr>
          <a:xfrm>
            <a:off x="1284732" y="3108960"/>
            <a:ext cx="329184" cy="329184"/>
          </a:xfrm>
          <a:prstGeom prst="rect">
            <a:avLst/>
          </a:prstGeom>
          <a:solidFill>
            <a:srgbClr val="5B4BE0"/>
          </a:solidFill>
          <a:ln w="12700">
            <a:solidFill>
              <a:srgbClr val="FFFFFF"/>
            </a:solidFill>
            <a:prstDash val="solid"/>
          </a:ln>
        </p:spPr>
      </p:sp>
      <p:sp>
        <p:nvSpPr>
          <p:cNvPr id="12" name="Shape 10"/>
          <p:cNvSpPr/>
          <p:nvPr/>
        </p:nvSpPr>
        <p:spPr>
          <a:xfrm>
            <a:off x="1682496" y="3108960"/>
            <a:ext cx="329184" cy="329184"/>
          </a:xfrm>
          <a:prstGeom prst="rect">
            <a:avLst/>
          </a:prstGeom>
          <a:solidFill>
            <a:srgbClr val="5B4BE0"/>
          </a:solidFill>
          <a:ln w="12700">
            <a:solidFill>
              <a:srgbClr val="FFFFFF"/>
            </a:solidFill>
            <a:prstDash val="solid"/>
          </a:ln>
        </p:spPr>
      </p:sp>
      <p:sp>
        <p:nvSpPr>
          <p:cNvPr id="13" name="Shape 11"/>
          <p:cNvSpPr/>
          <p:nvPr/>
        </p:nvSpPr>
        <p:spPr>
          <a:xfrm>
            <a:off x="2080260" y="3108960"/>
            <a:ext cx="329184" cy="329184"/>
          </a:xfrm>
          <a:prstGeom prst="rect">
            <a:avLst/>
          </a:prstGeom>
          <a:solidFill>
            <a:srgbClr val="5B4BE0"/>
          </a:solidFill>
          <a:ln w="12700">
            <a:solidFill>
              <a:srgbClr val="FFFFFF"/>
            </a:solidFill>
            <a:prstDash val="solid"/>
          </a:ln>
        </p:spPr>
      </p:sp>
      <p:sp>
        <p:nvSpPr>
          <p:cNvPr id="14" name="Shape 12"/>
          <p:cNvSpPr/>
          <p:nvPr/>
        </p:nvSpPr>
        <p:spPr>
          <a:xfrm>
            <a:off x="2478024" y="3108960"/>
            <a:ext cx="329184" cy="329184"/>
          </a:xfrm>
          <a:prstGeom prst="rect">
            <a:avLst/>
          </a:prstGeom>
          <a:solidFill>
            <a:srgbClr val="5B4BE0"/>
          </a:solidFill>
          <a:ln w="12700">
            <a:solidFill>
              <a:srgbClr val="FFFFFF"/>
            </a:solidFill>
            <a:prstDash val="solid"/>
          </a:ln>
        </p:spPr>
      </p:sp>
      <p:sp>
        <p:nvSpPr>
          <p:cNvPr id="15" name="Shape 13"/>
          <p:cNvSpPr/>
          <p:nvPr/>
        </p:nvSpPr>
        <p:spPr>
          <a:xfrm>
            <a:off x="2875788" y="3108960"/>
            <a:ext cx="329184" cy="329184"/>
          </a:xfrm>
          <a:prstGeom prst="rect">
            <a:avLst/>
          </a:prstGeom>
          <a:solidFill>
            <a:srgbClr val="5B4BE0"/>
          </a:solidFill>
          <a:ln w="12700">
            <a:solidFill>
              <a:srgbClr val="FFFFFF"/>
            </a:solidFill>
            <a:prstDash val="solid"/>
          </a:ln>
        </p:spPr>
      </p:sp>
      <p:sp>
        <p:nvSpPr>
          <p:cNvPr id="16" name="Shape 14"/>
          <p:cNvSpPr/>
          <p:nvPr/>
        </p:nvSpPr>
        <p:spPr>
          <a:xfrm>
            <a:off x="3273552" y="3108960"/>
            <a:ext cx="329184" cy="329184"/>
          </a:xfrm>
          <a:prstGeom prst="rect">
            <a:avLst/>
          </a:prstGeom>
          <a:solidFill>
            <a:srgbClr val="5B4BE0"/>
          </a:solidFill>
          <a:ln w="12700">
            <a:solidFill>
              <a:srgbClr val="FFFFFF"/>
            </a:solidFill>
            <a:prstDash val="solid"/>
          </a:ln>
        </p:spPr>
      </p:sp>
      <p:sp>
        <p:nvSpPr>
          <p:cNvPr id="17" name="Shape 15"/>
          <p:cNvSpPr/>
          <p:nvPr/>
        </p:nvSpPr>
        <p:spPr>
          <a:xfrm>
            <a:off x="3671316" y="3108960"/>
            <a:ext cx="329184" cy="329184"/>
          </a:xfrm>
          <a:prstGeom prst="rect">
            <a:avLst/>
          </a:prstGeom>
          <a:solidFill>
            <a:srgbClr val="5B4BE0"/>
          </a:solidFill>
          <a:ln w="12700">
            <a:solidFill>
              <a:srgbClr val="FFFFFF"/>
            </a:solidFill>
            <a:prstDash val="solid"/>
          </a:ln>
        </p:spPr>
      </p:sp>
      <p:sp>
        <p:nvSpPr>
          <p:cNvPr id="18" name="Text 16"/>
          <p:cNvSpPr/>
          <p:nvPr/>
        </p:nvSpPr>
        <p:spPr>
          <a:xfrm>
            <a:off x="3657600" y="3108960"/>
            <a:ext cx="365760" cy="329184"/>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Q</a:t>
            </a:r>
            <a:endParaRPr lang="en-US" sz="1100" dirty="0"/>
          </a:p>
        </p:txBody>
      </p:sp>
      <p:sp>
        <p:nvSpPr>
          <p:cNvPr id="19" name="Shape 17"/>
          <p:cNvSpPr/>
          <p:nvPr/>
        </p:nvSpPr>
        <p:spPr>
          <a:xfrm>
            <a:off x="886968" y="3794760"/>
            <a:ext cx="329184" cy="329184"/>
          </a:xfrm>
          <a:prstGeom prst="rect">
            <a:avLst/>
          </a:prstGeom>
          <a:solidFill>
            <a:srgbClr val="EEECFB"/>
          </a:solidFill>
          <a:ln w="15875">
            <a:solidFill>
              <a:srgbClr val="5B4BE0"/>
            </a:solidFill>
            <a:prstDash val="solid"/>
          </a:ln>
        </p:spPr>
      </p:sp>
      <p:sp>
        <p:nvSpPr>
          <p:cNvPr id="20" name="Shape 18"/>
          <p:cNvSpPr/>
          <p:nvPr/>
        </p:nvSpPr>
        <p:spPr>
          <a:xfrm>
            <a:off x="1284732" y="3794760"/>
            <a:ext cx="329184" cy="329184"/>
          </a:xfrm>
          <a:prstGeom prst="rect">
            <a:avLst/>
          </a:prstGeom>
          <a:solidFill>
            <a:srgbClr val="EEECFB"/>
          </a:solidFill>
          <a:ln w="15875">
            <a:solidFill>
              <a:srgbClr val="5B4BE0"/>
            </a:solidFill>
            <a:prstDash val="solid"/>
          </a:ln>
        </p:spPr>
      </p:sp>
      <p:sp>
        <p:nvSpPr>
          <p:cNvPr id="21" name="Shape 19"/>
          <p:cNvSpPr/>
          <p:nvPr/>
        </p:nvSpPr>
        <p:spPr>
          <a:xfrm>
            <a:off x="1682496" y="3794760"/>
            <a:ext cx="329184" cy="329184"/>
          </a:xfrm>
          <a:prstGeom prst="rect">
            <a:avLst/>
          </a:prstGeom>
          <a:solidFill>
            <a:srgbClr val="EEECFB"/>
          </a:solidFill>
          <a:ln w="15875">
            <a:solidFill>
              <a:srgbClr val="5B4BE0"/>
            </a:solidFill>
            <a:prstDash val="solid"/>
          </a:ln>
        </p:spPr>
      </p:sp>
      <p:sp>
        <p:nvSpPr>
          <p:cNvPr id="22" name="Shape 20"/>
          <p:cNvSpPr/>
          <p:nvPr/>
        </p:nvSpPr>
        <p:spPr>
          <a:xfrm>
            <a:off x="2080260" y="3794760"/>
            <a:ext cx="329184" cy="329184"/>
          </a:xfrm>
          <a:prstGeom prst="rect">
            <a:avLst/>
          </a:prstGeom>
          <a:solidFill>
            <a:srgbClr val="EEECFB"/>
          </a:solidFill>
          <a:ln w="15875">
            <a:solidFill>
              <a:srgbClr val="5B4BE0"/>
            </a:solidFill>
            <a:prstDash val="solid"/>
          </a:ln>
        </p:spPr>
      </p:sp>
      <p:sp>
        <p:nvSpPr>
          <p:cNvPr id="23" name="Shape 21"/>
          <p:cNvSpPr/>
          <p:nvPr/>
        </p:nvSpPr>
        <p:spPr>
          <a:xfrm>
            <a:off x="2478024" y="3794760"/>
            <a:ext cx="329184" cy="329184"/>
          </a:xfrm>
          <a:prstGeom prst="rect">
            <a:avLst/>
          </a:prstGeom>
          <a:solidFill>
            <a:srgbClr val="EEECFB"/>
          </a:solidFill>
          <a:ln w="15875">
            <a:solidFill>
              <a:srgbClr val="5B4BE0"/>
            </a:solidFill>
            <a:prstDash val="solid"/>
          </a:ln>
        </p:spPr>
      </p:sp>
      <p:sp>
        <p:nvSpPr>
          <p:cNvPr id="24" name="Shape 22"/>
          <p:cNvSpPr/>
          <p:nvPr/>
        </p:nvSpPr>
        <p:spPr>
          <a:xfrm>
            <a:off x="2875788" y="3794760"/>
            <a:ext cx="329184" cy="329184"/>
          </a:xfrm>
          <a:prstGeom prst="rect">
            <a:avLst/>
          </a:prstGeom>
          <a:solidFill>
            <a:srgbClr val="EEECFB"/>
          </a:solidFill>
          <a:ln w="15875">
            <a:solidFill>
              <a:srgbClr val="5B4BE0"/>
            </a:solidFill>
            <a:prstDash val="solid"/>
          </a:ln>
        </p:spPr>
      </p:sp>
      <p:sp>
        <p:nvSpPr>
          <p:cNvPr id="25" name="Shape 23"/>
          <p:cNvSpPr/>
          <p:nvPr/>
        </p:nvSpPr>
        <p:spPr>
          <a:xfrm>
            <a:off x="3273552" y="3794760"/>
            <a:ext cx="329184" cy="329184"/>
          </a:xfrm>
          <a:prstGeom prst="rect">
            <a:avLst/>
          </a:prstGeom>
          <a:solidFill>
            <a:srgbClr val="EEECFB"/>
          </a:solidFill>
          <a:ln w="15875">
            <a:solidFill>
              <a:srgbClr val="5B4BE0"/>
            </a:solidFill>
            <a:prstDash val="solid"/>
          </a:ln>
        </p:spPr>
      </p:sp>
      <p:sp>
        <p:nvSpPr>
          <p:cNvPr id="26" name="Shape 24"/>
          <p:cNvSpPr/>
          <p:nvPr/>
        </p:nvSpPr>
        <p:spPr>
          <a:xfrm>
            <a:off x="3671316" y="3794760"/>
            <a:ext cx="329184" cy="329184"/>
          </a:xfrm>
          <a:prstGeom prst="rect">
            <a:avLst/>
          </a:prstGeom>
          <a:solidFill>
            <a:srgbClr val="EEECFB"/>
          </a:solidFill>
          <a:ln w="15875">
            <a:solidFill>
              <a:srgbClr val="5B4BE0"/>
            </a:solidFill>
            <a:prstDash val="solid"/>
          </a:ln>
        </p:spPr>
      </p:sp>
      <p:sp>
        <p:nvSpPr>
          <p:cNvPr id="27" name="Text 25"/>
          <p:cNvSpPr/>
          <p:nvPr/>
        </p:nvSpPr>
        <p:spPr>
          <a:xfrm>
            <a:off x="3657600" y="3794760"/>
            <a:ext cx="411480" cy="329184"/>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KV</a:t>
            </a:r>
            <a:endParaRPr lang="en-US" sz="1000" dirty="0"/>
          </a:p>
        </p:txBody>
      </p:sp>
      <p:sp>
        <p:nvSpPr>
          <p:cNvPr id="28" name="Shape 26"/>
          <p:cNvSpPr/>
          <p:nvPr/>
        </p:nvSpPr>
        <p:spPr>
          <a:xfrm>
            <a:off x="1051560" y="3447288"/>
            <a:ext cx="0" cy="329184"/>
          </a:xfrm>
          <a:prstGeom prst="line">
            <a:avLst/>
          </a:prstGeom>
          <a:noFill/>
          <a:ln w="6350">
            <a:solidFill>
              <a:srgbClr val="8A93AB"/>
            </a:solidFill>
            <a:prstDash val="solid"/>
          </a:ln>
        </p:spPr>
      </p:sp>
      <p:sp>
        <p:nvSpPr>
          <p:cNvPr id="29" name="Shape 27"/>
          <p:cNvSpPr/>
          <p:nvPr/>
        </p:nvSpPr>
        <p:spPr>
          <a:xfrm>
            <a:off x="1449324" y="3447288"/>
            <a:ext cx="0" cy="329184"/>
          </a:xfrm>
          <a:prstGeom prst="line">
            <a:avLst/>
          </a:prstGeom>
          <a:noFill/>
          <a:ln w="6350">
            <a:solidFill>
              <a:srgbClr val="8A93AB"/>
            </a:solidFill>
            <a:prstDash val="solid"/>
          </a:ln>
        </p:spPr>
      </p:sp>
      <p:sp>
        <p:nvSpPr>
          <p:cNvPr id="30" name="Shape 28"/>
          <p:cNvSpPr/>
          <p:nvPr/>
        </p:nvSpPr>
        <p:spPr>
          <a:xfrm>
            <a:off x="1847088" y="3447288"/>
            <a:ext cx="0" cy="329184"/>
          </a:xfrm>
          <a:prstGeom prst="line">
            <a:avLst/>
          </a:prstGeom>
          <a:noFill/>
          <a:ln w="6350">
            <a:solidFill>
              <a:srgbClr val="8A93AB"/>
            </a:solidFill>
            <a:prstDash val="solid"/>
          </a:ln>
        </p:spPr>
      </p:sp>
      <p:sp>
        <p:nvSpPr>
          <p:cNvPr id="31" name="Shape 29"/>
          <p:cNvSpPr/>
          <p:nvPr/>
        </p:nvSpPr>
        <p:spPr>
          <a:xfrm>
            <a:off x="2244852" y="3447288"/>
            <a:ext cx="0" cy="329184"/>
          </a:xfrm>
          <a:prstGeom prst="line">
            <a:avLst/>
          </a:prstGeom>
          <a:noFill/>
          <a:ln w="6350">
            <a:solidFill>
              <a:srgbClr val="8A93AB"/>
            </a:solidFill>
            <a:prstDash val="solid"/>
          </a:ln>
        </p:spPr>
      </p:sp>
      <p:sp>
        <p:nvSpPr>
          <p:cNvPr id="32" name="Shape 30"/>
          <p:cNvSpPr/>
          <p:nvPr/>
        </p:nvSpPr>
        <p:spPr>
          <a:xfrm>
            <a:off x="2642616" y="3447288"/>
            <a:ext cx="0" cy="329184"/>
          </a:xfrm>
          <a:prstGeom prst="line">
            <a:avLst/>
          </a:prstGeom>
          <a:noFill/>
          <a:ln w="6350">
            <a:solidFill>
              <a:srgbClr val="8A93AB"/>
            </a:solidFill>
            <a:prstDash val="solid"/>
          </a:ln>
        </p:spPr>
      </p:sp>
      <p:sp>
        <p:nvSpPr>
          <p:cNvPr id="33" name="Shape 31"/>
          <p:cNvSpPr/>
          <p:nvPr/>
        </p:nvSpPr>
        <p:spPr>
          <a:xfrm>
            <a:off x="3040380" y="3447288"/>
            <a:ext cx="0" cy="329184"/>
          </a:xfrm>
          <a:prstGeom prst="line">
            <a:avLst/>
          </a:prstGeom>
          <a:noFill/>
          <a:ln w="6350">
            <a:solidFill>
              <a:srgbClr val="8A93AB"/>
            </a:solidFill>
            <a:prstDash val="solid"/>
          </a:ln>
        </p:spPr>
      </p:sp>
      <p:sp>
        <p:nvSpPr>
          <p:cNvPr id="34" name="Shape 32"/>
          <p:cNvSpPr/>
          <p:nvPr/>
        </p:nvSpPr>
        <p:spPr>
          <a:xfrm>
            <a:off x="3438144" y="3447288"/>
            <a:ext cx="0" cy="329184"/>
          </a:xfrm>
          <a:prstGeom prst="line">
            <a:avLst/>
          </a:prstGeom>
          <a:noFill/>
          <a:ln w="6350">
            <a:solidFill>
              <a:srgbClr val="8A93AB"/>
            </a:solidFill>
            <a:prstDash val="solid"/>
          </a:ln>
        </p:spPr>
      </p:sp>
      <p:sp>
        <p:nvSpPr>
          <p:cNvPr id="35" name="Shape 33"/>
          <p:cNvSpPr/>
          <p:nvPr/>
        </p:nvSpPr>
        <p:spPr>
          <a:xfrm>
            <a:off x="3835908" y="3447288"/>
            <a:ext cx="0" cy="329184"/>
          </a:xfrm>
          <a:prstGeom prst="line">
            <a:avLst/>
          </a:prstGeom>
          <a:noFill/>
          <a:ln w="6350">
            <a:solidFill>
              <a:srgbClr val="8A93AB"/>
            </a:solidFill>
            <a:prstDash val="solid"/>
          </a:ln>
        </p:spPr>
      </p:sp>
      <p:sp>
        <p:nvSpPr>
          <p:cNvPr id="36" name="Shape 34"/>
          <p:cNvSpPr/>
          <p:nvPr/>
        </p:nvSpPr>
        <p:spPr>
          <a:xfrm>
            <a:off x="795528" y="4663440"/>
            <a:ext cx="1417320" cy="384048"/>
          </a:xfrm>
          <a:prstGeom prst="roundRect">
            <a:avLst>
              <a:gd name="adj" fmla="val 50000"/>
            </a:avLst>
          </a:prstGeom>
          <a:solidFill>
            <a:srgbClr val="EEECFB"/>
          </a:solidFill>
          <a:ln/>
        </p:spPr>
      </p:sp>
      <p:sp>
        <p:nvSpPr>
          <p:cNvPr id="37" name="Text 35"/>
          <p:cNvSpPr/>
          <p:nvPr/>
        </p:nvSpPr>
        <p:spPr>
          <a:xfrm>
            <a:off x="795528" y="4663440"/>
            <a:ext cx="1417320" cy="384048"/>
          </a:xfrm>
          <a:prstGeom prst="rect">
            <a:avLst/>
          </a:prstGeom>
          <a:noFill/>
          <a:ln/>
        </p:spPr>
        <p:txBody>
          <a:bodyPr wrap="square" lIns="0" tIns="0" rIns="0" bIns="0" rtlCol="0" anchor="ctr"/>
          <a:lstStyle/>
          <a:p>
            <a:pPr algn="ctr" indent="0" marL="0">
              <a:buNone/>
            </a:pPr>
            <a:r>
              <a:rPr lang="en-US" sz="1100" b="1" dirty="0">
                <a:solidFill>
                  <a:srgbClr val="5B4BE0"/>
                </a:solidFill>
                <a:latin typeface="Calibri" pitchFamily="34" charset="0"/>
                <a:ea typeface="Calibri" pitchFamily="34" charset="-122"/>
                <a:cs typeface="Calibri" pitchFamily="34" charset="-120"/>
              </a:rPr>
              <a:t>8 Q · 8 K/V</a:t>
            </a:r>
            <a:endParaRPr lang="en-US" sz="1100" dirty="0"/>
          </a:p>
        </p:txBody>
      </p:sp>
      <p:sp>
        <p:nvSpPr>
          <p:cNvPr id="38" name="Text 36"/>
          <p:cNvSpPr/>
          <p:nvPr/>
        </p:nvSpPr>
        <p:spPr>
          <a:xfrm>
            <a:off x="79552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Best quality, biggest cache</a:t>
            </a:r>
            <a:endParaRPr lang="en-US" sz="1150" dirty="0"/>
          </a:p>
        </p:txBody>
      </p:sp>
      <p:sp>
        <p:nvSpPr>
          <p:cNvPr id="39" name="Shape 37"/>
          <p:cNvSpPr/>
          <p:nvPr/>
        </p:nvSpPr>
        <p:spPr>
          <a:xfrm>
            <a:off x="431596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0" name="Text 38"/>
          <p:cNvSpPr/>
          <p:nvPr/>
        </p:nvSpPr>
        <p:spPr>
          <a:xfrm>
            <a:off x="454456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Grouped-Query (GQA)</a:t>
            </a:r>
            <a:endParaRPr lang="en-US" sz="1550" dirty="0"/>
          </a:p>
        </p:txBody>
      </p:sp>
      <p:sp>
        <p:nvSpPr>
          <p:cNvPr id="41" name="Text 39"/>
          <p:cNvSpPr/>
          <p:nvPr/>
        </p:nvSpPr>
        <p:spPr>
          <a:xfrm>
            <a:off x="454456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Heads share K/V in groups</a:t>
            </a:r>
            <a:endParaRPr lang="en-US" sz="1150" dirty="0"/>
          </a:p>
        </p:txBody>
      </p:sp>
      <p:sp>
        <p:nvSpPr>
          <p:cNvPr id="42" name="Shape 40"/>
          <p:cNvSpPr/>
          <p:nvPr/>
        </p:nvSpPr>
        <p:spPr>
          <a:xfrm>
            <a:off x="4636008" y="3108960"/>
            <a:ext cx="329184" cy="329184"/>
          </a:xfrm>
          <a:prstGeom prst="rect">
            <a:avLst/>
          </a:prstGeom>
          <a:solidFill>
            <a:srgbClr val="0E9E96"/>
          </a:solidFill>
          <a:ln w="12700">
            <a:solidFill>
              <a:srgbClr val="FFFFFF"/>
            </a:solidFill>
            <a:prstDash val="solid"/>
          </a:ln>
        </p:spPr>
      </p:sp>
      <p:sp>
        <p:nvSpPr>
          <p:cNvPr id="43" name="Shape 41"/>
          <p:cNvSpPr/>
          <p:nvPr/>
        </p:nvSpPr>
        <p:spPr>
          <a:xfrm>
            <a:off x="5033772" y="3108960"/>
            <a:ext cx="329184" cy="329184"/>
          </a:xfrm>
          <a:prstGeom prst="rect">
            <a:avLst/>
          </a:prstGeom>
          <a:solidFill>
            <a:srgbClr val="0E9E96"/>
          </a:solidFill>
          <a:ln w="12700">
            <a:solidFill>
              <a:srgbClr val="FFFFFF"/>
            </a:solidFill>
            <a:prstDash val="solid"/>
          </a:ln>
        </p:spPr>
      </p:sp>
      <p:sp>
        <p:nvSpPr>
          <p:cNvPr id="44" name="Shape 42"/>
          <p:cNvSpPr/>
          <p:nvPr/>
        </p:nvSpPr>
        <p:spPr>
          <a:xfrm>
            <a:off x="5431536" y="3108960"/>
            <a:ext cx="329184" cy="329184"/>
          </a:xfrm>
          <a:prstGeom prst="rect">
            <a:avLst/>
          </a:prstGeom>
          <a:solidFill>
            <a:srgbClr val="0E9E96"/>
          </a:solidFill>
          <a:ln w="12700">
            <a:solidFill>
              <a:srgbClr val="FFFFFF"/>
            </a:solidFill>
            <a:prstDash val="solid"/>
          </a:ln>
        </p:spPr>
      </p:sp>
      <p:sp>
        <p:nvSpPr>
          <p:cNvPr id="45" name="Shape 43"/>
          <p:cNvSpPr/>
          <p:nvPr/>
        </p:nvSpPr>
        <p:spPr>
          <a:xfrm>
            <a:off x="5829300" y="3108960"/>
            <a:ext cx="329184" cy="329184"/>
          </a:xfrm>
          <a:prstGeom prst="rect">
            <a:avLst/>
          </a:prstGeom>
          <a:solidFill>
            <a:srgbClr val="0E9E96"/>
          </a:solidFill>
          <a:ln w="12700">
            <a:solidFill>
              <a:srgbClr val="FFFFFF"/>
            </a:solidFill>
            <a:prstDash val="solid"/>
          </a:ln>
        </p:spPr>
      </p:sp>
      <p:sp>
        <p:nvSpPr>
          <p:cNvPr id="46" name="Shape 44"/>
          <p:cNvSpPr/>
          <p:nvPr/>
        </p:nvSpPr>
        <p:spPr>
          <a:xfrm>
            <a:off x="6227064" y="3108960"/>
            <a:ext cx="329184" cy="329184"/>
          </a:xfrm>
          <a:prstGeom prst="rect">
            <a:avLst/>
          </a:prstGeom>
          <a:solidFill>
            <a:srgbClr val="0E9E96"/>
          </a:solidFill>
          <a:ln w="12700">
            <a:solidFill>
              <a:srgbClr val="FFFFFF"/>
            </a:solidFill>
            <a:prstDash val="solid"/>
          </a:ln>
        </p:spPr>
      </p:sp>
      <p:sp>
        <p:nvSpPr>
          <p:cNvPr id="47" name="Shape 45"/>
          <p:cNvSpPr/>
          <p:nvPr/>
        </p:nvSpPr>
        <p:spPr>
          <a:xfrm>
            <a:off x="6624828" y="3108960"/>
            <a:ext cx="329184" cy="329184"/>
          </a:xfrm>
          <a:prstGeom prst="rect">
            <a:avLst/>
          </a:prstGeom>
          <a:solidFill>
            <a:srgbClr val="0E9E96"/>
          </a:solidFill>
          <a:ln w="12700">
            <a:solidFill>
              <a:srgbClr val="FFFFFF"/>
            </a:solidFill>
            <a:prstDash val="solid"/>
          </a:ln>
        </p:spPr>
      </p:sp>
      <p:sp>
        <p:nvSpPr>
          <p:cNvPr id="48" name="Shape 46"/>
          <p:cNvSpPr/>
          <p:nvPr/>
        </p:nvSpPr>
        <p:spPr>
          <a:xfrm>
            <a:off x="7022592" y="3108960"/>
            <a:ext cx="329184" cy="329184"/>
          </a:xfrm>
          <a:prstGeom prst="rect">
            <a:avLst/>
          </a:prstGeom>
          <a:solidFill>
            <a:srgbClr val="0E9E96"/>
          </a:solidFill>
          <a:ln w="12700">
            <a:solidFill>
              <a:srgbClr val="FFFFFF"/>
            </a:solidFill>
            <a:prstDash val="solid"/>
          </a:ln>
        </p:spPr>
      </p:sp>
      <p:sp>
        <p:nvSpPr>
          <p:cNvPr id="49" name="Shape 47"/>
          <p:cNvSpPr/>
          <p:nvPr/>
        </p:nvSpPr>
        <p:spPr>
          <a:xfrm>
            <a:off x="7420356" y="3108960"/>
            <a:ext cx="329184" cy="329184"/>
          </a:xfrm>
          <a:prstGeom prst="rect">
            <a:avLst/>
          </a:prstGeom>
          <a:solidFill>
            <a:srgbClr val="0E9E96"/>
          </a:solidFill>
          <a:ln w="12700">
            <a:solidFill>
              <a:srgbClr val="FFFFFF"/>
            </a:solidFill>
            <a:prstDash val="solid"/>
          </a:ln>
        </p:spPr>
      </p:sp>
      <p:sp>
        <p:nvSpPr>
          <p:cNvPr id="50" name="Text 48"/>
          <p:cNvSpPr/>
          <p:nvPr/>
        </p:nvSpPr>
        <p:spPr>
          <a:xfrm>
            <a:off x="7406640" y="3108960"/>
            <a:ext cx="365760" cy="329184"/>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Q</a:t>
            </a:r>
            <a:endParaRPr lang="en-US" sz="1100" dirty="0"/>
          </a:p>
        </p:txBody>
      </p:sp>
      <p:sp>
        <p:nvSpPr>
          <p:cNvPr id="51" name="Shape 49"/>
          <p:cNvSpPr/>
          <p:nvPr/>
        </p:nvSpPr>
        <p:spPr>
          <a:xfrm>
            <a:off x="4636008" y="3794760"/>
            <a:ext cx="1522476" cy="329184"/>
          </a:xfrm>
          <a:prstGeom prst="rect">
            <a:avLst/>
          </a:prstGeom>
          <a:solidFill>
            <a:srgbClr val="E2F4F2"/>
          </a:solidFill>
          <a:ln w="15875">
            <a:solidFill>
              <a:srgbClr val="0E9E96"/>
            </a:solidFill>
            <a:prstDash val="solid"/>
          </a:ln>
        </p:spPr>
      </p:sp>
      <p:sp>
        <p:nvSpPr>
          <p:cNvPr id="52" name="Shape 50"/>
          <p:cNvSpPr/>
          <p:nvPr/>
        </p:nvSpPr>
        <p:spPr>
          <a:xfrm>
            <a:off x="6227064" y="3794760"/>
            <a:ext cx="1522476" cy="329184"/>
          </a:xfrm>
          <a:prstGeom prst="rect">
            <a:avLst/>
          </a:prstGeom>
          <a:solidFill>
            <a:srgbClr val="E2F4F2"/>
          </a:solidFill>
          <a:ln w="15875">
            <a:solidFill>
              <a:srgbClr val="0E9E96"/>
            </a:solidFill>
            <a:prstDash val="solid"/>
          </a:ln>
        </p:spPr>
      </p:sp>
      <p:sp>
        <p:nvSpPr>
          <p:cNvPr id="53" name="Text 51"/>
          <p:cNvSpPr/>
          <p:nvPr/>
        </p:nvSpPr>
        <p:spPr>
          <a:xfrm>
            <a:off x="7406640" y="3794760"/>
            <a:ext cx="411480" cy="329184"/>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KV</a:t>
            </a:r>
            <a:endParaRPr lang="en-US" sz="1000" dirty="0"/>
          </a:p>
        </p:txBody>
      </p:sp>
      <p:sp>
        <p:nvSpPr>
          <p:cNvPr id="54" name="Shape 52"/>
          <p:cNvSpPr/>
          <p:nvPr/>
        </p:nvSpPr>
        <p:spPr>
          <a:xfrm>
            <a:off x="4800600" y="3447288"/>
            <a:ext cx="596646" cy="329184"/>
          </a:xfrm>
          <a:prstGeom prst="line">
            <a:avLst/>
          </a:prstGeom>
          <a:noFill/>
          <a:ln w="6350">
            <a:solidFill>
              <a:srgbClr val="8A93AB"/>
            </a:solidFill>
            <a:prstDash val="solid"/>
          </a:ln>
        </p:spPr>
      </p:sp>
      <p:sp>
        <p:nvSpPr>
          <p:cNvPr id="55" name="Shape 53"/>
          <p:cNvSpPr/>
          <p:nvPr/>
        </p:nvSpPr>
        <p:spPr>
          <a:xfrm>
            <a:off x="5198364" y="3447288"/>
            <a:ext cx="198882" cy="329184"/>
          </a:xfrm>
          <a:prstGeom prst="line">
            <a:avLst/>
          </a:prstGeom>
          <a:noFill/>
          <a:ln w="6350">
            <a:solidFill>
              <a:srgbClr val="8A93AB"/>
            </a:solidFill>
            <a:prstDash val="solid"/>
          </a:ln>
        </p:spPr>
      </p:sp>
      <p:sp>
        <p:nvSpPr>
          <p:cNvPr id="56" name="Shape 54"/>
          <p:cNvSpPr/>
          <p:nvPr/>
        </p:nvSpPr>
        <p:spPr>
          <a:xfrm>
            <a:off x="5596128" y="3447288"/>
            <a:ext cx="-198882" cy="329184"/>
          </a:xfrm>
          <a:prstGeom prst="line">
            <a:avLst/>
          </a:prstGeom>
          <a:noFill/>
          <a:ln w="6350">
            <a:solidFill>
              <a:srgbClr val="8A93AB"/>
            </a:solidFill>
            <a:prstDash val="solid"/>
          </a:ln>
        </p:spPr>
      </p:sp>
      <p:sp>
        <p:nvSpPr>
          <p:cNvPr id="57" name="Shape 55"/>
          <p:cNvSpPr/>
          <p:nvPr/>
        </p:nvSpPr>
        <p:spPr>
          <a:xfrm>
            <a:off x="5993892" y="3447288"/>
            <a:ext cx="-596646" cy="329184"/>
          </a:xfrm>
          <a:prstGeom prst="line">
            <a:avLst/>
          </a:prstGeom>
          <a:noFill/>
          <a:ln w="6350">
            <a:solidFill>
              <a:srgbClr val="8A93AB"/>
            </a:solidFill>
            <a:prstDash val="solid"/>
          </a:ln>
        </p:spPr>
      </p:sp>
      <p:sp>
        <p:nvSpPr>
          <p:cNvPr id="58" name="Shape 56"/>
          <p:cNvSpPr/>
          <p:nvPr/>
        </p:nvSpPr>
        <p:spPr>
          <a:xfrm>
            <a:off x="6391656" y="3447288"/>
            <a:ext cx="596646" cy="329184"/>
          </a:xfrm>
          <a:prstGeom prst="line">
            <a:avLst/>
          </a:prstGeom>
          <a:noFill/>
          <a:ln w="6350">
            <a:solidFill>
              <a:srgbClr val="8A93AB"/>
            </a:solidFill>
            <a:prstDash val="solid"/>
          </a:ln>
        </p:spPr>
      </p:sp>
      <p:sp>
        <p:nvSpPr>
          <p:cNvPr id="59" name="Shape 57"/>
          <p:cNvSpPr/>
          <p:nvPr/>
        </p:nvSpPr>
        <p:spPr>
          <a:xfrm>
            <a:off x="6789420" y="3447288"/>
            <a:ext cx="198882" cy="329184"/>
          </a:xfrm>
          <a:prstGeom prst="line">
            <a:avLst/>
          </a:prstGeom>
          <a:noFill/>
          <a:ln w="6350">
            <a:solidFill>
              <a:srgbClr val="8A93AB"/>
            </a:solidFill>
            <a:prstDash val="solid"/>
          </a:ln>
        </p:spPr>
      </p:sp>
      <p:sp>
        <p:nvSpPr>
          <p:cNvPr id="60" name="Shape 58"/>
          <p:cNvSpPr/>
          <p:nvPr/>
        </p:nvSpPr>
        <p:spPr>
          <a:xfrm>
            <a:off x="7187184" y="3447288"/>
            <a:ext cx="-198882" cy="329184"/>
          </a:xfrm>
          <a:prstGeom prst="line">
            <a:avLst/>
          </a:prstGeom>
          <a:noFill/>
          <a:ln w="6350">
            <a:solidFill>
              <a:srgbClr val="8A93AB"/>
            </a:solidFill>
            <a:prstDash val="solid"/>
          </a:ln>
        </p:spPr>
      </p:sp>
      <p:sp>
        <p:nvSpPr>
          <p:cNvPr id="61" name="Shape 59"/>
          <p:cNvSpPr/>
          <p:nvPr/>
        </p:nvSpPr>
        <p:spPr>
          <a:xfrm>
            <a:off x="7584948" y="3447288"/>
            <a:ext cx="-596646" cy="329184"/>
          </a:xfrm>
          <a:prstGeom prst="line">
            <a:avLst/>
          </a:prstGeom>
          <a:noFill/>
          <a:ln w="6350">
            <a:solidFill>
              <a:srgbClr val="8A93AB"/>
            </a:solidFill>
            <a:prstDash val="solid"/>
          </a:ln>
        </p:spPr>
      </p:sp>
      <p:sp>
        <p:nvSpPr>
          <p:cNvPr id="62" name="Shape 60"/>
          <p:cNvSpPr/>
          <p:nvPr/>
        </p:nvSpPr>
        <p:spPr>
          <a:xfrm>
            <a:off x="4544568" y="4663440"/>
            <a:ext cx="1417320" cy="384048"/>
          </a:xfrm>
          <a:prstGeom prst="roundRect">
            <a:avLst>
              <a:gd name="adj" fmla="val 50000"/>
            </a:avLst>
          </a:prstGeom>
          <a:solidFill>
            <a:srgbClr val="E2F4F2"/>
          </a:solidFill>
          <a:ln/>
        </p:spPr>
      </p:sp>
      <p:sp>
        <p:nvSpPr>
          <p:cNvPr id="63" name="Text 61"/>
          <p:cNvSpPr/>
          <p:nvPr/>
        </p:nvSpPr>
        <p:spPr>
          <a:xfrm>
            <a:off x="4544568" y="4663440"/>
            <a:ext cx="1417320" cy="384048"/>
          </a:xfrm>
          <a:prstGeom prst="rect">
            <a:avLst/>
          </a:prstGeom>
          <a:noFill/>
          <a:ln/>
        </p:spPr>
        <p:txBody>
          <a:bodyPr wrap="square" lIns="0" tIns="0" rIns="0" bIns="0" rtlCol="0" anchor="ctr"/>
          <a:lstStyle/>
          <a:p>
            <a:pPr algn="ctr" indent="0" marL="0">
              <a:buNone/>
            </a:pPr>
            <a:r>
              <a:rPr lang="en-US" sz="1100" b="1" dirty="0">
                <a:solidFill>
                  <a:srgbClr val="0E9E96"/>
                </a:solidFill>
                <a:latin typeface="Calibri" pitchFamily="34" charset="0"/>
                <a:ea typeface="Calibri" pitchFamily="34" charset="-122"/>
                <a:cs typeface="Calibri" pitchFamily="34" charset="-120"/>
              </a:rPr>
              <a:t>8 Q · 2 K/V</a:t>
            </a:r>
            <a:endParaRPr lang="en-US" sz="1100" dirty="0"/>
          </a:p>
        </p:txBody>
      </p:sp>
      <p:sp>
        <p:nvSpPr>
          <p:cNvPr id="64" name="Text 62"/>
          <p:cNvSpPr/>
          <p:nvPr/>
        </p:nvSpPr>
        <p:spPr>
          <a:xfrm>
            <a:off x="454456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The modern sweet spot</a:t>
            </a:r>
            <a:endParaRPr lang="en-US" sz="1150" dirty="0"/>
          </a:p>
        </p:txBody>
      </p:sp>
      <p:sp>
        <p:nvSpPr>
          <p:cNvPr id="65" name="Shape 63"/>
          <p:cNvSpPr/>
          <p:nvPr/>
        </p:nvSpPr>
        <p:spPr>
          <a:xfrm>
            <a:off x="8065008" y="1965960"/>
            <a:ext cx="3593592" cy="3703320"/>
          </a:xfrm>
          <a:prstGeom prst="roundRect">
            <a:avLst>
              <a:gd name="adj" fmla="val 2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6" name="Text 64"/>
          <p:cNvSpPr/>
          <p:nvPr/>
        </p:nvSpPr>
        <p:spPr>
          <a:xfrm>
            <a:off x="8293608" y="2167128"/>
            <a:ext cx="3136392"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Multi-Query (MQA)</a:t>
            </a:r>
            <a:endParaRPr lang="en-US" sz="1550" dirty="0"/>
          </a:p>
        </p:txBody>
      </p:sp>
      <p:sp>
        <p:nvSpPr>
          <p:cNvPr id="67" name="Text 65"/>
          <p:cNvSpPr/>
          <p:nvPr/>
        </p:nvSpPr>
        <p:spPr>
          <a:xfrm>
            <a:off x="8293608" y="2532888"/>
            <a:ext cx="3136392"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All heads share one K &amp; V</a:t>
            </a:r>
            <a:endParaRPr lang="en-US" sz="1150" dirty="0"/>
          </a:p>
        </p:txBody>
      </p:sp>
      <p:sp>
        <p:nvSpPr>
          <p:cNvPr id="68" name="Shape 66"/>
          <p:cNvSpPr/>
          <p:nvPr/>
        </p:nvSpPr>
        <p:spPr>
          <a:xfrm>
            <a:off x="8385048" y="3108960"/>
            <a:ext cx="329184" cy="329184"/>
          </a:xfrm>
          <a:prstGeom prst="rect">
            <a:avLst/>
          </a:prstGeom>
          <a:solidFill>
            <a:srgbClr val="D9820A"/>
          </a:solidFill>
          <a:ln w="12700">
            <a:solidFill>
              <a:srgbClr val="FFFFFF"/>
            </a:solidFill>
            <a:prstDash val="solid"/>
          </a:ln>
        </p:spPr>
      </p:sp>
      <p:sp>
        <p:nvSpPr>
          <p:cNvPr id="69" name="Shape 67"/>
          <p:cNvSpPr/>
          <p:nvPr/>
        </p:nvSpPr>
        <p:spPr>
          <a:xfrm>
            <a:off x="8782812" y="3108960"/>
            <a:ext cx="329184" cy="329184"/>
          </a:xfrm>
          <a:prstGeom prst="rect">
            <a:avLst/>
          </a:prstGeom>
          <a:solidFill>
            <a:srgbClr val="D9820A"/>
          </a:solidFill>
          <a:ln w="12700">
            <a:solidFill>
              <a:srgbClr val="FFFFFF"/>
            </a:solidFill>
            <a:prstDash val="solid"/>
          </a:ln>
        </p:spPr>
      </p:sp>
      <p:sp>
        <p:nvSpPr>
          <p:cNvPr id="70" name="Shape 68"/>
          <p:cNvSpPr/>
          <p:nvPr/>
        </p:nvSpPr>
        <p:spPr>
          <a:xfrm>
            <a:off x="9180576" y="3108960"/>
            <a:ext cx="329184" cy="329184"/>
          </a:xfrm>
          <a:prstGeom prst="rect">
            <a:avLst/>
          </a:prstGeom>
          <a:solidFill>
            <a:srgbClr val="D9820A"/>
          </a:solidFill>
          <a:ln w="12700">
            <a:solidFill>
              <a:srgbClr val="FFFFFF"/>
            </a:solidFill>
            <a:prstDash val="solid"/>
          </a:ln>
        </p:spPr>
      </p:sp>
      <p:sp>
        <p:nvSpPr>
          <p:cNvPr id="71" name="Shape 69"/>
          <p:cNvSpPr/>
          <p:nvPr/>
        </p:nvSpPr>
        <p:spPr>
          <a:xfrm>
            <a:off x="9578340" y="3108960"/>
            <a:ext cx="329184" cy="329184"/>
          </a:xfrm>
          <a:prstGeom prst="rect">
            <a:avLst/>
          </a:prstGeom>
          <a:solidFill>
            <a:srgbClr val="D9820A"/>
          </a:solidFill>
          <a:ln w="12700">
            <a:solidFill>
              <a:srgbClr val="FFFFFF"/>
            </a:solidFill>
            <a:prstDash val="solid"/>
          </a:ln>
        </p:spPr>
      </p:sp>
      <p:sp>
        <p:nvSpPr>
          <p:cNvPr id="72" name="Shape 70"/>
          <p:cNvSpPr/>
          <p:nvPr/>
        </p:nvSpPr>
        <p:spPr>
          <a:xfrm>
            <a:off x="9976104" y="3108960"/>
            <a:ext cx="329184" cy="329184"/>
          </a:xfrm>
          <a:prstGeom prst="rect">
            <a:avLst/>
          </a:prstGeom>
          <a:solidFill>
            <a:srgbClr val="D9820A"/>
          </a:solidFill>
          <a:ln w="12700">
            <a:solidFill>
              <a:srgbClr val="FFFFFF"/>
            </a:solidFill>
            <a:prstDash val="solid"/>
          </a:ln>
        </p:spPr>
      </p:sp>
      <p:sp>
        <p:nvSpPr>
          <p:cNvPr id="73" name="Shape 71"/>
          <p:cNvSpPr/>
          <p:nvPr/>
        </p:nvSpPr>
        <p:spPr>
          <a:xfrm>
            <a:off x="10373868" y="3108960"/>
            <a:ext cx="329184" cy="329184"/>
          </a:xfrm>
          <a:prstGeom prst="rect">
            <a:avLst/>
          </a:prstGeom>
          <a:solidFill>
            <a:srgbClr val="D9820A"/>
          </a:solidFill>
          <a:ln w="12700">
            <a:solidFill>
              <a:srgbClr val="FFFFFF"/>
            </a:solidFill>
            <a:prstDash val="solid"/>
          </a:ln>
        </p:spPr>
      </p:sp>
      <p:sp>
        <p:nvSpPr>
          <p:cNvPr id="74" name="Shape 72"/>
          <p:cNvSpPr/>
          <p:nvPr/>
        </p:nvSpPr>
        <p:spPr>
          <a:xfrm>
            <a:off x="10771632" y="3108960"/>
            <a:ext cx="329184" cy="329184"/>
          </a:xfrm>
          <a:prstGeom prst="rect">
            <a:avLst/>
          </a:prstGeom>
          <a:solidFill>
            <a:srgbClr val="D9820A"/>
          </a:solidFill>
          <a:ln w="12700">
            <a:solidFill>
              <a:srgbClr val="FFFFFF"/>
            </a:solidFill>
            <a:prstDash val="solid"/>
          </a:ln>
        </p:spPr>
      </p:sp>
      <p:sp>
        <p:nvSpPr>
          <p:cNvPr id="75" name="Shape 73"/>
          <p:cNvSpPr/>
          <p:nvPr/>
        </p:nvSpPr>
        <p:spPr>
          <a:xfrm>
            <a:off x="11169396" y="3108960"/>
            <a:ext cx="329184" cy="329184"/>
          </a:xfrm>
          <a:prstGeom prst="rect">
            <a:avLst/>
          </a:prstGeom>
          <a:solidFill>
            <a:srgbClr val="D9820A"/>
          </a:solidFill>
          <a:ln w="12700">
            <a:solidFill>
              <a:srgbClr val="FFFFFF"/>
            </a:solidFill>
            <a:prstDash val="solid"/>
          </a:ln>
        </p:spPr>
      </p:sp>
      <p:sp>
        <p:nvSpPr>
          <p:cNvPr id="76" name="Text 74"/>
          <p:cNvSpPr/>
          <p:nvPr/>
        </p:nvSpPr>
        <p:spPr>
          <a:xfrm>
            <a:off x="11155680" y="3108960"/>
            <a:ext cx="365760" cy="329184"/>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Q</a:t>
            </a:r>
            <a:endParaRPr lang="en-US" sz="1100" dirty="0"/>
          </a:p>
        </p:txBody>
      </p:sp>
      <p:sp>
        <p:nvSpPr>
          <p:cNvPr id="77" name="Shape 75"/>
          <p:cNvSpPr/>
          <p:nvPr/>
        </p:nvSpPr>
        <p:spPr>
          <a:xfrm>
            <a:off x="8385048" y="3794760"/>
            <a:ext cx="3113532" cy="329184"/>
          </a:xfrm>
          <a:prstGeom prst="rect">
            <a:avLst/>
          </a:prstGeom>
          <a:solidFill>
            <a:srgbClr val="FBEFD8"/>
          </a:solidFill>
          <a:ln w="15875">
            <a:solidFill>
              <a:srgbClr val="D9820A"/>
            </a:solidFill>
            <a:prstDash val="solid"/>
          </a:ln>
        </p:spPr>
      </p:sp>
      <p:sp>
        <p:nvSpPr>
          <p:cNvPr id="78" name="Text 76"/>
          <p:cNvSpPr/>
          <p:nvPr/>
        </p:nvSpPr>
        <p:spPr>
          <a:xfrm>
            <a:off x="11155680" y="3794760"/>
            <a:ext cx="411480" cy="329184"/>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KV</a:t>
            </a:r>
            <a:endParaRPr lang="en-US" sz="1000" dirty="0"/>
          </a:p>
        </p:txBody>
      </p:sp>
      <p:sp>
        <p:nvSpPr>
          <p:cNvPr id="79" name="Shape 77"/>
          <p:cNvSpPr/>
          <p:nvPr/>
        </p:nvSpPr>
        <p:spPr>
          <a:xfrm>
            <a:off x="8549640" y="3447288"/>
            <a:ext cx="1392174" cy="329184"/>
          </a:xfrm>
          <a:prstGeom prst="line">
            <a:avLst/>
          </a:prstGeom>
          <a:noFill/>
          <a:ln w="6350">
            <a:solidFill>
              <a:srgbClr val="8A93AB"/>
            </a:solidFill>
            <a:prstDash val="solid"/>
          </a:ln>
        </p:spPr>
      </p:sp>
      <p:sp>
        <p:nvSpPr>
          <p:cNvPr id="80" name="Shape 78"/>
          <p:cNvSpPr/>
          <p:nvPr/>
        </p:nvSpPr>
        <p:spPr>
          <a:xfrm>
            <a:off x="8947404" y="3447288"/>
            <a:ext cx="994410" cy="329184"/>
          </a:xfrm>
          <a:prstGeom prst="line">
            <a:avLst/>
          </a:prstGeom>
          <a:noFill/>
          <a:ln w="6350">
            <a:solidFill>
              <a:srgbClr val="8A93AB"/>
            </a:solidFill>
            <a:prstDash val="solid"/>
          </a:ln>
        </p:spPr>
      </p:sp>
      <p:sp>
        <p:nvSpPr>
          <p:cNvPr id="81" name="Shape 79"/>
          <p:cNvSpPr/>
          <p:nvPr/>
        </p:nvSpPr>
        <p:spPr>
          <a:xfrm>
            <a:off x="9345168" y="3447288"/>
            <a:ext cx="596646" cy="329184"/>
          </a:xfrm>
          <a:prstGeom prst="line">
            <a:avLst/>
          </a:prstGeom>
          <a:noFill/>
          <a:ln w="6350">
            <a:solidFill>
              <a:srgbClr val="8A93AB"/>
            </a:solidFill>
            <a:prstDash val="solid"/>
          </a:ln>
        </p:spPr>
      </p:sp>
      <p:sp>
        <p:nvSpPr>
          <p:cNvPr id="82" name="Shape 80"/>
          <p:cNvSpPr/>
          <p:nvPr/>
        </p:nvSpPr>
        <p:spPr>
          <a:xfrm>
            <a:off x="9742932" y="3447288"/>
            <a:ext cx="198882" cy="329184"/>
          </a:xfrm>
          <a:prstGeom prst="line">
            <a:avLst/>
          </a:prstGeom>
          <a:noFill/>
          <a:ln w="6350">
            <a:solidFill>
              <a:srgbClr val="8A93AB"/>
            </a:solidFill>
            <a:prstDash val="solid"/>
          </a:ln>
        </p:spPr>
      </p:sp>
      <p:sp>
        <p:nvSpPr>
          <p:cNvPr id="83" name="Shape 81"/>
          <p:cNvSpPr/>
          <p:nvPr/>
        </p:nvSpPr>
        <p:spPr>
          <a:xfrm>
            <a:off x="10140696" y="3447288"/>
            <a:ext cx="-198882" cy="329184"/>
          </a:xfrm>
          <a:prstGeom prst="line">
            <a:avLst/>
          </a:prstGeom>
          <a:noFill/>
          <a:ln w="6350">
            <a:solidFill>
              <a:srgbClr val="8A93AB"/>
            </a:solidFill>
            <a:prstDash val="solid"/>
          </a:ln>
        </p:spPr>
      </p:sp>
      <p:sp>
        <p:nvSpPr>
          <p:cNvPr id="84" name="Shape 82"/>
          <p:cNvSpPr/>
          <p:nvPr/>
        </p:nvSpPr>
        <p:spPr>
          <a:xfrm>
            <a:off x="10538460" y="3447288"/>
            <a:ext cx="-596646" cy="329184"/>
          </a:xfrm>
          <a:prstGeom prst="line">
            <a:avLst/>
          </a:prstGeom>
          <a:noFill/>
          <a:ln w="6350">
            <a:solidFill>
              <a:srgbClr val="8A93AB"/>
            </a:solidFill>
            <a:prstDash val="solid"/>
          </a:ln>
        </p:spPr>
      </p:sp>
      <p:sp>
        <p:nvSpPr>
          <p:cNvPr id="85" name="Shape 83"/>
          <p:cNvSpPr/>
          <p:nvPr/>
        </p:nvSpPr>
        <p:spPr>
          <a:xfrm>
            <a:off x="10936224" y="3447288"/>
            <a:ext cx="-994410" cy="329184"/>
          </a:xfrm>
          <a:prstGeom prst="line">
            <a:avLst/>
          </a:prstGeom>
          <a:noFill/>
          <a:ln w="6350">
            <a:solidFill>
              <a:srgbClr val="8A93AB"/>
            </a:solidFill>
            <a:prstDash val="solid"/>
          </a:ln>
        </p:spPr>
      </p:sp>
      <p:sp>
        <p:nvSpPr>
          <p:cNvPr id="86" name="Shape 84"/>
          <p:cNvSpPr/>
          <p:nvPr/>
        </p:nvSpPr>
        <p:spPr>
          <a:xfrm>
            <a:off x="11333988" y="3447288"/>
            <a:ext cx="-1392174" cy="329184"/>
          </a:xfrm>
          <a:prstGeom prst="line">
            <a:avLst/>
          </a:prstGeom>
          <a:noFill/>
          <a:ln w="6350">
            <a:solidFill>
              <a:srgbClr val="8A93AB"/>
            </a:solidFill>
            <a:prstDash val="solid"/>
          </a:ln>
        </p:spPr>
      </p:sp>
      <p:sp>
        <p:nvSpPr>
          <p:cNvPr id="87" name="Shape 85"/>
          <p:cNvSpPr/>
          <p:nvPr/>
        </p:nvSpPr>
        <p:spPr>
          <a:xfrm>
            <a:off x="8293608" y="4663440"/>
            <a:ext cx="1417320" cy="384048"/>
          </a:xfrm>
          <a:prstGeom prst="roundRect">
            <a:avLst>
              <a:gd name="adj" fmla="val 50000"/>
            </a:avLst>
          </a:prstGeom>
          <a:solidFill>
            <a:srgbClr val="FBEFD8"/>
          </a:solidFill>
          <a:ln/>
        </p:spPr>
      </p:sp>
      <p:sp>
        <p:nvSpPr>
          <p:cNvPr id="88" name="Text 86"/>
          <p:cNvSpPr/>
          <p:nvPr/>
        </p:nvSpPr>
        <p:spPr>
          <a:xfrm>
            <a:off x="8293608" y="4663440"/>
            <a:ext cx="1417320" cy="384048"/>
          </a:xfrm>
          <a:prstGeom prst="rect">
            <a:avLst/>
          </a:prstGeom>
          <a:noFill/>
          <a:ln/>
        </p:spPr>
        <p:txBody>
          <a:bodyPr wrap="square" lIns="0" tIns="0" rIns="0" bIns="0" rtlCol="0" anchor="ctr"/>
          <a:lstStyle/>
          <a:p>
            <a:pPr algn="ctr" indent="0" marL="0">
              <a:buNone/>
            </a:pPr>
            <a:r>
              <a:rPr lang="en-US" sz="1100" b="1" dirty="0">
                <a:solidFill>
                  <a:srgbClr val="D9820A"/>
                </a:solidFill>
                <a:latin typeface="Calibri" pitchFamily="34" charset="0"/>
                <a:ea typeface="Calibri" pitchFamily="34" charset="-122"/>
                <a:cs typeface="Calibri" pitchFamily="34" charset="-120"/>
              </a:rPr>
              <a:t>8 Q · 1 K/V</a:t>
            </a:r>
            <a:endParaRPr lang="en-US" sz="1100" dirty="0"/>
          </a:p>
        </p:txBody>
      </p:sp>
      <p:sp>
        <p:nvSpPr>
          <p:cNvPr id="89" name="Text 87"/>
          <p:cNvSpPr/>
          <p:nvPr/>
        </p:nvSpPr>
        <p:spPr>
          <a:xfrm>
            <a:off x="8293608" y="5120640"/>
            <a:ext cx="3136392" cy="457200"/>
          </a:xfrm>
          <a:prstGeom prst="rect">
            <a:avLst/>
          </a:prstGeom>
          <a:noFill/>
          <a:ln/>
        </p:spPr>
        <p:txBody>
          <a:bodyPr wrap="square" lIns="0" tIns="0" rIns="0" bIns="0" rtlCol="0" anchor="ctr"/>
          <a:lstStyle/>
          <a:p>
            <a:pPr indent="0" marL="0">
              <a:lnSpc>
                <a:spcPct val="105000"/>
              </a:lnSpc>
              <a:buNone/>
            </a:pPr>
            <a:r>
              <a:rPr lang="en-US" sz="1150" i="1" dirty="0">
                <a:solidFill>
                  <a:srgbClr val="5A6685"/>
                </a:solidFill>
                <a:latin typeface="Calibri" pitchFamily="34" charset="0"/>
                <a:ea typeface="Calibri" pitchFamily="34" charset="-122"/>
                <a:cs typeface="Calibri" pitchFamily="34" charset="-120"/>
              </a:rPr>
              <a:t>Smallest cache, fastest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3 · SPEED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FlashAttention — make attention IO-aware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Dao, Fu, Ermon, Rudra &amp; Ré, 'FlashAttention', arXiv:2205.14135 · FlashAttention-2 (arXiv:2307.08691)</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66928" y="1600200"/>
            <a:ext cx="562356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74920" cy="329184"/>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Same maths, smarter memory movement</a:t>
            </a:r>
            <a:endParaRPr lang="en-US" sz="1550" dirty="0"/>
          </a:p>
        </p:txBody>
      </p:sp>
      <p:sp>
        <p:nvSpPr>
          <p:cNvPr id="8" name="Text 6"/>
          <p:cNvSpPr/>
          <p:nvPr/>
        </p:nvSpPr>
        <p:spPr>
          <a:xfrm>
            <a:off x="841248" y="2176272"/>
            <a:ext cx="5120640" cy="914400"/>
          </a:xfrm>
          <a:prstGeom prst="rect">
            <a:avLst/>
          </a:prstGeom>
          <a:noFill/>
          <a:ln/>
        </p:spPr>
        <p:txBody>
          <a:bodyPr wrap="square" lIns="0" tIns="0" rIns="0" bIns="0" rtlCol="0" anchor="ctr"/>
          <a:lstStyle/>
          <a:p>
            <a:pPr indent="0" marL="0">
              <a:lnSpc>
                <a:spcPct val="113000"/>
              </a:lnSpc>
              <a:buNone/>
            </a:pPr>
            <a:r>
              <a:rPr lang="en-US" sz="1240" dirty="0">
                <a:solidFill>
                  <a:srgbClr val="5A6685"/>
                </a:solidFill>
                <a:latin typeface="Calibri" pitchFamily="34" charset="0"/>
                <a:ea typeface="Calibri" pitchFamily="34" charset="-122"/>
                <a:cs typeface="Calibri" pitchFamily="34" charset="-120"/>
              </a:rPr>
              <a:t>The bottleneck in attention isn't FLOPs — it's shuttling the huge N×N score matrix to and from slow GPU memory (HBM). FlashAttention never materialises that matrix.</a:t>
            </a:r>
            <a:endParaRPr lang="en-US" sz="1240" dirty="0"/>
          </a:p>
        </p:txBody>
      </p:sp>
      <p:sp>
        <p:nvSpPr>
          <p:cNvPr id="9" name="Text 7"/>
          <p:cNvSpPr/>
          <p:nvPr/>
        </p:nvSpPr>
        <p:spPr>
          <a:xfrm>
            <a:off x="859536" y="3108960"/>
            <a:ext cx="5074920" cy="1828800"/>
          </a:xfrm>
          <a:prstGeom prst="rect">
            <a:avLst/>
          </a:prstGeom>
          <a:noFill/>
          <a:ln/>
        </p:spPr>
        <p:txBody>
          <a:bodyPr wrap="square" lIns="25400" tIns="25400" rIns="25400" bIns="25400" rtlCol="0" anchor="t"/>
          <a:lstStyle/>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Tiles Q, K, V into blocks that fit in fast on-chip SRAM</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Computes attention block-by-block (online softmax)</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Exact result — no approximation, just better IO</a:t>
            </a:r>
            <a:endParaRPr lang="en-US" sz="1190" dirty="0"/>
          </a:p>
          <a:p>
            <a:pPr marL="177800" indent="-177800">
              <a:lnSpc>
                <a:spcPct val="104000"/>
              </a:lnSpc>
              <a:spcAft>
                <a:spcPts val="600"/>
              </a:spcAft>
              <a:buSzPct val="100000"/>
              <a:buChar char="•"/>
            </a:pPr>
            <a:r>
              <a:rPr lang="en-US" sz="1190" dirty="0">
                <a:solidFill>
                  <a:srgbClr val="1B2440"/>
                </a:solidFill>
                <a:latin typeface="Calibri" pitchFamily="34" charset="0"/>
                <a:ea typeface="Calibri" pitchFamily="34" charset="-122"/>
                <a:cs typeface="Calibri" pitchFamily="34" charset="-120"/>
              </a:rPr>
              <a:t>Memory grows linearly, not quadratically, with length</a:t>
            </a:r>
            <a:endParaRPr lang="en-US" sz="1190" dirty="0"/>
          </a:p>
        </p:txBody>
      </p:sp>
      <p:sp>
        <p:nvSpPr>
          <p:cNvPr id="10" name="Shape 8"/>
          <p:cNvSpPr/>
          <p:nvPr/>
        </p:nvSpPr>
        <p:spPr>
          <a:xfrm>
            <a:off x="841248" y="5074920"/>
            <a:ext cx="5074920" cy="777240"/>
          </a:xfrm>
          <a:prstGeom prst="roundRect">
            <a:avLst>
              <a:gd name="adj" fmla="val 11765"/>
            </a:avLst>
          </a:prstGeom>
          <a:solidFill>
            <a:srgbClr val="FFFFFF"/>
          </a:solidFill>
          <a:ln w="15875">
            <a:solidFill>
              <a:srgbClr val="0E9E96"/>
            </a:solidFill>
            <a:prstDash val="solid"/>
          </a:ln>
        </p:spPr>
      </p:sp>
      <p:sp>
        <p:nvSpPr>
          <p:cNvPr id="11" name="Text 9"/>
          <p:cNvSpPr/>
          <p:nvPr/>
        </p:nvSpPr>
        <p:spPr>
          <a:xfrm>
            <a:off x="1024128" y="5074920"/>
            <a:ext cx="4754880" cy="777240"/>
          </a:xfrm>
          <a:prstGeom prst="rect">
            <a:avLst/>
          </a:prstGeom>
          <a:noFill/>
          <a:ln/>
        </p:spPr>
        <p:txBody>
          <a:bodyPr wrap="square" lIns="0" tIns="0" rIns="0" bIns="0" rtlCol="0" anchor="ctr"/>
          <a:lstStyle/>
          <a:p>
            <a:pPr indent="0" marL="0">
              <a:lnSpc>
                <a:spcPct val="110000"/>
              </a:lnSpc>
              <a:buNone/>
            </a:pPr>
            <a:r>
              <a:rPr lang="en-US" sz="1200" b="1" dirty="0">
                <a:solidFill>
                  <a:srgbClr val="0E9E96"/>
                </a:solidFill>
                <a:latin typeface="Calibri" pitchFamily="34" charset="0"/>
                <a:ea typeface="Calibri" pitchFamily="34" charset="-122"/>
                <a:cs typeface="Calibri" pitchFamily="34" charset="-120"/>
              </a:rPr>
              <a:t>Result:  </a:t>
            </a:r>
            <a:pPr indent="0" marL="0">
              <a:lnSpc>
                <a:spcPct val="110000"/>
              </a:lnSpc>
              <a:buNone/>
            </a:pPr>
            <a:r>
              <a:rPr lang="en-US" sz="1200" dirty="0">
                <a:solidFill>
                  <a:srgbClr val="1B2440"/>
                </a:solidFill>
                <a:latin typeface="Calibri" pitchFamily="34" charset="0"/>
                <a:ea typeface="Calibri" pitchFamily="34" charset="-122"/>
                <a:cs typeface="Calibri" pitchFamily="34" charset="-120"/>
              </a:rPr>
              <a:t>multiple-× faster training &amp; inference and the practical enabler of today's long context windows.</a:t>
            </a:r>
            <a:endParaRPr lang="en-US" sz="1200" dirty="0"/>
          </a:p>
        </p:txBody>
      </p:sp>
      <p:sp>
        <p:nvSpPr>
          <p:cNvPr id="12" name="Shape 10"/>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Text 11"/>
          <p:cNvSpPr/>
          <p:nvPr/>
        </p:nvSpPr>
        <p:spPr>
          <a:xfrm>
            <a:off x="6812280" y="1783080"/>
            <a:ext cx="4572000" cy="310896"/>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GPU memory hierarchy</a:t>
            </a:r>
            <a:endParaRPr lang="en-US" sz="1300" dirty="0"/>
          </a:p>
        </p:txBody>
      </p:sp>
      <p:sp>
        <p:nvSpPr>
          <p:cNvPr id="14" name="Shape 12"/>
          <p:cNvSpPr/>
          <p:nvPr/>
        </p:nvSpPr>
        <p:spPr>
          <a:xfrm>
            <a:off x="6995160" y="2240280"/>
            <a:ext cx="4206240" cy="841248"/>
          </a:xfrm>
          <a:prstGeom prst="roundRect">
            <a:avLst>
              <a:gd name="adj" fmla="val 8696"/>
            </a:avLst>
          </a:prstGeom>
          <a:solidFill>
            <a:srgbClr val="0E9E96"/>
          </a:solidFill>
          <a:ln/>
        </p:spPr>
      </p:sp>
      <p:sp>
        <p:nvSpPr>
          <p:cNvPr id="15" name="Text 13"/>
          <p:cNvSpPr/>
          <p:nvPr/>
        </p:nvSpPr>
        <p:spPr>
          <a:xfrm>
            <a:off x="6995160" y="2331720"/>
            <a:ext cx="420624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SRAM (on-chip)</a:t>
            </a:r>
            <a:endParaRPr lang="en-US" sz="1300" dirty="0"/>
          </a:p>
        </p:txBody>
      </p:sp>
      <p:sp>
        <p:nvSpPr>
          <p:cNvPr id="16" name="Text 14"/>
          <p:cNvSpPr/>
          <p:nvPr/>
        </p:nvSpPr>
        <p:spPr>
          <a:xfrm>
            <a:off x="6995160" y="2642616"/>
            <a:ext cx="420624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~19 TB/s · tiny</a:t>
            </a:r>
            <a:endParaRPr lang="en-US" sz="1050" dirty="0"/>
          </a:p>
        </p:txBody>
      </p:sp>
      <p:sp>
        <p:nvSpPr>
          <p:cNvPr id="17" name="Text 15"/>
          <p:cNvSpPr/>
          <p:nvPr/>
        </p:nvSpPr>
        <p:spPr>
          <a:xfrm>
            <a:off x="6766560" y="2807208"/>
            <a:ext cx="4663440" cy="274320"/>
          </a:xfrm>
          <a:prstGeom prst="rect">
            <a:avLst/>
          </a:prstGeom>
          <a:noFill/>
          <a:ln/>
        </p:spPr>
        <p:txBody>
          <a:bodyPr wrap="square" lIns="0" tIns="0" rIns="0" bIns="0" rtlCol="0" anchor="ctr"/>
          <a:lstStyle/>
          <a:p>
            <a:pPr algn="ctr" indent="0" marL="0">
              <a:buNone/>
            </a:pPr>
            <a:r>
              <a:rPr lang="en-US" sz="950" b="1" i="1" dirty="0">
                <a:solidFill>
                  <a:srgbClr val="0E9E96"/>
                </a:solidFill>
                <a:latin typeface="Calibri" pitchFamily="34" charset="0"/>
                <a:ea typeface="Calibri" pitchFamily="34" charset="-122"/>
                <a:cs typeface="Calibri" pitchFamily="34" charset="-120"/>
              </a:rPr>
              <a:t>FlashAttention keeps work HERE</a:t>
            </a:r>
            <a:endParaRPr lang="en-US" sz="950" dirty="0"/>
          </a:p>
        </p:txBody>
      </p:sp>
      <p:sp>
        <p:nvSpPr>
          <p:cNvPr id="18" name="Shape 16"/>
          <p:cNvSpPr/>
          <p:nvPr/>
        </p:nvSpPr>
        <p:spPr>
          <a:xfrm>
            <a:off x="7726680" y="3291840"/>
            <a:ext cx="2743200" cy="841248"/>
          </a:xfrm>
          <a:prstGeom prst="roundRect">
            <a:avLst>
              <a:gd name="adj" fmla="val 8696"/>
            </a:avLst>
          </a:prstGeom>
          <a:solidFill>
            <a:srgbClr val="D9820A"/>
          </a:solidFill>
          <a:ln/>
        </p:spPr>
      </p:sp>
      <p:sp>
        <p:nvSpPr>
          <p:cNvPr id="19" name="Text 17"/>
          <p:cNvSpPr/>
          <p:nvPr/>
        </p:nvSpPr>
        <p:spPr>
          <a:xfrm>
            <a:off x="7726680" y="3383280"/>
            <a:ext cx="27432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HBM (GPU RAM)</a:t>
            </a:r>
            <a:endParaRPr lang="en-US" sz="1300" dirty="0"/>
          </a:p>
        </p:txBody>
      </p:sp>
      <p:sp>
        <p:nvSpPr>
          <p:cNvPr id="20" name="Text 18"/>
          <p:cNvSpPr/>
          <p:nvPr/>
        </p:nvSpPr>
        <p:spPr>
          <a:xfrm>
            <a:off x="7726680" y="3694176"/>
            <a:ext cx="274320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~1.5 TB/s · GBs</a:t>
            </a:r>
            <a:endParaRPr lang="en-US" sz="1050" dirty="0"/>
          </a:p>
        </p:txBody>
      </p:sp>
      <p:sp>
        <p:nvSpPr>
          <p:cNvPr id="21" name="Text 19"/>
          <p:cNvSpPr/>
          <p:nvPr/>
        </p:nvSpPr>
        <p:spPr>
          <a:xfrm>
            <a:off x="6766560" y="3858768"/>
            <a:ext cx="4663440" cy="274320"/>
          </a:xfrm>
          <a:prstGeom prst="rect">
            <a:avLst/>
          </a:prstGeom>
          <a:noFill/>
          <a:ln/>
        </p:spPr>
        <p:txBody>
          <a:bodyPr wrap="square" lIns="0" tIns="0" rIns="0" bIns="0" rtlCol="0" anchor="ctr"/>
          <a:lstStyle/>
          <a:p>
            <a:pPr algn="ctr" indent="0" marL="0">
              <a:buNone/>
            </a:pPr>
            <a:r>
              <a:rPr lang="en-US" sz="950" b="1" i="1" dirty="0">
                <a:solidFill>
                  <a:srgbClr val="D9820A"/>
                </a:solidFill>
                <a:latin typeface="Calibri" pitchFamily="34" charset="0"/>
                <a:ea typeface="Calibri" pitchFamily="34" charset="-122"/>
                <a:cs typeface="Calibri" pitchFamily="34" charset="-120"/>
              </a:rPr>
              <a:t>naive attention thrashes HERE</a:t>
            </a:r>
            <a:endParaRPr lang="en-US" sz="950" dirty="0"/>
          </a:p>
        </p:txBody>
      </p:sp>
      <p:sp>
        <p:nvSpPr>
          <p:cNvPr id="22" name="Shape 20"/>
          <p:cNvSpPr/>
          <p:nvPr/>
        </p:nvSpPr>
        <p:spPr>
          <a:xfrm>
            <a:off x="8503920" y="4343400"/>
            <a:ext cx="1188720" cy="841248"/>
          </a:xfrm>
          <a:prstGeom prst="roundRect">
            <a:avLst>
              <a:gd name="adj" fmla="val 8696"/>
            </a:avLst>
          </a:prstGeom>
          <a:solidFill>
            <a:srgbClr val="8A93AB"/>
          </a:solidFill>
          <a:ln/>
        </p:spPr>
      </p:sp>
      <p:sp>
        <p:nvSpPr>
          <p:cNvPr id="23" name="Text 21"/>
          <p:cNvSpPr/>
          <p:nvPr/>
        </p:nvSpPr>
        <p:spPr>
          <a:xfrm>
            <a:off x="8503920" y="4434840"/>
            <a:ext cx="118872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DRAM (CPU)</a:t>
            </a:r>
            <a:endParaRPr lang="en-US" sz="1300" dirty="0"/>
          </a:p>
        </p:txBody>
      </p:sp>
      <p:sp>
        <p:nvSpPr>
          <p:cNvPr id="24" name="Text 22"/>
          <p:cNvSpPr/>
          <p:nvPr/>
        </p:nvSpPr>
        <p:spPr>
          <a:xfrm>
            <a:off x="8503920" y="4745736"/>
            <a:ext cx="1188720" cy="274320"/>
          </a:xfrm>
          <a:prstGeom prst="rect">
            <a:avLst/>
          </a:prstGeom>
          <a:noFill/>
          <a:ln/>
        </p:spPr>
        <p:txBody>
          <a:bodyPr wrap="square" lIns="0" tIns="0" rIns="0" bIns="0" rtlCol="0" anchor="ctr"/>
          <a:lstStyle/>
          <a:p>
            <a:pPr algn="ctr" indent="0" marL="0">
              <a:buNone/>
            </a:pPr>
            <a:r>
              <a:rPr lang="en-US" sz="1050" dirty="0">
                <a:solidFill>
                  <a:srgbClr val="F2F4FA"/>
                </a:solidFill>
                <a:latin typeface="Calibri" pitchFamily="34" charset="0"/>
                <a:ea typeface="Calibri" pitchFamily="34" charset="-122"/>
                <a:cs typeface="Calibri" pitchFamily="34" charset="-120"/>
              </a:rPr>
              <a:t>~12 GB/s · huge</a:t>
            </a:r>
            <a:endParaRPr lang="en-US" sz="1050" dirty="0"/>
          </a:p>
        </p:txBody>
      </p:sp>
      <p:sp>
        <p:nvSpPr>
          <p:cNvPr id="25" name="Text 23"/>
          <p:cNvSpPr/>
          <p:nvPr/>
        </p:nvSpPr>
        <p:spPr>
          <a:xfrm>
            <a:off x="6858000" y="5532120"/>
            <a:ext cx="4480560" cy="457200"/>
          </a:xfrm>
          <a:prstGeom prst="rect">
            <a:avLst/>
          </a:prstGeom>
          <a:noFill/>
          <a:ln/>
        </p:spPr>
        <p:txBody>
          <a:bodyPr wrap="square" lIns="0" tIns="0" rIns="0" bIns="0" rtlCol="0" anchor="ctr"/>
          <a:lstStyle/>
          <a:p>
            <a:pPr algn="ctr" indent="0" marL="0">
              <a:lnSpc>
                <a:spcPct val="108000"/>
              </a:lnSpc>
              <a:buNone/>
            </a:pPr>
            <a:r>
              <a:rPr lang="en-US" sz="1050" i="1" dirty="0">
                <a:solidFill>
                  <a:srgbClr val="5A6685"/>
                </a:solidFill>
                <a:latin typeface="Calibri" pitchFamily="34" charset="0"/>
                <a:ea typeface="Calibri" pitchFamily="34" charset="-122"/>
                <a:cs typeface="Calibri" pitchFamily="34" charset="-120"/>
              </a:rPr>
              <a:t>Faster + smaller as you go up. The trick is doing more work in SRAM and touching HBM as little as possible.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4 · SCALE ECONOMICS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Mixture-of-Experts — scale params, not cost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Shazeer et al., Sparsely-Gated MoE (arXiv:1701.06538) · Jiang et al., Mixtral · DeepSeek-V3 (arXiv:2412.19437)</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600200"/>
            <a:ext cx="5623560" cy="4434840"/>
          </a:xfrm>
          <a:prstGeom prst="roundRect">
            <a:avLst>
              <a:gd name="adj" fmla="val 20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Text 5"/>
          <p:cNvSpPr/>
          <p:nvPr/>
        </p:nvSpPr>
        <p:spPr>
          <a:xfrm>
            <a:off x="841248" y="1783080"/>
            <a:ext cx="507492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A router sends each token to a few experts</a:t>
            </a:r>
            <a:endParaRPr lang="en-US" sz="1500" dirty="0"/>
          </a:p>
        </p:txBody>
      </p:sp>
      <p:sp>
        <p:nvSpPr>
          <p:cNvPr id="8" name="Shape 6"/>
          <p:cNvSpPr/>
          <p:nvPr/>
        </p:nvSpPr>
        <p:spPr>
          <a:xfrm>
            <a:off x="2624328" y="2331720"/>
            <a:ext cx="1828800" cy="457200"/>
          </a:xfrm>
          <a:prstGeom prst="roundRect">
            <a:avLst>
              <a:gd name="adj" fmla="val 12000"/>
            </a:avLst>
          </a:prstGeom>
          <a:solidFill>
            <a:srgbClr val="16213E"/>
          </a:solidFill>
          <a:ln/>
        </p:spPr>
      </p:sp>
      <p:sp>
        <p:nvSpPr>
          <p:cNvPr id="9" name="Text 7"/>
          <p:cNvSpPr/>
          <p:nvPr/>
        </p:nvSpPr>
        <p:spPr>
          <a:xfrm>
            <a:off x="2624328" y="2331720"/>
            <a:ext cx="1828800" cy="45720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token</a:t>
            </a:r>
            <a:endParaRPr lang="en-US" sz="1150" dirty="0"/>
          </a:p>
        </p:txBody>
      </p:sp>
      <p:sp>
        <p:nvSpPr>
          <p:cNvPr id="10" name="Shape 8"/>
          <p:cNvSpPr/>
          <p:nvPr/>
        </p:nvSpPr>
        <p:spPr>
          <a:xfrm>
            <a:off x="2487168" y="3017520"/>
            <a:ext cx="2103120" cy="502920"/>
          </a:xfrm>
          <a:prstGeom prst="roundRect">
            <a:avLst>
              <a:gd name="adj" fmla="val 10909"/>
            </a:avLst>
          </a:prstGeom>
          <a:solidFill>
            <a:srgbClr val="5B4BE0"/>
          </a:solidFill>
          <a:ln/>
        </p:spPr>
      </p:sp>
      <p:sp>
        <p:nvSpPr>
          <p:cNvPr id="11" name="Text 9"/>
          <p:cNvSpPr/>
          <p:nvPr/>
        </p:nvSpPr>
        <p:spPr>
          <a:xfrm>
            <a:off x="2487168" y="3017520"/>
            <a:ext cx="2103120" cy="502920"/>
          </a:xfrm>
          <a:prstGeom prst="rect">
            <a:avLst/>
          </a:prstGeom>
          <a:noFill/>
          <a:ln/>
        </p:spPr>
        <p:txBody>
          <a:bodyPr wrap="square" lIns="25400" tIns="25400" rIns="25400" bIns="2540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Router (gate)</a:t>
            </a:r>
            <a:endParaRPr lang="en-US" sz="1200" dirty="0"/>
          </a:p>
        </p:txBody>
      </p:sp>
      <p:sp>
        <p:nvSpPr>
          <p:cNvPr id="12" name="Shape 10"/>
          <p:cNvSpPr/>
          <p:nvPr/>
        </p:nvSpPr>
        <p:spPr>
          <a:xfrm>
            <a:off x="3538728" y="2788920"/>
            <a:ext cx="0" cy="201168"/>
          </a:xfrm>
          <a:prstGeom prst="line">
            <a:avLst/>
          </a:prstGeom>
          <a:noFill/>
          <a:ln w="22225">
            <a:solidFill>
              <a:srgbClr val="8A93AB"/>
            </a:solidFill>
            <a:prstDash val="solid"/>
            <a:tailEnd type="triangle"/>
          </a:ln>
        </p:spPr>
      </p:sp>
      <p:sp>
        <p:nvSpPr>
          <p:cNvPr id="13" name="Shape 11"/>
          <p:cNvSpPr/>
          <p:nvPr/>
        </p:nvSpPr>
        <p:spPr>
          <a:xfrm>
            <a:off x="1069848" y="3931920"/>
            <a:ext cx="713232" cy="566928"/>
          </a:xfrm>
          <a:prstGeom prst="roundRect">
            <a:avLst>
              <a:gd name="adj" fmla="val 9677"/>
            </a:avLst>
          </a:prstGeom>
          <a:solidFill>
            <a:srgbClr val="0E9E96"/>
          </a:solidFill>
          <a:ln w="15875">
            <a:solidFill>
              <a:srgbClr val="0E9E96"/>
            </a:solidFill>
            <a:prstDash val="solid"/>
          </a:ln>
        </p:spPr>
      </p:sp>
      <p:sp>
        <p:nvSpPr>
          <p:cNvPr id="14" name="Text 12"/>
          <p:cNvSpPr/>
          <p:nvPr/>
        </p:nvSpPr>
        <p:spPr>
          <a:xfrm>
            <a:off x="1069848" y="3931920"/>
            <a:ext cx="7132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E1</a:t>
            </a:r>
            <a:endParaRPr lang="en-US" sz="1200" dirty="0"/>
          </a:p>
        </p:txBody>
      </p:sp>
      <p:sp>
        <p:nvSpPr>
          <p:cNvPr id="15" name="Shape 13"/>
          <p:cNvSpPr/>
          <p:nvPr/>
        </p:nvSpPr>
        <p:spPr>
          <a:xfrm>
            <a:off x="3538728" y="3520440"/>
            <a:ext cx="-2112264" cy="393192"/>
          </a:xfrm>
          <a:prstGeom prst="line">
            <a:avLst/>
          </a:prstGeom>
          <a:noFill/>
          <a:ln w="22225">
            <a:solidFill>
              <a:srgbClr val="0E9E96"/>
            </a:solidFill>
            <a:prstDash val="solid"/>
            <a:tailEnd type="triangle"/>
          </a:ln>
        </p:spPr>
      </p:sp>
      <p:sp>
        <p:nvSpPr>
          <p:cNvPr id="16" name="Shape 14"/>
          <p:cNvSpPr/>
          <p:nvPr/>
        </p:nvSpPr>
        <p:spPr>
          <a:xfrm>
            <a:off x="1920240" y="3931920"/>
            <a:ext cx="713232" cy="566928"/>
          </a:xfrm>
          <a:prstGeom prst="roundRect">
            <a:avLst>
              <a:gd name="adj" fmla="val 9677"/>
            </a:avLst>
          </a:prstGeom>
          <a:solidFill>
            <a:srgbClr val="F4F5F9"/>
          </a:solidFill>
          <a:ln w="15875">
            <a:solidFill>
              <a:srgbClr val="DDE1EC"/>
            </a:solidFill>
            <a:prstDash val="solid"/>
          </a:ln>
        </p:spPr>
      </p:sp>
      <p:sp>
        <p:nvSpPr>
          <p:cNvPr id="17" name="Text 15"/>
          <p:cNvSpPr/>
          <p:nvPr/>
        </p:nvSpPr>
        <p:spPr>
          <a:xfrm>
            <a:off x="1920240"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E2</a:t>
            </a:r>
            <a:endParaRPr lang="en-US" sz="1200" dirty="0"/>
          </a:p>
        </p:txBody>
      </p:sp>
      <p:sp>
        <p:nvSpPr>
          <p:cNvPr id="18" name="Shape 16"/>
          <p:cNvSpPr/>
          <p:nvPr/>
        </p:nvSpPr>
        <p:spPr>
          <a:xfrm>
            <a:off x="2770632" y="3931920"/>
            <a:ext cx="713232" cy="566928"/>
          </a:xfrm>
          <a:prstGeom prst="roundRect">
            <a:avLst>
              <a:gd name="adj" fmla="val 9677"/>
            </a:avLst>
          </a:prstGeom>
          <a:solidFill>
            <a:srgbClr val="D9820A"/>
          </a:solidFill>
          <a:ln w="15875">
            <a:solidFill>
              <a:srgbClr val="D9820A"/>
            </a:solidFill>
            <a:prstDash val="solid"/>
          </a:ln>
        </p:spPr>
      </p:sp>
      <p:sp>
        <p:nvSpPr>
          <p:cNvPr id="19" name="Text 17"/>
          <p:cNvSpPr/>
          <p:nvPr/>
        </p:nvSpPr>
        <p:spPr>
          <a:xfrm>
            <a:off x="2770632" y="3931920"/>
            <a:ext cx="7132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E3</a:t>
            </a:r>
            <a:endParaRPr lang="en-US" sz="1200" dirty="0"/>
          </a:p>
        </p:txBody>
      </p:sp>
      <p:sp>
        <p:nvSpPr>
          <p:cNvPr id="20" name="Shape 18"/>
          <p:cNvSpPr/>
          <p:nvPr/>
        </p:nvSpPr>
        <p:spPr>
          <a:xfrm>
            <a:off x="3538728" y="3520440"/>
            <a:ext cx="-411480" cy="393192"/>
          </a:xfrm>
          <a:prstGeom prst="line">
            <a:avLst/>
          </a:prstGeom>
          <a:noFill/>
          <a:ln w="22225">
            <a:solidFill>
              <a:srgbClr val="D9820A"/>
            </a:solidFill>
            <a:prstDash val="solid"/>
            <a:tailEnd type="triangle"/>
          </a:ln>
        </p:spPr>
      </p:sp>
      <p:sp>
        <p:nvSpPr>
          <p:cNvPr id="21" name="Shape 19"/>
          <p:cNvSpPr/>
          <p:nvPr/>
        </p:nvSpPr>
        <p:spPr>
          <a:xfrm>
            <a:off x="3621024" y="3931920"/>
            <a:ext cx="713232" cy="566928"/>
          </a:xfrm>
          <a:prstGeom prst="roundRect">
            <a:avLst>
              <a:gd name="adj" fmla="val 9677"/>
            </a:avLst>
          </a:prstGeom>
          <a:solidFill>
            <a:srgbClr val="F4F5F9"/>
          </a:solidFill>
          <a:ln w="15875">
            <a:solidFill>
              <a:srgbClr val="DDE1EC"/>
            </a:solidFill>
            <a:prstDash val="solid"/>
          </a:ln>
        </p:spPr>
      </p:sp>
      <p:sp>
        <p:nvSpPr>
          <p:cNvPr id="22" name="Text 20"/>
          <p:cNvSpPr/>
          <p:nvPr/>
        </p:nvSpPr>
        <p:spPr>
          <a:xfrm>
            <a:off x="3621024"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E4</a:t>
            </a:r>
            <a:endParaRPr lang="en-US" sz="1200" dirty="0"/>
          </a:p>
        </p:txBody>
      </p:sp>
      <p:sp>
        <p:nvSpPr>
          <p:cNvPr id="23" name="Shape 21"/>
          <p:cNvSpPr/>
          <p:nvPr/>
        </p:nvSpPr>
        <p:spPr>
          <a:xfrm>
            <a:off x="4471416" y="3931920"/>
            <a:ext cx="713232" cy="566928"/>
          </a:xfrm>
          <a:prstGeom prst="roundRect">
            <a:avLst>
              <a:gd name="adj" fmla="val 9677"/>
            </a:avLst>
          </a:prstGeom>
          <a:solidFill>
            <a:srgbClr val="F4F5F9"/>
          </a:solidFill>
          <a:ln w="15875">
            <a:solidFill>
              <a:srgbClr val="DDE1EC"/>
            </a:solidFill>
            <a:prstDash val="solid"/>
          </a:ln>
        </p:spPr>
      </p:sp>
      <p:sp>
        <p:nvSpPr>
          <p:cNvPr id="24" name="Text 22"/>
          <p:cNvSpPr/>
          <p:nvPr/>
        </p:nvSpPr>
        <p:spPr>
          <a:xfrm>
            <a:off x="4471416"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E5</a:t>
            </a:r>
            <a:endParaRPr lang="en-US" sz="1200" dirty="0"/>
          </a:p>
        </p:txBody>
      </p:sp>
      <p:sp>
        <p:nvSpPr>
          <p:cNvPr id="25" name="Shape 23"/>
          <p:cNvSpPr/>
          <p:nvPr/>
        </p:nvSpPr>
        <p:spPr>
          <a:xfrm>
            <a:off x="5321808" y="3931920"/>
            <a:ext cx="713232" cy="566928"/>
          </a:xfrm>
          <a:prstGeom prst="roundRect">
            <a:avLst>
              <a:gd name="adj" fmla="val 9677"/>
            </a:avLst>
          </a:prstGeom>
          <a:solidFill>
            <a:srgbClr val="F4F5F9"/>
          </a:solidFill>
          <a:ln w="15875">
            <a:solidFill>
              <a:srgbClr val="DDE1EC"/>
            </a:solidFill>
            <a:prstDash val="solid"/>
          </a:ln>
        </p:spPr>
      </p:sp>
      <p:sp>
        <p:nvSpPr>
          <p:cNvPr id="26" name="Text 24"/>
          <p:cNvSpPr/>
          <p:nvPr/>
        </p:nvSpPr>
        <p:spPr>
          <a:xfrm>
            <a:off x="5321808" y="3931920"/>
            <a:ext cx="713232" cy="566928"/>
          </a:xfrm>
          <a:prstGeom prst="rect">
            <a:avLst/>
          </a:prstGeom>
          <a:noFill/>
          <a:ln/>
        </p:spPr>
        <p:txBody>
          <a:bodyPr wrap="square" lIns="0" tIns="0" rIns="0" bIns="0" rtlCol="0" anchor="ctr"/>
          <a:lstStyle/>
          <a:p>
            <a:pPr algn="ctr" indent="0" marL="0">
              <a:buNone/>
            </a:pPr>
            <a:r>
              <a:rPr lang="en-US" sz="1200" b="1" dirty="0">
                <a:solidFill>
                  <a:srgbClr val="8A93AB"/>
                </a:solidFill>
                <a:latin typeface="Calibri" pitchFamily="34" charset="0"/>
                <a:ea typeface="Calibri" pitchFamily="34" charset="-122"/>
                <a:cs typeface="Calibri" pitchFamily="34" charset="-120"/>
              </a:rPr>
              <a:t>E6</a:t>
            </a:r>
            <a:endParaRPr lang="en-US" sz="1200" dirty="0"/>
          </a:p>
        </p:txBody>
      </p:sp>
      <p:sp>
        <p:nvSpPr>
          <p:cNvPr id="27" name="Text 25"/>
          <p:cNvSpPr/>
          <p:nvPr/>
        </p:nvSpPr>
        <p:spPr>
          <a:xfrm>
            <a:off x="1069848" y="4617720"/>
            <a:ext cx="4754880" cy="274320"/>
          </a:xfrm>
          <a:prstGeom prst="rect">
            <a:avLst/>
          </a:prstGeom>
          <a:noFill/>
          <a:ln/>
        </p:spPr>
        <p:txBody>
          <a:bodyPr wrap="square" lIns="0" tIns="0" rIns="0" bIns="0" rtlCol="0" anchor="ctr"/>
          <a:lstStyle/>
          <a:p>
            <a:pPr algn="ctr" indent="0" marL="0">
              <a:buNone/>
            </a:pPr>
            <a:r>
              <a:rPr lang="en-US" sz="1050" i="1" dirty="0">
                <a:solidFill>
                  <a:srgbClr val="5A6685"/>
                </a:solidFill>
                <a:latin typeface="Calibri" pitchFamily="34" charset="0"/>
                <a:ea typeface="Calibri" pitchFamily="34" charset="-122"/>
                <a:cs typeface="Calibri" pitchFamily="34" charset="-120"/>
              </a:rPr>
              <a:t>Only the 2 selected experts (green/amber) run for this token</a:t>
            </a:r>
            <a:endParaRPr lang="en-US" sz="1050" dirty="0"/>
          </a:p>
        </p:txBody>
      </p:sp>
      <p:sp>
        <p:nvSpPr>
          <p:cNvPr id="28" name="Text 26"/>
          <p:cNvSpPr/>
          <p:nvPr/>
        </p:nvSpPr>
        <p:spPr>
          <a:xfrm>
            <a:off x="859536" y="5074920"/>
            <a:ext cx="5074920" cy="914400"/>
          </a:xfrm>
          <a:prstGeom prst="rect">
            <a:avLst/>
          </a:prstGeom>
          <a:noFill/>
          <a:ln/>
        </p:spPr>
        <p:txBody>
          <a:bodyPr wrap="square" lIns="25400" tIns="25400" rIns="25400" bIns="25400" rtlCol="0" anchor="t"/>
          <a:lstStyle/>
          <a:p>
            <a:pPr marL="177800" indent="-177800">
              <a:lnSpc>
                <a:spcPct val="104000"/>
              </a:lnSpc>
              <a:spcAft>
                <a:spcPts val="400"/>
              </a:spcAft>
              <a:buSzPct val="100000"/>
              <a:buChar char="•"/>
            </a:pPr>
            <a:r>
              <a:rPr lang="en-US" sz="1180" dirty="0">
                <a:solidFill>
                  <a:srgbClr val="1B2440"/>
                </a:solidFill>
                <a:latin typeface="Calibri" pitchFamily="34" charset="0"/>
                <a:ea typeface="Calibri" pitchFamily="34" charset="-122"/>
                <a:cs typeface="Calibri" pitchFamily="34" charset="-120"/>
              </a:rPr>
              <a:t>Huge total capacity, but only top-k experts activate per token</a:t>
            </a:r>
            <a:endParaRPr lang="en-US" sz="1180" dirty="0"/>
          </a:p>
          <a:p>
            <a:pPr marL="177800" indent="-177800">
              <a:lnSpc>
                <a:spcPct val="104000"/>
              </a:lnSpc>
              <a:spcAft>
                <a:spcPts val="400"/>
              </a:spcAft>
              <a:buSzPct val="100000"/>
              <a:buChar char="•"/>
            </a:pPr>
            <a:r>
              <a:rPr lang="en-US" sz="1180" dirty="0">
                <a:solidFill>
                  <a:srgbClr val="1B2440"/>
                </a:solidFill>
                <a:latin typeface="Calibri" pitchFamily="34" charset="0"/>
                <a:ea typeface="Calibri" pitchFamily="34" charset="-122"/>
                <a:cs typeface="Calibri" pitchFamily="34" charset="-120"/>
              </a:rPr>
              <a:t>Decouples knowledge (total params) from cost (active params)</a:t>
            </a:r>
            <a:endParaRPr lang="en-US" sz="1180" dirty="0"/>
          </a:p>
        </p:txBody>
      </p:sp>
      <p:sp>
        <p:nvSpPr>
          <p:cNvPr id="29" name="Shape 27"/>
          <p:cNvSpPr/>
          <p:nvPr/>
        </p:nvSpPr>
        <p:spPr>
          <a:xfrm>
            <a:off x="6583680" y="1600200"/>
            <a:ext cx="5029200" cy="2103120"/>
          </a:xfrm>
          <a:prstGeom prst="roundRect">
            <a:avLst>
              <a:gd name="adj" fmla="val 4348"/>
            </a:avLst>
          </a:prstGeom>
          <a:solidFill>
            <a:srgbClr val="16213E"/>
          </a:solidFill>
          <a:ln/>
          <a:effectLst>
            <a:outerShdw sx="100000" sy="100000" kx="0" ky="0" algn="bl" rotWithShape="0" blurRad="114300" dist="38100" dir="5400000">
              <a:srgbClr val="9AA2BC">
                <a:alpha val="16000"/>
              </a:srgbClr>
            </a:outerShdw>
          </a:effectLst>
        </p:spPr>
      </p:sp>
      <p:sp>
        <p:nvSpPr>
          <p:cNvPr id="30" name="Text 28"/>
          <p:cNvSpPr/>
          <p:nvPr/>
        </p:nvSpPr>
        <p:spPr>
          <a:xfrm>
            <a:off x="6858000" y="1783080"/>
            <a:ext cx="4480560" cy="310896"/>
          </a:xfrm>
          <a:prstGeom prst="rect">
            <a:avLst/>
          </a:prstGeom>
          <a:noFill/>
          <a:ln/>
        </p:spPr>
        <p:txBody>
          <a:bodyPr wrap="square" lIns="0" tIns="0" rIns="0" bIns="0" rtlCol="0" anchor="ctr"/>
          <a:lstStyle/>
          <a:p>
            <a:pPr indent="0" marL="0">
              <a:buNone/>
            </a:pPr>
            <a:r>
              <a:rPr lang="en-US" sz="1350" b="1" dirty="0">
                <a:solidFill>
                  <a:srgbClr val="7C6FF0"/>
                </a:solidFill>
                <a:latin typeface="Calibri" pitchFamily="34" charset="0"/>
                <a:ea typeface="Calibri" pitchFamily="34" charset="-122"/>
                <a:cs typeface="Calibri" pitchFamily="34" charset="-120"/>
              </a:rPr>
              <a:t>DeepSeek-V3 (Dec 2024)</a:t>
            </a:r>
            <a:endParaRPr lang="en-US" sz="1350" dirty="0"/>
          </a:p>
        </p:txBody>
      </p:sp>
      <p:sp>
        <p:nvSpPr>
          <p:cNvPr id="31" name="Text 29"/>
          <p:cNvSpPr/>
          <p:nvPr/>
        </p:nvSpPr>
        <p:spPr>
          <a:xfrm>
            <a:off x="6858000" y="2194560"/>
            <a:ext cx="4480560"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671B</a:t>
            </a:r>
            <a:pPr algn="l" indent="0" marL="0">
              <a:buNone/>
            </a:pPr>
            <a:r>
              <a:rPr lang="en-US" sz="1500" dirty="0">
                <a:solidFill>
                  <a:srgbClr val="AEB6D6"/>
                </a:solidFill>
                <a:latin typeface="Cambria" pitchFamily="34" charset="0"/>
                <a:ea typeface="Cambria" pitchFamily="34" charset="-122"/>
                <a:cs typeface="Cambria" pitchFamily="34" charset="-120"/>
              </a:rPr>
              <a:t>  total   →   </a:t>
            </a:r>
            <a:pPr algn="l" indent="0" marL="0">
              <a:buNone/>
            </a:pPr>
            <a:r>
              <a:rPr lang="en-US" sz="3400" b="1" dirty="0">
                <a:solidFill>
                  <a:srgbClr val="0E9E96"/>
                </a:solidFill>
                <a:latin typeface="Cambria" pitchFamily="34" charset="0"/>
                <a:ea typeface="Cambria" pitchFamily="34" charset="-122"/>
                <a:cs typeface="Cambria" pitchFamily="34" charset="-120"/>
              </a:rPr>
              <a:t>37B</a:t>
            </a:r>
            <a:pPr algn="l" indent="0" marL="0">
              <a:buNone/>
            </a:pPr>
            <a:r>
              <a:rPr lang="en-US" sz="1500" dirty="0">
                <a:solidFill>
                  <a:srgbClr val="AEB6D6"/>
                </a:solidFill>
                <a:latin typeface="Cambria" pitchFamily="34" charset="0"/>
                <a:ea typeface="Cambria" pitchFamily="34" charset="-122"/>
                <a:cs typeface="Cambria" pitchFamily="34" charset="-120"/>
              </a:rPr>
              <a:t>  active</a:t>
            </a:r>
            <a:endParaRPr lang="en-US" sz="3400" dirty="0"/>
          </a:p>
        </p:txBody>
      </p:sp>
      <p:sp>
        <p:nvSpPr>
          <p:cNvPr id="32" name="Text 30"/>
          <p:cNvSpPr/>
          <p:nvPr/>
        </p:nvSpPr>
        <p:spPr>
          <a:xfrm>
            <a:off x="6858000" y="2971800"/>
            <a:ext cx="4480560" cy="640080"/>
          </a:xfrm>
          <a:prstGeom prst="rect">
            <a:avLst/>
          </a:prstGeom>
          <a:noFill/>
          <a:ln/>
        </p:spPr>
        <p:txBody>
          <a:bodyPr wrap="square" lIns="0" tIns="0" rIns="0" bIns="0" rtlCol="0" anchor="ctr"/>
          <a:lstStyle/>
          <a:p>
            <a:pPr indent="0" marL="0">
              <a:lnSpc>
                <a:spcPct val="112000"/>
              </a:lnSpc>
              <a:buNone/>
            </a:pPr>
            <a:r>
              <a:rPr lang="en-US" sz="1180" dirty="0">
                <a:solidFill>
                  <a:srgbClr val="D8DCEC"/>
                </a:solidFill>
                <a:latin typeface="Calibri" pitchFamily="34" charset="0"/>
                <a:ea typeface="Calibri" pitchFamily="34" charset="-122"/>
                <a:cs typeface="Calibri" pitchFamily="34" charset="-120"/>
              </a:rPr>
              <a:t>Only ~5.5% of parameters run per token — frontier quality, trained for an estimated ~$5.6M.</a:t>
            </a:r>
            <a:endParaRPr lang="en-US" sz="1180" dirty="0"/>
          </a:p>
        </p:txBody>
      </p:sp>
      <p:sp>
        <p:nvSpPr>
          <p:cNvPr id="33" name="Shape 31"/>
          <p:cNvSpPr/>
          <p:nvPr/>
        </p:nvSpPr>
        <p:spPr>
          <a:xfrm>
            <a:off x="6583680" y="3886200"/>
            <a:ext cx="5029200" cy="2148840"/>
          </a:xfrm>
          <a:prstGeom prst="roundRect">
            <a:avLst>
              <a:gd name="adj" fmla="val 4255"/>
            </a:avLst>
          </a:prstGeom>
          <a:solidFill>
            <a:srgbClr val="E2F4F2"/>
          </a:solidFill>
          <a:ln/>
          <a:effectLst>
            <a:outerShdw sx="100000" sy="100000" kx="0" ky="0" algn="bl" rotWithShape="0" blurRad="114300" dist="38100" dir="5400000">
              <a:srgbClr val="9AA2BC">
                <a:alpha val="16000"/>
              </a:srgbClr>
            </a:outerShdw>
          </a:effectLst>
        </p:spPr>
      </p:sp>
      <p:sp>
        <p:nvSpPr>
          <p:cNvPr id="34" name="Text 32"/>
          <p:cNvSpPr/>
          <p:nvPr/>
        </p:nvSpPr>
        <p:spPr>
          <a:xfrm>
            <a:off x="6858000" y="4069080"/>
            <a:ext cx="4480560" cy="310896"/>
          </a:xfrm>
          <a:prstGeom prst="rect">
            <a:avLst/>
          </a:prstGeom>
          <a:noFill/>
          <a:ln/>
        </p:spPr>
        <p:txBody>
          <a:bodyPr wrap="square" lIns="0" tIns="0" rIns="0" bIns="0" rtlCol="0" anchor="ctr"/>
          <a:lstStyle/>
          <a:p>
            <a:pPr indent="0" marL="0">
              <a:buNone/>
            </a:pPr>
            <a:r>
              <a:rPr lang="en-US" sz="1350" b="1" dirty="0">
                <a:solidFill>
                  <a:srgbClr val="0E9E96"/>
                </a:solidFill>
                <a:latin typeface="Calibri" pitchFamily="34" charset="0"/>
                <a:ea typeface="Calibri" pitchFamily="34" charset="-122"/>
                <a:cs typeface="Calibri" pitchFamily="34" charset="-120"/>
              </a:rPr>
              <a:t>Why MoE took over the frontier</a:t>
            </a:r>
            <a:endParaRPr lang="en-US" sz="1350" dirty="0"/>
          </a:p>
        </p:txBody>
      </p:sp>
      <p:sp>
        <p:nvSpPr>
          <p:cNvPr id="35" name="Text 33"/>
          <p:cNvSpPr/>
          <p:nvPr/>
        </p:nvSpPr>
        <p:spPr>
          <a:xfrm>
            <a:off x="6876288" y="4480560"/>
            <a:ext cx="4480560" cy="1463040"/>
          </a:xfrm>
          <a:prstGeom prst="rect">
            <a:avLst/>
          </a:prstGeom>
          <a:noFill/>
          <a:ln/>
        </p:spPr>
        <p:txBody>
          <a:bodyPr wrap="square" lIns="25400" tIns="25400" rIns="25400" bIns="25400" rtlCol="0" anchor="t"/>
          <a:lstStyle/>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Mixtral 8×7B matched a 70B dense model ~6× faster</a:t>
            </a:r>
            <a:endParaRPr lang="en-US" sz="1200" dirty="0"/>
          </a:p>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DeepSeek-V3, Llama 4, Qwen3, GPT-4 (reported) are MoE</a:t>
            </a:r>
            <a:endParaRPr lang="en-US" sz="1200" dirty="0"/>
          </a:p>
          <a:p>
            <a:pPr marL="177800" indent="-177800">
              <a:lnSpc>
                <a:spcPct val="104000"/>
              </a:lnSpc>
              <a:spcAft>
                <a:spcPts val="700"/>
              </a:spcAft>
              <a:buSzPct val="100000"/>
              <a:buChar char="•"/>
            </a:pPr>
            <a:r>
              <a:rPr lang="en-US" sz="1200" dirty="0">
                <a:solidFill>
                  <a:srgbClr val="1B2440"/>
                </a:solidFill>
                <a:latin typeface="Calibri" pitchFamily="34" charset="0"/>
                <a:ea typeface="Calibri" pitchFamily="34" charset="-122"/>
                <a:cs typeface="Calibri" pitchFamily="34" charset="-120"/>
              </a:rPr>
              <a:t>Often paired with Multi-head Latent Attention (MLA)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INNOVATION 5 · TRAINING AT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MuonClip — training a giant model without it crashing</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Kimi K2 Technical Report, Moonshot AI, arXiv:2507.20534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29</a:t>
            </a:r>
            <a:endParaRPr lang="en-US" sz="900" dirty="0"/>
          </a:p>
        </p:txBody>
      </p:sp>
      <p:sp>
        <p:nvSpPr>
          <p:cNvPr id="6" name="Text 4"/>
          <p:cNvSpPr/>
          <p:nvPr/>
        </p:nvSpPr>
        <p:spPr>
          <a:xfrm>
            <a:off x="566928" y="1417320"/>
            <a:ext cx="11064240" cy="365760"/>
          </a:xfrm>
          <a:prstGeom prst="rect">
            <a:avLst/>
          </a:prstGeom>
          <a:noFill/>
          <a:ln/>
        </p:spPr>
        <p:txBody>
          <a:bodyPr wrap="square" lIns="0" tIns="0" rIns="0" bIns="0" rtlCol="0" anchor="ctr"/>
          <a:lstStyle/>
          <a:p>
            <a:pPr indent="0" marL="0">
              <a:lnSpc>
                <a:spcPct val="110000"/>
              </a:lnSpc>
              <a:buNone/>
            </a:pPr>
            <a:r>
              <a:rPr lang="en-US" sz="1300" dirty="0">
                <a:solidFill>
                  <a:srgbClr val="5A6685"/>
                </a:solidFill>
                <a:latin typeface="Calibri" pitchFamily="34" charset="0"/>
                <a:ea typeface="Calibri" pitchFamily="34" charset="-122"/>
                <a:cs typeface="Calibri" pitchFamily="34" charset="-120"/>
              </a:rPr>
              <a:t>Past a trillion parameters, training itself is the bottleneck: one unstable step can wreck a run worth millions in compute.</a:t>
            </a:r>
            <a:endParaRPr lang="en-US" sz="1300" dirty="0"/>
          </a:p>
        </p:txBody>
      </p:sp>
      <p:sp>
        <p:nvSpPr>
          <p:cNvPr id="7" name="Shape 5"/>
          <p:cNvSpPr/>
          <p:nvPr/>
        </p:nvSpPr>
        <p:spPr>
          <a:xfrm>
            <a:off x="566928" y="1920240"/>
            <a:ext cx="5623560" cy="4114800"/>
          </a:xfrm>
          <a:prstGeom prst="roundRect">
            <a:avLst>
              <a:gd name="adj" fmla="val 222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841248" y="2084832"/>
            <a:ext cx="5074920" cy="310896"/>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The problem: attention scores explode</a:t>
            </a:r>
            <a:endParaRPr lang="en-US" sz="1400" dirty="0"/>
          </a:p>
        </p:txBody>
      </p:sp>
      <p:sp>
        <p:nvSpPr>
          <p:cNvPr id="9" name="Shape 7"/>
          <p:cNvSpPr/>
          <p:nvPr/>
        </p:nvSpPr>
        <p:spPr>
          <a:xfrm>
            <a:off x="1207008" y="2606040"/>
            <a:ext cx="0" cy="2606040"/>
          </a:xfrm>
          <a:prstGeom prst="line">
            <a:avLst/>
          </a:prstGeom>
          <a:noFill/>
          <a:ln w="15875">
            <a:solidFill>
              <a:srgbClr val="8A93AB"/>
            </a:solidFill>
            <a:prstDash val="solid"/>
          </a:ln>
        </p:spPr>
      </p:sp>
      <p:sp>
        <p:nvSpPr>
          <p:cNvPr id="10" name="Shape 8"/>
          <p:cNvSpPr/>
          <p:nvPr/>
        </p:nvSpPr>
        <p:spPr>
          <a:xfrm>
            <a:off x="1207008" y="5212080"/>
            <a:ext cx="4572000" cy="0"/>
          </a:xfrm>
          <a:prstGeom prst="line">
            <a:avLst/>
          </a:prstGeom>
          <a:noFill/>
          <a:ln w="15875">
            <a:solidFill>
              <a:srgbClr val="8A93AB"/>
            </a:solidFill>
            <a:prstDash val="solid"/>
          </a:ln>
        </p:spPr>
      </p:sp>
      <p:sp>
        <p:nvSpPr>
          <p:cNvPr id="11" name="Text 9"/>
          <p:cNvSpPr/>
          <p:nvPr/>
        </p:nvSpPr>
        <p:spPr>
          <a:xfrm>
            <a:off x="886968" y="2350008"/>
            <a:ext cx="2743200" cy="219456"/>
          </a:xfrm>
          <a:prstGeom prst="rect">
            <a:avLst/>
          </a:prstGeom>
          <a:noFill/>
          <a:ln/>
        </p:spPr>
        <p:txBody>
          <a:bodyPr wrap="square" lIns="0" tIns="0" rIns="0" bIns="0" rtlCol="0" anchor="ctr"/>
          <a:lstStyle/>
          <a:p>
            <a:pPr indent="0" marL="0">
              <a:buNone/>
            </a:pPr>
            <a:r>
              <a:rPr lang="en-US" sz="900" i="1" dirty="0">
                <a:solidFill>
                  <a:srgbClr val="8A93AB"/>
                </a:solidFill>
                <a:latin typeface="Calibri" pitchFamily="34" charset="0"/>
                <a:ea typeface="Calibri" pitchFamily="34" charset="-122"/>
                <a:cs typeface="Calibri" pitchFamily="34" charset="-120"/>
              </a:rPr>
              <a:t>max attention logit</a:t>
            </a:r>
            <a:endParaRPr lang="en-US" sz="900" dirty="0"/>
          </a:p>
        </p:txBody>
      </p:sp>
      <p:sp>
        <p:nvSpPr>
          <p:cNvPr id="12" name="Text 10"/>
          <p:cNvSpPr/>
          <p:nvPr/>
        </p:nvSpPr>
        <p:spPr>
          <a:xfrm>
            <a:off x="4133088" y="5257800"/>
            <a:ext cx="1737360" cy="219456"/>
          </a:xfrm>
          <a:prstGeom prst="rect">
            <a:avLst/>
          </a:prstGeom>
          <a:noFill/>
          <a:ln/>
        </p:spPr>
        <p:txBody>
          <a:bodyPr wrap="square" lIns="0" tIns="0" rIns="0" bIns="0" rtlCol="0" anchor="ctr"/>
          <a:lstStyle/>
          <a:p>
            <a:pPr algn="r" indent="0" marL="0">
              <a:buNone/>
            </a:pPr>
            <a:r>
              <a:rPr lang="en-US" sz="900" i="1" dirty="0">
                <a:solidFill>
                  <a:srgbClr val="8A93AB"/>
                </a:solidFill>
                <a:latin typeface="Calibri" pitchFamily="34" charset="0"/>
                <a:ea typeface="Calibri" pitchFamily="34" charset="-122"/>
                <a:cs typeface="Calibri" pitchFamily="34" charset="-120"/>
              </a:rPr>
              <a:t>training steps →</a:t>
            </a:r>
            <a:endParaRPr lang="en-US" sz="900" dirty="0"/>
          </a:p>
        </p:txBody>
      </p:sp>
      <p:sp>
        <p:nvSpPr>
          <p:cNvPr id="13" name="Shape 11"/>
          <p:cNvSpPr/>
          <p:nvPr/>
        </p:nvSpPr>
        <p:spPr>
          <a:xfrm>
            <a:off x="1207008" y="3909060"/>
            <a:ext cx="4572000" cy="0"/>
          </a:xfrm>
          <a:prstGeom prst="line">
            <a:avLst/>
          </a:prstGeom>
          <a:noFill/>
          <a:ln w="12700">
            <a:solidFill>
              <a:srgbClr val="8A93AB"/>
            </a:solidFill>
            <a:prstDash val="dash"/>
          </a:ln>
        </p:spPr>
      </p:sp>
      <p:sp>
        <p:nvSpPr>
          <p:cNvPr id="14" name="Text 12"/>
          <p:cNvSpPr/>
          <p:nvPr/>
        </p:nvSpPr>
        <p:spPr>
          <a:xfrm>
            <a:off x="4956048" y="3707892"/>
            <a:ext cx="822960" cy="201168"/>
          </a:xfrm>
          <a:prstGeom prst="rect">
            <a:avLst/>
          </a:prstGeom>
          <a:noFill/>
          <a:ln/>
        </p:spPr>
        <p:txBody>
          <a:bodyPr wrap="square" lIns="0" tIns="0" rIns="0" bIns="0" rtlCol="0" anchor="ctr"/>
          <a:lstStyle/>
          <a:p>
            <a:pPr algn="r" indent="0" marL="0">
              <a:buNone/>
            </a:pPr>
            <a:r>
              <a:rPr lang="en-US" sz="900" i="1" dirty="0">
                <a:solidFill>
                  <a:srgbClr val="8A93AB"/>
                </a:solidFill>
                <a:latin typeface="Calibri" pitchFamily="34" charset="0"/>
                <a:ea typeface="Calibri" pitchFamily="34" charset="-122"/>
                <a:cs typeface="Calibri" pitchFamily="34" charset="-120"/>
              </a:rPr>
              <a:t>τ (cap)</a:t>
            </a:r>
            <a:endParaRPr lang="en-US" sz="900" dirty="0"/>
          </a:p>
        </p:txBody>
      </p:sp>
      <p:sp>
        <p:nvSpPr>
          <p:cNvPr id="15" name="Shape 13"/>
          <p:cNvSpPr/>
          <p:nvPr/>
        </p:nvSpPr>
        <p:spPr>
          <a:xfrm>
            <a:off x="1207008" y="4899355"/>
            <a:ext cx="1143000" cy="-364846"/>
          </a:xfrm>
          <a:prstGeom prst="line">
            <a:avLst/>
          </a:prstGeom>
          <a:noFill/>
          <a:ln w="34925">
            <a:solidFill>
              <a:srgbClr val="E5484D"/>
            </a:solidFill>
            <a:prstDash val="solid"/>
          </a:ln>
        </p:spPr>
      </p:sp>
      <p:sp>
        <p:nvSpPr>
          <p:cNvPr id="16" name="Shape 14"/>
          <p:cNvSpPr/>
          <p:nvPr/>
        </p:nvSpPr>
        <p:spPr>
          <a:xfrm>
            <a:off x="2350008" y="4534510"/>
            <a:ext cx="914400" cy="-416966"/>
          </a:xfrm>
          <a:prstGeom prst="line">
            <a:avLst/>
          </a:prstGeom>
          <a:noFill/>
          <a:ln w="34925">
            <a:solidFill>
              <a:srgbClr val="E5484D"/>
            </a:solidFill>
            <a:prstDash val="solid"/>
          </a:ln>
        </p:spPr>
      </p:sp>
      <p:sp>
        <p:nvSpPr>
          <p:cNvPr id="17" name="Shape 15"/>
          <p:cNvSpPr/>
          <p:nvPr/>
        </p:nvSpPr>
        <p:spPr>
          <a:xfrm>
            <a:off x="3264408" y="4117543"/>
            <a:ext cx="685800" cy="-469087"/>
          </a:xfrm>
          <a:prstGeom prst="line">
            <a:avLst/>
          </a:prstGeom>
          <a:noFill/>
          <a:ln w="34925">
            <a:solidFill>
              <a:srgbClr val="E5484D"/>
            </a:solidFill>
            <a:prstDash val="solid"/>
          </a:ln>
        </p:spPr>
      </p:sp>
      <p:sp>
        <p:nvSpPr>
          <p:cNvPr id="18" name="Shape 16"/>
          <p:cNvSpPr/>
          <p:nvPr/>
        </p:nvSpPr>
        <p:spPr>
          <a:xfrm>
            <a:off x="3950208" y="3648456"/>
            <a:ext cx="548640" cy="-677570"/>
          </a:xfrm>
          <a:prstGeom prst="line">
            <a:avLst/>
          </a:prstGeom>
          <a:noFill/>
          <a:ln w="34925">
            <a:solidFill>
              <a:srgbClr val="E5484D"/>
            </a:solidFill>
            <a:prstDash val="solid"/>
          </a:ln>
        </p:spPr>
      </p:sp>
      <p:sp>
        <p:nvSpPr>
          <p:cNvPr id="19" name="Shape 17"/>
          <p:cNvSpPr/>
          <p:nvPr/>
        </p:nvSpPr>
        <p:spPr>
          <a:xfrm>
            <a:off x="4498848" y="2970886"/>
            <a:ext cx="274320" cy="-338785"/>
          </a:xfrm>
          <a:prstGeom prst="line">
            <a:avLst/>
          </a:prstGeom>
          <a:noFill/>
          <a:ln w="34925">
            <a:solidFill>
              <a:srgbClr val="E5484D"/>
            </a:solidFill>
            <a:prstDash val="solid"/>
          </a:ln>
        </p:spPr>
      </p:sp>
      <p:sp>
        <p:nvSpPr>
          <p:cNvPr id="20" name="Text 18"/>
          <p:cNvSpPr/>
          <p:nvPr/>
        </p:nvSpPr>
        <p:spPr>
          <a:xfrm>
            <a:off x="3721608" y="2587752"/>
            <a:ext cx="2103120" cy="219456"/>
          </a:xfrm>
          <a:prstGeom prst="rect">
            <a:avLst/>
          </a:prstGeom>
          <a:noFill/>
          <a:ln/>
        </p:spPr>
        <p:txBody>
          <a:bodyPr wrap="square" lIns="0" tIns="0" rIns="0" bIns="0" rtlCol="0" anchor="ctr"/>
          <a:lstStyle/>
          <a:p>
            <a:pPr indent="0" marL="0">
              <a:buNone/>
            </a:pPr>
            <a:r>
              <a:rPr lang="en-US" sz="950" b="1" dirty="0">
                <a:solidFill>
                  <a:srgbClr val="E5484D"/>
                </a:solidFill>
                <a:latin typeface="Calibri" pitchFamily="34" charset="0"/>
                <a:ea typeface="Calibri" pitchFamily="34" charset="-122"/>
                <a:cs typeface="Calibri" pitchFamily="34" charset="-120"/>
              </a:rPr>
              <a:t>▲ loss spike — restart run</a:t>
            </a:r>
            <a:endParaRPr lang="en-US" sz="950" dirty="0"/>
          </a:p>
        </p:txBody>
      </p:sp>
      <p:sp>
        <p:nvSpPr>
          <p:cNvPr id="21" name="Shape 19"/>
          <p:cNvSpPr/>
          <p:nvPr/>
        </p:nvSpPr>
        <p:spPr>
          <a:xfrm>
            <a:off x="1207008" y="4899355"/>
            <a:ext cx="1143000" cy="-390906"/>
          </a:xfrm>
          <a:prstGeom prst="line">
            <a:avLst/>
          </a:prstGeom>
          <a:noFill/>
          <a:ln w="34925">
            <a:solidFill>
              <a:srgbClr val="0E9E96"/>
            </a:solidFill>
            <a:prstDash val="solid"/>
          </a:ln>
        </p:spPr>
      </p:sp>
      <p:sp>
        <p:nvSpPr>
          <p:cNvPr id="22" name="Shape 20"/>
          <p:cNvSpPr/>
          <p:nvPr/>
        </p:nvSpPr>
        <p:spPr>
          <a:xfrm>
            <a:off x="2350008" y="4508449"/>
            <a:ext cx="914400" cy="-338785"/>
          </a:xfrm>
          <a:prstGeom prst="line">
            <a:avLst/>
          </a:prstGeom>
          <a:noFill/>
          <a:ln w="34925">
            <a:solidFill>
              <a:srgbClr val="0E9E96"/>
            </a:solidFill>
            <a:prstDash val="solid"/>
          </a:ln>
        </p:spPr>
      </p:sp>
      <p:sp>
        <p:nvSpPr>
          <p:cNvPr id="23" name="Shape 21"/>
          <p:cNvSpPr/>
          <p:nvPr/>
        </p:nvSpPr>
        <p:spPr>
          <a:xfrm>
            <a:off x="3264408" y="4169664"/>
            <a:ext cx="777240" cy="-182423"/>
          </a:xfrm>
          <a:prstGeom prst="line">
            <a:avLst/>
          </a:prstGeom>
          <a:noFill/>
          <a:ln w="34925">
            <a:solidFill>
              <a:srgbClr val="0E9E96"/>
            </a:solidFill>
            <a:prstDash val="solid"/>
          </a:ln>
        </p:spPr>
      </p:sp>
      <p:sp>
        <p:nvSpPr>
          <p:cNvPr id="24" name="Shape 22"/>
          <p:cNvSpPr/>
          <p:nvPr/>
        </p:nvSpPr>
        <p:spPr>
          <a:xfrm>
            <a:off x="4041648" y="3987241"/>
            <a:ext cx="822960" cy="-26060"/>
          </a:xfrm>
          <a:prstGeom prst="line">
            <a:avLst/>
          </a:prstGeom>
          <a:noFill/>
          <a:ln w="34925">
            <a:solidFill>
              <a:srgbClr val="0E9E96"/>
            </a:solidFill>
            <a:prstDash val="solid"/>
          </a:ln>
        </p:spPr>
      </p:sp>
      <p:sp>
        <p:nvSpPr>
          <p:cNvPr id="25" name="Shape 23"/>
          <p:cNvSpPr/>
          <p:nvPr/>
        </p:nvSpPr>
        <p:spPr>
          <a:xfrm>
            <a:off x="4864608" y="3961181"/>
            <a:ext cx="914400" cy="26060"/>
          </a:xfrm>
          <a:prstGeom prst="line">
            <a:avLst/>
          </a:prstGeom>
          <a:noFill/>
          <a:ln w="34925">
            <a:solidFill>
              <a:srgbClr val="0E9E96"/>
            </a:solidFill>
            <a:prstDash val="solid"/>
          </a:ln>
        </p:spPr>
      </p:sp>
      <p:sp>
        <p:nvSpPr>
          <p:cNvPr id="26" name="Text 24"/>
          <p:cNvSpPr/>
          <p:nvPr/>
        </p:nvSpPr>
        <p:spPr>
          <a:xfrm>
            <a:off x="3035808" y="3963924"/>
            <a:ext cx="2377440" cy="219456"/>
          </a:xfrm>
          <a:prstGeom prst="rect">
            <a:avLst/>
          </a:prstGeom>
          <a:noFill/>
          <a:ln/>
        </p:spPr>
        <p:txBody>
          <a:bodyPr wrap="square" lIns="0" tIns="0" rIns="0" bIns="0" rtlCol="0" anchor="ctr"/>
          <a:lstStyle/>
          <a:p>
            <a:pPr indent="0" marL="0">
              <a:buNone/>
            </a:pPr>
            <a:r>
              <a:rPr lang="en-US" sz="950" b="1" dirty="0">
                <a:solidFill>
                  <a:srgbClr val="0E9E96"/>
                </a:solidFill>
                <a:latin typeface="Calibri" pitchFamily="34" charset="0"/>
                <a:ea typeface="Calibri" pitchFamily="34" charset="-122"/>
                <a:cs typeface="Calibri" pitchFamily="34" charset="-120"/>
              </a:rPr>
              <a:t>MuonClip — stays stable</a:t>
            </a:r>
            <a:endParaRPr lang="en-US" sz="950" dirty="0"/>
          </a:p>
        </p:txBody>
      </p:sp>
      <p:sp>
        <p:nvSpPr>
          <p:cNvPr id="27" name="Shape 25"/>
          <p:cNvSpPr/>
          <p:nvPr/>
        </p:nvSpPr>
        <p:spPr>
          <a:xfrm>
            <a:off x="6400800" y="1920240"/>
            <a:ext cx="5212080" cy="1874520"/>
          </a:xfrm>
          <a:prstGeom prst="roundRect">
            <a:avLst>
              <a:gd name="adj" fmla="val 4878"/>
            </a:avLst>
          </a:prstGeom>
          <a:solidFill>
            <a:srgbClr val="16213E"/>
          </a:solidFill>
          <a:ln/>
          <a:effectLst>
            <a:outerShdw sx="100000" sy="100000" kx="0" ky="0" algn="bl" rotWithShape="0" blurRad="114300" dist="38100" dir="5400000">
              <a:srgbClr val="9AA2BC">
                <a:alpha val="16000"/>
              </a:srgbClr>
            </a:outerShdw>
          </a:effectLst>
        </p:spPr>
      </p:sp>
      <p:sp>
        <p:nvSpPr>
          <p:cNvPr id="28" name="Text 26"/>
          <p:cNvSpPr/>
          <p:nvPr/>
        </p:nvSpPr>
        <p:spPr>
          <a:xfrm>
            <a:off x="6675120" y="2084832"/>
            <a:ext cx="4663440" cy="256032"/>
          </a:xfrm>
          <a:prstGeom prst="rect">
            <a:avLst/>
          </a:prstGeom>
          <a:noFill/>
          <a:ln/>
        </p:spPr>
        <p:txBody>
          <a:bodyPr wrap="square" lIns="0" tIns="0" rIns="0" bIns="0" rtlCol="0" anchor="ctr"/>
          <a:lstStyle/>
          <a:p>
            <a:pPr indent="0" marL="0">
              <a:buNone/>
            </a:pPr>
            <a:r>
              <a:rPr lang="en-US" sz="1100" b="1" spc="150" kern="0" dirty="0">
                <a:solidFill>
                  <a:srgbClr val="7C6FF0"/>
                </a:solidFill>
                <a:latin typeface="Calibri" pitchFamily="34" charset="0"/>
                <a:ea typeface="Calibri" pitchFamily="34" charset="-122"/>
                <a:cs typeface="Calibri" pitchFamily="34" charset="-120"/>
              </a:rPr>
              <a:t>THE FIX:  QK-CLIP</a:t>
            </a:r>
            <a:endParaRPr lang="en-US" sz="1100" dirty="0"/>
          </a:p>
        </p:txBody>
      </p:sp>
      <p:sp>
        <p:nvSpPr>
          <p:cNvPr id="29" name="Text 27"/>
          <p:cNvSpPr/>
          <p:nvPr/>
        </p:nvSpPr>
        <p:spPr>
          <a:xfrm>
            <a:off x="6675120" y="2377440"/>
            <a:ext cx="4663440" cy="868680"/>
          </a:xfrm>
          <a:prstGeom prst="rect">
            <a:avLst/>
          </a:prstGeom>
          <a:noFill/>
          <a:ln/>
        </p:spPr>
        <p:txBody>
          <a:bodyPr wrap="square" lIns="0" tIns="0" rIns="0" bIns="0" rtlCol="0" anchor="ctr"/>
          <a:lstStyle/>
          <a:p>
            <a:pPr indent="0" marL="0">
              <a:lnSpc>
                <a:spcPct val="116000"/>
              </a:lnSpc>
              <a:buNone/>
            </a:pPr>
            <a:r>
              <a:rPr lang="en-US" sz="1230" dirty="0">
                <a:solidFill>
                  <a:srgbClr val="E5E8F4"/>
                </a:solidFill>
                <a:latin typeface="Calibri" pitchFamily="34" charset="0"/>
                <a:ea typeface="Calibri" pitchFamily="34" charset="-122"/>
                <a:cs typeface="Calibri" pitchFamily="34" charset="-120"/>
              </a:rPr>
              <a:t>After each step, gently rescale the Query and Key weight matrices so attention scores can’t blow up — capped at the source, not patched after softmax.</a:t>
            </a:r>
            <a:endParaRPr lang="en-US" sz="1230" dirty="0"/>
          </a:p>
        </p:txBody>
      </p:sp>
      <p:sp>
        <p:nvSpPr>
          <p:cNvPr id="30" name="Text 28"/>
          <p:cNvSpPr/>
          <p:nvPr/>
        </p:nvSpPr>
        <p:spPr>
          <a:xfrm>
            <a:off x="6675120" y="3246120"/>
            <a:ext cx="46634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W</a:t>
            </a:r>
            <a:pPr algn="ctr" indent="0" marL="0">
              <a:buNone/>
            </a:pPr>
            <a:r>
              <a:rPr lang="en-US" sz="1400" b="1" dirty="0">
                <a:solidFill>
                  <a:srgbClr val="7C6FF0"/>
                </a:solidFill>
                <a:latin typeface="Courier New" pitchFamily="34" charset="0"/>
                <a:ea typeface="Courier New" pitchFamily="34" charset="-122"/>
                <a:cs typeface="Courier New" pitchFamily="34" charset="-120"/>
              </a:rPr>
              <a:t>Q</a:t>
            </a:r>
            <a:pPr algn="ctr" indent="0" marL="0">
              <a:buNone/>
            </a:pPr>
            <a:r>
              <a:rPr lang="en-US" sz="1400" b="1" dirty="0">
                <a:solidFill>
                  <a:srgbClr val="FFFFFF"/>
                </a:solidFill>
                <a:latin typeface="Courier New" pitchFamily="34" charset="0"/>
                <a:ea typeface="Courier New" pitchFamily="34" charset="-122"/>
                <a:cs typeface="Courier New" pitchFamily="34" charset="-120"/>
              </a:rPr>
              <a:t> ← γ·W</a:t>
            </a:r>
            <a:pPr algn="ctr" indent="0" marL="0">
              <a:buNone/>
            </a:pPr>
            <a:r>
              <a:rPr lang="en-US" sz="1400" b="1" dirty="0">
                <a:solidFill>
                  <a:srgbClr val="7C6FF0"/>
                </a:solidFill>
                <a:latin typeface="Courier New" pitchFamily="34" charset="0"/>
                <a:ea typeface="Courier New" pitchFamily="34" charset="-122"/>
                <a:cs typeface="Courier New" pitchFamily="34" charset="-120"/>
              </a:rPr>
              <a:t>Q</a:t>
            </a:r>
            <a:pPr algn="ctr" indent="0" marL="0">
              <a:buNone/>
            </a:pPr>
            <a:r>
              <a:rPr lang="en-US" sz="1400" b="1" dirty="0">
                <a:solidFill>
                  <a:srgbClr val="FFFFFF"/>
                </a:solidFill>
                <a:latin typeface="Courier New" pitchFamily="34" charset="0"/>
                <a:ea typeface="Courier New" pitchFamily="34" charset="-122"/>
                <a:cs typeface="Courier New" pitchFamily="34" charset="-120"/>
              </a:rPr>
              <a:t>      W</a:t>
            </a:r>
            <a:pPr algn="ctr" indent="0" marL="0">
              <a:buNone/>
            </a:pPr>
            <a:r>
              <a:rPr lang="en-US" sz="1400" b="1" dirty="0">
                <a:solidFill>
                  <a:srgbClr val="7FD1CB"/>
                </a:solidFill>
                <a:latin typeface="Courier New" pitchFamily="34" charset="0"/>
                <a:ea typeface="Courier New" pitchFamily="34" charset="-122"/>
                <a:cs typeface="Courier New" pitchFamily="34" charset="-120"/>
              </a:rPr>
              <a:t>K</a:t>
            </a:r>
            <a:pPr algn="ctr" indent="0" marL="0">
              <a:buNone/>
            </a:pPr>
            <a:r>
              <a:rPr lang="en-US" sz="1400" b="1" dirty="0">
                <a:solidFill>
                  <a:srgbClr val="FFFFFF"/>
                </a:solidFill>
                <a:latin typeface="Courier New" pitchFamily="34" charset="0"/>
                <a:ea typeface="Courier New" pitchFamily="34" charset="-122"/>
                <a:cs typeface="Courier New" pitchFamily="34" charset="-120"/>
              </a:rPr>
              <a:t> ← γ·W</a:t>
            </a:r>
            <a:pPr algn="ctr" indent="0" marL="0">
              <a:buNone/>
            </a:pPr>
            <a:r>
              <a:rPr lang="en-US" sz="1400" b="1" dirty="0">
                <a:solidFill>
                  <a:srgbClr val="7FD1CB"/>
                </a:solidFill>
                <a:latin typeface="Courier New" pitchFamily="34" charset="0"/>
                <a:ea typeface="Courier New" pitchFamily="34" charset="-122"/>
                <a:cs typeface="Courier New" pitchFamily="34" charset="-120"/>
              </a:rPr>
              <a:t>K</a:t>
            </a:r>
            <a:endParaRPr lang="en-US" sz="1400" dirty="0"/>
          </a:p>
        </p:txBody>
      </p:sp>
      <p:sp>
        <p:nvSpPr>
          <p:cNvPr id="31" name="Shape 29"/>
          <p:cNvSpPr/>
          <p:nvPr/>
        </p:nvSpPr>
        <p:spPr>
          <a:xfrm>
            <a:off x="6400800" y="3977640"/>
            <a:ext cx="5212080" cy="2057400"/>
          </a:xfrm>
          <a:prstGeom prst="roundRect">
            <a:avLst>
              <a:gd name="adj" fmla="val 4444"/>
            </a:avLst>
          </a:prstGeom>
          <a:solidFill>
            <a:srgbClr val="E2F4F2"/>
          </a:solidFill>
          <a:ln/>
          <a:effectLst>
            <a:outerShdw sx="100000" sy="100000" kx="0" ky="0" algn="bl" rotWithShape="0" blurRad="114300" dist="38100" dir="5400000">
              <a:srgbClr val="9AA2BC">
                <a:alpha val="16000"/>
              </a:srgbClr>
            </a:outerShdw>
          </a:effectLst>
        </p:spPr>
      </p:sp>
      <p:sp>
        <p:nvSpPr>
          <p:cNvPr id="32" name="Text 30"/>
          <p:cNvSpPr/>
          <p:nvPr/>
        </p:nvSpPr>
        <p:spPr>
          <a:xfrm>
            <a:off x="6675120" y="4133088"/>
            <a:ext cx="4663440" cy="292608"/>
          </a:xfrm>
          <a:prstGeom prst="rect">
            <a:avLst/>
          </a:prstGeom>
          <a:noFill/>
          <a:ln/>
        </p:spPr>
        <p:txBody>
          <a:bodyPr wrap="square" lIns="0" tIns="0" rIns="0" bIns="0" rtlCol="0" anchor="ctr"/>
          <a:lstStyle/>
          <a:p>
            <a:pPr indent="0" marL="0">
              <a:buNone/>
            </a:pPr>
            <a:r>
              <a:rPr lang="en-US" sz="1300" b="1" dirty="0">
                <a:solidFill>
                  <a:srgbClr val="0E9E96"/>
                </a:solidFill>
                <a:latin typeface="Calibri" pitchFamily="34" charset="0"/>
                <a:ea typeface="Calibri" pitchFamily="34" charset="-122"/>
                <a:cs typeface="Calibri" pitchFamily="34" charset="-120"/>
              </a:rPr>
              <a:t>Muon optimizer  +  QK-Clip  =  MuonClip</a:t>
            </a:r>
            <a:endParaRPr lang="en-US" sz="1300" dirty="0"/>
          </a:p>
        </p:txBody>
      </p:sp>
      <p:sp>
        <p:nvSpPr>
          <p:cNvPr id="33" name="Text 31"/>
          <p:cNvSpPr/>
          <p:nvPr/>
        </p:nvSpPr>
        <p:spPr>
          <a:xfrm>
            <a:off x="6675120" y="4443984"/>
            <a:ext cx="4663440" cy="502920"/>
          </a:xfrm>
          <a:prstGeom prst="rect">
            <a:avLst/>
          </a:prstGeom>
          <a:noFill/>
          <a:ln/>
        </p:spPr>
        <p:txBody>
          <a:bodyPr wrap="square" lIns="0" tIns="0" rIns="0" bIns="0" rtlCol="0" anchor="ctr"/>
          <a:lstStyle/>
          <a:p>
            <a:pPr indent="0" marL="0">
              <a:lnSpc>
                <a:spcPct val="112000"/>
              </a:lnSpc>
              <a:buNone/>
            </a:pPr>
            <a:r>
              <a:rPr lang="en-US" sz="1150" dirty="0">
                <a:solidFill>
                  <a:srgbClr val="1B2440"/>
                </a:solidFill>
                <a:latin typeface="Calibri" pitchFamily="34" charset="0"/>
                <a:ea typeface="Calibri" pitchFamily="34" charset="-122"/>
                <a:cs typeface="Calibri" pitchFamily="34" charset="-120"/>
              </a:rPr>
              <a:t>It let Moonshot AI's Kimi K2 train end-to-end with zero loss spikes — unusual at this scale.</a:t>
            </a:r>
            <a:endParaRPr lang="en-US" sz="1150" dirty="0"/>
          </a:p>
        </p:txBody>
      </p:sp>
      <p:sp>
        <p:nvSpPr>
          <p:cNvPr id="34" name="Text 32"/>
          <p:cNvSpPr/>
          <p:nvPr/>
        </p:nvSpPr>
        <p:spPr>
          <a:xfrm>
            <a:off x="6675120" y="5029200"/>
            <a:ext cx="1188720" cy="365760"/>
          </a:xfrm>
          <a:prstGeom prst="rect">
            <a:avLst/>
          </a:prstGeom>
          <a:noFill/>
          <a:ln/>
        </p:spPr>
        <p:txBody>
          <a:bodyPr wrap="square" lIns="0" tIns="0" rIns="0" bIns="0" rtlCol="0" anchor="ctr"/>
          <a:lstStyle/>
          <a:p>
            <a:pPr algn="ctr" indent="0" marL="0">
              <a:buNone/>
            </a:pPr>
            <a:r>
              <a:rPr lang="en-US" sz="1800" b="1" dirty="0">
                <a:solidFill>
                  <a:srgbClr val="0E9E96"/>
                </a:solidFill>
                <a:latin typeface="Cambria" pitchFamily="34" charset="0"/>
                <a:ea typeface="Cambria" pitchFamily="34" charset="-122"/>
                <a:cs typeface="Cambria" pitchFamily="34" charset="-120"/>
              </a:rPr>
              <a:t>1.04T</a:t>
            </a:r>
            <a:endParaRPr lang="en-US" sz="1800" dirty="0"/>
          </a:p>
        </p:txBody>
      </p:sp>
      <p:sp>
        <p:nvSpPr>
          <p:cNvPr id="35" name="Text 33"/>
          <p:cNvSpPr/>
          <p:nvPr/>
        </p:nvSpPr>
        <p:spPr>
          <a:xfrm>
            <a:off x="6675120" y="5413248"/>
            <a:ext cx="1188720" cy="457200"/>
          </a:xfrm>
          <a:prstGeom prst="rect">
            <a:avLst/>
          </a:prstGeom>
          <a:noFill/>
          <a:ln/>
        </p:spPr>
        <p:txBody>
          <a:bodyPr wrap="square" lIns="0" tIns="0" rIns="0" bIns="0" rtlCol="0" anchor="ctr"/>
          <a:lstStyle/>
          <a:p>
            <a:pPr algn="ctr" indent="0" marL="0">
              <a:lnSpc>
                <a:spcPct val="100000"/>
              </a:lnSpc>
              <a:buNone/>
            </a:pPr>
            <a:r>
              <a:rPr lang="en-US" sz="950" dirty="0">
                <a:solidFill>
                  <a:srgbClr val="5A6685"/>
                </a:solidFill>
                <a:latin typeface="Calibri" pitchFamily="34" charset="0"/>
                <a:ea typeface="Calibri" pitchFamily="34" charset="-122"/>
                <a:cs typeface="Calibri" pitchFamily="34" charset="-120"/>
              </a:rPr>
              <a:t>total params</a:t>
            </a:r>
            <a:endParaRPr lang="en-US" sz="950" dirty="0"/>
          </a:p>
        </p:txBody>
      </p:sp>
      <p:sp>
        <p:nvSpPr>
          <p:cNvPr id="36" name="Text 34"/>
          <p:cNvSpPr/>
          <p:nvPr/>
        </p:nvSpPr>
        <p:spPr>
          <a:xfrm>
            <a:off x="7891272" y="5029200"/>
            <a:ext cx="1188720" cy="365760"/>
          </a:xfrm>
          <a:prstGeom prst="rect">
            <a:avLst/>
          </a:prstGeom>
          <a:noFill/>
          <a:ln/>
        </p:spPr>
        <p:txBody>
          <a:bodyPr wrap="square" lIns="0" tIns="0" rIns="0" bIns="0" rtlCol="0" anchor="ctr"/>
          <a:lstStyle/>
          <a:p>
            <a:pPr algn="ctr" indent="0" marL="0">
              <a:buNone/>
            </a:pPr>
            <a:r>
              <a:rPr lang="en-US" sz="1800" b="1" dirty="0">
                <a:solidFill>
                  <a:srgbClr val="0E9E96"/>
                </a:solidFill>
                <a:latin typeface="Cambria" pitchFamily="34" charset="0"/>
                <a:ea typeface="Cambria" pitchFamily="34" charset="-122"/>
                <a:cs typeface="Cambria" pitchFamily="34" charset="-120"/>
              </a:rPr>
              <a:t>32B</a:t>
            </a:r>
            <a:endParaRPr lang="en-US" sz="1800" dirty="0"/>
          </a:p>
        </p:txBody>
      </p:sp>
      <p:sp>
        <p:nvSpPr>
          <p:cNvPr id="37" name="Text 35"/>
          <p:cNvSpPr/>
          <p:nvPr/>
        </p:nvSpPr>
        <p:spPr>
          <a:xfrm>
            <a:off x="7891272" y="5413248"/>
            <a:ext cx="1188720" cy="457200"/>
          </a:xfrm>
          <a:prstGeom prst="rect">
            <a:avLst/>
          </a:prstGeom>
          <a:noFill/>
          <a:ln/>
        </p:spPr>
        <p:txBody>
          <a:bodyPr wrap="square" lIns="0" tIns="0" rIns="0" bIns="0" rtlCol="0" anchor="ctr"/>
          <a:lstStyle/>
          <a:p>
            <a:pPr algn="ctr" indent="0" marL="0">
              <a:lnSpc>
                <a:spcPct val="100000"/>
              </a:lnSpc>
              <a:buNone/>
            </a:pPr>
            <a:r>
              <a:rPr lang="en-US" sz="950" dirty="0">
                <a:solidFill>
                  <a:srgbClr val="5A6685"/>
                </a:solidFill>
                <a:latin typeface="Calibri" pitchFamily="34" charset="0"/>
                <a:ea typeface="Calibri" pitchFamily="34" charset="-122"/>
                <a:cs typeface="Calibri" pitchFamily="34" charset="-120"/>
              </a:rPr>
              <a:t>active / token</a:t>
            </a:r>
            <a:endParaRPr lang="en-US" sz="950" dirty="0"/>
          </a:p>
        </p:txBody>
      </p:sp>
      <p:sp>
        <p:nvSpPr>
          <p:cNvPr id="38" name="Text 36"/>
          <p:cNvSpPr/>
          <p:nvPr/>
        </p:nvSpPr>
        <p:spPr>
          <a:xfrm>
            <a:off x="9107424" y="5029200"/>
            <a:ext cx="1188720" cy="365760"/>
          </a:xfrm>
          <a:prstGeom prst="rect">
            <a:avLst/>
          </a:prstGeom>
          <a:noFill/>
          <a:ln/>
        </p:spPr>
        <p:txBody>
          <a:bodyPr wrap="square" lIns="0" tIns="0" rIns="0" bIns="0" rtlCol="0" anchor="ctr"/>
          <a:lstStyle/>
          <a:p>
            <a:pPr algn="ctr" indent="0" marL="0">
              <a:buNone/>
            </a:pPr>
            <a:r>
              <a:rPr lang="en-US" sz="1800" b="1" dirty="0">
                <a:solidFill>
                  <a:srgbClr val="0E9E96"/>
                </a:solidFill>
                <a:latin typeface="Cambria" pitchFamily="34" charset="0"/>
                <a:ea typeface="Cambria" pitchFamily="34" charset="-122"/>
                <a:cs typeface="Cambria" pitchFamily="34" charset="-120"/>
              </a:rPr>
              <a:t>15.5T</a:t>
            </a:r>
            <a:endParaRPr lang="en-US" sz="1800" dirty="0"/>
          </a:p>
        </p:txBody>
      </p:sp>
      <p:sp>
        <p:nvSpPr>
          <p:cNvPr id="39" name="Text 37"/>
          <p:cNvSpPr/>
          <p:nvPr/>
        </p:nvSpPr>
        <p:spPr>
          <a:xfrm>
            <a:off x="9107424" y="5413248"/>
            <a:ext cx="1188720" cy="457200"/>
          </a:xfrm>
          <a:prstGeom prst="rect">
            <a:avLst/>
          </a:prstGeom>
          <a:noFill/>
          <a:ln/>
        </p:spPr>
        <p:txBody>
          <a:bodyPr wrap="square" lIns="0" tIns="0" rIns="0" bIns="0" rtlCol="0" anchor="ctr"/>
          <a:lstStyle/>
          <a:p>
            <a:pPr algn="ctr" indent="0" marL="0">
              <a:lnSpc>
                <a:spcPct val="100000"/>
              </a:lnSpc>
              <a:buNone/>
            </a:pPr>
            <a:r>
              <a:rPr lang="en-US" sz="950" dirty="0">
                <a:solidFill>
                  <a:srgbClr val="5A6685"/>
                </a:solidFill>
                <a:latin typeface="Calibri" pitchFamily="34" charset="0"/>
                <a:ea typeface="Calibri" pitchFamily="34" charset="-122"/>
                <a:cs typeface="Calibri" pitchFamily="34" charset="-120"/>
              </a:rPr>
              <a:t>tokens</a:t>
            </a:r>
            <a:endParaRPr lang="en-US" sz="950" dirty="0"/>
          </a:p>
        </p:txBody>
      </p:sp>
      <p:sp>
        <p:nvSpPr>
          <p:cNvPr id="40" name="Text 38"/>
          <p:cNvSpPr/>
          <p:nvPr/>
        </p:nvSpPr>
        <p:spPr>
          <a:xfrm>
            <a:off x="10323576" y="5029200"/>
            <a:ext cx="1188720" cy="365760"/>
          </a:xfrm>
          <a:prstGeom prst="rect">
            <a:avLst/>
          </a:prstGeom>
          <a:noFill/>
          <a:ln/>
        </p:spPr>
        <p:txBody>
          <a:bodyPr wrap="square" lIns="0" tIns="0" rIns="0" bIns="0" rtlCol="0" anchor="ctr"/>
          <a:lstStyle/>
          <a:p>
            <a:pPr algn="ctr" indent="0" marL="0">
              <a:buNone/>
            </a:pPr>
            <a:r>
              <a:rPr lang="en-US" sz="1800" b="1" dirty="0">
                <a:solidFill>
                  <a:srgbClr val="0E9E96"/>
                </a:solidFill>
                <a:latin typeface="Cambria" pitchFamily="34" charset="0"/>
                <a:ea typeface="Cambria" pitchFamily="34" charset="-122"/>
                <a:cs typeface="Cambria" pitchFamily="34" charset="-120"/>
              </a:rPr>
              <a:t>0</a:t>
            </a:r>
            <a:endParaRPr lang="en-US" sz="1800" dirty="0"/>
          </a:p>
        </p:txBody>
      </p:sp>
      <p:sp>
        <p:nvSpPr>
          <p:cNvPr id="41" name="Text 39"/>
          <p:cNvSpPr/>
          <p:nvPr/>
        </p:nvSpPr>
        <p:spPr>
          <a:xfrm>
            <a:off x="10323576" y="5413248"/>
            <a:ext cx="1188720" cy="457200"/>
          </a:xfrm>
          <a:prstGeom prst="rect">
            <a:avLst/>
          </a:prstGeom>
          <a:noFill/>
          <a:ln/>
        </p:spPr>
        <p:txBody>
          <a:bodyPr wrap="square" lIns="0" tIns="0" rIns="0" bIns="0" rtlCol="0" anchor="ctr"/>
          <a:lstStyle/>
          <a:p>
            <a:pPr algn="ctr" indent="0" marL="0">
              <a:lnSpc>
                <a:spcPct val="100000"/>
              </a:lnSpc>
              <a:buNone/>
            </a:pPr>
            <a:r>
              <a:rPr lang="en-US" sz="950" dirty="0">
                <a:solidFill>
                  <a:srgbClr val="5A6685"/>
                </a:solidFill>
                <a:latin typeface="Calibri" pitchFamily="34" charset="0"/>
                <a:ea typeface="Calibri" pitchFamily="34" charset="-122"/>
                <a:cs typeface="Calibri" pitchFamily="34" charset="-120"/>
              </a:rPr>
              <a:t>loss spikes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PART 4 IN ONE VIEW</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innovation stack: problem → fix → where it lives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Primary sources: arXiv 2104.09864 (RoPE) · 2305.13245 (GQA) · 2205.14135 (Flash) · 2412.19437 (DeepSeek-V3 MoE)</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45952" cy="914400"/>
        </p:xfrm>
        <a:graphic>
          <a:graphicData uri="http://schemas.openxmlformats.org/drawingml/2006/table">
            <a:tbl>
              <a:tblPr/>
              <a:tblGrid>
                <a:gridCol w="1965960"/>
                <a:gridCol w="3246120"/>
                <a:gridCol w="3520440"/>
                <a:gridCol w="2313432"/>
              </a:tblGrid>
              <a:tr h="420624">
                <a:tc>
                  <a:txBody>
                    <a:bodyPr/>
                    <a:lstStyle/>
                    <a:p>
                      <a:pPr algn="l" indent="0" marL="0">
                        <a:buNone/>
                      </a:pPr>
                      <a:r>
                        <a:rPr lang="en-US" sz="1250" b="1" dirty="0">
                          <a:solidFill>
                            <a:srgbClr val="FFFFFF"/>
                          </a:solidFill>
                        </a:rPr>
                        <a:t>Innovation</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Problem it attacks</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Core idea</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c>
                  <a:txBody>
                    <a:bodyPr/>
                    <a:lstStyle/>
                    <a:p>
                      <a:pPr algn="l" indent="0" marL="0">
                        <a:buNone/>
                      </a:pPr>
                      <a:r>
                        <a:rPr lang="en-US" sz="1250" b="1" dirty="0">
                          <a:solidFill>
                            <a:srgbClr val="FFFFFF"/>
                          </a:solidFill>
                        </a:rPr>
                        <a:t>Seen in</a:t>
                      </a:r>
                      <a:endParaRPr lang="en-US" sz="125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16213E"/>
                    </a:solidFill>
                  </a:tcPr>
                </a:tc>
              </a:tr>
              <a:tr h="731520">
                <a:tc>
                  <a:txBody>
                    <a:bodyPr/>
                    <a:lstStyle/>
                    <a:p>
                      <a:pPr algn="l" indent="0" marL="0">
                        <a:buNone/>
                      </a:pPr>
                      <a:r>
                        <a:rPr lang="en-US" sz="1100" b="1" dirty="0">
                          <a:solidFill>
                            <a:srgbClr val="5B4BE0"/>
                          </a:solidFill>
                        </a:rPr>
                        <a:t>RoPE</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Positions don't extrapolate; absolute encodings are rigid</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Rotate Q/K by position → score depends on relative distance</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LLaMA, Qwen, DeepSeek, PaLM, Mistral</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r h="731520">
                <a:tc>
                  <a:txBody>
                    <a:bodyPr/>
                    <a:lstStyle/>
                    <a:p>
                      <a:pPr algn="l" indent="0" marL="0">
                        <a:buNone/>
                      </a:pPr>
                      <a:r>
                        <a:rPr lang="en-US" sz="1100" b="1" dirty="0">
                          <a:solidFill>
                            <a:srgbClr val="5B4BE0"/>
                          </a:solidFill>
                        </a:rPr>
                        <a:t>GQA / MQA</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KV cache dominates memory at long context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Share K/V heads across query heads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LLaMA-2/3, Mistral, Gemini-class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r>
              <a:tr h="731520">
                <a:tc>
                  <a:txBody>
                    <a:bodyPr/>
                    <a:lstStyle/>
                    <a:p>
                      <a:pPr algn="l" indent="0" marL="0">
                        <a:buNone/>
                      </a:pPr>
                      <a:r>
                        <a:rPr lang="en-US" sz="1100" b="1" dirty="0">
                          <a:solidFill>
                            <a:srgbClr val="5B4BE0"/>
                          </a:solidFill>
                        </a:rPr>
                        <a:t>FlashAttention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Attention is memory-bound; N×N matrix thrashes HBM</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Tile into SRAM, online softmax, exact result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Virtually all modern training stacks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r h="731520">
                <a:tc>
                  <a:txBody>
                    <a:bodyPr/>
                    <a:lstStyle/>
                    <a:p>
                      <a:pPr algn="l" indent="0" marL="0">
                        <a:buNone/>
                      </a:pPr>
                      <a:r>
                        <a:rPr lang="en-US" sz="1100" b="1" dirty="0">
                          <a:solidFill>
                            <a:srgbClr val="5B4BE0"/>
                          </a:solidFill>
                        </a:rPr>
                        <a:t>Mixture-of-Experts</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Dense models burn compute on every parameter</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Route tokens to top-k experts; sparse activation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c>
                  <a:txBody>
                    <a:bodyPr/>
                    <a:lstStyle/>
                    <a:p>
                      <a:pPr algn="l" indent="0" marL="0">
                        <a:buNone/>
                      </a:pPr>
                      <a:r>
                        <a:rPr lang="en-US" sz="1100" dirty="0">
                          <a:solidFill>
                            <a:srgbClr val="1B2440"/>
                          </a:solidFill>
                        </a:rPr>
                        <a:t>DeepSeek-V3, Mixtral, Llama 4, Qwen3</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4F5F9"/>
                    </a:solidFill>
                  </a:tcPr>
                </a:tc>
              </a:tr>
              <a:tr h="731520">
                <a:tc>
                  <a:txBody>
                    <a:bodyPr/>
                    <a:lstStyle/>
                    <a:p>
                      <a:pPr algn="l" indent="0" marL="0">
                        <a:buNone/>
                      </a:pPr>
                      <a:r>
                        <a:rPr lang="en-US" sz="1100" b="1" dirty="0">
                          <a:solidFill>
                            <a:srgbClr val="5B4BE0"/>
                          </a:solidFill>
                        </a:rPr>
                        <a:t>MLA / KV-compression</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Even GQA's cache is large at 100K+ context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Compress K/V into a low-rank latent</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440"/>
                          </a:solidFill>
                        </a:rPr>
                        <a:t>DeepSeek-V2/V3</a:t>
                      </a:r>
                      <a:endParaRPr lang="en-US" sz="1100" dirty="0"/>
                    </a:p>
                  </a:txBody>
                  <a:tcPr marL="88900" marR="88900" marT="50800" marB="50800" anchor="ctr">
                    <a:lnL w="12700" cap="flat" cmpd="sng" algn="ctr">
                      <a:solidFill>
                        <a:srgbClr val="DDE1EC"/>
                      </a:solidFill>
                      <a:prstDash val="solid"/>
                      <a:round/>
                      <a:headEnd type="none" w="med" len="med"/>
                      <a:tailEnd type="none" w="med" len="med"/>
                    </a:lnL>
                    <a:lnR w="12700" cap="flat" cmpd="sng" algn="ctr">
                      <a:solidFill>
                        <a:srgbClr val="DDE1EC"/>
                      </a:solidFill>
                      <a:prstDash val="solid"/>
                      <a:round/>
                      <a:headEnd type="none" w="med" len="med"/>
                      <a:tailEnd type="none" w="med" len="med"/>
                    </a:lnR>
                    <a:lnT w="12700" cap="flat" cmpd="sng" algn="ctr">
                      <a:solidFill>
                        <a:srgbClr val="DDE1EC"/>
                      </a:solidFill>
                      <a:prstDash val="solid"/>
                      <a:round/>
                      <a:headEnd type="none" w="med" len="med"/>
                      <a:tailEnd type="none" w="med" len="med"/>
                    </a:lnT>
                    <a:lnB w="12700" cap="flat" cmpd="sng" algn="ctr">
                      <a:solidFill>
                        <a:srgbClr val="DDE1EC"/>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053328"/>
            <a:ext cx="11045952" cy="411480"/>
          </a:xfrm>
          <a:prstGeom prst="rect">
            <a:avLst/>
          </a:prstGeom>
          <a:noFill/>
          <a:ln/>
        </p:spPr>
        <p:txBody>
          <a:bodyPr wrap="square" lIns="0" tIns="0" rIns="0" bIns="0" rtlCol="0" anchor="ctr"/>
          <a:lstStyle/>
          <a:p>
            <a:pPr indent="0" marL="0">
              <a:lnSpc>
                <a:spcPct val="108000"/>
              </a:lnSpc>
              <a:buNone/>
            </a:pPr>
            <a:r>
              <a:rPr lang="en-US" sz="1250" b="1" dirty="0">
                <a:solidFill>
                  <a:srgbClr val="5B4BE0"/>
                </a:solidFill>
                <a:latin typeface="Calibri" pitchFamily="34" charset="0"/>
                <a:ea typeface="Calibri" pitchFamily="34" charset="-122"/>
                <a:cs typeface="Calibri" pitchFamily="34" charset="-120"/>
              </a:rPr>
              <a:t>Big picture:  </a:t>
            </a:r>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the 2024–2026 model is not a bigger 2017 Transformer — it is the same skeleton wearing four upgrades that fix position, memory, speed and compute-efficiency.</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5</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5</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Modern Era (2023 – 2026)</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From a single chatbot to a planetary platform: GPT-4 and the open-weight wave, multimodal and MoE at scale, the rise of reasoning models that 'think' before they answer, and the 2026 frontier landscape.</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2023 · THE INFLECTION</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GPT-4 and the open-weight wave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OpenAI, GPT-4 Technical Report (arXiv:2303.08774) · Touvron et al., LLaMA / Llama 2 (arXiv:2302.13971, 2307.09288)</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66928" y="1600200"/>
            <a:ext cx="5577840" cy="2148840"/>
          </a:xfrm>
          <a:prstGeom prst="roundRect">
            <a:avLst>
              <a:gd name="adj" fmla="val 4255"/>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59536" y="1874520"/>
            <a:ext cx="822960" cy="82296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65276" y="2080260"/>
            <a:ext cx="411480" cy="411480"/>
          </a:xfrm>
          <a:prstGeom prst="rect">
            <a:avLst/>
          </a:prstGeom>
        </p:spPr>
      </p:pic>
      <p:sp>
        <p:nvSpPr>
          <p:cNvPr id="9" name="Text 6"/>
          <p:cNvSpPr/>
          <p:nvPr/>
        </p:nvSpPr>
        <p:spPr>
          <a:xfrm>
            <a:off x="1847088" y="1874520"/>
            <a:ext cx="411480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GPT-4 — the closed frontier</a:t>
            </a:r>
            <a:endParaRPr lang="en-US" sz="1600" dirty="0"/>
          </a:p>
        </p:txBody>
      </p:sp>
      <p:sp>
        <p:nvSpPr>
          <p:cNvPr id="10" name="Text 7"/>
          <p:cNvSpPr/>
          <p:nvPr/>
        </p:nvSpPr>
        <p:spPr>
          <a:xfrm>
            <a:off x="1847088" y="2286000"/>
            <a:ext cx="4069080" cy="1280160"/>
          </a:xfrm>
          <a:prstGeom prst="rect">
            <a:avLst/>
          </a:prstGeom>
          <a:noFill/>
          <a:ln/>
        </p:spPr>
        <p:txBody>
          <a:bodyPr wrap="square" lIns="0" tIns="0" rIns="0" bIns="0" rtlCol="0" anchor="ctr"/>
          <a:lstStyle/>
          <a:p>
            <a:pPr indent="0" marL="0">
              <a:lnSpc>
                <a:spcPct val="114000"/>
              </a:lnSpc>
              <a:buNone/>
            </a:pPr>
            <a:r>
              <a:rPr lang="en-US" sz="1200" dirty="0">
                <a:solidFill>
                  <a:srgbClr val="5A6685"/>
                </a:solidFill>
                <a:latin typeface="Calibri" pitchFamily="34" charset="0"/>
                <a:ea typeface="Calibri" pitchFamily="34" charset="-122"/>
                <a:cs typeface="Calibri" pitchFamily="34" charset="-120"/>
              </a:rPr>
              <a:t>Multimodal (text + image), human-level on many professional exams, and the first model to feel broadly reliable. Architecture undisclosed — widely believed to be a large Mixture-of-Experts.</a:t>
            </a:r>
            <a:endParaRPr lang="en-US" sz="1200" dirty="0"/>
          </a:p>
        </p:txBody>
      </p:sp>
      <p:sp>
        <p:nvSpPr>
          <p:cNvPr id="11" name="Shape 8"/>
          <p:cNvSpPr/>
          <p:nvPr/>
        </p:nvSpPr>
        <p:spPr>
          <a:xfrm>
            <a:off x="566928" y="3886200"/>
            <a:ext cx="5577840" cy="2148840"/>
          </a:xfrm>
          <a:prstGeom prst="roundRect">
            <a:avLst>
              <a:gd name="adj" fmla="val 4255"/>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859536" y="4160520"/>
            <a:ext cx="822960" cy="822960"/>
          </a:xfrm>
          <a:prstGeom prst="ellipse">
            <a:avLst/>
          </a:prstGeom>
          <a:solidFill>
            <a:srgbClr val="0E9E96"/>
          </a:solidFill>
          <a:ln/>
        </p:spPr>
      </p:sp>
      <p:pic>
        <p:nvPicPr>
          <p:cNvPr id="13" name="Image 1" descr="preencoded.png">    </p:cNvPr>
          <p:cNvPicPr>
            <a:picLocks noChangeAspect="1"/>
          </p:cNvPicPr>
          <p:nvPr/>
        </p:nvPicPr>
        <p:blipFill>
          <a:blip r:embed="rId2"/>
          <a:stretch>
            <a:fillRect/>
          </a:stretch>
        </p:blipFill>
        <p:spPr>
          <a:xfrm>
            <a:off x="1065276" y="4366260"/>
            <a:ext cx="411480" cy="411480"/>
          </a:xfrm>
          <a:prstGeom prst="rect">
            <a:avLst/>
          </a:prstGeom>
        </p:spPr>
      </p:pic>
      <p:sp>
        <p:nvSpPr>
          <p:cNvPr id="14" name="Text 10"/>
          <p:cNvSpPr/>
          <p:nvPr/>
        </p:nvSpPr>
        <p:spPr>
          <a:xfrm>
            <a:off x="1847088" y="4160520"/>
            <a:ext cx="4114800" cy="36576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LLaMA — weights in the wild</a:t>
            </a:r>
            <a:endParaRPr lang="en-US" sz="1600" dirty="0"/>
          </a:p>
        </p:txBody>
      </p:sp>
      <p:sp>
        <p:nvSpPr>
          <p:cNvPr id="15" name="Text 11"/>
          <p:cNvSpPr/>
          <p:nvPr/>
        </p:nvSpPr>
        <p:spPr>
          <a:xfrm>
            <a:off x="1847088" y="4572000"/>
            <a:ext cx="4069080" cy="1325880"/>
          </a:xfrm>
          <a:prstGeom prst="rect">
            <a:avLst/>
          </a:prstGeom>
          <a:noFill/>
          <a:ln/>
        </p:spPr>
        <p:txBody>
          <a:bodyPr wrap="square" lIns="0" tIns="0" rIns="0" bIns="0" rtlCol="0" anchor="ctr"/>
          <a:lstStyle/>
          <a:p>
            <a:pPr indent="0" marL="0">
              <a:lnSpc>
                <a:spcPct val="114000"/>
              </a:lnSpc>
              <a:buNone/>
            </a:pPr>
            <a:r>
              <a:rPr lang="en-US" sz="1200" dirty="0">
                <a:solidFill>
                  <a:srgbClr val="5A6685"/>
                </a:solidFill>
                <a:latin typeface="Calibri" pitchFamily="34" charset="0"/>
                <a:ea typeface="Calibri" pitchFamily="34" charset="-122"/>
                <a:cs typeface="Calibri" pitchFamily="34" charset="-120"/>
              </a:rPr>
              <a:t>Meta released capable open weights. Within months: instruction-tuned forks, quantised models on laptops, and a Cambrian explosion of fine-tunes. The frontier was no longer only behind an API.</a:t>
            </a:r>
            <a:endParaRPr lang="en-US" sz="1200" dirty="0"/>
          </a:p>
        </p:txBody>
      </p:sp>
      <p:sp>
        <p:nvSpPr>
          <p:cNvPr id="16" name="Shape 12"/>
          <p:cNvSpPr/>
          <p:nvPr/>
        </p:nvSpPr>
        <p:spPr>
          <a:xfrm>
            <a:off x="6583680" y="1600200"/>
            <a:ext cx="5029200" cy="4434840"/>
          </a:xfrm>
          <a:prstGeom prst="roundRect">
            <a:avLst>
              <a:gd name="adj" fmla="val 206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Text 13"/>
          <p:cNvSpPr/>
          <p:nvPr/>
        </p:nvSpPr>
        <p:spPr>
          <a:xfrm>
            <a:off x="6858000" y="1783080"/>
            <a:ext cx="4480560" cy="365760"/>
          </a:xfrm>
          <a:prstGeom prst="rect">
            <a:avLst/>
          </a:prstGeom>
          <a:noFill/>
          <a:ln/>
        </p:spPr>
        <p:txBody>
          <a:bodyPr wrap="square" lIns="0" tIns="0" rIns="0" bIns="0" rtlCol="0" anchor="ctr"/>
          <a:lstStyle/>
          <a:p>
            <a:pPr algn="ctr" indent="0" marL="0">
              <a:buNone/>
            </a:pPr>
            <a:r>
              <a:rPr lang="en-US" sz="1550" b="1" dirty="0">
                <a:solidFill>
                  <a:srgbClr val="1B2440"/>
                </a:solidFill>
                <a:latin typeface="Calibri" pitchFamily="34" charset="0"/>
                <a:ea typeface="Calibri" pitchFamily="34" charset="-122"/>
                <a:cs typeface="Calibri" pitchFamily="34" charset="-120"/>
              </a:rPr>
              <a:t>Two ecosystems form</a:t>
            </a:r>
            <a:endParaRPr lang="en-US" sz="1550" dirty="0"/>
          </a:p>
        </p:txBody>
      </p:sp>
      <p:sp>
        <p:nvSpPr>
          <p:cNvPr id="18" name="Shape 14"/>
          <p:cNvSpPr/>
          <p:nvPr/>
        </p:nvSpPr>
        <p:spPr>
          <a:xfrm>
            <a:off x="6903720" y="2286000"/>
            <a:ext cx="4389120" cy="1600200"/>
          </a:xfrm>
          <a:prstGeom prst="roundRect">
            <a:avLst>
              <a:gd name="adj" fmla="val 4571"/>
            </a:avLst>
          </a:prstGeom>
          <a:solidFill>
            <a:srgbClr val="EEECFB"/>
          </a:solidFill>
          <a:ln/>
        </p:spPr>
      </p:sp>
      <p:sp>
        <p:nvSpPr>
          <p:cNvPr id="19" name="Text 15"/>
          <p:cNvSpPr/>
          <p:nvPr/>
        </p:nvSpPr>
        <p:spPr>
          <a:xfrm>
            <a:off x="7132320" y="2468880"/>
            <a:ext cx="3931920" cy="365760"/>
          </a:xfrm>
          <a:prstGeom prst="rect">
            <a:avLst/>
          </a:prstGeom>
          <a:noFill/>
          <a:ln/>
        </p:spPr>
        <p:txBody>
          <a:bodyPr wrap="square" lIns="0" tIns="0" rIns="0" bIns="0" rtlCol="0" anchor="ctr"/>
          <a:lstStyle/>
          <a:p>
            <a:pPr indent="0" marL="0">
              <a:buNone/>
            </a:pPr>
            <a:r>
              <a:rPr lang="en-US" sz="1500" b="1" dirty="0">
                <a:solidFill>
                  <a:srgbClr val="5B4BE0"/>
                </a:solidFill>
                <a:latin typeface="Calibri" pitchFamily="34" charset="0"/>
                <a:ea typeface="Calibri" pitchFamily="34" charset="-122"/>
                <a:cs typeface="Calibri" pitchFamily="34" charset="-120"/>
              </a:rPr>
              <a:t>Closed / API</a:t>
            </a:r>
            <a:endParaRPr lang="en-US" sz="1500" dirty="0"/>
          </a:p>
        </p:txBody>
      </p:sp>
      <p:sp>
        <p:nvSpPr>
          <p:cNvPr id="20" name="Text 16"/>
          <p:cNvSpPr/>
          <p:nvPr/>
        </p:nvSpPr>
        <p:spPr>
          <a:xfrm>
            <a:off x="7132320" y="2852928"/>
            <a:ext cx="3931920" cy="310896"/>
          </a:xfrm>
          <a:prstGeom prst="rect">
            <a:avLst/>
          </a:prstGeom>
          <a:noFill/>
          <a:ln/>
        </p:spPr>
        <p:txBody>
          <a:bodyPr wrap="square" lIns="0" tIns="0" rIns="0" bIns="0" rtlCol="0" anchor="ctr"/>
          <a:lstStyle/>
          <a:p>
            <a:pPr indent="0" marL="0">
              <a:buNone/>
            </a:pPr>
            <a:r>
              <a:rPr lang="en-US" sz="1250" b="1" dirty="0">
                <a:solidFill>
                  <a:srgbClr val="1B2440"/>
                </a:solidFill>
                <a:latin typeface="Courier New" pitchFamily="34" charset="0"/>
                <a:ea typeface="Courier New" pitchFamily="34" charset="-122"/>
                <a:cs typeface="Courier New" pitchFamily="34" charset="-120"/>
              </a:rPr>
              <a:t>GPT-4 · Claude · Gemini</a:t>
            </a:r>
            <a:endParaRPr lang="en-US" sz="1250" dirty="0"/>
          </a:p>
        </p:txBody>
      </p:sp>
      <p:sp>
        <p:nvSpPr>
          <p:cNvPr id="21" name="Text 17"/>
          <p:cNvSpPr/>
          <p:nvPr/>
        </p:nvSpPr>
        <p:spPr>
          <a:xfrm>
            <a:off x="7132320" y="3182112"/>
            <a:ext cx="3931920" cy="594360"/>
          </a:xfrm>
          <a:prstGeom prst="rect">
            <a:avLst/>
          </a:prstGeom>
          <a:noFill/>
          <a:ln/>
        </p:spPr>
        <p:txBody>
          <a:bodyPr wrap="square" lIns="0" tIns="0" rIns="0" bIns="0" rtlCol="0" anchor="ctr"/>
          <a:lstStyle/>
          <a:p>
            <a:pPr indent="0" marL="0">
              <a:lnSpc>
                <a:spcPct val="110000"/>
              </a:lnSpc>
              <a:buNone/>
            </a:pPr>
            <a:r>
              <a:rPr lang="en-US" sz="1150" dirty="0">
                <a:solidFill>
                  <a:srgbClr val="5A6685"/>
                </a:solidFill>
                <a:latin typeface="Calibri" pitchFamily="34" charset="0"/>
                <a:ea typeface="Calibri" pitchFamily="34" charset="-122"/>
                <a:cs typeface="Calibri" pitchFamily="34" charset="-120"/>
              </a:rPr>
              <a:t>Best frontier capability, hosted, safety-tuned, pay-per-token</a:t>
            </a:r>
            <a:endParaRPr lang="en-US" sz="1150" dirty="0"/>
          </a:p>
        </p:txBody>
      </p:sp>
      <p:sp>
        <p:nvSpPr>
          <p:cNvPr id="22" name="Shape 18"/>
          <p:cNvSpPr/>
          <p:nvPr/>
        </p:nvSpPr>
        <p:spPr>
          <a:xfrm>
            <a:off x="6903720" y="4114800"/>
            <a:ext cx="4389120" cy="1600200"/>
          </a:xfrm>
          <a:prstGeom prst="roundRect">
            <a:avLst>
              <a:gd name="adj" fmla="val 4571"/>
            </a:avLst>
          </a:prstGeom>
          <a:solidFill>
            <a:srgbClr val="E2F4F2"/>
          </a:solidFill>
          <a:ln/>
        </p:spPr>
      </p:sp>
      <p:sp>
        <p:nvSpPr>
          <p:cNvPr id="23" name="Text 19"/>
          <p:cNvSpPr/>
          <p:nvPr/>
        </p:nvSpPr>
        <p:spPr>
          <a:xfrm>
            <a:off x="7132320" y="4297680"/>
            <a:ext cx="3931920" cy="365760"/>
          </a:xfrm>
          <a:prstGeom prst="rect">
            <a:avLst/>
          </a:prstGeom>
          <a:noFill/>
          <a:ln/>
        </p:spPr>
        <p:txBody>
          <a:bodyPr wrap="square" lIns="0" tIns="0" rIns="0" bIns="0" rtlCol="0" anchor="ctr"/>
          <a:lstStyle/>
          <a:p>
            <a:pPr indent="0" marL="0">
              <a:buNone/>
            </a:pPr>
            <a:r>
              <a:rPr lang="en-US" sz="1500" b="1" dirty="0">
                <a:solidFill>
                  <a:srgbClr val="0E9E96"/>
                </a:solidFill>
                <a:latin typeface="Calibri" pitchFamily="34" charset="0"/>
                <a:ea typeface="Calibri" pitchFamily="34" charset="-122"/>
                <a:cs typeface="Calibri" pitchFamily="34" charset="-120"/>
              </a:rPr>
              <a:t>Open / weights</a:t>
            </a:r>
            <a:endParaRPr lang="en-US" sz="1500" dirty="0"/>
          </a:p>
        </p:txBody>
      </p:sp>
      <p:sp>
        <p:nvSpPr>
          <p:cNvPr id="24" name="Text 20"/>
          <p:cNvSpPr/>
          <p:nvPr/>
        </p:nvSpPr>
        <p:spPr>
          <a:xfrm>
            <a:off x="7132320" y="4681728"/>
            <a:ext cx="3931920" cy="310896"/>
          </a:xfrm>
          <a:prstGeom prst="rect">
            <a:avLst/>
          </a:prstGeom>
          <a:noFill/>
          <a:ln/>
        </p:spPr>
        <p:txBody>
          <a:bodyPr wrap="square" lIns="0" tIns="0" rIns="0" bIns="0" rtlCol="0" anchor="ctr"/>
          <a:lstStyle/>
          <a:p>
            <a:pPr indent="0" marL="0">
              <a:buNone/>
            </a:pPr>
            <a:r>
              <a:rPr lang="en-US" sz="1250" b="1" dirty="0">
                <a:solidFill>
                  <a:srgbClr val="1B2440"/>
                </a:solidFill>
                <a:latin typeface="Courier New" pitchFamily="34" charset="0"/>
                <a:ea typeface="Courier New" pitchFamily="34" charset="-122"/>
                <a:cs typeface="Courier New" pitchFamily="34" charset="-120"/>
              </a:rPr>
              <a:t>LLaMA · Mistral · Qwen</a:t>
            </a:r>
            <a:endParaRPr lang="en-US" sz="1250" dirty="0"/>
          </a:p>
        </p:txBody>
      </p:sp>
      <p:sp>
        <p:nvSpPr>
          <p:cNvPr id="25" name="Text 21"/>
          <p:cNvSpPr/>
          <p:nvPr/>
        </p:nvSpPr>
        <p:spPr>
          <a:xfrm>
            <a:off x="7132320" y="5010912"/>
            <a:ext cx="3931920" cy="594360"/>
          </a:xfrm>
          <a:prstGeom prst="rect">
            <a:avLst/>
          </a:prstGeom>
          <a:noFill/>
          <a:ln/>
        </p:spPr>
        <p:txBody>
          <a:bodyPr wrap="square" lIns="0" tIns="0" rIns="0" bIns="0" rtlCol="0" anchor="ctr"/>
          <a:lstStyle/>
          <a:p>
            <a:pPr indent="0" marL="0">
              <a:lnSpc>
                <a:spcPct val="110000"/>
              </a:lnSpc>
              <a:buNone/>
            </a:pPr>
            <a:r>
              <a:rPr lang="en-US" sz="1150" dirty="0">
                <a:solidFill>
                  <a:srgbClr val="5A6685"/>
                </a:solidFill>
                <a:latin typeface="Calibri" pitchFamily="34" charset="0"/>
                <a:ea typeface="Calibri" pitchFamily="34" charset="-122"/>
                <a:cs typeface="Calibri" pitchFamily="34" charset="-120"/>
              </a:rPr>
              <a:t>Self-host, fine-tune, run private — the builder's playground</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2024 · EFFICIENCY WINS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DeepSeek-V3 — frontier quality, fraction of the cost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DeepSeek-AI, 'DeepSeek-V3 Technical Report', arXiv:2412.19437 (Dec 2024)</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66928" y="1600200"/>
            <a:ext cx="4937760" cy="4434840"/>
          </a:xfrm>
          <a:prstGeom prst="roundRect">
            <a:avLst>
              <a:gd name="adj" fmla="val 2062"/>
            </a:avLst>
          </a:prstGeom>
          <a:solidFill>
            <a:srgbClr val="16213E"/>
          </a:solidFill>
          <a:ln/>
        </p:spPr>
      </p:sp>
      <p:sp>
        <p:nvSpPr>
          <p:cNvPr id="7" name="Text 5"/>
          <p:cNvSpPr/>
          <p:nvPr/>
        </p:nvSpPr>
        <p:spPr>
          <a:xfrm>
            <a:off x="932688" y="1828800"/>
            <a:ext cx="420624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DeepSeek-V3</a:t>
            </a:r>
            <a:endParaRPr lang="en-US" sz="2100" dirty="0"/>
          </a:p>
        </p:txBody>
      </p:sp>
      <p:sp>
        <p:nvSpPr>
          <p:cNvPr id="8" name="Text 6"/>
          <p:cNvSpPr/>
          <p:nvPr/>
        </p:nvSpPr>
        <p:spPr>
          <a:xfrm>
            <a:off x="932688" y="2286000"/>
            <a:ext cx="4206240" cy="640080"/>
          </a:xfrm>
          <a:prstGeom prst="rect">
            <a:avLst/>
          </a:prstGeom>
          <a:noFill/>
          <a:ln/>
        </p:spPr>
        <p:txBody>
          <a:bodyPr wrap="square" lIns="0" tIns="0" rIns="0" bIns="0" rtlCol="0" anchor="ctr"/>
          <a:lstStyle/>
          <a:p>
            <a:pPr indent="0" marL="0">
              <a:lnSpc>
                <a:spcPct val="116000"/>
              </a:lnSpc>
              <a:buNone/>
            </a:pPr>
            <a:r>
              <a:rPr lang="en-US" sz="1250" dirty="0">
                <a:solidFill>
                  <a:srgbClr val="C6CCE0"/>
                </a:solidFill>
                <a:latin typeface="Calibri" pitchFamily="34" charset="0"/>
                <a:ea typeface="Calibri" pitchFamily="34" charset="-122"/>
                <a:cs typeface="Calibri" pitchFamily="34" charset="-120"/>
              </a:rPr>
              <a:t>A 671B-parameter Mixture-of-Experts that activates only 37B per token.</a:t>
            </a:r>
            <a:endParaRPr lang="en-US" sz="1250" dirty="0"/>
          </a:p>
        </p:txBody>
      </p:sp>
      <p:sp>
        <p:nvSpPr>
          <p:cNvPr id="9" name="Text 7"/>
          <p:cNvSpPr/>
          <p:nvPr/>
        </p:nvSpPr>
        <p:spPr>
          <a:xfrm>
            <a:off x="932688" y="3063240"/>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671B</a:t>
            </a:r>
            <a:endParaRPr lang="en-US" sz="2500" dirty="0"/>
          </a:p>
        </p:txBody>
      </p:sp>
      <p:sp>
        <p:nvSpPr>
          <p:cNvPr id="10" name="Text 8"/>
          <p:cNvSpPr/>
          <p:nvPr/>
        </p:nvSpPr>
        <p:spPr>
          <a:xfrm>
            <a:off x="2807208" y="3063240"/>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total parameters</a:t>
            </a:r>
            <a:endParaRPr lang="en-US" sz="1200" dirty="0"/>
          </a:p>
        </p:txBody>
      </p:sp>
      <p:sp>
        <p:nvSpPr>
          <p:cNvPr id="11" name="Text 9"/>
          <p:cNvSpPr/>
          <p:nvPr/>
        </p:nvSpPr>
        <p:spPr>
          <a:xfrm>
            <a:off x="932688" y="3776472"/>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37B</a:t>
            </a:r>
            <a:endParaRPr lang="en-US" sz="2500" dirty="0"/>
          </a:p>
        </p:txBody>
      </p:sp>
      <p:sp>
        <p:nvSpPr>
          <p:cNvPr id="12" name="Text 10"/>
          <p:cNvSpPr/>
          <p:nvPr/>
        </p:nvSpPr>
        <p:spPr>
          <a:xfrm>
            <a:off x="2807208" y="3776472"/>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active per token</a:t>
            </a:r>
            <a:endParaRPr lang="en-US" sz="1200" dirty="0"/>
          </a:p>
        </p:txBody>
      </p:sp>
      <p:sp>
        <p:nvSpPr>
          <p:cNvPr id="13" name="Text 11"/>
          <p:cNvSpPr/>
          <p:nvPr/>
        </p:nvSpPr>
        <p:spPr>
          <a:xfrm>
            <a:off x="932688" y="4489704"/>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14.8T</a:t>
            </a:r>
            <a:endParaRPr lang="en-US" sz="2500" dirty="0"/>
          </a:p>
        </p:txBody>
      </p:sp>
      <p:sp>
        <p:nvSpPr>
          <p:cNvPr id="14" name="Text 12"/>
          <p:cNvSpPr/>
          <p:nvPr/>
        </p:nvSpPr>
        <p:spPr>
          <a:xfrm>
            <a:off x="2807208" y="4489704"/>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training tokens</a:t>
            </a:r>
            <a:endParaRPr lang="en-US" sz="1200" dirty="0"/>
          </a:p>
        </p:txBody>
      </p:sp>
      <p:sp>
        <p:nvSpPr>
          <p:cNvPr id="15" name="Text 13"/>
          <p:cNvSpPr/>
          <p:nvPr/>
        </p:nvSpPr>
        <p:spPr>
          <a:xfrm>
            <a:off x="932688" y="5202936"/>
            <a:ext cx="1828800" cy="566928"/>
          </a:xfrm>
          <a:prstGeom prst="rect">
            <a:avLst/>
          </a:prstGeom>
          <a:noFill/>
          <a:ln/>
        </p:spPr>
        <p:txBody>
          <a:bodyPr wrap="square" lIns="0" tIns="0" rIns="0" bIns="0" rtlCol="0" anchor="ctr"/>
          <a:lstStyle/>
          <a:p>
            <a:pPr indent="0" marL="0">
              <a:buNone/>
            </a:pPr>
            <a:r>
              <a:rPr lang="en-US" sz="2500" b="1" dirty="0">
                <a:solidFill>
                  <a:srgbClr val="7C6FF0"/>
                </a:solidFill>
                <a:latin typeface="Cambria" pitchFamily="34" charset="0"/>
                <a:ea typeface="Cambria" pitchFamily="34" charset="-122"/>
                <a:cs typeface="Cambria" pitchFamily="34" charset="-120"/>
              </a:rPr>
              <a:t>≈ $5.6M</a:t>
            </a:r>
            <a:endParaRPr lang="en-US" sz="2500" dirty="0"/>
          </a:p>
        </p:txBody>
      </p:sp>
      <p:sp>
        <p:nvSpPr>
          <p:cNvPr id="16" name="Text 14"/>
          <p:cNvSpPr/>
          <p:nvPr/>
        </p:nvSpPr>
        <p:spPr>
          <a:xfrm>
            <a:off x="2807208" y="5202936"/>
            <a:ext cx="2377440" cy="566928"/>
          </a:xfrm>
          <a:prstGeom prst="rect">
            <a:avLst/>
          </a:prstGeom>
          <a:noFill/>
          <a:ln/>
        </p:spPr>
        <p:txBody>
          <a:bodyPr wrap="square" lIns="0" tIns="0" rIns="0" bIns="0" rtlCol="0" anchor="ctr"/>
          <a:lstStyle/>
          <a:p>
            <a:pPr indent="0" marL="0">
              <a:buNone/>
            </a:pPr>
            <a:r>
              <a:rPr lang="en-US" sz="1200" dirty="0">
                <a:solidFill>
                  <a:srgbClr val="C6CCE0"/>
                </a:solidFill>
                <a:latin typeface="Calibri" pitchFamily="34" charset="0"/>
                <a:ea typeface="Calibri" pitchFamily="34" charset="-122"/>
                <a:cs typeface="Calibri" pitchFamily="34" charset="-120"/>
              </a:rPr>
              <a:t>reported compute cost</a:t>
            </a:r>
            <a:endParaRPr lang="en-US" sz="1200" dirty="0"/>
          </a:p>
        </p:txBody>
      </p:sp>
      <p:sp>
        <p:nvSpPr>
          <p:cNvPr id="17" name="Shape 15"/>
          <p:cNvSpPr/>
          <p:nvPr/>
        </p:nvSpPr>
        <p:spPr>
          <a:xfrm>
            <a:off x="5806440" y="1600200"/>
            <a:ext cx="5806440" cy="2331720"/>
          </a:xfrm>
          <a:prstGeom prst="roundRect">
            <a:avLst>
              <a:gd name="adj" fmla="val 3922"/>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6"/>
          <p:cNvSpPr/>
          <p:nvPr/>
        </p:nvSpPr>
        <p:spPr>
          <a:xfrm>
            <a:off x="6080760" y="1755648"/>
            <a:ext cx="5257800" cy="329184"/>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Three efficiency levers</a:t>
            </a:r>
            <a:endParaRPr lang="en-US" sz="1450" dirty="0"/>
          </a:p>
        </p:txBody>
      </p:sp>
      <p:sp>
        <p:nvSpPr>
          <p:cNvPr id="19" name="Shape 17"/>
          <p:cNvSpPr/>
          <p:nvPr/>
        </p:nvSpPr>
        <p:spPr>
          <a:xfrm>
            <a:off x="6080760" y="2103120"/>
            <a:ext cx="1051560" cy="457200"/>
          </a:xfrm>
          <a:prstGeom prst="roundRect">
            <a:avLst>
              <a:gd name="adj" fmla="val 14000"/>
            </a:avLst>
          </a:prstGeom>
          <a:solidFill>
            <a:srgbClr val="0E9E96"/>
          </a:solidFill>
          <a:ln/>
        </p:spPr>
      </p:sp>
      <p:sp>
        <p:nvSpPr>
          <p:cNvPr id="20" name="Text 18"/>
          <p:cNvSpPr/>
          <p:nvPr/>
        </p:nvSpPr>
        <p:spPr>
          <a:xfrm>
            <a:off x="6080760" y="2103120"/>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MoE</a:t>
            </a:r>
            <a:endParaRPr lang="en-US" sz="1150" dirty="0"/>
          </a:p>
        </p:txBody>
      </p:sp>
      <p:sp>
        <p:nvSpPr>
          <p:cNvPr id="21" name="Text 19"/>
          <p:cNvSpPr/>
          <p:nvPr/>
        </p:nvSpPr>
        <p:spPr>
          <a:xfrm>
            <a:off x="7269480" y="2103120"/>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sparse activation — pay for 37B, know 671B</a:t>
            </a:r>
            <a:endParaRPr lang="en-US" sz="1150" dirty="0"/>
          </a:p>
        </p:txBody>
      </p:sp>
      <p:sp>
        <p:nvSpPr>
          <p:cNvPr id="22" name="Shape 20"/>
          <p:cNvSpPr/>
          <p:nvPr/>
        </p:nvSpPr>
        <p:spPr>
          <a:xfrm>
            <a:off x="6080760" y="2679192"/>
            <a:ext cx="1051560" cy="457200"/>
          </a:xfrm>
          <a:prstGeom prst="roundRect">
            <a:avLst>
              <a:gd name="adj" fmla="val 14000"/>
            </a:avLst>
          </a:prstGeom>
          <a:solidFill>
            <a:srgbClr val="5B4BE0"/>
          </a:solidFill>
          <a:ln/>
        </p:spPr>
      </p:sp>
      <p:sp>
        <p:nvSpPr>
          <p:cNvPr id="23" name="Text 21"/>
          <p:cNvSpPr/>
          <p:nvPr/>
        </p:nvSpPr>
        <p:spPr>
          <a:xfrm>
            <a:off x="6080760" y="2679192"/>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MLA</a:t>
            </a:r>
            <a:endParaRPr lang="en-US" sz="1150" dirty="0"/>
          </a:p>
        </p:txBody>
      </p:sp>
      <p:sp>
        <p:nvSpPr>
          <p:cNvPr id="24" name="Text 22"/>
          <p:cNvSpPr/>
          <p:nvPr/>
        </p:nvSpPr>
        <p:spPr>
          <a:xfrm>
            <a:off x="7269480" y="2679192"/>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multi-head latent attention compresses the KV cache</a:t>
            </a:r>
            <a:endParaRPr lang="en-US" sz="1150" dirty="0"/>
          </a:p>
        </p:txBody>
      </p:sp>
      <p:sp>
        <p:nvSpPr>
          <p:cNvPr id="25" name="Shape 23"/>
          <p:cNvSpPr/>
          <p:nvPr/>
        </p:nvSpPr>
        <p:spPr>
          <a:xfrm>
            <a:off x="6080760" y="3255264"/>
            <a:ext cx="1051560" cy="457200"/>
          </a:xfrm>
          <a:prstGeom prst="roundRect">
            <a:avLst>
              <a:gd name="adj" fmla="val 14000"/>
            </a:avLst>
          </a:prstGeom>
          <a:solidFill>
            <a:srgbClr val="D9820A"/>
          </a:solidFill>
          <a:ln/>
        </p:spPr>
      </p:sp>
      <p:sp>
        <p:nvSpPr>
          <p:cNvPr id="26" name="Text 24"/>
          <p:cNvSpPr/>
          <p:nvPr/>
        </p:nvSpPr>
        <p:spPr>
          <a:xfrm>
            <a:off x="6080760" y="3255264"/>
            <a:ext cx="10515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FP8 + MTP</a:t>
            </a:r>
            <a:endParaRPr lang="en-US" sz="1150" dirty="0"/>
          </a:p>
        </p:txBody>
      </p:sp>
      <p:sp>
        <p:nvSpPr>
          <p:cNvPr id="27" name="Text 25"/>
          <p:cNvSpPr/>
          <p:nvPr/>
        </p:nvSpPr>
        <p:spPr>
          <a:xfrm>
            <a:off x="7269480" y="3255264"/>
            <a:ext cx="4069080" cy="457200"/>
          </a:xfrm>
          <a:prstGeom prst="rect">
            <a:avLst/>
          </a:prstGeom>
          <a:noFill/>
          <a:ln/>
        </p:spPr>
        <p:txBody>
          <a:bodyPr wrap="square" lIns="0" tIns="0" rIns="0" bIns="0" rtlCol="0" anchor="ctr"/>
          <a:lstStyle/>
          <a:p>
            <a:pPr indent="0" marL="0">
              <a:lnSpc>
                <a:spcPct val="105000"/>
              </a:lnSpc>
              <a:buNone/>
            </a:pPr>
            <a:r>
              <a:rPr lang="en-US" sz="1150" dirty="0">
                <a:solidFill>
                  <a:srgbClr val="5A6685"/>
                </a:solidFill>
                <a:latin typeface="Calibri" pitchFamily="34" charset="0"/>
                <a:ea typeface="Calibri" pitchFamily="34" charset="-122"/>
                <a:cs typeface="Calibri" pitchFamily="34" charset="-120"/>
              </a:rPr>
              <a:t>8-bit training &amp; multi-token prediction for throughput</a:t>
            </a:r>
            <a:endParaRPr lang="en-US" sz="1150" dirty="0"/>
          </a:p>
        </p:txBody>
      </p:sp>
      <p:sp>
        <p:nvSpPr>
          <p:cNvPr id="28" name="Shape 26"/>
          <p:cNvSpPr/>
          <p:nvPr/>
        </p:nvSpPr>
        <p:spPr>
          <a:xfrm>
            <a:off x="5806440" y="4114800"/>
            <a:ext cx="5806440" cy="1920240"/>
          </a:xfrm>
          <a:prstGeom prst="roundRect">
            <a:avLst>
              <a:gd name="adj" fmla="val 476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9" name="Text 27"/>
          <p:cNvSpPr/>
          <p:nvPr/>
        </p:nvSpPr>
        <p:spPr>
          <a:xfrm>
            <a:off x="6080760" y="4251960"/>
            <a:ext cx="52578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Benchmarks (V3, reported)</a:t>
            </a:r>
            <a:endParaRPr lang="en-US" sz="1350" dirty="0"/>
          </a:p>
        </p:txBody>
      </p:sp>
      <p:sp>
        <p:nvSpPr>
          <p:cNvPr id="30" name="Shape 28"/>
          <p:cNvSpPr/>
          <p:nvPr/>
        </p:nvSpPr>
        <p:spPr>
          <a:xfrm>
            <a:off x="6099048" y="4663440"/>
            <a:ext cx="1234440" cy="1143000"/>
          </a:xfrm>
          <a:prstGeom prst="roundRect">
            <a:avLst>
              <a:gd name="adj" fmla="val 6400"/>
            </a:avLst>
          </a:prstGeom>
          <a:solidFill>
            <a:srgbClr val="FFFFFF"/>
          </a:solidFill>
          <a:ln w="12700">
            <a:solidFill>
              <a:srgbClr val="DDE1EC"/>
            </a:solidFill>
            <a:prstDash val="solid"/>
          </a:ln>
        </p:spPr>
      </p:sp>
      <p:sp>
        <p:nvSpPr>
          <p:cNvPr id="31" name="Text 29"/>
          <p:cNvSpPr/>
          <p:nvPr/>
        </p:nvSpPr>
        <p:spPr>
          <a:xfrm>
            <a:off x="60990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88.5</a:t>
            </a:r>
            <a:endParaRPr lang="en-US" sz="2300" dirty="0"/>
          </a:p>
        </p:txBody>
      </p:sp>
      <p:sp>
        <p:nvSpPr>
          <p:cNvPr id="32" name="Text 30"/>
          <p:cNvSpPr/>
          <p:nvPr/>
        </p:nvSpPr>
        <p:spPr>
          <a:xfrm>
            <a:off x="60990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MMLU</a:t>
            </a:r>
            <a:endParaRPr lang="en-US" sz="1000" dirty="0"/>
          </a:p>
        </p:txBody>
      </p:sp>
      <p:sp>
        <p:nvSpPr>
          <p:cNvPr id="33" name="Shape 31"/>
          <p:cNvSpPr/>
          <p:nvPr/>
        </p:nvSpPr>
        <p:spPr>
          <a:xfrm>
            <a:off x="7470648" y="4663440"/>
            <a:ext cx="1234440" cy="1143000"/>
          </a:xfrm>
          <a:prstGeom prst="roundRect">
            <a:avLst>
              <a:gd name="adj" fmla="val 6400"/>
            </a:avLst>
          </a:prstGeom>
          <a:solidFill>
            <a:srgbClr val="FFFFFF"/>
          </a:solidFill>
          <a:ln w="12700">
            <a:solidFill>
              <a:srgbClr val="DDE1EC"/>
            </a:solidFill>
            <a:prstDash val="solid"/>
          </a:ln>
        </p:spPr>
      </p:sp>
      <p:sp>
        <p:nvSpPr>
          <p:cNvPr id="34" name="Text 32"/>
          <p:cNvSpPr/>
          <p:nvPr/>
        </p:nvSpPr>
        <p:spPr>
          <a:xfrm>
            <a:off x="74706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75.9</a:t>
            </a:r>
            <a:endParaRPr lang="en-US" sz="2300" dirty="0"/>
          </a:p>
        </p:txBody>
      </p:sp>
      <p:sp>
        <p:nvSpPr>
          <p:cNvPr id="35" name="Text 33"/>
          <p:cNvSpPr/>
          <p:nvPr/>
        </p:nvSpPr>
        <p:spPr>
          <a:xfrm>
            <a:off x="74706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MMLU-Pro</a:t>
            </a:r>
            <a:endParaRPr lang="en-US" sz="1000" dirty="0"/>
          </a:p>
        </p:txBody>
      </p:sp>
      <p:sp>
        <p:nvSpPr>
          <p:cNvPr id="36" name="Shape 34"/>
          <p:cNvSpPr/>
          <p:nvPr/>
        </p:nvSpPr>
        <p:spPr>
          <a:xfrm>
            <a:off x="8842248" y="4663440"/>
            <a:ext cx="1234440" cy="1143000"/>
          </a:xfrm>
          <a:prstGeom prst="roundRect">
            <a:avLst>
              <a:gd name="adj" fmla="val 6400"/>
            </a:avLst>
          </a:prstGeom>
          <a:solidFill>
            <a:srgbClr val="FFFFFF"/>
          </a:solidFill>
          <a:ln w="12700">
            <a:solidFill>
              <a:srgbClr val="DDE1EC"/>
            </a:solidFill>
            <a:prstDash val="solid"/>
          </a:ln>
        </p:spPr>
      </p:sp>
      <p:sp>
        <p:nvSpPr>
          <p:cNvPr id="37" name="Text 35"/>
          <p:cNvSpPr/>
          <p:nvPr/>
        </p:nvSpPr>
        <p:spPr>
          <a:xfrm>
            <a:off x="88422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90.2</a:t>
            </a:r>
            <a:endParaRPr lang="en-US" sz="2300" dirty="0"/>
          </a:p>
        </p:txBody>
      </p:sp>
      <p:sp>
        <p:nvSpPr>
          <p:cNvPr id="38" name="Text 36"/>
          <p:cNvSpPr/>
          <p:nvPr/>
        </p:nvSpPr>
        <p:spPr>
          <a:xfrm>
            <a:off x="88422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MATH-500</a:t>
            </a:r>
            <a:endParaRPr lang="en-US" sz="1000" dirty="0"/>
          </a:p>
        </p:txBody>
      </p:sp>
      <p:sp>
        <p:nvSpPr>
          <p:cNvPr id="39" name="Shape 37"/>
          <p:cNvSpPr/>
          <p:nvPr/>
        </p:nvSpPr>
        <p:spPr>
          <a:xfrm>
            <a:off x="10213848" y="4663440"/>
            <a:ext cx="1234440" cy="1143000"/>
          </a:xfrm>
          <a:prstGeom prst="roundRect">
            <a:avLst>
              <a:gd name="adj" fmla="val 6400"/>
            </a:avLst>
          </a:prstGeom>
          <a:solidFill>
            <a:srgbClr val="FFFFFF"/>
          </a:solidFill>
          <a:ln w="12700">
            <a:solidFill>
              <a:srgbClr val="DDE1EC"/>
            </a:solidFill>
            <a:prstDash val="solid"/>
          </a:ln>
        </p:spPr>
      </p:sp>
      <p:sp>
        <p:nvSpPr>
          <p:cNvPr id="40" name="Text 38"/>
          <p:cNvSpPr/>
          <p:nvPr/>
        </p:nvSpPr>
        <p:spPr>
          <a:xfrm>
            <a:off x="10213848" y="4800600"/>
            <a:ext cx="1234440" cy="502920"/>
          </a:xfrm>
          <a:prstGeom prst="rect">
            <a:avLst/>
          </a:prstGeom>
          <a:noFill/>
          <a:ln/>
        </p:spPr>
        <p:txBody>
          <a:bodyPr wrap="square" lIns="0" tIns="0" rIns="0" bIns="0" rtlCol="0" anchor="ctr"/>
          <a:lstStyle/>
          <a:p>
            <a:pPr algn="ctr" indent="0" marL="0">
              <a:buNone/>
            </a:pPr>
            <a:r>
              <a:rPr lang="en-US" sz="2300" b="1" dirty="0">
                <a:solidFill>
                  <a:srgbClr val="0E9E96"/>
                </a:solidFill>
                <a:latin typeface="Cambria" pitchFamily="34" charset="0"/>
                <a:ea typeface="Cambria" pitchFamily="34" charset="-122"/>
                <a:cs typeface="Cambria" pitchFamily="34" charset="-120"/>
              </a:rPr>
              <a:t>59.1</a:t>
            </a:r>
            <a:endParaRPr lang="en-US" sz="2300" dirty="0"/>
          </a:p>
        </p:txBody>
      </p:sp>
      <p:sp>
        <p:nvSpPr>
          <p:cNvPr id="41" name="Text 39"/>
          <p:cNvSpPr/>
          <p:nvPr/>
        </p:nvSpPr>
        <p:spPr>
          <a:xfrm>
            <a:off x="10213848" y="5321808"/>
            <a:ext cx="1234440" cy="411480"/>
          </a:xfrm>
          <a:prstGeom prst="rect">
            <a:avLst/>
          </a:prstGeom>
          <a:noFill/>
          <a:ln/>
        </p:spPr>
        <p:txBody>
          <a:bodyPr wrap="square" lIns="0" tIns="0" rIns="0" bIns="0" rtlCol="0" anchor="ctr"/>
          <a:lstStyle/>
          <a:p>
            <a:pPr algn="ctr" indent="0" marL="0">
              <a:lnSpc>
                <a:spcPct val="100000"/>
              </a:lnSpc>
              <a:buNone/>
            </a:pPr>
            <a:r>
              <a:rPr lang="en-US" sz="1000" dirty="0">
                <a:solidFill>
                  <a:srgbClr val="5A6685"/>
                </a:solidFill>
                <a:latin typeface="Calibri" pitchFamily="34" charset="0"/>
                <a:ea typeface="Calibri" pitchFamily="34" charset="-122"/>
                <a:cs typeface="Calibri" pitchFamily="34" charset="-120"/>
              </a:rPr>
              <a:t>GPQA</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2025 · A NEW AXIS OF SCALE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Reasoning models — scaling test-time compute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OpenAI o1 (System Card, 2024) · DeepSeek-AI, 'DeepSeek-R1', arXiv:2501.12948 (Jan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34</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50" dirty="0">
                <a:solidFill>
                  <a:srgbClr val="5A6685"/>
                </a:solidFill>
                <a:latin typeface="Calibri" pitchFamily="34" charset="0"/>
                <a:ea typeface="Calibri" pitchFamily="34" charset="-122"/>
                <a:cs typeface="Calibri" pitchFamily="34" charset="-120"/>
              </a:rPr>
              <a:t>The breakthrough of 2025 wasn't a bigger model — it was letting the model think longer at inference, trained with reinforcement learning to reason step-by-step.</a:t>
            </a:r>
            <a:endParaRPr lang="en-US" sz="1350" dirty="0"/>
          </a:p>
        </p:txBody>
      </p:sp>
      <p:sp>
        <p:nvSpPr>
          <p:cNvPr id="7" name="Shape 5"/>
          <p:cNvSpPr/>
          <p:nvPr/>
        </p:nvSpPr>
        <p:spPr>
          <a:xfrm>
            <a:off x="566928" y="2103120"/>
            <a:ext cx="5577840" cy="3931920"/>
          </a:xfrm>
          <a:prstGeom prst="roundRect">
            <a:avLst>
              <a:gd name="adj" fmla="val 2326"/>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6"/>
          <p:cNvSpPr/>
          <p:nvPr/>
        </p:nvSpPr>
        <p:spPr>
          <a:xfrm>
            <a:off x="841248" y="2286000"/>
            <a:ext cx="5029200" cy="365760"/>
          </a:xfrm>
          <a:prstGeom prst="rect">
            <a:avLst/>
          </a:prstGeom>
          <a:noFill/>
          <a:ln/>
        </p:spPr>
        <p:txBody>
          <a:bodyPr wrap="square" lIns="0" tIns="0" rIns="0" bIns="0" rtlCol="0" anchor="ctr"/>
          <a:lstStyle/>
          <a:p>
            <a:pPr indent="0" marL="0">
              <a:buNone/>
            </a:pPr>
            <a:r>
              <a:rPr lang="en-US" sz="1550" b="1" dirty="0">
                <a:solidFill>
                  <a:srgbClr val="1B2440"/>
                </a:solidFill>
                <a:latin typeface="Calibri" pitchFamily="34" charset="0"/>
                <a:ea typeface="Calibri" pitchFamily="34" charset="-122"/>
                <a:cs typeface="Calibri" pitchFamily="34" charset="-120"/>
              </a:rPr>
              <a:t>Train-time vs test-time compute</a:t>
            </a:r>
            <a:endParaRPr lang="en-US" sz="1550" dirty="0"/>
          </a:p>
        </p:txBody>
      </p:sp>
      <p:sp>
        <p:nvSpPr>
          <p:cNvPr id="9" name="Text 7"/>
          <p:cNvSpPr/>
          <p:nvPr/>
        </p:nvSpPr>
        <p:spPr>
          <a:xfrm>
            <a:off x="859536" y="2697480"/>
            <a:ext cx="5029200" cy="3108960"/>
          </a:xfrm>
          <a:prstGeom prst="rect">
            <a:avLst/>
          </a:prstGeom>
          <a:noFill/>
          <a:ln/>
        </p:spPr>
        <p:txBody>
          <a:bodyPr wrap="square" lIns="25400" tIns="25400" rIns="25400" bIns="25400" rtlCol="0" anchor="t"/>
          <a:lstStyle/>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Old axis: spend compute during training (more params, more data)</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New axis: spend compute during inference — generate a long chain-of-thought, explore, self-check, then answer</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Trained via RL (DeepSeek-R1 uses GRPO) to reward correct reasoning, not just the final token</a:t>
            </a:r>
            <a:endParaRPr lang="en-US" sz="1220" dirty="0"/>
          </a:p>
          <a:p>
            <a:pPr marL="177800" indent="-177800">
              <a:lnSpc>
                <a:spcPct val="104000"/>
              </a:lnSpc>
              <a:spcAft>
                <a:spcPts val="800"/>
              </a:spcAft>
              <a:buSzPct val="100000"/>
              <a:buChar char="•"/>
            </a:pPr>
            <a:r>
              <a:rPr lang="en-US" sz="1220" dirty="0">
                <a:solidFill>
                  <a:srgbClr val="1B2440"/>
                </a:solidFill>
                <a:latin typeface="Calibri" pitchFamily="34" charset="0"/>
                <a:ea typeface="Calibri" pitchFamily="34" charset="-122"/>
                <a:cs typeface="Calibri" pitchFamily="34" charset="-120"/>
              </a:rPr>
              <a:t>Reasoning trace lives between &lt;think&gt; … &lt;/think&gt; tags before the answer</a:t>
            </a:r>
            <a:endParaRPr lang="en-US" sz="1220" dirty="0"/>
          </a:p>
        </p:txBody>
      </p:sp>
      <p:sp>
        <p:nvSpPr>
          <p:cNvPr id="10" name="Shape 8"/>
          <p:cNvSpPr/>
          <p:nvPr/>
        </p:nvSpPr>
        <p:spPr>
          <a:xfrm>
            <a:off x="6583680" y="2103120"/>
            <a:ext cx="5029200" cy="3931920"/>
          </a:xfrm>
          <a:prstGeom prst="roundRect">
            <a:avLst>
              <a:gd name="adj" fmla="val 2326"/>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Text 9"/>
          <p:cNvSpPr/>
          <p:nvPr/>
        </p:nvSpPr>
        <p:spPr>
          <a:xfrm>
            <a:off x="6858000" y="2286000"/>
            <a:ext cx="4480560" cy="329184"/>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How a reasoning model answers</a:t>
            </a:r>
            <a:endParaRPr lang="en-US" sz="1400" dirty="0"/>
          </a:p>
        </p:txBody>
      </p:sp>
      <p:sp>
        <p:nvSpPr>
          <p:cNvPr id="12" name="Shape 10"/>
          <p:cNvSpPr/>
          <p:nvPr/>
        </p:nvSpPr>
        <p:spPr>
          <a:xfrm>
            <a:off x="6949440" y="2697480"/>
            <a:ext cx="4297680" cy="603504"/>
          </a:xfrm>
          <a:prstGeom prst="roundRect">
            <a:avLst>
              <a:gd name="adj" fmla="val 12121"/>
            </a:avLst>
          </a:prstGeom>
          <a:solidFill>
            <a:srgbClr val="F4F5F9"/>
          </a:solidFill>
          <a:ln w="15875">
            <a:solidFill>
              <a:srgbClr val="8A93AB"/>
            </a:solidFill>
            <a:prstDash val="solid"/>
          </a:ln>
        </p:spPr>
      </p:sp>
      <p:sp>
        <p:nvSpPr>
          <p:cNvPr id="13" name="Text 11"/>
          <p:cNvSpPr/>
          <p:nvPr/>
        </p:nvSpPr>
        <p:spPr>
          <a:xfrm>
            <a:off x="7132320" y="2697480"/>
            <a:ext cx="1920240" cy="603504"/>
          </a:xfrm>
          <a:prstGeom prst="rect">
            <a:avLst/>
          </a:prstGeom>
          <a:noFill/>
          <a:ln/>
        </p:spPr>
        <p:txBody>
          <a:bodyPr wrap="square" lIns="0" tIns="0" rIns="0" bIns="0" rtlCol="0" anchor="ctr"/>
          <a:lstStyle/>
          <a:p>
            <a:pPr indent="0" marL="0">
              <a:buNone/>
            </a:pPr>
            <a:r>
              <a:rPr lang="en-US" sz="1250" b="1" dirty="0">
                <a:solidFill>
                  <a:srgbClr val="8A93AB"/>
                </a:solidFill>
                <a:latin typeface="Courier New" pitchFamily="34" charset="0"/>
                <a:ea typeface="Courier New" pitchFamily="34" charset="-122"/>
                <a:cs typeface="Courier New" pitchFamily="34" charset="-120"/>
              </a:rPr>
              <a:t>Prompt</a:t>
            </a:r>
            <a:endParaRPr lang="en-US" sz="1250" dirty="0"/>
          </a:p>
        </p:txBody>
      </p:sp>
      <p:sp>
        <p:nvSpPr>
          <p:cNvPr id="14" name="Text 12"/>
          <p:cNvSpPr/>
          <p:nvPr/>
        </p:nvSpPr>
        <p:spPr>
          <a:xfrm>
            <a:off x="8869680" y="269748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a hard question arrives</a:t>
            </a:r>
            <a:endParaRPr lang="en-US" sz="1080" dirty="0"/>
          </a:p>
        </p:txBody>
      </p:sp>
      <p:sp>
        <p:nvSpPr>
          <p:cNvPr id="15" name="Shape 13"/>
          <p:cNvSpPr/>
          <p:nvPr/>
        </p:nvSpPr>
        <p:spPr>
          <a:xfrm>
            <a:off x="9098280" y="3300984"/>
            <a:ext cx="0" cy="173736"/>
          </a:xfrm>
          <a:prstGeom prst="line">
            <a:avLst/>
          </a:prstGeom>
          <a:noFill/>
          <a:ln w="19050">
            <a:solidFill>
              <a:srgbClr val="8A93AB"/>
            </a:solidFill>
            <a:prstDash val="solid"/>
            <a:tailEnd type="triangle"/>
          </a:ln>
        </p:spPr>
      </p:sp>
      <p:sp>
        <p:nvSpPr>
          <p:cNvPr id="16" name="Shape 14"/>
          <p:cNvSpPr/>
          <p:nvPr/>
        </p:nvSpPr>
        <p:spPr>
          <a:xfrm>
            <a:off x="6949440" y="3474720"/>
            <a:ext cx="4297680" cy="603504"/>
          </a:xfrm>
          <a:prstGeom prst="roundRect">
            <a:avLst>
              <a:gd name="adj" fmla="val 12121"/>
            </a:avLst>
          </a:prstGeom>
          <a:solidFill>
            <a:srgbClr val="EEECFB"/>
          </a:solidFill>
          <a:ln w="15875">
            <a:solidFill>
              <a:srgbClr val="5B4BE0"/>
            </a:solidFill>
            <a:prstDash val="solid"/>
          </a:ln>
        </p:spPr>
      </p:sp>
      <p:sp>
        <p:nvSpPr>
          <p:cNvPr id="17" name="Text 15"/>
          <p:cNvSpPr/>
          <p:nvPr/>
        </p:nvSpPr>
        <p:spPr>
          <a:xfrm>
            <a:off x="7132320" y="3474720"/>
            <a:ext cx="1920240" cy="603504"/>
          </a:xfrm>
          <a:prstGeom prst="rect">
            <a:avLst/>
          </a:prstGeom>
          <a:noFill/>
          <a:ln/>
        </p:spPr>
        <p:txBody>
          <a:bodyPr wrap="square" lIns="0" tIns="0" rIns="0" bIns="0" rtlCol="0" anchor="ctr"/>
          <a:lstStyle/>
          <a:p>
            <a:pPr indent="0" marL="0">
              <a:buNone/>
            </a:pPr>
            <a:r>
              <a:rPr lang="en-US" sz="1250" b="1" dirty="0">
                <a:solidFill>
                  <a:srgbClr val="5B4BE0"/>
                </a:solidFill>
                <a:latin typeface="Courier New" pitchFamily="34" charset="0"/>
                <a:ea typeface="Courier New" pitchFamily="34" charset="-122"/>
                <a:cs typeface="Courier New" pitchFamily="34" charset="-120"/>
              </a:rPr>
              <a:t>&lt;think&gt;</a:t>
            </a:r>
            <a:endParaRPr lang="en-US" sz="1250" dirty="0"/>
          </a:p>
        </p:txBody>
      </p:sp>
      <p:sp>
        <p:nvSpPr>
          <p:cNvPr id="18" name="Text 16"/>
          <p:cNvSpPr/>
          <p:nvPr/>
        </p:nvSpPr>
        <p:spPr>
          <a:xfrm>
            <a:off x="8869680" y="347472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draft, branch, verify, backtrack — a long internal chain</a:t>
            </a:r>
            <a:endParaRPr lang="en-US" sz="1080" dirty="0"/>
          </a:p>
        </p:txBody>
      </p:sp>
      <p:sp>
        <p:nvSpPr>
          <p:cNvPr id="19" name="Shape 17"/>
          <p:cNvSpPr/>
          <p:nvPr/>
        </p:nvSpPr>
        <p:spPr>
          <a:xfrm>
            <a:off x="9098280" y="4078224"/>
            <a:ext cx="0" cy="173736"/>
          </a:xfrm>
          <a:prstGeom prst="line">
            <a:avLst/>
          </a:prstGeom>
          <a:noFill/>
          <a:ln w="19050">
            <a:solidFill>
              <a:srgbClr val="8A93AB"/>
            </a:solidFill>
            <a:prstDash val="solid"/>
            <a:tailEnd type="triangle"/>
          </a:ln>
        </p:spPr>
      </p:sp>
      <p:sp>
        <p:nvSpPr>
          <p:cNvPr id="20" name="Shape 18"/>
          <p:cNvSpPr/>
          <p:nvPr/>
        </p:nvSpPr>
        <p:spPr>
          <a:xfrm>
            <a:off x="6949440" y="4251960"/>
            <a:ext cx="4297680" cy="603504"/>
          </a:xfrm>
          <a:prstGeom prst="roundRect">
            <a:avLst>
              <a:gd name="adj" fmla="val 12121"/>
            </a:avLst>
          </a:prstGeom>
          <a:solidFill>
            <a:srgbClr val="F4F5F9"/>
          </a:solidFill>
          <a:ln w="15875">
            <a:solidFill>
              <a:srgbClr val="D9820A"/>
            </a:solidFill>
            <a:prstDash val="solid"/>
          </a:ln>
        </p:spPr>
      </p:sp>
      <p:sp>
        <p:nvSpPr>
          <p:cNvPr id="21" name="Text 19"/>
          <p:cNvSpPr/>
          <p:nvPr/>
        </p:nvSpPr>
        <p:spPr>
          <a:xfrm>
            <a:off x="7132320" y="4251960"/>
            <a:ext cx="1920240" cy="603504"/>
          </a:xfrm>
          <a:prstGeom prst="rect">
            <a:avLst/>
          </a:prstGeom>
          <a:noFill/>
          <a:ln/>
        </p:spPr>
        <p:txBody>
          <a:bodyPr wrap="square" lIns="0" tIns="0" rIns="0" bIns="0" rtlCol="0" anchor="ctr"/>
          <a:lstStyle/>
          <a:p>
            <a:pPr indent="0" marL="0">
              <a:buNone/>
            </a:pPr>
            <a:r>
              <a:rPr lang="en-US" sz="1250" b="1" dirty="0">
                <a:solidFill>
                  <a:srgbClr val="D9820A"/>
                </a:solidFill>
                <a:latin typeface="Courier New" pitchFamily="34" charset="0"/>
                <a:ea typeface="Courier New" pitchFamily="34" charset="-122"/>
                <a:cs typeface="Courier New" pitchFamily="34" charset="-120"/>
              </a:rPr>
              <a:t>self-check</a:t>
            </a:r>
            <a:endParaRPr lang="en-US" sz="1250" dirty="0"/>
          </a:p>
        </p:txBody>
      </p:sp>
      <p:sp>
        <p:nvSpPr>
          <p:cNvPr id="22" name="Text 20"/>
          <p:cNvSpPr/>
          <p:nvPr/>
        </p:nvSpPr>
        <p:spPr>
          <a:xfrm>
            <a:off x="8869680" y="425196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catch its own errors mid-reasoning</a:t>
            </a:r>
            <a:endParaRPr lang="en-US" sz="1080" dirty="0"/>
          </a:p>
        </p:txBody>
      </p:sp>
      <p:sp>
        <p:nvSpPr>
          <p:cNvPr id="23" name="Shape 21"/>
          <p:cNvSpPr/>
          <p:nvPr/>
        </p:nvSpPr>
        <p:spPr>
          <a:xfrm>
            <a:off x="9098280" y="4855464"/>
            <a:ext cx="0" cy="173736"/>
          </a:xfrm>
          <a:prstGeom prst="line">
            <a:avLst/>
          </a:prstGeom>
          <a:noFill/>
          <a:ln w="19050">
            <a:solidFill>
              <a:srgbClr val="8A93AB"/>
            </a:solidFill>
            <a:prstDash val="solid"/>
            <a:tailEnd type="triangle"/>
          </a:ln>
        </p:spPr>
      </p:sp>
      <p:sp>
        <p:nvSpPr>
          <p:cNvPr id="24" name="Shape 22"/>
          <p:cNvSpPr/>
          <p:nvPr/>
        </p:nvSpPr>
        <p:spPr>
          <a:xfrm>
            <a:off x="6949440" y="5029200"/>
            <a:ext cx="4297680" cy="603504"/>
          </a:xfrm>
          <a:prstGeom prst="roundRect">
            <a:avLst>
              <a:gd name="adj" fmla="val 12121"/>
            </a:avLst>
          </a:prstGeom>
          <a:solidFill>
            <a:srgbClr val="F4F5F9"/>
          </a:solidFill>
          <a:ln w="15875">
            <a:solidFill>
              <a:srgbClr val="0E9E96"/>
            </a:solidFill>
            <a:prstDash val="solid"/>
          </a:ln>
        </p:spPr>
      </p:sp>
      <p:sp>
        <p:nvSpPr>
          <p:cNvPr id="25" name="Text 23"/>
          <p:cNvSpPr/>
          <p:nvPr/>
        </p:nvSpPr>
        <p:spPr>
          <a:xfrm>
            <a:off x="7132320" y="5029200"/>
            <a:ext cx="1920240" cy="603504"/>
          </a:xfrm>
          <a:prstGeom prst="rect">
            <a:avLst/>
          </a:prstGeom>
          <a:noFill/>
          <a:ln/>
        </p:spPr>
        <p:txBody>
          <a:bodyPr wrap="square" lIns="0" tIns="0" rIns="0" bIns="0" rtlCol="0" anchor="ctr"/>
          <a:lstStyle/>
          <a:p>
            <a:pPr indent="0" marL="0">
              <a:buNone/>
            </a:pPr>
            <a:r>
              <a:rPr lang="en-US" sz="1250" b="1" dirty="0">
                <a:solidFill>
                  <a:srgbClr val="0E9E96"/>
                </a:solidFill>
                <a:latin typeface="Courier New" pitchFamily="34" charset="0"/>
                <a:ea typeface="Courier New" pitchFamily="34" charset="-122"/>
                <a:cs typeface="Courier New" pitchFamily="34" charset="-120"/>
              </a:rPr>
              <a:t>&lt;/think&gt; → answer</a:t>
            </a:r>
            <a:endParaRPr lang="en-US" sz="1250" dirty="0"/>
          </a:p>
        </p:txBody>
      </p:sp>
      <p:sp>
        <p:nvSpPr>
          <p:cNvPr id="26" name="Text 24"/>
          <p:cNvSpPr/>
          <p:nvPr/>
        </p:nvSpPr>
        <p:spPr>
          <a:xfrm>
            <a:off x="8869680" y="5029200"/>
            <a:ext cx="2423160" cy="603504"/>
          </a:xfrm>
          <a:prstGeom prst="rect">
            <a:avLst/>
          </a:prstGeom>
          <a:noFill/>
          <a:ln/>
        </p:spPr>
        <p:txBody>
          <a:bodyPr wrap="square" lIns="0" tIns="0" rIns="0" bIns="0" rtlCol="0" anchor="ctr"/>
          <a:lstStyle/>
          <a:p>
            <a:pPr indent="0" marL="0">
              <a:lnSpc>
                <a:spcPct val="104000"/>
              </a:lnSpc>
              <a:buNone/>
            </a:pPr>
            <a:r>
              <a:rPr lang="en-US" sz="1080" dirty="0">
                <a:solidFill>
                  <a:srgbClr val="5A6685"/>
                </a:solidFill>
                <a:latin typeface="Calibri" pitchFamily="34" charset="0"/>
                <a:ea typeface="Calibri" pitchFamily="34" charset="-122"/>
                <a:cs typeface="Calibri" pitchFamily="34" charset="-120"/>
              </a:rPr>
              <a:t>commit only after reasoning</a:t>
            </a:r>
            <a:endParaRPr lang="en-US" sz="10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2026 · THE FRONTIER TODAY</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current landscape — families, not just models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Vendor model cards &amp; docs, 2025–2026 (Anthropic, OpenAI, Google, Meta, DeepSeek, Alibaba, Mistral)</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35</a:t>
            </a:r>
            <a:endParaRPr lang="en-US" sz="900" dirty="0"/>
          </a:p>
        </p:txBody>
      </p:sp>
      <p:sp>
        <p:nvSpPr>
          <p:cNvPr id="6" name="Text 4"/>
          <p:cNvSpPr/>
          <p:nvPr/>
        </p:nvSpPr>
        <p:spPr>
          <a:xfrm>
            <a:off x="566928" y="1444752"/>
            <a:ext cx="11064240" cy="502920"/>
          </a:xfrm>
          <a:prstGeom prst="rect">
            <a:avLst/>
          </a:prstGeom>
          <a:noFill/>
          <a:ln/>
        </p:spPr>
        <p:txBody>
          <a:bodyPr wrap="square" lIns="0" tIns="0" rIns="0" bIns="0" rtlCol="0" anchor="ctr"/>
          <a:lstStyle/>
          <a:p>
            <a:pPr indent="0" marL="0">
              <a:lnSpc>
                <a:spcPct val="112000"/>
              </a:lnSpc>
              <a:buNone/>
            </a:pPr>
            <a:r>
              <a:rPr lang="en-US" sz="1300" i="1" dirty="0">
                <a:solidFill>
                  <a:srgbClr val="5A6685"/>
                </a:solidFill>
                <a:latin typeface="Calibri" pitchFamily="34" charset="0"/>
                <a:ea typeface="Calibri" pitchFamily="34" charset="-122"/>
                <a:cs typeface="Calibri" pitchFamily="34" charset="-120"/>
              </a:rPr>
              <a:t>By 2026 the frontier is a handful of model families, each spanning fast/cheap to deep-reasoning tiers. Naming churns monthly — think in families and capabilities, not version numbers.</a:t>
            </a:r>
            <a:endParaRPr lang="en-US" sz="1300" dirty="0"/>
          </a:p>
        </p:txBody>
      </p:sp>
      <p:sp>
        <p:nvSpPr>
          <p:cNvPr id="7" name="Shape 5"/>
          <p:cNvSpPr/>
          <p:nvPr/>
        </p:nvSpPr>
        <p:spPr>
          <a:xfrm>
            <a:off x="56692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566928" y="2103120"/>
            <a:ext cx="128016" cy="1783080"/>
          </a:xfrm>
          <a:prstGeom prst="roundRect">
            <a:avLst>
              <a:gd name="adj" fmla="val 28571"/>
            </a:avLst>
          </a:prstGeom>
          <a:solidFill>
            <a:srgbClr val="D9820A"/>
          </a:solidFill>
          <a:ln/>
        </p:spPr>
      </p:sp>
      <p:sp>
        <p:nvSpPr>
          <p:cNvPr id="9" name="Text 7"/>
          <p:cNvSpPr/>
          <p:nvPr/>
        </p:nvSpPr>
        <p:spPr>
          <a:xfrm>
            <a:off x="87782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Claude</a:t>
            </a:r>
            <a:endParaRPr lang="en-US" sz="1800" dirty="0"/>
          </a:p>
        </p:txBody>
      </p:sp>
      <p:sp>
        <p:nvSpPr>
          <p:cNvPr id="10" name="Text 8"/>
          <p:cNvSpPr/>
          <p:nvPr/>
        </p:nvSpPr>
        <p:spPr>
          <a:xfrm>
            <a:off x="877824" y="2688336"/>
            <a:ext cx="3044952" cy="274320"/>
          </a:xfrm>
          <a:prstGeom prst="rect">
            <a:avLst/>
          </a:prstGeom>
          <a:noFill/>
          <a:ln/>
        </p:spPr>
        <p:txBody>
          <a:bodyPr wrap="square" lIns="0" tIns="0" rIns="0" bIns="0" rtlCol="0" anchor="ctr"/>
          <a:lstStyle/>
          <a:p>
            <a:pPr indent="0" marL="0">
              <a:buNone/>
            </a:pPr>
            <a:r>
              <a:rPr lang="en-US" sz="1100" b="1" dirty="0">
                <a:solidFill>
                  <a:srgbClr val="D9820A"/>
                </a:solidFill>
                <a:latin typeface="Calibri" pitchFamily="34" charset="0"/>
                <a:ea typeface="Calibri" pitchFamily="34" charset="-122"/>
                <a:cs typeface="Calibri" pitchFamily="34" charset="-120"/>
              </a:rPr>
              <a:t>Anthropic</a:t>
            </a:r>
            <a:endParaRPr lang="en-US" sz="1100" dirty="0"/>
          </a:p>
        </p:txBody>
      </p:sp>
      <p:sp>
        <p:nvSpPr>
          <p:cNvPr id="11" name="Text 9"/>
          <p:cNvSpPr/>
          <p:nvPr/>
        </p:nvSpPr>
        <p:spPr>
          <a:xfrm>
            <a:off x="87782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Opus · Sonnet · Haiku tiers; long-context, strong coding &amp; agentic use</a:t>
            </a:r>
            <a:endParaRPr lang="en-US" sz="1100" dirty="0"/>
          </a:p>
        </p:txBody>
      </p:sp>
      <p:sp>
        <p:nvSpPr>
          <p:cNvPr id="12" name="Shape 10"/>
          <p:cNvSpPr/>
          <p:nvPr/>
        </p:nvSpPr>
        <p:spPr>
          <a:xfrm>
            <a:off x="431596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1"/>
          <p:cNvSpPr/>
          <p:nvPr/>
        </p:nvSpPr>
        <p:spPr>
          <a:xfrm>
            <a:off x="4315968" y="2103120"/>
            <a:ext cx="128016" cy="1783080"/>
          </a:xfrm>
          <a:prstGeom prst="roundRect">
            <a:avLst>
              <a:gd name="adj" fmla="val 28571"/>
            </a:avLst>
          </a:prstGeom>
          <a:solidFill>
            <a:srgbClr val="1B9C5A"/>
          </a:solidFill>
          <a:ln/>
        </p:spPr>
      </p:sp>
      <p:sp>
        <p:nvSpPr>
          <p:cNvPr id="14" name="Text 12"/>
          <p:cNvSpPr/>
          <p:nvPr/>
        </p:nvSpPr>
        <p:spPr>
          <a:xfrm>
            <a:off x="462686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GPT</a:t>
            </a:r>
            <a:endParaRPr lang="en-US" sz="1800" dirty="0"/>
          </a:p>
        </p:txBody>
      </p:sp>
      <p:sp>
        <p:nvSpPr>
          <p:cNvPr id="15" name="Text 13"/>
          <p:cNvSpPr/>
          <p:nvPr/>
        </p:nvSpPr>
        <p:spPr>
          <a:xfrm>
            <a:off x="4626864" y="2688336"/>
            <a:ext cx="3044952" cy="274320"/>
          </a:xfrm>
          <a:prstGeom prst="rect">
            <a:avLst/>
          </a:prstGeom>
          <a:noFill/>
          <a:ln/>
        </p:spPr>
        <p:txBody>
          <a:bodyPr wrap="square" lIns="0" tIns="0" rIns="0" bIns="0" rtlCol="0" anchor="ctr"/>
          <a:lstStyle/>
          <a:p>
            <a:pPr indent="0" marL="0">
              <a:buNone/>
            </a:pPr>
            <a:r>
              <a:rPr lang="en-US" sz="1100" b="1" dirty="0">
                <a:solidFill>
                  <a:srgbClr val="1B9C5A"/>
                </a:solidFill>
                <a:latin typeface="Calibri" pitchFamily="34" charset="0"/>
                <a:ea typeface="Calibri" pitchFamily="34" charset="-122"/>
                <a:cs typeface="Calibri" pitchFamily="34" charset="-120"/>
              </a:rPr>
              <a:t>OpenAI</a:t>
            </a:r>
            <a:endParaRPr lang="en-US" sz="1100" dirty="0"/>
          </a:p>
        </p:txBody>
      </p:sp>
      <p:sp>
        <p:nvSpPr>
          <p:cNvPr id="16" name="Text 14"/>
          <p:cNvSpPr/>
          <p:nvPr/>
        </p:nvSpPr>
        <p:spPr>
          <a:xfrm>
            <a:off x="462686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Flagship + reasoning ('o'-series) lines; broad multimodal ecosystem</a:t>
            </a:r>
            <a:endParaRPr lang="en-US" sz="1100" dirty="0"/>
          </a:p>
        </p:txBody>
      </p:sp>
      <p:sp>
        <p:nvSpPr>
          <p:cNvPr id="17" name="Shape 15"/>
          <p:cNvSpPr/>
          <p:nvPr/>
        </p:nvSpPr>
        <p:spPr>
          <a:xfrm>
            <a:off x="8065008" y="210312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6"/>
          <p:cNvSpPr/>
          <p:nvPr/>
        </p:nvSpPr>
        <p:spPr>
          <a:xfrm>
            <a:off x="8065008" y="2103120"/>
            <a:ext cx="128016" cy="1783080"/>
          </a:xfrm>
          <a:prstGeom prst="roundRect">
            <a:avLst>
              <a:gd name="adj" fmla="val 28571"/>
            </a:avLst>
          </a:prstGeom>
          <a:solidFill>
            <a:srgbClr val="5B4BE0"/>
          </a:solidFill>
          <a:ln/>
        </p:spPr>
      </p:sp>
      <p:sp>
        <p:nvSpPr>
          <p:cNvPr id="19" name="Text 17"/>
          <p:cNvSpPr/>
          <p:nvPr/>
        </p:nvSpPr>
        <p:spPr>
          <a:xfrm>
            <a:off x="8375904" y="228600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Gemini</a:t>
            </a:r>
            <a:endParaRPr lang="en-US" sz="1800" dirty="0"/>
          </a:p>
        </p:txBody>
      </p:sp>
      <p:sp>
        <p:nvSpPr>
          <p:cNvPr id="20" name="Text 18"/>
          <p:cNvSpPr/>
          <p:nvPr/>
        </p:nvSpPr>
        <p:spPr>
          <a:xfrm>
            <a:off x="8375904" y="2688336"/>
            <a:ext cx="3044952" cy="274320"/>
          </a:xfrm>
          <a:prstGeom prst="rect">
            <a:avLst/>
          </a:prstGeom>
          <a:noFill/>
          <a:ln/>
        </p:spPr>
        <p:txBody>
          <a:bodyPr wrap="square" lIns="0" tIns="0" rIns="0" bIns="0" rtlCol="0" anchor="ctr"/>
          <a:lstStyle/>
          <a:p>
            <a:pPr indent="0" marL="0">
              <a:buNone/>
            </a:pPr>
            <a:r>
              <a:rPr lang="en-US" sz="1100" b="1" dirty="0">
                <a:solidFill>
                  <a:srgbClr val="5B4BE0"/>
                </a:solidFill>
                <a:latin typeface="Calibri" pitchFamily="34" charset="0"/>
                <a:ea typeface="Calibri" pitchFamily="34" charset="-122"/>
                <a:cs typeface="Calibri" pitchFamily="34" charset="-120"/>
              </a:rPr>
              <a:t>Google DeepMind</a:t>
            </a:r>
            <a:endParaRPr lang="en-US" sz="1100" dirty="0"/>
          </a:p>
        </p:txBody>
      </p:sp>
      <p:sp>
        <p:nvSpPr>
          <p:cNvPr id="21" name="Text 19"/>
          <p:cNvSpPr/>
          <p:nvPr/>
        </p:nvSpPr>
        <p:spPr>
          <a:xfrm>
            <a:off x="8375904" y="299923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Natively multimodal, very long context, tight Google integration</a:t>
            </a:r>
            <a:endParaRPr lang="en-US" sz="1100" dirty="0"/>
          </a:p>
        </p:txBody>
      </p:sp>
      <p:sp>
        <p:nvSpPr>
          <p:cNvPr id="22" name="Shape 20"/>
          <p:cNvSpPr/>
          <p:nvPr/>
        </p:nvSpPr>
        <p:spPr>
          <a:xfrm>
            <a:off x="56692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3" name="Shape 21"/>
          <p:cNvSpPr/>
          <p:nvPr/>
        </p:nvSpPr>
        <p:spPr>
          <a:xfrm>
            <a:off x="566928" y="4069080"/>
            <a:ext cx="128016" cy="1783080"/>
          </a:xfrm>
          <a:prstGeom prst="roundRect">
            <a:avLst>
              <a:gd name="adj" fmla="val 28571"/>
            </a:avLst>
          </a:prstGeom>
          <a:solidFill>
            <a:srgbClr val="0E9E96"/>
          </a:solidFill>
          <a:ln/>
        </p:spPr>
      </p:sp>
      <p:sp>
        <p:nvSpPr>
          <p:cNvPr id="24" name="Text 22"/>
          <p:cNvSpPr/>
          <p:nvPr/>
        </p:nvSpPr>
        <p:spPr>
          <a:xfrm>
            <a:off x="87782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Llama</a:t>
            </a:r>
            <a:endParaRPr lang="en-US" sz="1800" dirty="0"/>
          </a:p>
        </p:txBody>
      </p:sp>
      <p:sp>
        <p:nvSpPr>
          <p:cNvPr id="25" name="Text 23"/>
          <p:cNvSpPr/>
          <p:nvPr/>
        </p:nvSpPr>
        <p:spPr>
          <a:xfrm>
            <a:off x="877824" y="4654296"/>
            <a:ext cx="3044952" cy="274320"/>
          </a:xfrm>
          <a:prstGeom prst="rect">
            <a:avLst/>
          </a:prstGeom>
          <a:noFill/>
          <a:ln/>
        </p:spPr>
        <p:txBody>
          <a:bodyPr wrap="square" lIns="0" tIns="0" rIns="0" bIns="0" rtlCol="0" anchor="ctr"/>
          <a:lstStyle/>
          <a:p>
            <a:pPr indent="0" marL="0">
              <a:buNone/>
            </a:pPr>
            <a:r>
              <a:rPr lang="en-US" sz="1100" b="1" dirty="0">
                <a:solidFill>
                  <a:srgbClr val="0E9E96"/>
                </a:solidFill>
                <a:latin typeface="Calibri" pitchFamily="34" charset="0"/>
                <a:ea typeface="Calibri" pitchFamily="34" charset="-122"/>
                <a:cs typeface="Calibri" pitchFamily="34" charset="-120"/>
              </a:rPr>
              <a:t>Meta</a:t>
            </a:r>
            <a:endParaRPr lang="en-US" sz="1100" dirty="0"/>
          </a:p>
        </p:txBody>
      </p:sp>
      <p:sp>
        <p:nvSpPr>
          <p:cNvPr id="26" name="Text 24"/>
          <p:cNvSpPr/>
          <p:nvPr/>
        </p:nvSpPr>
        <p:spPr>
          <a:xfrm>
            <a:off x="87782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Open-weight frontier; Llama 4 MoE (Scout / Maverick), huge context</a:t>
            </a:r>
            <a:endParaRPr lang="en-US" sz="1100" dirty="0"/>
          </a:p>
        </p:txBody>
      </p:sp>
      <p:sp>
        <p:nvSpPr>
          <p:cNvPr id="27" name="Shape 25"/>
          <p:cNvSpPr/>
          <p:nvPr/>
        </p:nvSpPr>
        <p:spPr>
          <a:xfrm>
            <a:off x="431596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6"/>
          <p:cNvSpPr/>
          <p:nvPr/>
        </p:nvSpPr>
        <p:spPr>
          <a:xfrm>
            <a:off x="4315968" y="4069080"/>
            <a:ext cx="128016" cy="1783080"/>
          </a:xfrm>
          <a:prstGeom prst="roundRect">
            <a:avLst>
              <a:gd name="adj" fmla="val 28571"/>
            </a:avLst>
          </a:prstGeom>
          <a:solidFill>
            <a:srgbClr val="E5484D"/>
          </a:solidFill>
          <a:ln/>
        </p:spPr>
      </p:sp>
      <p:sp>
        <p:nvSpPr>
          <p:cNvPr id="29" name="Text 27"/>
          <p:cNvSpPr/>
          <p:nvPr/>
        </p:nvSpPr>
        <p:spPr>
          <a:xfrm>
            <a:off x="462686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DeepSeek</a:t>
            </a:r>
            <a:endParaRPr lang="en-US" sz="1800" dirty="0"/>
          </a:p>
        </p:txBody>
      </p:sp>
      <p:sp>
        <p:nvSpPr>
          <p:cNvPr id="30" name="Text 28"/>
          <p:cNvSpPr/>
          <p:nvPr/>
        </p:nvSpPr>
        <p:spPr>
          <a:xfrm>
            <a:off x="4626864" y="4654296"/>
            <a:ext cx="3044952" cy="27432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DeepSeek-AI</a:t>
            </a:r>
            <a:endParaRPr lang="en-US" sz="1100" dirty="0"/>
          </a:p>
        </p:txBody>
      </p:sp>
      <p:sp>
        <p:nvSpPr>
          <p:cNvPr id="31" name="Text 29"/>
          <p:cNvSpPr/>
          <p:nvPr/>
        </p:nvSpPr>
        <p:spPr>
          <a:xfrm>
            <a:off x="462686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Open MoE + reasoning (V3 / R1); cost-efficiency leader</a:t>
            </a:r>
            <a:endParaRPr lang="en-US" sz="1100" dirty="0"/>
          </a:p>
        </p:txBody>
      </p:sp>
      <p:sp>
        <p:nvSpPr>
          <p:cNvPr id="32" name="Shape 30"/>
          <p:cNvSpPr/>
          <p:nvPr/>
        </p:nvSpPr>
        <p:spPr>
          <a:xfrm>
            <a:off x="8065008" y="4069080"/>
            <a:ext cx="3593592" cy="1783080"/>
          </a:xfrm>
          <a:prstGeom prst="roundRect">
            <a:avLst>
              <a:gd name="adj" fmla="val 5128"/>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Shape 31"/>
          <p:cNvSpPr/>
          <p:nvPr/>
        </p:nvSpPr>
        <p:spPr>
          <a:xfrm>
            <a:off x="8065008" y="4069080"/>
            <a:ext cx="128016" cy="1783080"/>
          </a:xfrm>
          <a:prstGeom prst="roundRect">
            <a:avLst>
              <a:gd name="adj" fmla="val 28571"/>
            </a:avLst>
          </a:prstGeom>
          <a:solidFill>
            <a:srgbClr val="7C6FF0"/>
          </a:solidFill>
          <a:ln/>
        </p:spPr>
      </p:sp>
      <p:sp>
        <p:nvSpPr>
          <p:cNvPr id="34" name="Text 32"/>
          <p:cNvSpPr/>
          <p:nvPr/>
        </p:nvSpPr>
        <p:spPr>
          <a:xfrm>
            <a:off x="8375904" y="4251960"/>
            <a:ext cx="3044952" cy="384048"/>
          </a:xfrm>
          <a:prstGeom prst="rect">
            <a:avLst/>
          </a:prstGeom>
          <a:noFill/>
          <a:ln/>
        </p:spPr>
        <p:txBody>
          <a:bodyPr wrap="square" lIns="0" tIns="0" rIns="0" bIns="0" rtlCol="0" anchor="ctr"/>
          <a:lstStyle/>
          <a:p>
            <a:pPr indent="0" marL="0">
              <a:buNone/>
            </a:pPr>
            <a:r>
              <a:rPr lang="en-US" sz="1800" b="1" dirty="0">
                <a:solidFill>
                  <a:srgbClr val="1B2440"/>
                </a:solidFill>
                <a:latin typeface="Calibri" pitchFamily="34" charset="0"/>
                <a:ea typeface="Calibri" pitchFamily="34" charset="-122"/>
                <a:cs typeface="Calibri" pitchFamily="34" charset="-120"/>
              </a:rPr>
              <a:t>Qwen / Mistral</a:t>
            </a:r>
            <a:endParaRPr lang="en-US" sz="1800" dirty="0"/>
          </a:p>
        </p:txBody>
      </p:sp>
      <p:sp>
        <p:nvSpPr>
          <p:cNvPr id="35" name="Text 33"/>
          <p:cNvSpPr/>
          <p:nvPr/>
        </p:nvSpPr>
        <p:spPr>
          <a:xfrm>
            <a:off x="8375904" y="4654296"/>
            <a:ext cx="3044952" cy="274320"/>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Alibaba · Mistral</a:t>
            </a:r>
            <a:endParaRPr lang="en-US" sz="1100" dirty="0"/>
          </a:p>
        </p:txBody>
      </p:sp>
      <p:sp>
        <p:nvSpPr>
          <p:cNvPr id="36" name="Text 34"/>
          <p:cNvSpPr/>
          <p:nvPr/>
        </p:nvSpPr>
        <p:spPr>
          <a:xfrm>
            <a:off x="8375904" y="4965192"/>
            <a:ext cx="3026664" cy="777240"/>
          </a:xfrm>
          <a:prstGeom prst="rect">
            <a:avLst/>
          </a:prstGeom>
          <a:noFill/>
          <a:ln/>
        </p:spPr>
        <p:txBody>
          <a:bodyPr wrap="square" lIns="0" tIns="0" rIns="0" bIns="0" rtlCol="0" anchor="ctr"/>
          <a:lstStyle/>
          <a:p>
            <a:pPr indent="0" marL="0">
              <a:lnSpc>
                <a:spcPct val="110000"/>
              </a:lnSpc>
              <a:buNone/>
            </a:pPr>
            <a:r>
              <a:rPr lang="en-US" sz="1100" dirty="0">
                <a:solidFill>
                  <a:srgbClr val="5A6685"/>
                </a:solidFill>
                <a:latin typeface="Calibri" pitchFamily="34" charset="0"/>
                <a:ea typeface="Calibri" pitchFamily="34" charset="-122"/>
                <a:cs typeface="Calibri" pitchFamily="34" charset="-120"/>
              </a:rPr>
              <a:t>Strong open families; dense + MoE, multilingual, edge-friendly</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PROGRESS, QUANTIFIED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Six years of MMLU — the capability curve</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Scores from each model's paper/report; MMLU = 57-subject knowledge &amp; reasoning benchmark (Hendrycks et al., arXiv:2009.03300)</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36</a:t>
            </a:r>
            <a:endParaRPr lang="en-US" sz="900" dirty="0"/>
          </a:p>
        </p:txBody>
      </p:sp>
      <p:graphicFrame>
        <p:nvGraphicFramePr>
          <p:cNvPr id="6" name="Chart 0" descr=""/>
          <p:cNvGraphicFramePr/>
          <p:nvPr/>
        </p:nvGraphicFramePr>
        <p:xfrm>
          <a:off x="566928" y="169164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138160" y="1691640"/>
            <a:ext cx="3474720" cy="4297680"/>
          </a:xfrm>
          <a:prstGeom prst="roundRect">
            <a:avLst>
              <a:gd name="adj" fmla="val 2632"/>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Text 5"/>
          <p:cNvSpPr/>
          <p:nvPr/>
        </p:nvSpPr>
        <p:spPr>
          <a:xfrm>
            <a:off x="8366760" y="1874520"/>
            <a:ext cx="3017520" cy="329184"/>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Reading the curve</a:t>
            </a:r>
            <a:endParaRPr lang="en-US" sz="1500" dirty="0"/>
          </a:p>
        </p:txBody>
      </p:sp>
      <p:sp>
        <p:nvSpPr>
          <p:cNvPr id="9" name="Text 6"/>
          <p:cNvSpPr/>
          <p:nvPr/>
        </p:nvSpPr>
        <p:spPr>
          <a:xfrm>
            <a:off x="8366760" y="2286000"/>
            <a:ext cx="3063240" cy="3566160"/>
          </a:xfrm>
          <a:prstGeom prst="rect">
            <a:avLst/>
          </a:prstGeom>
          <a:noFill/>
          <a:ln/>
        </p:spPr>
        <p:txBody>
          <a:bodyPr wrap="square" lIns="25400" tIns="25400" rIns="25400" bIns="25400" rtlCol="0" anchor="t"/>
          <a:lstStyle/>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GPT-3 (2020) sat near 44% — barely above random on many subjects</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GPT-4 (2023) leapt past 86% — into expert range</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Human expert baseline ≈ 89.8% (Hendrycks et al.)</a:t>
            </a:r>
            <a:endParaRPr lang="en-US" sz="1150" dirty="0"/>
          </a:p>
          <a:p>
            <a:pPr marL="177800" indent="-177800">
              <a:lnSpc>
                <a:spcPct val="104000"/>
              </a:lnSpc>
              <a:spcAft>
                <a:spcPts val="900"/>
              </a:spcAft>
              <a:buSzPct val="100000"/>
              <a:buChar char="•"/>
            </a:pPr>
            <a:r>
              <a:rPr lang="en-US" sz="1150" dirty="0">
                <a:solidFill>
                  <a:srgbClr val="1B2440"/>
                </a:solidFill>
                <a:latin typeface="Calibri" pitchFamily="34" charset="0"/>
                <a:ea typeface="Calibri" pitchFamily="34" charset="-122"/>
                <a:cs typeface="Calibri" pitchFamily="34" charset="-120"/>
              </a:rPr>
              <a:t>The curve is now flattening near the test's ceiling — newer benchmarks (MMLU-Pro, GPQA) take over</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A FIELD GUIDE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Types of models you'll meet in 2026</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Synthesis of model cards &amp; survey literature (2024–2026)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56692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41248" y="1920240"/>
            <a:ext cx="777240" cy="777240"/>
          </a:xfrm>
          <a:prstGeom prst="ellipse">
            <a:avLst/>
          </a:prstGeom>
          <a:solidFill>
            <a:srgbClr val="EEECFB"/>
          </a:solidFill>
          <a:ln/>
        </p:spPr>
      </p:sp>
      <p:pic>
        <p:nvPicPr>
          <p:cNvPr id="8" name="Image 0" descr="preencoded.png">    </p:cNvPr>
          <p:cNvPicPr>
            <a:picLocks noChangeAspect="1"/>
          </p:cNvPicPr>
          <p:nvPr/>
        </p:nvPicPr>
        <p:blipFill>
          <a:blip r:embed="rId1"/>
          <a:stretch>
            <a:fillRect/>
          </a:stretch>
        </p:blipFill>
        <p:spPr>
          <a:xfrm>
            <a:off x="1035558" y="2114550"/>
            <a:ext cx="388620" cy="388620"/>
          </a:xfrm>
          <a:prstGeom prst="rect">
            <a:avLst/>
          </a:prstGeom>
        </p:spPr>
      </p:pic>
      <p:sp>
        <p:nvSpPr>
          <p:cNvPr id="9" name="Text 6"/>
          <p:cNvSpPr/>
          <p:nvPr/>
        </p:nvSpPr>
        <p:spPr>
          <a:xfrm>
            <a:off x="175564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Open ↔ Closed</a:t>
            </a:r>
            <a:endParaRPr lang="en-US" sz="1450" dirty="0"/>
          </a:p>
        </p:txBody>
      </p:sp>
      <p:sp>
        <p:nvSpPr>
          <p:cNvPr id="10" name="Text 7"/>
          <p:cNvSpPr/>
          <p:nvPr/>
        </p:nvSpPr>
        <p:spPr>
          <a:xfrm>
            <a:off x="85953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Open-weight (Llama, Mistral, Qwen, DeepSeek) you can host &amp; fine-tune  vs  closed/API frontier (GPT, Claude, Gemini).</a:t>
            </a:r>
            <a:endParaRPr lang="en-US" sz="1100" dirty="0"/>
          </a:p>
        </p:txBody>
      </p:sp>
      <p:sp>
        <p:nvSpPr>
          <p:cNvPr id="11" name="Shape 8"/>
          <p:cNvSpPr/>
          <p:nvPr/>
        </p:nvSpPr>
        <p:spPr>
          <a:xfrm>
            <a:off x="431596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4590288" y="1920240"/>
            <a:ext cx="777240" cy="777240"/>
          </a:xfrm>
          <a:prstGeom prst="ellipse">
            <a:avLst/>
          </a:prstGeom>
          <a:solidFill>
            <a:srgbClr val="E2F4F2"/>
          </a:solidFill>
          <a:ln/>
        </p:spPr>
      </p:sp>
      <p:pic>
        <p:nvPicPr>
          <p:cNvPr id="13" name="Image 1" descr="preencoded.png">    </p:cNvPr>
          <p:cNvPicPr>
            <a:picLocks noChangeAspect="1"/>
          </p:cNvPicPr>
          <p:nvPr/>
        </p:nvPicPr>
        <p:blipFill>
          <a:blip r:embed="rId2"/>
          <a:stretch>
            <a:fillRect/>
          </a:stretch>
        </p:blipFill>
        <p:spPr>
          <a:xfrm>
            <a:off x="4784598" y="2114550"/>
            <a:ext cx="388620" cy="388620"/>
          </a:xfrm>
          <a:prstGeom prst="rect">
            <a:avLst/>
          </a:prstGeom>
        </p:spPr>
      </p:pic>
      <p:sp>
        <p:nvSpPr>
          <p:cNvPr id="14" name="Text 10"/>
          <p:cNvSpPr/>
          <p:nvPr/>
        </p:nvSpPr>
        <p:spPr>
          <a:xfrm>
            <a:off x="550468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Dense ↔ MoE</a:t>
            </a:r>
            <a:endParaRPr lang="en-US" sz="1450" dirty="0"/>
          </a:p>
        </p:txBody>
      </p:sp>
      <p:sp>
        <p:nvSpPr>
          <p:cNvPr id="15" name="Text 11"/>
          <p:cNvSpPr/>
          <p:nvPr/>
        </p:nvSpPr>
        <p:spPr>
          <a:xfrm>
            <a:off x="460857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Dense runs every weight per token; Mixture-of-Experts activates a sparse subset — more capacity per unit compute.</a:t>
            </a:r>
            <a:endParaRPr lang="en-US" sz="1100" dirty="0"/>
          </a:p>
        </p:txBody>
      </p:sp>
      <p:sp>
        <p:nvSpPr>
          <p:cNvPr id="16" name="Shape 12"/>
          <p:cNvSpPr/>
          <p:nvPr/>
        </p:nvSpPr>
        <p:spPr>
          <a:xfrm>
            <a:off x="806500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3"/>
          <p:cNvSpPr/>
          <p:nvPr/>
        </p:nvSpPr>
        <p:spPr>
          <a:xfrm>
            <a:off x="8339328" y="1920240"/>
            <a:ext cx="777240" cy="777240"/>
          </a:xfrm>
          <a:prstGeom prst="ellipse">
            <a:avLst/>
          </a:prstGeom>
          <a:solidFill>
            <a:srgbClr val="FBEFD8"/>
          </a:solidFill>
          <a:ln/>
        </p:spPr>
      </p:sp>
      <p:pic>
        <p:nvPicPr>
          <p:cNvPr id="18" name="Image 2" descr="preencoded.png">    </p:cNvPr>
          <p:cNvPicPr>
            <a:picLocks noChangeAspect="1"/>
          </p:cNvPicPr>
          <p:nvPr/>
        </p:nvPicPr>
        <p:blipFill>
          <a:blip r:embed="rId3"/>
          <a:stretch>
            <a:fillRect/>
          </a:stretch>
        </p:blipFill>
        <p:spPr>
          <a:xfrm>
            <a:off x="8533638" y="2114550"/>
            <a:ext cx="388620" cy="388620"/>
          </a:xfrm>
          <a:prstGeom prst="rect">
            <a:avLst/>
          </a:prstGeom>
        </p:spPr>
      </p:pic>
      <p:sp>
        <p:nvSpPr>
          <p:cNvPr id="19" name="Text 14"/>
          <p:cNvSpPr/>
          <p:nvPr/>
        </p:nvSpPr>
        <p:spPr>
          <a:xfrm>
            <a:off x="9253728" y="2029968"/>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SLM ↔ Frontier</a:t>
            </a:r>
            <a:endParaRPr lang="en-US" sz="1450" dirty="0"/>
          </a:p>
        </p:txBody>
      </p:sp>
      <p:sp>
        <p:nvSpPr>
          <p:cNvPr id="20" name="Text 15"/>
          <p:cNvSpPr/>
          <p:nvPr/>
        </p:nvSpPr>
        <p:spPr>
          <a:xfrm>
            <a:off x="8357616" y="2834640"/>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Small Language Models (1–8B) run on a laptop/phone; frontier models (100B–1T+) run in datacentres.</a:t>
            </a:r>
            <a:endParaRPr lang="en-US" sz="1100" dirty="0"/>
          </a:p>
        </p:txBody>
      </p:sp>
      <p:sp>
        <p:nvSpPr>
          <p:cNvPr id="21" name="Shape 16"/>
          <p:cNvSpPr/>
          <p:nvPr/>
        </p:nvSpPr>
        <p:spPr>
          <a:xfrm>
            <a:off x="56692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7"/>
          <p:cNvSpPr/>
          <p:nvPr/>
        </p:nvSpPr>
        <p:spPr>
          <a:xfrm>
            <a:off x="841248" y="4096512"/>
            <a:ext cx="777240" cy="777240"/>
          </a:xfrm>
          <a:prstGeom prst="ellipse">
            <a:avLst/>
          </a:prstGeom>
          <a:solidFill>
            <a:srgbClr val="FBE7E7"/>
          </a:solidFill>
          <a:ln/>
        </p:spPr>
      </p:sp>
      <p:pic>
        <p:nvPicPr>
          <p:cNvPr id="23" name="Image 3" descr="preencoded.png">    </p:cNvPr>
          <p:cNvPicPr>
            <a:picLocks noChangeAspect="1"/>
          </p:cNvPicPr>
          <p:nvPr/>
        </p:nvPicPr>
        <p:blipFill>
          <a:blip r:embed="rId4"/>
          <a:stretch>
            <a:fillRect/>
          </a:stretch>
        </p:blipFill>
        <p:spPr>
          <a:xfrm>
            <a:off x="1035558" y="4290822"/>
            <a:ext cx="388620" cy="388620"/>
          </a:xfrm>
          <a:prstGeom prst="rect">
            <a:avLst/>
          </a:prstGeom>
        </p:spPr>
      </p:pic>
      <p:sp>
        <p:nvSpPr>
          <p:cNvPr id="24" name="Text 18"/>
          <p:cNvSpPr/>
          <p:nvPr/>
        </p:nvSpPr>
        <p:spPr>
          <a:xfrm>
            <a:off x="175564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Standard ↔ Reasoning</a:t>
            </a:r>
            <a:endParaRPr lang="en-US" sz="1450" dirty="0"/>
          </a:p>
        </p:txBody>
      </p:sp>
      <p:sp>
        <p:nvSpPr>
          <p:cNvPr id="25" name="Text 19"/>
          <p:cNvSpPr/>
          <p:nvPr/>
        </p:nvSpPr>
        <p:spPr>
          <a:xfrm>
            <a:off x="85953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Standard models answer directly; reasoning models spend test-time compute on an explicit chain-of-thought.</a:t>
            </a:r>
            <a:endParaRPr lang="en-US" sz="1100" dirty="0"/>
          </a:p>
        </p:txBody>
      </p:sp>
      <p:sp>
        <p:nvSpPr>
          <p:cNvPr id="26" name="Shape 20"/>
          <p:cNvSpPr/>
          <p:nvPr/>
        </p:nvSpPr>
        <p:spPr>
          <a:xfrm>
            <a:off x="431596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1"/>
          <p:cNvSpPr/>
          <p:nvPr/>
        </p:nvSpPr>
        <p:spPr>
          <a:xfrm>
            <a:off x="4590288" y="4096512"/>
            <a:ext cx="777240" cy="777240"/>
          </a:xfrm>
          <a:prstGeom prst="ellipse">
            <a:avLst/>
          </a:prstGeom>
          <a:solidFill>
            <a:srgbClr val="E3F4EA"/>
          </a:solidFill>
          <a:ln/>
        </p:spPr>
      </p:sp>
      <p:pic>
        <p:nvPicPr>
          <p:cNvPr id="28" name="Image 4" descr="preencoded.png">    </p:cNvPr>
          <p:cNvPicPr>
            <a:picLocks noChangeAspect="1"/>
          </p:cNvPicPr>
          <p:nvPr/>
        </p:nvPicPr>
        <p:blipFill>
          <a:blip r:embed="rId5"/>
          <a:stretch>
            <a:fillRect/>
          </a:stretch>
        </p:blipFill>
        <p:spPr>
          <a:xfrm>
            <a:off x="4784598" y="4290822"/>
            <a:ext cx="388620" cy="388620"/>
          </a:xfrm>
          <a:prstGeom prst="rect">
            <a:avLst/>
          </a:prstGeom>
        </p:spPr>
      </p:pic>
      <p:sp>
        <p:nvSpPr>
          <p:cNvPr id="29" name="Text 22"/>
          <p:cNvSpPr/>
          <p:nvPr/>
        </p:nvSpPr>
        <p:spPr>
          <a:xfrm>
            <a:off x="550468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Text ↔ Multimodal</a:t>
            </a:r>
            <a:endParaRPr lang="en-US" sz="1450" dirty="0"/>
          </a:p>
        </p:txBody>
      </p:sp>
      <p:sp>
        <p:nvSpPr>
          <p:cNvPr id="30" name="Text 23"/>
          <p:cNvSpPr/>
          <p:nvPr/>
        </p:nvSpPr>
        <p:spPr>
          <a:xfrm>
            <a:off x="460857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Text-only vs models that natively take/produce images, audio and video alongside text.</a:t>
            </a:r>
            <a:endParaRPr lang="en-US" sz="1100" dirty="0"/>
          </a:p>
        </p:txBody>
      </p:sp>
      <p:sp>
        <p:nvSpPr>
          <p:cNvPr id="31" name="Shape 24"/>
          <p:cNvSpPr/>
          <p:nvPr/>
        </p:nvSpPr>
        <p:spPr>
          <a:xfrm>
            <a:off x="806500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2" name="Shape 25"/>
          <p:cNvSpPr/>
          <p:nvPr/>
        </p:nvSpPr>
        <p:spPr>
          <a:xfrm>
            <a:off x="8339328" y="4096512"/>
            <a:ext cx="777240" cy="777240"/>
          </a:xfrm>
          <a:prstGeom prst="ellipse">
            <a:avLst/>
          </a:prstGeom>
          <a:solidFill>
            <a:srgbClr val="EEECFB"/>
          </a:solidFill>
          <a:ln/>
        </p:spPr>
      </p:sp>
      <p:pic>
        <p:nvPicPr>
          <p:cNvPr id="33" name="Image 5" descr="preencoded.png">    </p:cNvPr>
          <p:cNvPicPr>
            <a:picLocks noChangeAspect="1"/>
          </p:cNvPicPr>
          <p:nvPr/>
        </p:nvPicPr>
        <p:blipFill>
          <a:blip r:embed="rId6"/>
          <a:stretch>
            <a:fillRect/>
          </a:stretch>
        </p:blipFill>
        <p:spPr>
          <a:xfrm>
            <a:off x="8533638" y="4290822"/>
            <a:ext cx="388620" cy="388620"/>
          </a:xfrm>
          <a:prstGeom prst="rect">
            <a:avLst/>
          </a:prstGeom>
        </p:spPr>
      </p:pic>
      <p:sp>
        <p:nvSpPr>
          <p:cNvPr id="34" name="Text 26"/>
          <p:cNvSpPr/>
          <p:nvPr/>
        </p:nvSpPr>
        <p:spPr>
          <a:xfrm>
            <a:off x="9253728" y="4206240"/>
            <a:ext cx="2221992" cy="548640"/>
          </a:xfrm>
          <a:prstGeom prst="rect">
            <a:avLst/>
          </a:prstGeom>
          <a:noFill/>
          <a:ln/>
        </p:spPr>
        <p:txBody>
          <a:bodyPr wrap="square" lIns="0" tIns="0" rIns="0" bIns="0" rtlCol="0" anchor="ctr"/>
          <a:lstStyle/>
          <a:p>
            <a:pPr indent="0" marL="0">
              <a:lnSpc>
                <a:spcPct val="100000"/>
              </a:lnSpc>
              <a:buNone/>
            </a:pPr>
            <a:r>
              <a:rPr lang="en-US" sz="1450" b="1" dirty="0">
                <a:solidFill>
                  <a:srgbClr val="1B2440"/>
                </a:solidFill>
                <a:latin typeface="Calibri" pitchFamily="34" charset="0"/>
                <a:ea typeface="Calibri" pitchFamily="34" charset="-122"/>
                <a:cs typeface="Calibri" pitchFamily="34" charset="-120"/>
              </a:rPr>
              <a:t>Chat ↔ Agentic</a:t>
            </a:r>
            <a:endParaRPr lang="en-US" sz="1450" dirty="0"/>
          </a:p>
        </p:txBody>
      </p:sp>
      <p:sp>
        <p:nvSpPr>
          <p:cNvPr id="35" name="Text 27"/>
          <p:cNvSpPr/>
          <p:nvPr/>
        </p:nvSpPr>
        <p:spPr>
          <a:xfrm>
            <a:off x="8357616" y="5010912"/>
            <a:ext cx="3044952" cy="73152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A single reply vs an agent that plans, calls tools, and acts over many steps toward a goal.</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WHY IT CHANGED EVERYTHING</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How LLMs ruled the world — the application layer</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Industry usage 2023–2026; arXiv survey literature on LLM applications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66928" y="1645920"/>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1495044" y="1901952"/>
            <a:ext cx="822960" cy="82296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700784" y="2107692"/>
            <a:ext cx="411480" cy="411480"/>
          </a:xfrm>
          <a:prstGeom prst="rect">
            <a:avLst/>
          </a:prstGeom>
        </p:spPr>
      </p:pic>
      <p:sp>
        <p:nvSpPr>
          <p:cNvPr id="9" name="Text 6"/>
          <p:cNvSpPr/>
          <p:nvPr/>
        </p:nvSpPr>
        <p:spPr>
          <a:xfrm>
            <a:off x="74980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Software</a:t>
            </a:r>
            <a:endParaRPr lang="en-US" sz="1450" dirty="0"/>
          </a:p>
        </p:txBody>
      </p:sp>
      <p:sp>
        <p:nvSpPr>
          <p:cNvPr id="10" name="Text 7"/>
          <p:cNvSpPr/>
          <p:nvPr/>
        </p:nvSpPr>
        <p:spPr>
          <a:xfrm>
            <a:off x="76809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Copilots, code-gen, autonomous coding agents</a:t>
            </a:r>
            <a:endParaRPr lang="en-US" sz="1100" dirty="0"/>
          </a:p>
        </p:txBody>
      </p:sp>
      <p:sp>
        <p:nvSpPr>
          <p:cNvPr id="11" name="Shape 8"/>
          <p:cNvSpPr/>
          <p:nvPr/>
        </p:nvSpPr>
        <p:spPr>
          <a:xfrm>
            <a:off x="3401568" y="1645920"/>
            <a:ext cx="2679192" cy="2057400"/>
          </a:xfrm>
          <a:prstGeom prst="roundRect">
            <a:avLst>
              <a:gd name="adj" fmla="val 4444"/>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Shape 9"/>
          <p:cNvSpPr/>
          <p:nvPr/>
        </p:nvSpPr>
        <p:spPr>
          <a:xfrm>
            <a:off x="4329684" y="1901952"/>
            <a:ext cx="822960" cy="82296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35424" y="2107692"/>
            <a:ext cx="411480" cy="411480"/>
          </a:xfrm>
          <a:prstGeom prst="rect">
            <a:avLst/>
          </a:prstGeom>
        </p:spPr>
      </p:pic>
      <p:sp>
        <p:nvSpPr>
          <p:cNvPr id="14" name="Text 10"/>
          <p:cNvSpPr/>
          <p:nvPr/>
        </p:nvSpPr>
        <p:spPr>
          <a:xfrm>
            <a:off x="358444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Conversation</a:t>
            </a:r>
            <a:endParaRPr lang="en-US" sz="1450" dirty="0"/>
          </a:p>
        </p:txBody>
      </p:sp>
      <p:sp>
        <p:nvSpPr>
          <p:cNvPr id="15" name="Text 11"/>
          <p:cNvSpPr/>
          <p:nvPr/>
        </p:nvSpPr>
        <p:spPr>
          <a:xfrm>
            <a:off x="360273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Assistants &amp; support that understand intent</a:t>
            </a:r>
            <a:endParaRPr lang="en-US" sz="1100" dirty="0"/>
          </a:p>
        </p:txBody>
      </p:sp>
      <p:sp>
        <p:nvSpPr>
          <p:cNvPr id="16" name="Shape 12"/>
          <p:cNvSpPr/>
          <p:nvPr/>
        </p:nvSpPr>
        <p:spPr>
          <a:xfrm>
            <a:off x="6236208" y="1645920"/>
            <a:ext cx="2679192" cy="2057400"/>
          </a:xfrm>
          <a:prstGeom prst="roundRect">
            <a:avLst>
              <a:gd name="adj" fmla="val 4444"/>
            </a:avLst>
          </a:prstGeom>
          <a:solidFill>
            <a:srgbClr val="FBEFD8"/>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7" name="Shape 13"/>
          <p:cNvSpPr/>
          <p:nvPr/>
        </p:nvSpPr>
        <p:spPr>
          <a:xfrm>
            <a:off x="7164324" y="1901952"/>
            <a:ext cx="822960" cy="82296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7370064" y="2107692"/>
            <a:ext cx="411480" cy="411480"/>
          </a:xfrm>
          <a:prstGeom prst="rect">
            <a:avLst/>
          </a:prstGeom>
        </p:spPr>
      </p:pic>
      <p:sp>
        <p:nvSpPr>
          <p:cNvPr id="19" name="Text 14"/>
          <p:cNvSpPr/>
          <p:nvPr/>
        </p:nvSpPr>
        <p:spPr>
          <a:xfrm>
            <a:off x="641908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Knowledge &amp; search</a:t>
            </a:r>
            <a:endParaRPr lang="en-US" sz="1450" dirty="0"/>
          </a:p>
        </p:txBody>
      </p:sp>
      <p:sp>
        <p:nvSpPr>
          <p:cNvPr id="20" name="Text 15"/>
          <p:cNvSpPr/>
          <p:nvPr/>
        </p:nvSpPr>
        <p:spPr>
          <a:xfrm>
            <a:off x="643737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RAG, research assistants, answer engines</a:t>
            </a:r>
            <a:endParaRPr lang="en-US" sz="1100" dirty="0"/>
          </a:p>
        </p:txBody>
      </p:sp>
      <p:sp>
        <p:nvSpPr>
          <p:cNvPr id="21" name="Shape 16"/>
          <p:cNvSpPr/>
          <p:nvPr/>
        </p:nvSpPr>
        <p:spPr>
          <a:xfrm>
            <a:off x="9070848" y="1645920"/>
            <a:ext cx="2679192" cy="2057400"/>
          </a:xfrm>
          <a:prstGeom prst="roundRect">
            <a:avLst>
              <a:gd name="adj" fmla="val 4444"/>
            </a:avLst>
          </a:prstGeom>
          <a:solidFill>
            <a:srgbClr val="FBE7E7"/>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2" name="Shape 17"/>
          <p:cNvSpPr/>
          <p:nvPr/>
        </p:nvSpPr>
        <p:spPr>
          <a:xfrm>
            <a:off x="9998964" y="1901952"/>
            <a:ext cx="822960" cy="82296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10204704" y="2107692"/>
            <a:ext cx="411480" cy="411480"/>
          </a:xfrm>
          <a:prstGeom prst="rect">
            <a:avLst/>
          </a:prstGeom>
        </p:spPr>
      </p:pic>
      <p:sp>
        <p:nvSpPr>
          <p:cNvPr id="24" name="Text 18"/>
          <p:cNvSpPr/>
          <p:nvPr/>
        </p:nvSpPr>
        <p:spPr>
          <a:xfrm>
            <a:off x="9253728" y="2816352"/>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Science</a:t>
            </a:r>
            <a:endParaRPr lang="en-US" sz="1450" dirty="0"/>
          </a:p>
        </p:txBody>
      </p:sp>
      <p:sp>
        <p:nvSpPr>
          <p:cNvPr id="25" name="Text 19"/>
          <p:cNvSpPr/>
          <p:nvPr/>
        </p:nvSpPr>
        <p:spPr>
          <a:xfrm>
            <a:off x="9272016" y="3182112"/>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Hypothesis, literature, lab automation (Session 2)</a:t>
            </a:r>
            <a:endParaRPr lang="en-US" sz="1100" dirty="0"/>
          </a:p>
        </p:txBody>
      </p:sp>
      <p:sp>
        <p:nvSpPr>
          <p:cNvPr id="26" name="Shape 20"/>
          <p:cNvSpPr/>
          <p:nvPr/>
        </p:nvSpPr>
        <p:spPr>
          <a:xfrm>
            <a:off x="566928" y="3867912"/>
            <a:ext cx="2679192" cy="2057400"/>
          </a:xfrm>
          <a:prstGeom prst="roundRect">
            <a:avLst>
              <a:gd name="adj" fmla="val 4444"/>
            </a:avLst>
          </a:prstGeom>
          <a:solidFill>
            <a:srgbClr val="E3F4EA"/>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7" name="Shape 21"/>
          <p:cNvSpPr/>
          <p:nvPr/>
        </p:nvSpPr>
        <p:spPr>
          <a:xfrm>
            <a:off x="1495044" y="4123944"/>
            <a:ext cx="822960" cy="82296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1700784" y="4329684"/>
            <a:ext cx="411480" cy="411480"/>
          </a:xfrm>
          <a:prstGeom prst="rect">
            <a:avLst/>
          </a:prstGeom>
        </p:spPr>
      </p:pic>
      <p:sp>
        <p:nvSpPr>
          <p:cNvPr id="29" name="Text 22"/>
          <p:cNvSpPr/>
          <p:nvPr/>
        </p:nvSpPr>
        <p:spPr>
          <a:xfrm>
            <a:off x="74980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Language</a:t>
            </a:r>
            <a:endParaRPr lang="en-US" sz="1450" dirty="0"/>
          </a:p>
        </p:txBody>
      </p:sp>
      <p:sp>
        <p:nvSpPr>
          <p:cNvPr id="30" name="Text 23"/>
          <p:cNvSpPr/>
          <p:nvPr/>
        </p:nvSpPr>
        <p:spPr>
          <a:xfrm>
            <a:off x="76809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Translation, summarisation, drafting at scale</a:t>
            </a:r>
            <a:endParaRPr lang="en-US" sz="1100" dirty="0"/>
          </a:p>
        </p:txBody>
      </p:sp>
      <p:sp>
        <p:nvSpPr>
          <p:cNvPr id="31" name="Shape 24"/>
          <p:cNvSpPr/>
          <p:nvPr/>
        </p:nvSpPr>
        <p:spPr>
          <a:xfrm>
            <a:off x="3401568" y="3867912"/>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2" name="Shape 25"/>
          <p:cNvSpPr/>
          <p:nvPr/>
        </p:nvSpPr>
        <p:spPr>
          <a:xfrm>
            <a:off x="4329684" y="4123944"/>
            <a:ext cx="822960" cy="82296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4535424" y="4329684"/>
            <a:ext cx="411480" cy="411480"/>
          </a:xfrm>
          <a:prstGeom prst="rect">
            <a:avLst/>
          </a:prstGeom>
        </p:spPr>
      </p:pic>
      <p:sp>
        <p:nvSpPr>
          <p:cNvPr id="34" name="Text 26"/>
          <p:cNvSpPr/>
          <p:nvPr/>
        </p:nvSpPr>
        <p:spPr>
          <a:xfrm>
            <a:off x="358444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Agents</a:t>
            </a:r>
            <a:endParaRPr lang="en-US" sz="1450" dirty="0"/>
          </a:p>
        </p:txBody>
      </p:sp>
      <p:sp>
        <p:nvSpPr>
          <p:cNvPr id="35" name="Text 27"/>
          <p:cNvSpPr/>
          <p:nvPr/>
        </p:nvSpPr>
        <p:spPr>
          <a:xfrm>
            <a:off x="360273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Plan-and-act systems that use tools &amp; APIs</a:t>
            </a:r>
            <a:endParaRPr lang="en-US" sz="1100" dirty="0"/>
          </a:p>
        </p:txBody>
      </p:sp>
      <p:sp>
        <p:nvSpPr>
          <p:cNvPr id="36" name="Shape 28"/>
          <p:cNvSpPr/>
          <p:nvPr/>
        </p:nvSpPr>
        <p:spPr>
          <a:xfrm>
            <a:off x="6236208" y="3867912"/>
            <a:ext cx="2679192" cy="2057400"/>
          </a:xfrm>
          <a:prstGeom prst="roundRect">
            <a:avLst>
              <a:gd name="adj" fmla="val 4444"/>
            </a:avLst>
          </a:prstGeom>
          <a:solidFill>
            <a:srgbClr val="EEECFB"/>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29"/>
          <p:cNvSpPr/>
          <p:nvPr/>
        </p:nvSpPr>
        <p:spPr>
          <a:xfrm>
            <a:off x="7164324" y="4123944"/>
            <a:ext cx="822960" cy="822960"/>
          </a:xfrm>
          <a:prstGeom prst="ellipse">
            <a:avLst/>
          </a:prstGeom>
          <a:solidFill>
            <a:srgbClr val="FFFFFF"/>
          </a:solidFill>
          <a:ln/>
        </p:spPr>
      </p:sp>
      <p:pic>
        <p:nvPicPr>
          <p:cNvPr id="38" name="Image 6" descr="preencoded.png">    </p:cNvPr>
          <p:cNvPicPr>
            <a:picLocks noChangeAspect="1"/>
          </p:cNvPicPr>
          <p:nvPr/>
        </p:nvPicPr>
        <p:blipFill>
          <a:blip r:embed="rId7"/>
          <a:stretch>
            <a:fillRect/>
          </a:stretch>
        </p:blipFill>
        <p:spPr>
          <a:xfrm>
            <a:off x="7370064" y="4329684"/>
            <a:ext cx="411480" cy="411480"/>
          </a:xfrm>
          <a:prstGeom prst="rect">
            <a:avLst/>
          </a:prstGeom>
        </p:spPr>
      </p:pic>
      <p:sp>
        <p:nvSpPr>
          <p:cNvPr id="39" name="Text 30"/>
          <p:cNvSpPr/>
          <p:nvPr/>
        </p:nvSpPr>
        <p:spPr>
          <a:xfrm>
            <a:off x="641908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Multimodal</a:t>
            </a:r>
            <a:endParaRPr lang="en-US" sz="1450" dirty="0"/>
          </a:p>
        </p:txBody>
      </p:sp>
      <p:sp>
        <p:nvSpPr>
          <p:cNvPr id="40" name="Text 31"/>
          <p:cNvSpPr/>
          <p:nvPr/>
        </p:nvSpPr>
        <p:spPr>
          <a:xfrm>
            <a:off x="643737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Vision, voice, video understanding &amp; creation</a:t>
            </a:r>
            <a:endParaRPr lang="en-US" sz="1100" dirty="0"/>
          </a:p>
        </p:txBody>
      </p:sp>
      <p:sp>
        <p:nvSpPr>
          <p:cNvPr id="41" name="Shape 32"/>
          <p:cNvSpPr/>
          <p:nvPr/>
        </p:nvSpPr>
        <p:spPr>
          <a:xfrm>
            <a:off x="9070848" y="3867912"/>
            <a:ext cx="2679192" cy="2057400"/>
          </a:xfrm>
          <a:prstGeom prst="roundRect">
            <a:avLst>
              <a:gd name="adj" fmla="val 4444"/>
            </a:avLst>
          </a:prstGeom>
          <a:solidFill>
            <a:srgbClr val="E2F4F2"/>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2" name="Shape 33"/>
          <p:cNvSpPr/>
          <p:nvPr/>
        </p:nvSpPr>
        <p:spPr>
          <a:xfrm>
            <a:off x="9998964" y="4123944"/>
            <a:ext cx="822960" cy="822960"/>
          </a:xfrm>
          <a:prstGeom prst="ellipse">
            <a:avLst/>
          </a:prstGeom>
          <a:solidFill>
            <a:srgbClr val="FFFFFF"/>
          </a:solidFill>
          <a:ln/>
        </p:spPr>
      </p:sp>
      <p:pic>
        <p:nvPicPr>
          <p:cNvPr id="43" name="Image 7" descr="preencoded.png">    </p:cNvPr>
          <p:cNvPicPr>
            <a:picLocks noChangeAspect="1"/>
          </p:cNvPicPr>
          <p:nvPr/>
        </p:nvPicPr>
        <p:blipFill>
          <a:blip r:embed="rId8"/>
          <a:stretch>
            <a:fillRect/>
          </a:stretch>
        </p:blipFill>
        <p:spPr>
          <a:xfrm>
            <a:off x="10204704" y="4329684"/>
            <a:ext cx="411480" cy="411480"/>
          </a:xfrm>
          <a:prstGeom prst="rect">
            <a:avLst/>
          </a:prstGeom>
        </p:spPr>
      </p:pic>
      <p:sp>
        <p:nvSpPr>
          <p:cNvPr id="44" name="Text 34"/>
          <p:cNvSpPr/>
          <p:nvPr/>
        </p:nvSpPr>
        <p:spPr>
          <a:xfrm>
            <a:off x="9253728" y="5038344"/>
            <a:ext cx="2313432" cy="365760"/>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Education</a:t>
            </a:r>
            <a:endParaRPr lang="en-US" sz="1450" dirty="0"/>
          </a:p>
        </p:txBody>
      </p:sp>
      <p:sp>
        <p:nvSpPr>
          <p:cNvPr id="45" name="Text 35"/>
          <p:cNvSpPr/>
          <p:nvPr/>
        </p:nvSpPr>
        <p:spPr>
          <a:xfrm>
            <a:off x="9272016" y="5404104"/>
            <a:ext cx="2276856" cy="457200"/>
          </a:xfrm>
          <a:prstGeom prst="rect">
            <a:avLst/>
          </a:prstGeom>
          <a:noFill/>
          <a:ln/>
        </p:spPr>
        <p:txBody>
          <a:bodyPr wrap="square" lIns="0" tIns="0" rIns="0" bIns="0" rtlCol="0" anchor="ctr"/>
          <a:lstStyle/>
          <a:p>
            <a:pPr algn="ctr" indent="0" marL="0">
              <a:lnSpc>
                <a:spcPct val="110000"/>
              </a:lnSpc>
              <a:buNone/>
            </a:pPr>
            <a:r>
              <a:rPr lang="en-US" sz="1100" dirty="0">
                <a:solidFill>
                  <a:srgbClr val="5A6685"/>
                </a:solidFill>
                <a:latin typeface="Calibri" pitchFamily="34" charset="0"/>
                <a:ea typeface="Calibri" pitchFamily="34" charset="-122"/>
                <a:cs typeface="Calibri" pitchFamily="34" charset="-120"/>
              </a:rPr>
              <a:t>Tutors that adapt to each learner</a:t>
            </a:r>
            <a:endParaRPr lang="en-US" sz="1100" dirty="0"/>
          </a:p>
        </p:txBody>
      </p:sp>
      <p:sp>
        <p:nvSpPr>
          <p:cNvPr id="46" name="Text 36"/>
          <p:cNvSpPr/>
          <p:nvPr/>
        </p:nvSpPr>
        <p:spPr>
          <a:xfrm>
            <a:off x="566928" y="5989320"/>
            <a:ext cx="11064240" cy="411480"/>
          </a:xfrm>
          <a:prstGeom prst="rect">
            <a:avLst/>
          </a:prstGeom>
          <a:noFill/>
          <a:ln/>
        </p:spPr>
        <p:txBody>
          <a:bodyPr wrap="square" lIns="0" tIns="0" rIns="0" bIns="0" rtlCol="0" anchor="ctr"/>
          <a:lstStyle/>
          <a:p>
            <a:pPr indent="0" marL="0">
              <a:lnSpc>
                <a:spcPct val="108000"/>
              </a:lnSpc>
              <a:buNone/>
            </a:pPr>
            <a:r>
              <a:rPr lang="en-US" sz="1250" b="1" dirty="0">
                <a:solidFill>
                  <a:srgbClr val="5B4BE0"/>
                </a:solidFill>
                <a:latin typeface="Calibri" pitchFamily="34" charset="0"/>
                <a:ea typeface="Calibri" pitchFamily="34" charset="-122"/>
                <a:cs typeface="Calibri" pitchFamily="34" charset="-120"/>
              </a:rPr>
              <a:t>The pattern:  </a:t>
            </a:r>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one general-purpose architecture became the substrate for every knowledge task — which is exactly why the next session looks at LLMs doing real scientific research.</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365760" y="365760"/>
            <a:ext cx="5943600" cy="6126480"/>
          </a:xfrm>
          <a:prstGeom prst="rect">
            <a:avLst/>
          </a:prstGeom>
          <a:noFill/>
          <a:ln/>
        </p:spPr>
        <p:txBody>
          <a:bodyPr wrap="square" lIns="0" tIns="0" rIns="0" bIns="0" rtlCol="0" anchor="ctr"/>
          <a:lstStyle/>
          <a:p>
            <a:pPr indent="0" marL="0">
              <a:buNone/>
            </a:pPr>
            <a:r>
              <a:rPr lang="en-US" sz="30000" b="1" dirty="0">
                <a:solidFill>
                  <a:srgbClr val="5B4BE0">
                    <a:alpha val="20000"/>
                  </a:srgbClr>
                </a:solidFill>
                <a:latin typeface="Cambria" pitchFamily="34" charset="0"/>
                <a:ea typeface="Cambria" pitchFamily="34" charset="-122"/>
                <a:cs typeface="Cambria" pitchFamily="34" charset="-120"/>
              </a:rPr>
              <a:t>6</a:t>
            </a:r>
            <a:endParaRPr lang="en-US" sz="30000" dirty="0"/>
          </a:p>
        </p:txBody>
      </p:sp>
      <p:sp>
        <p:nvSpPr>
          <p:cNvPr id="3" name="Shape 1"/>
          <p:cNvSpPr/>
          <p:nvPr/>
        </p:nvSpPr>
        <p:spPr>
          <a:xfrm>
            <a:off x="658368" y="2286000"/>
            <a:ext cx="914400" cy="91440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86968" y="2514600"/>
            <a:ext cx="457200" cy="457200"/>
          </a:xfrm>
          <a:prstGeom prst="rect">
            <a:avLst/>
          </a:prstGeom>
        </p:spPr>
      </p:pic>
      <p:sp>
        <p:nvSpPr>
          <p:cNvPr id="5" name="Text 2"/>
          <p:cNvSpPr/>
          <p:nvPr/>
        </p:nvSpPr>
        <p:spPr>
          <a:xfrm>
            <a:off x="612648" y="3401568"/>
            <a:ext cx="10058400" cy="310896"/>
          </a:xfrm>
          <a:prstGeom prst="rect">
            <a:avLst/>
          </a:prstGeom>
          <a:noFill/>
          <a:ln/>
        </p:spPr>
        <p:txBody>
          <a:bodyPr wrap="square" lIns="0" tIns="0" rIns="0" bIns="0" rtlCol="0" anchor="ctr"/>
          <a:lstStyle/>
          <a:p>
            <a:pPr indent="0" marL="0">
              <a:buNone/>
            </a:pPr>
            <a:r>
              <a:rPr lang="en-US" sz="1300" b="1" spc="300" kern="0" dirty="0">
                <a:solidFill>
                  <a:srgbClr val="7C6FF0"/>
                </a:solidFill>
                <a:latin typeface="Calibri" pitchFamily="34" charset="0"/>
                <a:ea typeface="Calibri" pitchFamily="34" charset="-122"/>
                <a:cs typeface="Calibri" pitchFamily="34" charset="-120"/>
              </a:rPr>
              <a:t>PART 6</a:t>
            </a:r>
            <a:endParaRPr lang="en-US" sz="1300" dirty="0"/>
          </a:p>
        </p:txBody>
      </p:sp>
      <p:sp>
        <p:nvSpPr>
          <p:cNvPr id="6" name="Text 3"/>
          <p:cNvSpPr/>
          <p:nvPr/>
        </p:nvSpPr>
        <p:spPr>
          <a:xfrm>
            <a:off x="566928" y="3703320"/>
            <a:ext cx="1097280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&amp; ML in Research</a:t>
            </a:r>
            <a:endParaRPr lang="en-US" sz="4000" dirty="0"/>
          </a:p>
        </p:txBody>
      </p:sp>
      <p:sp>
        <p:nvSpPr>
          <p:cNvPr id="7" name="Text 4"/>
          <p:cNvSpPr/>
          <p:nvPr/>
        </p:nvSpPr>
        <p:spPr>
          <a:xfrm>
            <a:off x="594360" y="4754880"/>
            <a:ext cx="10515600" cy="868680"/>
          </a:xfrm>
          <a:prstGeom prst="rect">
            <a:avLst/>
          </a:prstGeom>
          <a:noFill/>
          <a:ln/>
        </p:spPr>
        <p:txBody>
          <a:bodyPr wrap="square" lIns="0" tIns="0" rIns="0" bIns="0" rtlCol="0" anchor="ctr"/>
          <a:lstStyle/>
          <a:p>
            <a:pPr indent="0" marL="0">
              <a:lnSpc>
                <a:spcPct val="118000"/>
              </a:lnSpc>
              <a:buNone/>
            </a:pPr>
            <a:r>
              <a:rPr lang="en-US" sz="1500" dirty="0">
                <a:solidFill>
                  <a:srgbClr val="C6CCE0"/>
                </a:solidFill>
                <a:latin typeface="Calibri" pitchFamily="34" charset="0"/>
                <a:ea typeface="Calibri" pitchFamily="34" charset="-122"/>
                <a:cs typeface="Calibri" pitchFamily="34" charset="-120"/>
              </a:rPr>
              <a:t>From chatbots to scientific collaborators. How the agentic loop — and teams of agents — are used in real research: autonomous experimentation, drug discovery, AI 'co-scientists', and a featured cross-modal retrieval case study.</a:t>
            </a:r>
            <a:endParaRPr lang="en-US" sz="1500" dirty="0"/>
          </a:p>
        </p:txBody>
      </p:sp>
      <p:sp>
        <p:nvSpPr>
          <p:cNvPr id="8" name="Text 5"/>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7681A4"/>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SHIFT IN RESEARCH</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From answering questions to running experiments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Anthropic, 'How Claude Code works' (the agentic loop) · 'Scientific Large Language Models' survey, arXiv:2503.24047</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40</a:t>
            </a:r>
            <a:endParaRPr lang="en-US" sz="900" dirty="0"/>
          </a:p>
        </p:txBody>
      </p:sp>
      <p:sp>
        <p:nvSpPr>
          <p:cNvPr id="6" name="Text 4"/>
          <p:cNvSpPr/>
          <p:nvPr/>
        </p:nvSpPr>
        <p:spPr>
          <a:xfrm>
            <a:off x="566928" y="1444752"/>
            <a:ext cx="11064240" cy="365760"/>
          </a:xfrm>
          <a:prstGeom prst="rect">
            <a:avLst/>
          </a:prstGeom>
          <a:noFill/>
          <a:ln/>
        </p:spPr>
        <p:txBody>
          <a:bodyPr wrap="square" lIns="0" tIns="0" rIns="0" bIns="0" rtlCol="0" anchor="ctr"/>
          <a:lstStyle/>
          <a:p>
            <a:pPr indent="0" marL="0">
              <a:lnSpc>
                <a:spcPct val="110000"/>
              </a:lnSpc>
              <a:buNone/>
            </a:pPr>
            <a:r>
              <a:rPr lang="en-US" sz="1350" dirty="0">
                <a:solidFill>
                  <a:srgbClr val="5A6685"/>
                </a:solidFill>
                <a:latin typeface="Calibri" pitchFamily="34" charset="0"/>
                <a:ea typeface="Calibri" pitchFamily="34" charset="-122"/>
                <a:cs typeface="Calibri" pitchFamily="34" charset="-120"/>
              </a:rPr>
              <a:t>An agent wraps an LLM in a loop: it gathers what it needs, acts with tools, checks the result — and repeats until the goal is met.</a:t>
            </a:r>
            <a:endParaRPr lang="en-US" sz="1350" dirty="0"/>
          </a:p>
        </p:txBody>
      </p:sp>
      <p:sp>
        <p:nvSpPr>
          <p:cNvPr id="7" name="Shape 5"/>
          <p:cNvSpPr/>
          <p:nvPr/>
        </p:nvSpPr>
        <p:spPr>
          <a:xfrm>
            <a:off x="566928" y="2057400"/>
            <a:ext cx="3310128" cy="1691640"/>
          </a:xfrm>
          <a:prstGeom prst="roundRect">
            <a:avLst>
              <a:gd name="adj" fmla="val 5405"/>
            </a:avLst>
          </a:prstGeom>
          <a:solidFill>
            <a:srgbClr val="E2F4F2"/>
          </a:solidFill>
          <a:ln w="15875">
            <a:solidFill>
              <a:srgbClr val="0E9E96"/>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1837944" y="2276856"/>
            <a:ext cx="768096" cy="768096"/>
          </a:xfrm>
          <a:prstGeom prst="ellipse">
            <a:avLst/>
          </a:prstGeom>
          <a:solidFill>
            <a:srgbClr val="0E9E96"/>
          </a:solidFill>
          <a:ln/>
        </p:spPr>
      </p:sp>
      <p:pic>
        <p:nvPicPr>
          <p:cNvPr id="9" name="Image 0" descr="preencoded.png">    </p:cNvPr>
          <p:cNvPicPr>
            <a:picLocks noChangeAspect="1"/>
          </p:cNvPicPr>
          <p:nvPr/>
        </p:nvPicPr>
        <p:blipFill>
          <a:blip r:embed="rId1"/>
          <a:stretch>
            <a:fillRect/>
          </a:stretch>
        </p:blipFill>
        <p:spPr>
          <a:xfrm>
            <a:off x="2029968" y="2468880"/>
            <a:ext cx="384048" cy="384048"/>
          </a:xfrm>
          <a:prstGeom prst="rect">
            <a:avLst/>
          </a:prstGeom>
        </p:spPr>
      </p:pic>
      <p:sp>
        <p:nvSpPr>
          <p:cNvPr id="10" name="Text 7"/>
          <p:cNvSpPr/>
          <p:nvPr/>
        </p:nvSpPr>
        <p:spPr>
          <a:xfrm>
            <a:off x="704088" y="3136392"/>
            <a:ext cx="3035808" cy="310896"/>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1 · Gather context</a:t>
            </a:r>
            <a:endParaRPr lang="en-US" sz="1450" dirty="0"/>
          </a:p>
        </p:txBody>
      </p:sp>
      <p:sp>
        <p:nvSpPr>
          <p:cNvPr id="11" name="Text 8"/>
          <p:cNvSpPr/>
          <p:nvPr/>
        </p:nvSpPr>
        <p:spPr>
          <a:xfrm>
            <a:off x="749808" y="3429000"/>
            <a:ext cx="2944368" cy="274320"/>
          </a:xfrm>
          <a:prstGeom prst="rect">
            <a:avLst/>
          </a:prstGeom>
          <a:noFill/>
          <a:ln/>
        </p:spPr>
        <p:txBody>
          <a:bodyPr wrap="square" lIns="0" tIns="0" rIns="0" bIns="0" rtlCol="0" anchor="ctr"/>
          <a:lstStyle/>
          <a:p>
            <a:pPr algn="ctr" indent="0" marL="0">
              <a:buNone/>
            </a:pPr>
            <a:r>
              <a:rPr lang="en-US" sz="1050" dirty="0">
                <a:solidFill>
                  <a:srgbClr val="5A6685"/>
                </a:solidFill>
                <a:latin typeface="Calibri" pitchFamily="34" charset="0"/>
                <a:ea typeface="Calibri" pitchFamily="34" charset="-122"/>
                <a:cs typeface="Calibri" pitchFamily="34" charset="-120"/>
              </a:rPr>
              <a:t>read, search, pull in the facts it needs</a:t>
            </a:r>
            <a:endParaRPr lang="en-US" sz="1050" dirty="0"/>
          </a:p>
        </p:txBody>
      </p:sp>
      <p:sp>
        <p:nvSpPr>
          <p:cNvPr id="12" name="Shape 9"/>
          <p:cNvSpPr/>
          <p:nvPr/>
        </p:nvSpPr>
        <p:spPr>
          <a:xfrm>
            <a:off x="3877056" y="2903220"/>
            <a:ext cx="530352" cy="0"/>
          </a:xfrm>
          <a:prstGeom prst="line">
            <a:avLst/>
          </a:prstGeom>
          <a:noFill/>
          <a:ln w="22225">
            <a:solidFill>
              <a:srgbClr val="8A93AB"/>
            </a:solidFill>
            <a:prstDash val="solid"/>
            <a:tailEnd type="triangle"/>
          </a:ln>
        </p:spPr>
      </p:sp>
      <p:sp>
        <p:nvSpPr>
          <p:cNvPr id="13" name="Shape 10"/>
          <p:cNvSpPr/>
          <p:nvPr/>
        </p:nvSpPr>
        <p:spPr>
          <a:xfrm>
            <a:off x="4407408" y="2057400"/>
            <a:ext cx="3310128" cy="1691640"/>
          </a:xfrm>
          <a:prstGeom prst="roundRect">
            <a:avLst>
              <a:gd name="adj" fmla="val 5405"/>
            </a:avLst>
          </a:prstGeom>
          <a:solidFill>
            <a:srgbClr val="FBEFD8"/>
          </a:solidFill>
          <a:ln w="15875">
            <a:solidFill>
              <a:srgbClr val="D9820A"/>
            </a:solidFill>
            <a:prstDash val="solid"/>
          </a:ln>
          <a:effectLst>
            <a:outerShdw sx="100000" sy="100000" kx="0" ky="0" algn="bl" rotWithShape="0" blurRad="114300" dist="38100" dir="5400000">
              <a:srgbClr val="9AA2BC">
                <a:alpha val="16000"/>
              </a:srgbClr>
            </a:outerShdw>
          </a:effectLst>
        </p:spPr>
      </p:sp>
      <p:sp>
        <p:nvSpPr>
          <p:cNvPr id="14" name="Shape 11"/>
          <p:cNvSpPr/>
          <p:nvPr/>
        </p:nvSpPr>
        <p:spPr>
          <a:xfrm>
            <a:off x="5678424" y="2276856"/>
            <a:ext cx="768096" cy="768096"/>
          </a:xfrm>
          <a:prstGeom prst="ellipse">
            <a:avLst/>
          </a:prstGeom>
          <a:solidFill>
            <a:srgbClr val="D9820A"/>
          </a:solidFill>
          <a:ln/>
        </p:spPr>
      </p:sp>
      <p:pic>
        <p:nvPicPr>
          <p:cNvPr id="15" name="Image 1" descr="preencoded.png">    </p:cNvPr>
          <p:cNvPicPr>
            <a:picLocks noChangeAspect="1"/>
          </p:cNvPicPr>
          <p:nvPr/>
        </p:nvPicPr>
        <p:blipFill>
          <a:blip r:embed="rId2"/>
          <a:stretch>
            <a:fillRect/>
          </a:stretch>
        </p:blipFill>
        <p:spPr>
          <a:xfrm>
            <a:off x="5870448" y="2468880"/>
            <a:ext cx="384048" cy="384048"/>
          </a:xfrm>
          <a:prstGeom prst="rect">
            <a:avLst/>
          </a:prstGeom>
        </p:spPr>
      </p:pic>
      <p:sp>
        <p:nvSpPr>
          <p:cNvPr id="16" name="Text 12"/>
          <p:cNvSpPr/>
          <p:nvPr/>
        </p:nvSpPr>
        <p:spPr>
          <a:xfrm>
            <a:off x="4544568" y="3136392"/>
            <a:ext cx="3035808" cy="310896"/>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2 · Take action</a:t>
            </a:r>
            <a:endParaRPr lang="en-US" sz="1450" dirty="0"/>
          </a:p>
        </p:txBody>
      </p:sp>
      <p:sp>
        <p:nvSpPr>
          <p:cNvPr id="17" name="Text 13"/>
          <p:cNvSpPr/>
          <p:nvPr/>
        </p:nvSpPr>
        <p:spPr>
          <a:xfrm>
            <a:off x="4590288" y="3429000"/>
            <a:ext cx="2944368" cy="274320"/>
          </a:xfrm>
          <a:prstGeom prst="rect">
            <a:avLst/>
          </a:prstGeom>
          <a:noFill/>
          <a:ln/>
        </p:spPr>
        <p:txBody>
          <a:bodyPr wrap="square" lIns="0" tIns="0" rIns="0" bIns="0" rtlCol="0" anchor="ctr"/>
          <a:lstStyle/>
          <a:p>
            <a:pPr algn="ctr" indent="0" marL="0">
              <a:buNone/>
            </a:pPr>
            <a:r>
              <a:rPr lang="en-US" sz="1050" dirty="0">
                <a:solidFill>
                  <a:srgbClr val="5A6685"/>
                </a:solidFill>
                <a:latin typeface="Calibri" pitchFamily="34" charset="0"/>
                <a:ea typeface="Calibri" pitchFamily="34" charset="-122"/>
                <a:cs typeface="Calibri" pitchFamily="34" charset="-120"/>
              </a:rPr>
              <a:t>edit, run code, call tools or APIs</a:t>
            </a:r>
            <a:endParaRPr lang="en-US" sz="1050" dirty="0"/>
          </a:p>
        </p:txBody>
      </p:sp>
      <p:sp>
        <p:nvSpPr>
          <p:cNvPr id="18" name="Shape 14"/>
          <p:cNvSpPr/>
          <p:nvPr/>
        </p:nvSpPr>
        <p:spPr>
          <a:xfrm>
            <a:off x="7717536" y="2903220"/>
            <a:ext cx="530352" cy="0"/>
          </a:xfrm>
          <a:prstGeom prst="line">
            <a:avLst/>
          </a:prstGeom>
          <a:noFill/>
          <a:ln w="22225">
            <a:solidFill>
              <a:srgbClr val="8A93AB"/>
            </a:solidFill>
            <a:prstDash val="solid"/>
            <a:tailEnd type="triangle"/>
          </a:ln>
        </p:spPr>
      </p:sp>
      <p:sp>
        <p:nvSpPr>
          <p:cNvPr id="19" name="Shape 15"/>
          <p:cNvSpPr/>
          <p:nvPr/>
        </p:nvSpPr>
        <p:spPr>
          <a:xfrm>
            <a:off x="8247888" y="2057400"/>
            <a:ext cx="3310128" cy="1691640"/>
          </a:xfrm>
          <a:prstGeom prst="roundRect">
            <a:avLst>
              <a:gd name="adj" fmla="val 5405"/>
            </a:avLst>
          </a:prstGeom>
          <a:solidFill>
            <a:srgbClr val="EEECFB"/>
          </a:solidFill>
          <a:ln w="15875">
            <a:solidFill>
              <a:srgbClr val="5B4BE0"/>
            </a:solidFill>
            <a:prstDash val="solid"/>
          </a:ln>
          <a:effectLst>
            <a:outerShdw sx="100000" sy="100000" kx="0" ky="0" algn="bl" rotWithShape="0" blurRad="114300" dist="38100" dir="5400000">
              <a:srgbClr val="9AA2BC">
                <a:alpha val="16000"/>
              </a:srgbClr>
            </a:outerShdw>
          </a:effectLst>
        </p:spPr>
      </p:sp>
      <p:sp>
        <p:nvSpPr>
          <p:cNvPr id="20" name="Shape 16"/>
          <p:cNvSpPr/>
          <p:nvPr/>
        </p:nvSpPr>
        <p:spPr>
          <a:xfrm>
            <a:off x="9518904" y="2276856"/>
            <a:ext cx="768096" cy="768096"/>
          </a:xfrm>
          <a:prstGeom prst="ellipse">
            <a:avLst/>
          </a:prstGeom>
          <a:solidFill>
            <a:srgbClr val="5B4BE0"/>
          </a:solidFill>
          <a:ln/>
        </p:spPr>
      </p:sp>
      <p:pic>
        <p:nvPicPr>
          <p:cNvPr id="21" name="Image 2" descr="preencoded.png">    </p:cNvPr>
          <p:cNvPicPr>
            <a:picLocks noChangeAspect="1"/>
          </p:cNvPicPr>
          <p:nvPr/>
        </p:nvPicPr>
        <p:blipFill>
          <a:blip r:embed="rId3"/>
          <a:stretch>
            <a:fillRect/>
          </a:stretch>
        </p:blipFill>
        <p:spPr>
          <a:xfrm>
            <a:off x="9710928" y="2468880"/>
            <a:ext cx="384048" cy="384048"/>
          </a:xfrm>
          <a:prstGeom prst="rect">
            <a:avLst/>
          </a:prstGeom>
        </p:spPr>
      </p:pic>
      <p:sp>
        <p:nvSpPr>
          <p:cNvPr id="22" name="Text 17"/>
          <p:cNvSpPr/>
          <p:nvPr/>
        </p:nvSpPr>
        <p:spPr>
          <a:xfrm>
            <a:off x="8385048" y="3136392"/>
            <a:ext cx="3035808" cy="310896"/>
          </a:xfrm>
          <a:prstGeom prst="rect">
            <a:avLst/>
          </a:prstGeom>
          <a:noFill/>
          <a:ln/>
        </p:spPr>
        <p:txBody>
          <a:bodyPr wrap="square" lIns="0" tIns="0" rIns="0" bIns="0" rtlCol="0" anchor="ctr"/>
          <a:lstStyle/>
          <a:p>
            <a:pPr algn="ctr" indent="0" marL="0">
              <a:buNone/>
            </a:pPr>
            <a:r>
              <a:rPr lang="en-US" sz="1450" b="1" dirty="0">
                <a:solidFill>
                  <a:srgbClr val="1B2440"/>
                </a:solidFill>
                <a:latin typeface="Calibri" pitchFamily="34" charset="0"/>
                <a:ea typeface="Calibri" pitchFamily="34" charset="-122"/>
                <a:cs typeface="Calibri" pitchFamily="34" charset="-120"/>
              </a:rPr>
              <a:t>3 · Verify results</a:t>
            </a:r>
            <a:endParaRPr lang="en-US" sz="1450" dirty="0"/>
          </a:p>
        </p:txBody>
      </p:sp>
      <p:sp>
        <p:nvSpPr>
          <p:cNvPr id="23" name="Text 18"/>
          <p:cNvSpPr/>
          <p:nvPr/>
        </p:nvSpPr>
        <p:spPr>
          <a:xfrm>
            <a:off x="8430768" y="3429000"/>
            <a:ext cx="2944368" cy="274320"/>
          </a:xfrm>
          <a:prstGeom prst="rect">
            <a:avLst/>
          </a:prstGeom>
          <a:noFill/>
          <a:ln/>
        </p:spPr>
        <p:txBody>
          <a:bodyPr wrap="square" lIns="0" tIns="0" rIns="0" bIns="0" rtlCol="0" anchor="ctr"/>
          <a:lstStyle/>
          <a:p>
            <a:pPr algn="ctr" indent="0" marL="0">
              <a:buNone/>
            </a:pPr>
            <a:r>
              <a:rPr lang="en-US" sz="1050" dirty="0">
                <a:solidFill>
                  <a:srgbClr val="5A6685"/>
                </a:solidFill>
                <a:latin typeface="Calibri" pitchFamily="34" charset="0"/>
                <a:ea typeface="Calibri" pitchFamily="34" charset="-122"/>
                <a:cs typeface="Calibri" pitchFamily="34" charset="-120"/>
              </a:rPr>
              <a:t>run tests, inspect the output</a:t>
            </a:r>
            <a:endParaRPr lang="en-US" sz="1050" dirty="0"/>
          </a:p>
        </p:txBody>
      </p:sp>
      <p:sp>
        <p:nvSpPr>
          <p:cNvPr id="24" name="Shape 19"/>
          <p:cNvSpPr/>
          <p:nvPr/>
        </p:nvSpPr>
        <p:spPr>
          <a:xfrm>
            <a:off x="2221992" y="3749040"/>
            <a:ext cx="0" cy="411480"/>
          </a:xfrm>
          <a:prstGeom prst="line">
            <a:avLst/>
          </a:prstGeom>
          <a:noFill/>
          <a:ln w="25400">
            <a:solidFill>
              <a:srgbClr val="5B4BE0"/>
            </a:solidFill>
            <a:prstDash val="solid"/>
          </a:ln>
        </p:spPr>
      </p:sp>
      <p:sp>
        <p:nvSpPr>
          <p:cNvPr id="25" name="Shape 20"/>
          <p:cNvSpPr/>
          <p:nvPr/>
        </p:nvSpPr>
        <p:spPr>
          <a:xfrm>
            <a:off x="9902952" y="3749040"/>
            <a:ext cx="0" cy="411480"/>
          </a:xfrm>
          <a:prstGeom prst="line">
            <a:avLst/>
          </a:prstGeom>
          <a:noFill/>
          <a:ln w="25400">
            <a:solidFill>
              <a:srgbClr val="5B4BE0"/>
            </a:solidFill>
            <a:prstDash val="solid"/>
          </a:ln>
        </p:spPr>
      </p:sp>
      <p:sp>
        <p:nvSpPr>
          <p:cNvPr id="26" name="Shape 21"/>
          <p:cNvSpPr/>
          <p:nvPr/>
        </p:nvSpPr>
        <p:spPr>
          <a:xfrm>
            <a:off x="2221992" y="4160520"/>
            <a:ext cx="7680960" cy="0"/>
          </a:xfrm>
          <a:prstGeom prst="line">
            <a:avLst/>
          </a:prstGeom>
          <a:noFill/>
          <a:ln w="25400">
            <a:solidFill>
              <a:srgbClr val="5B4BE0"/>
            </a:solidFill>
            <a:prstDash val="solid"/>
          </a:ln>
        </p:spPr>
      </p:sp>
      <p:sp>
        <p:nvSpPr>
          <p:cNvPr id="27" name="Shape 22"/>
          <p:cNvSpPr/>
          <p:nvPr/>
        </p:nvSpPr>
        <p:spPr>
          <a:xfrm>
            <a:off x="2221992" y="4160520"/>
            <a:ext cx="0" cy="-164592"/>
          </a:xfrm>
          <a:prstGeom prst="line">
            <a:avLst/>
          </a:prstGeom>
          <a:noFill/>
          <a:ln w="25400">
            <a:solidFill>
              <a:srgbClr val="5B4BE0"/>
            </a:solidFill>
            <a:prstDash val="solid"/>
            <a:tailEnd type="triangle"/>
          </a:ln>
        </p:spPr>
      </p:sp>
      <p:sp>
        <p:nvSpPr>
          <p:cNvPr id="28" name="Shape 23"/>
          <p:cNvSpPr/>
          <p:nvPr/>
        </p:nvSpPr>
        <p:spPr>
          <a:xfrm>
            <a:off x="4983480" y="3950208"/>
            <a:ext cx="2240280" cy="420624"/>
          </a:xfrm>
          <a:prstGeom prst="roundRect">
            <a:avLst>
              <a:gd name="adj" fmla="val 50000"/>
            </a:avLst>
          </a:prstGeom>
          <a:solidFill>
            <a:srgbClr val="FFFFFF"/>
          </a:solidFill>
          <a:ln w="15875">
            <a:solidFill>
              <a:srgbClr val="5B4BE0"/>
            </a:solidFill>
            <a:prstDash val="solid"/>
          </a:ln>
        </p:spPr>
      </p:sp>
      <p:sp>
        <p:nvSpPr>
          <p:cNvPr id="29" name="Text 24"/>
          <p:cNvSpPr/>
          <p:nvPr/>
        </p:nvSpPr>
        <p:spPr>
          <a:xfrm>
            <a:off x="4983480" y="3950208"/>
            <a:ext cx="2240280" cy="420624"/>
          </a:xfrm>
          <a:prstGeom prst="rect">
            <a:avLst/>
          </a:prstGeom>
          <a:noFill/>
          <a:ln/>
        </p:spPr>
        <p:txBody>
          <a:bodyPr wrap="square" lIns="0" tIns="0" rIns="0" bIns="0" rtlCol="0" anchor="ctr"/>
          <a:lstStyle/>
          <a:p>
            <a:pPr algn="ctr" indent="0" marL="0">
              <a:buNone/>
            </a:pPr>
            <a:r>
              <a:rPr lang="en-US" sz="1100" b="1" dirty="0">
                <a:solidFill>
                  <a:srgbClr val="5B4BE0"/>
                </a:solidFill>
                <a:latin typeface="Calibri" pitchFamily="34" charset="0"/>
                <a:ea typeface="Calibri" pitchFamily="34" charset="-122"/>
                <a:cs typeface="Calibri" pitchFamily="34" charset="-120"/>
              </a:rPr>
              <a:t>↺  repeat until done</a:t>
            </a:r>
            <a:endParaRPr lang="en-US" sz="1100" dirty="0"/>
          </a:p>
        </p:txBody>
      </p:sp>
      <p:sp>
        <p:nvSpPr>
          <p:cNvPr id="30" name="Shape 25"/>
          <p:cNvSpPr/>
          <p:nvPr/>
        </p:nvSpPr>
        <p:spPr>
          <a:xfrm>
            <a:off x="566928" y="4800600"/>
            <a:ext cx="6903720" cy="1325880"/>
          </a:xfrm>
          <a:prstGeom prst="roundRect">
            <a:avLst>
              <a:gd name="adj" fmla="val 6897"/>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Text 26"/>
          <p:cNvSpPr/>
          <p:nvPr/>
        </p:nvSpPr>
        <p:spPr>
          <a:xfrm>
            <a:off x="841248" y="4956048"/>
            <a:ext cx="6400800" cy="292608"/>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Powered by:  a model that reasons  +  tools that act</a:t>
            </a:r>
            <a:endParaRPr lang="en-US" sz="1250" dirty="0"/>
          </a:p>
        </p:txBody>
      </p:sp>
      <p:sp>
        <p:nvSpPr>
          <p:cNvPr id="32" name="Text 27"/>
          <p:cNvSpPr/>
          <p:nvPr/>
        </p:nvSpPr>
        <p:spPr>
          <a:xfrm>
            <a:off x="841248" y="5266944"/>
            <a:ext cx="6400800" cy="777240"/>
          </a:xfrm>
          <a:prstGeom prst="rect">
            <a:avLst/>
          </a:prstGeom>
          <a:noFill/>
          <a:ln/>
        </p:spPr>
        <p:txBody>
          <a:bodyPr wrap="square" lIns="0" tIns="0" rIns="0" bIns="0" rtlCol="0" anchor="ctr"/>
          <a:lstStyle/>
          <a:p>
            <a:pPr indent="0" marL="0">
              <a:lnSpc>
                <a:spcPct val="114000"/>
              </a:lnSpc>
              <a:buNone/>
            </a:pPr>
            <a:r>
              <a:rPr lang="en-US" sz="1150" dirty="0">
                <a:solidFill>
                  <a:srgbClr val="5A6685"/>
                </a:solidFill>
                <a:latin typeface="Calibri" pitchFamily="34" charset="0"/>
                <a:ea typeface="Calibri" pitchFamily="34" charset="-122"/>
                <a:cs typeface="Calibri" pitchFamily="34" charset="-120"/>
              </a:rPr>
              <a:t>You set the goal and approve risky steps; the agent chains dozens of small actions and self-corrects from what each step returns.</a:t>
            </a:r>
            <a:endParaRPr lang="en-US" sz="1150" dirty="0"/>
          </a:p>
        </p:txBody>
      </p:sp>
      <p:sp>
        <p:nvSpPr>
          <p:cNvPr id="33" name="Shape 28"/>
          <p:cNvSpPr/>
          <p:nvPr/>
        </p:nvSpPr>
        <p:spPr>
          <a:xfrm>
            <a:off x="7680960" y="4800600"/>
            <a:ext cx="3950208" cy="1325880"/>
          </a:xfrm>
          <a:prstGeom prst="roundRect">
            <a:avLst>
              <a:gd name="adj" fmla="val 6897"/>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4" name="Text 29"/>
          <p:cNvSpPr/>
          <p:nvPr/>
        </p:nvSpPr>
        <p:spPr>
          <a:xfrm>
            <a:off x="7936992" y="4937760"/>
            <a:ext cx="3447288"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The autonomy slider</a:t>
            </a:r>
            <a:endParaRPr lang="en-US" sz="1250" dirty="0"/>
          </a:p>
        </p:txBody>
      </p:sp>
      <p:sp>
        <p:nvSpPr>
          <p:cNvPr id="35" name="Shape 30"/>
          <p:cNvSpPr/>
          <p:nvPr/>
        </p:nvSpPr>
        <p:spPr>
          <a:xfrm>
            <a:off x="7936992" y="5349240"/>
            <a:ext cx="1078992" cy="475488"/>
          </a:xfrm>
          <a:prstGeom prst="roundRect">
            <a:avLst>
              <a:gd name="adj" fmla="val 15385"/>
            </a:avLst>
          </a:prstGeom>
          <a:solidFill>
            <a:srgbClr val="F4F5F9"/>
          </a:solidFill>
          <a:ln/>
        </p:spPr>
      </p:sp>
      <p:sp>
        <p:nvSpPr>
          <p:cNvPr id="36" name="Text 31"/>
          <p:cNvSpPr/>
          <p:nvPr/>
        </p:nvSpPr>
        <p:spPr>
          <a:xfrm>
            <a:off x="7936992" y="5349240"/>
            <a:ext cx="1078992" cy="475488"/>
          </a:xfrm>
          <a:prstGeom prst="rect">
            <a:avLst/>
          </a:prstGeom>
          <a:noFill/>
          <a:ln/>
        </p:spPr>
        <p:txBody>
          <a:bodyPr wrap="square" lIns="0" tIns="0" rIns="0" bIns="0" rtlCol="0" anchor="ctr"/>
          <a:lstStyle/>
          <a:p>
            <a:pPr algn="ctr" indent="0" marL="0">
              <a:buNone/>
            </a:pPr>
            <a:r>
              <a:rPr lang="en-US" sz="1000" b="1" dirty="0">
                <a:solidFill>
                  <a:srgbClr val="5A6685"/>
                </a:solidFill>
                <a:latin typeface="Calibri" pitchFamily="34" charset="0"/>
                <a:ea typeface="Calibri" pitchFamily="34" charset="-122"/>
                <a:cs typeface="Calibri" pitchFamily="34" charset="-120"/>
              </a:rPr>
              <a:t>Autocomplete</a:t>
            </a:r>
            <a:endParaRPr lang="en-US" sz="1000" dirty="0"/>
          </a:p>
        </p:txBody>
      </p:sp>
      <p:sp>
        <p:nvSpPr>
          <p:cNvPr id="37" name="Text 32"/>
          <p:cNvSpPr/>
          <p:nvPr/>
        </p:nvSpPr>
        <p:spPr>
          <a:xfrm>
            <a:off x="8997696" y="5349240"/>
            <a:ext cx="182880" cy="475488"/>
          </a:xfrm>
          <a:prstGeom prst="rect">
            <a:avLst/>
          </a:prstGeom>
          <a:noFill/>
          <a:ln/>
        </p:spPr>
        <p:txBody>
          <a:bodyPr wrap="square" lIns="0" tIns="0" rIns="0" bIns="0" rtlCol="0" anchor="ctr"/>
          <a:lstStyle/>
          <a:p>
            <a:pPr algn="ctr" indent="0" marL="0">
              <a:buNone/>
            </a:pPr>
            <a:r>
              <a:rPr lang="en-US" sz="1400" b="1" dirty="0">
                <a:solidFill>
                  <a:srgbClr val="8A93AB"/>
                </a:solidFill>
                <a:latin typeface="Calibri" pitchFamily="34" charset="0"/>
                <a:ea typeface="Calibri" pitchFamily="34" charset="-122"/>
                <a:cs typeface="Calibri" pitchFamily="34" charset="-120"/>
              </a:rPr>
              <a:t>›</a:t>
            </a:r>
            <a:endParaRPr lang="en-US" sz="1400" dirty="0"/>
          </a:p>
        </p:txBody>
      </p:sp>
      <p:sp>
        <p:nvSpPr>
          <p:cNvPr id="38" name="Shape 33"/>
          <p:cNvSpPr/>
          <p:nvPr/>
        </p:nvSpPr>
        <p:spPr>
          <a:xfrm>
            <a:off x="9162288" y="5349240"/>
            <a:ext cx="1078992" cy="475488"/>
          </a:xfrm>
          <a:prstGeom prst="roundRect">
            <a:avLst>
              <a:gd name="adj" fmla="val 15385"/>
            </a:avLst>
          </a:prstGeom>
          <a:solidFill>
            <a:srgbClr val="E2F4F2"/>
          </a:solidFill>
          <a:ln/>
        </p:spPr>
      </p:sp>
      <p:sp>
        <p:nvSpPr>
          <p:cNvPr id="39" name="Text 34"/>
          <p:cNvSpPr/>
          <p:nvPr/>
        </p:nvSpPr>
        <p:spPr>
          <a:xfrm>
            <a:off x="9162288" y="5349240"/>
            <a:ext cx="1078992" cy="475488"/>
          </a:xfrm>
          <a:prstGeom prst="rect">
            <a:avLst/>
          </a:prstGeom>
          <a:noFill/>
          <a:ln/>
        </p:spPr>
        <p:txBody>
          <a:bodyPr wrap="square" lIns="0" tIns="0" rIns="0" bIns="0" rtlCol="0" anchor="ctr"/>
          <a:lstStyle/>
          <a:p>
            <a:pPr algn="ctr" indent="0" marL="0">
              <a:buNone/>
            </a:pPr>
            <a:r>
              <a:rPr lang="en-US" sz="1000" b="1" dirty="0">
                <a:solidFill>
                  <a:srgbClr val="0E9E96"/>
                </a:solidFill>
                <a:latin typeface="Calibri" pitchFamily="34" charset="0"/>
                <a:ea typeface="Calibri" pitchFamily="34" charset="-122"/>
                <a:cs typeface="Calibri" pitchFamily="34" charset="-120"/>
              </a:rPr>
              <a:t>Copilot</a:t>
            </a:r>
            <a:endParaRPr lang="en-US" sz="1000" dirty="0"/>
          </a:p>
        </p:txBody>
      </p:sp>
      <p:sp>
        <p:nvSpPr>
          <p:cNvPr id="40" name="Text 35"/>
          <p:cNvSpPr/>
          <p:nvPr/>
        </p:nvSpPr>
        <p:spPr>
          <a:xfrm>
            <a:off x="10222992" y="5349240"/>
            <a:ext cx="182880" cy="475488"/>
          </a:xfrm>
          <a:prstGeom prst="rect">
            <a:avLst/>
          </a:prstGeom>
          <a:noFill/>
          <a:ln/>
        </p:spPr>
        <p:txBody>
          <a:bodyPr wrap="square" lIns="0" tIns="0" rIns="0" bIns="0" rtlCol="0" anchor="ctr"/>
          <a:lstStyle/>
          <a:p>
            <a:pPr algn="ctr" indent="0" marL="0">
              <a:buNone/>
            </a:pPr>
            <a:r>
              <a:rPr lang="en-US" sz="1400" b="1" dirty="0">
                <a:solidFill>
                  <a:srgbClr val="8A93AB"/>
                </a:solidFill>
                <a:latin typeface="Calibri" pitchFamily="34" charset="0"/>
                <a:ea typeface="Calibri" pitchFamily="34" charset="-122"/>
                <a:cs typeface="Calibri" pitchFamily="34" charset="-120"/>
              </a:rPr>
              <a:t>›</a:t>
            </a:r>
            <a:endParaRPr lang="en-US" sz="1400" dirty="0"/>
          </a:p>
        </p:txBody>
      </p:sp>
      <p:sp>
        <p:nvSpPr>
          <p:cNvPr id="41" name="Shape 36"/>
          <p:cNvSpPr/>
          <p:nvPr/>
        </p:nvSpPr>
        <p:spPr>
          <a:xfrm>
            <a:off x="10387584" y="5349240"/>
            <a:ext cx="1078992" cy="475488"/>
          </a:xfrm>
          <a:prstGeom prst="roundRect">
            <a:avLst>
              <a:gd name="adj" fmla="val 15385"/>
            </a:avLst>
          </a:prstGeom>
          <a:solidFill>
            <a:srgbClr val="5B4BE0"/>
          </a:solidFill>
          <a:ln/>
        </p:spPr>
      </p:sp>
      <p:sp>
        <p:nvSpPr>
          <p:cNvPr id="42" name="Text 37"/>
          <p:cNvSpPr/>
          <p:nvPr/>
        </p:nvSpPr>
        <p:spPr>
          <a:xfrm>
            <a:off x="10387584" y="5349240"/>
            <a:ext cx="107899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Agent</a:t>
            </a:r>
            <a:endParaRPr lang="en-US" sz="1000" dirty="0"/>
          </a:p>
        </p:txBody>
      </p:sp>
      <p:sp>
        <p:nvSpPr>
          <p:cNvPr id="43" name="Text 38"/>
          <p:cNvSpPr/>
          <p:nvPr/>
        </p:nvSpPr>
        <p:spPr>
          <a:xfrm>
            <a:off x="7936992" y="5852160"/>
            <a:ext cx="3493008" cy="219456"/>
          </a:xfrm>
          <a:prstGeom prst="rect">
            <a:avLst/>
          </a:prstGeom>
          <a:noFill/>
          <a:ln/>
        </p:spPr>
        <p:txBody>
          <a:bodyPr wrap="square" lIns="0" tIns="0" rIns="0" bIns="0" rtlCol="0" anchor="ctr"/>
          <a:lstStyle/>
          <a:p>
            <a:pPr indent="0" marL="0">
              <a:buNone/>
            </a:pPr>
            <a:r>
              <a:rPr lang="en-US" sz="880" i="1" dirty="0">
                <a:solidFill>
                  <a:srgbClr val="8A93AB"/>
                </a:solidFill>
                <a:latin typeface="Calibri" pitchFamily="34" charset="0"/>
                <a:ea typeface="Calibri" pitchFamily="34" charset="-122"/>
                <a:cs typeface="Calibri" pitchFamily="34" charset="-120"/>
              </a:rPr>
              <a:t>more of the loop owned by the model →</a:t>
            </a:r>
            <a:endParaRPr lang="en-US" sz="8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SCALING THE LOOP</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One agent becomes many: subagent orchestration</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Anthropic, Claude Agent SDK &amp; multi-agent research system (orchestrator + parallel subagents), 2025–26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41</a:t>
            </a:r>
            <a:endParaRPr lang="en-US" sz="900" dirty="0"/>
          </a:p>
        </p:txBody>
      </p:sp>
      <p:sp>
        <p:nvSpPr>
          <p:cNvPr id="6" name="Text 4"/>
          <p:cNvSpPr/>
          <p:nvPr/>
        </p:nvSpPr>
        <p:spPr>
          <a:xfrm>
            <a:off x="566928" y="1444752"/>
            <a:ext cx="11064240" cy="365760"/>
          </a:xfrm>
          <a:prstGeom prst="rect">
            <a:avLst/>
          </a:prstGeom>
          <a:noFill/>
          <a:ln/>
        </p:spPr>
        <p:txBody>
          <a:bodyPr wrap="square" lIns="0" tIns="0" rIns="0" bIns="0" rtlCol="0" anchor="ctr"/>
          <a:lstStyle/>
          <a:p>
            <a:pPr indent="0" marL="0">
              <a:lnSpc>
                <a:spcPct val="110000"/>
              </a:lnSpc>
              <a:buNone/>
            </a:pPr>
            <a:r>
              <a:rPr lang="en-US" sz="1350" dirty="0">
                <a:solidFill>
                  <a:srgbClr val="5A6685"/>
                </a:solidFill>
                <a:latin typeface="Calibri" pitchFamily="34" charset="0"/>
                <a:ea typeface="Calibri" pitchFamily="34" charset="-122"/>
                <a:cs typeface="Calibri" pitchFamily="34" charset="-120"/>
              </a:rPr>
              <a:t>For big tasks, a lead agent splits the work across subagents — each with its own context — then merges their results.</a:t>
            </a:r>
            <a:endParaRPr lang="en-US" sz="1350" dirty="0"/>
          </a:p>
        </p:txBody>
      </p:sp>
      <p:sp>
        <p:nvSpPr>
          <p:cNvPr id="7" name="Shape 5"/>
          <p:cNvSpPr/>
          <p:nvPr/>
        </p:nvSpPr>
        <p:spPr>
          <a:xfrm>
            <a:off x="2898648" y="2057400"/>
            <a:ext cx="2377440" cy="749808"/>
          </a:xfrm>
          <a:prstGeom prst="roundRect">
            <a:avLst>
              <a:gd name="adj" fmla="val 12195"/>
            </a:avLst>
          </a:prstGeom>
          <a:solidFill>
            <a:srgbClr val="16213E"/>
          </a:solidFill>
          <a:ln/>
        </p:spPr>
      </p:sp>
      <p:sp>
        <p:nvSpPr>
          <p:cNvPr id="8" name="Shape 6"/>
          <p:cNvSpPr/>
          <p:nvPr/>
        </p:nvSpPr>
        <p:spPr>
          <a:xfrm>
            <a:off x="3063240" y="2194560"/>
            <a:ext cx="475488" cy="475488"/>
          </a:xfrm>
          <a:prstGeom prst="ellipse">
            <a:avLst/>
          </a:prstGeom>
          <a:solidFill>
            <a:srgbClr val="7C6FF0"/>
          </a:solidFill>
          <a:ln/>
        </p:spPr>
      </p:sp>
      <p:pic>
        <p:nvPicPr>
          <p:cNvPr id="9" name="Image 0" descr="preencoded.png">    </p:cNvPr>
          <p:cNvPicPr>
            <a:picLocks noChangeAspect="1"/>
          </p:cNvPicPr>
          <p:nvPr/>
        </p:nvPicPr>
        <p:blipFill>
          <a:blip r:embed="rId1"/>
          <a:stretch>
            <a:fillRect/>
          </a:stretch>
        </p:blipFill>
        <p:spPr>
          <a:xfrm>
            <a:off x="3182112" y="2313432"/>
            <a:ext cx="237744" cy="237744"/>
          </a:xfrm>
          <a:prstGeom prst="rect">
            <a:avLst/>
          </a:prstGeom>
        </p:spPr>
      </p:pic>
      <p:sp>
        <p:nvSpPr>
          <p:cNvPr id="10" name="Text 7"/>
          <p:cNvSpPr/>
          <p:nvPr/>
        </p:nvSpPr>
        <p:spPr>
          <a:xfrm>
            <a:off x="3611880" y="2194560"/>
            <a:ext cx="155448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Lead agent</a:t>
            </a:r>
            <a:endParaRPr lang="en-US" sz="1250" dirty="0"/>
          </a:p>
        </p:txBody>
      </p:sp>
      <p:sp>
        <p:nvSpPr>
          <p:cNvPr id="11" name="Text 8"/>
          <p:cNvSpPr/>
          <p:nvPr/>
        </p:nvSpPr>
        <p:spPr>
          <a:xfrm>
            <a:off x="3611880" y="2450592"/>
            <a:ext cx="1554480" cy="274320"/>
          </a:xfrm>
          <a:prstGeom prst="rect">
            <a:avLst/>
          </a:prstGeom>
          <a:noFill/>
          <a:ln/>
        </p:spPr>
        <p:txBody>
          <a:bodyPr wrap="square" lIns="0" tIns="0" rIns="0" bIns="0" rtlCol="0" anchor="ctr"/>
          <a:lstStyle/>
          <a:p>
            <a:pPr indent="0" marL="0">
              <a:buNone/>
            </a:pPr>
            <a:r>
              <a:rPr lang="en-US" sz="950" dirty="0">
                <a:solidFill>
                  <a:srgbClr val="C6CCE0"/>
                </a:solidFill>
                <a:latin typeface="Calibri" pitchFamily="34" charset="0"/>
                <a:ea typeface="Calibri" pitchFamily="34" charset="-122"/>
                <a:cs typeface="Calibri" pitchFamily="34" charset="-120"/>
              </a:rPr>
              <a:t>plans &amp; coordinates</a:t>
            </a:r>
            <a:endParaRPr lang="en-US" sz="950" dirty="0"/>
          </a:p>
        </p:txBody>
      </p:sp>
      <p:sp>
        <p:nvSpPr>
          <p:cNvPr id="12" name="Shape 9"/>
          <p:cNvSpPr/>
          <p:nvPr/>
        </p:nvSpPr>
        <p:spPr>
          <a:xfrm>
            <a:off x="566928" y="3429000"/>
            <a:ext cx="2103120" cy="1051560"/>
          </a:xfrm>
          <a:prstGeom prst="roundRect">
            <a:avLst>
              <a:gd name="adj" fmla="val 8696"/>
            </a:avLst>
          </a:prstGeom>
          <a:solidFill>
            <a:srgbClr val="EEECFB"/>
          </a:solidFill>
          <a:ln w="12700">
            <a:solidFill>
              <a:srgbClr val="5B4BE0"/>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749808" y="3593592"/>
            <a:ext cx="457200" cy="457200"/>
          </a:xfrm>
          <a:prstGeom prst="ellipse">
            <a:avLst/>
          </a:prstGeom>
          <a:solidFill>
            <a:srgbClr val="5B4BE0"/>
          </a:solidFill>
          <a:ln/>
        </p:spPr>
      </p:sp>
      <p:pic>
        <p:nvPicPr>
          <p:cNvPr id="14" name="Image 1" descr="preencoded.png">    </p:cNvPr>
          <p:cNvPicPr>
            <a:picLocks noChangeAspect="1"/>
          </p:cNvPicPr>
          <p:nvPr/>
        </p:nvPicPr>
        <p:blipFill>
          <a:blip r:embed="rId2"/>
          <a:stretch>
            <a:fillRect/>
          </a:stretch>
        </p:blipFill>
        <p:spPr>
          <a:xfrm>
            <a:off x="864108" y="3707892"/>
            <a:ext cx="228600" cy="228600"/>
          </a:xfrm>
          <a:prstGeom prst="rect">
            <a:avLst/>
          </a:prstGeom>
        </p:spPr>
      </p:pic>
      <p:sp>
        <p:nvSpPr>
          <p:cNvPr id="15" name="Text 11"/>
          <p:cNvSpPr/>
          <p:nvPr/>
        </p:nvSpPr>
        <p:spPr>
          <a:xfrm>
            <a:off x="1280160" y="3611880"/>
            <a:ext cx="1280160" cy="274320"/>
          </a:xfrm>
          <a:prstGeom prst="rect">
            <a:avLst/>
          </a:prstGeom>
          <a:noFill/>
          <a:ln/>
        </p:spPr>
        <p:txBody>
          <a:bodyPr wrap="square" lIns="0" tIns="0" rIns="0" bIns="0" rtlCol="0" anchor="ctr"/>
          <a:lstStyle/>
          <a:p>
            <a:pPr indent="0" marL="0">
              <a:buNone/>
            </a:pPr>
            <a:r>
              <a:rPr lang="en-US" sz="1200" b="1" dirty="0">
                <a:solidFill>
                  <a:srgbClr val="1B2440"/>
                </a:solidFill>
                <a:latin typeface="Calibri" pitchFamily="34" charset="0"/>
                <a:ea typeface="Calibri" pitchFamily="34" charset="-122"/>
                <a:cs typeface="Calibri" pitchFamily="34" charset="-120"/>
              </a:rPr>
              <a:t>Subagent A</a:t>
            </a:r>
            <a:endParaRPr lang="en-US" sz="1200" dirty="0"/>
          </a:p>
        </p:txBody>
      </p:sp>
      <p:sp>
        <p:nvSpPr>
          <p:cNvPr id="16" name="Text 12"/>
          <p:cNvSpPr/>
          <p:nvPr/>
        </p:nvSpPr>
        <p:spPr>
          <a:xfrm>
            <a:off x="1280160" y="3867912"/>
            <a:ext cx="1280160" cy="237744"/>
          </a:xfrm>
          <a:prstGeom prst="rect">
            <a:avLst/>
          </a:prstGeom>
          <a:noFill/>
          <a:ln/>
        </p:spPr>
        <p:txBody>
          <a:bodyPr wrap="square" lIns="0" tIns="0" rIns="0" bIns="0" rtlCol="0" anchor="ctr"/>
          <a:lstStyle/>
          <a:p>
            <a:pPr indent="0" marL="0">
              <a:buNone/>
            </a:pPr>
            <a:r>
              <a:rPr lang="en-US" sz="900" i="1" dirty="0">
                <a:solidFill>
                  <a:srgbClr val="5B4BE0"/>
                </a:solidFill>
                <a:latin typeface="Calibri" pitchFamily="34" charset="0"/>
                <a:ea typeface="Calibri" pitchFamily="34" charset="-122"/>
                <a:cs typeface="Calibri" pitchFamily="34" charset="-120"/>
              </a:rPr>
              <a:t>own context</a:t>
            </a:r>
            <a:endParaRPr lang="en-US" sz="900" dirty="0"/>
          </a:p>
        </p:txBody>
      </p:sp>
      <p:sp>
        <p:nvSpPr>
          <p:cNvPr id="17" name="Text 13"/>
          <p:cNvSpPr/>
          <p:nvPr/>
        </p:nvSpPr>
        <p:spPr>
          <a:xfrm>
            <a:off x="749808" y="4142232"/>
            <a:ext cx="1783080" cy="274320"/>
          </a:xfrm>
          <a:prstGeom prst="rect">
            <a:avLst/>
          </a:prstGeom>
          <a:noFill/>
          <a:ln/>
        </p:spPr>
        <p:txBody>
          <a:bodyPr wrap="square" lIns="0" tIns="0" rIns="0" bIns="0" rtlCol="0" anchor="ctr"/>
          <a:lstStyle/>
          <a:p>
            <a:pPr indent="0" marL="0">
              <a:buNone/>
            </a:pPr>
            <a:r>
              <a:rPr lang="en-US" sz="1000" dirty="0">
                <a:solidFill>
                  <a:srgbClr val="5A6685"/>
                </a:solidFill>
                <a:latin typeface="Calibri" pitchFamily="34" charset="0"/>
                <a:ea typeface="Calibri" pitchFamily="34" charset="-122"/>
                <a:cs typeface="Calibri" pitchFamily="34" charset="-120"/>
              </a:rPr>
              <a:t>searches papers</a:t>
            </a:r>
            <a:endParaRPr lang="en-US" sz="1000" dirty="0"/>
          </a:p>
        </p:txBody>
      </p:sp>
      <p:sp>
        <p:nvSpPr>
          <p:cNvPr id="18" name="Shape 14"/>
          <p:cNvSpPr/>
          <p:nvPr/>
        </p:nvSpPr>
        <p:spPr>
          <a:xfrm>
            <a:off x="4087368" y="2807208"/>
            <a:ext cx="-2468880" cy="603504"/>
          </a:xfrm>
          <a:prstGeom prst="line">
            <a:avLst/>
          </a:prstGeom>
          <a:noFill/>
          <a:ln w="22225">
            <a:solidFill>
              <a:srgbClr val="8A93AB"/>
            </a:solidFill>
            <a:prstDash val="solid"/>
            <a:tailEnd type="triangle"/>
          </a:ln>
        </p:spPr>
      </p:sp>
      <p:sp>
        <p:nvSpPr>
          <p:cNvPr id="19" name="Shape 15"/>
          <p:cNvSpPr/>
          <p:nvPr/>
        </p:nvSpPr>
        <p:spPr>
          <a:xfrm>
            <a:off x="1618488" y="4480560"/>
            <a:ext cx="2468880" cy="484632"/>
          </a:xfrm>
          <a:prstGeom prst="line">
            <a:avLst/>
          </a:prstGeom>
          <a:noFill/>
          <a:ln w="22225">
            <a:solidFill>
              <a:srgbClr val="8A93AB"/>
            </a:solidFill>
            <a:prstDash val="solid"/>
            <a:tailEnd type="triangle"/>
          </a:ln>
        </p:spPr>
      </p:sp>
      <p:sp>
        <p:nvSpPr>
          <p:cNvPr id="20" name="Shape 16"/>
          <p:cNvSpPr/>
          <p:nvPr/>
        </p:nvSpPr>
        <p:spPr>
          <a:xfrm>
            <a:off x="3035808" y="3429000"/>
            <a:ext cx="2103120" cy="1051560"/>
          </a:xfrm>
          <a:prstGeom prst="roundRect">
            <a:avLst>
              <a:gd name="adj" fmla="val 8696"/>
            </a:avLst>
          </a:prstGeom>
          <a:solidFill>
            <a:srgbClr val="EEECFB"/>
          </a:solidFill>
          <a:ln w="12700">
            <a:solidFill>
              <a:srgbClr val="5B4BE0"/>
            </a:solidFill>
            <a:prstDash val="solid"/>
          </a:ln>
          <a:effectLst>
            <a:outerShdw sx="100000" sy="100000" kx="0" ky="0" algn="bl" rotWithShape="0" blurRad="114300" dist="38100" dir="5400000">
              <a:srgbClr val="9AA2BC">
                <a:alpha val="16000"/>
              </a:srgbClr>
            </a:outerShdw>
          </a:effectLst>
        </p:spPr>
      </p:sp>
      <p:sp>
        <p:nvSpPr>
          <p:cNvPr id="21" name="Shape 17"/>
          <p:cNvSpPr/>
          <p:nvPr/>
        </p:nvSpPr>
        <p:spPr>
          <a:xfrm>
            <a:off x="3218688" y="3593592"/>
            <a:ext cx="457200" cy="457200"/>
          </a:xfrm>
          <a:prstGeom prst="ellipse">
            <a:avLst/>
          </a:prstGeom>
          <a:solidFill>
            <a:srgbClr val="5B4BE0"/>
          </a:solidFill>
          <a:ln/>
        </p:spPr>
      </p:sp>
      <p:pic>
        <p:nvPicPr>
          <p:cNvPr id="22" name="Image 2" descr="preencoded.png">    </p:cNvPr>
          <p:cNvPicPr>
            <a:picLocks noChangeAspect="1"/>
          </p:cNvPicPr>
          <p:nvPr/>
        </p:nvPicPr>
        <p:blipFill>
          <a:blip r:embed="rId3"/>
          <a:stretch>
            <a:fillRect/>
          </a:stretch>
        </p:blipFill>
        <p:spPr>
          <a:xfrm>
            <a:off x="3332988" y="3707892"/>
            <a:ext cx="228600" cy="228600"/>
          </a:xfrm>
          <a:prstGeom prst="rect">
            <a:avLst/>
          </a:prstGeom>
        </p:spPr>
      </p:pic>
      <p:sp>
        <p:nvSpPr>
          <p:cNvPr id="23" name="Text 18"/>
          <p:cNvSpPr/>
          <p:nvPr/>
        </p:nvSpPr>
        <p:spPr>
          <a:xfrm>
            <a:off x="3749040" y="3611880"/>
            <a:ext cx="1280160" cy="274320"/>
          </a:xfrm>
          <a:prstGeom prst="rect">
            <a:avLst/>
          </a:prstGeom>
          <a:noFill/>
          <a:ln/>
        </p:spPr>
        <p:txBody>
          <a:bodyPr wrap="square" lIns="0" tIns="0" rIns="0" bIns="0" rtlCol="0" anchor="ctr"/>
          <a:lstStyle/>
          <a:p>
            <a:pPr indent="0" marL="0">
              <a:buNone/>
            </a:pPr>
            <a:r>
              <a:rPr lang="en-US" sz="1200" b="1" dirty="0">
                <a:solidFill>
                  <a:srgbClr val="1B2440"/>
                </a:solidFill>
                <a:latin typeface="Calibri" pitchFamily="34" charset="0"/>
                <a:ea typeface="Calibri" pitchFamily="34" charset="-122"/>
                <a:cs typeface="Calibri" pitchFamily="34" charset="-120"/>
              </a:rPr>
              <a:t>Subagent B</a:t>
            </a:r>
            <a:endParaRPr lang="en-US" sz="1200" dirty="0"/>
          </a:p>
        </p:txBody>
      </p:sp>
      <p:sp>
        <p:nvSpPr>
          <p:cNvPr id="24" name="Text 19"/>
          <p:cNvSpPr/>
          <p:nvPr/>
        </p:nvSpPr>
        <p:spPr>
          <a:xfrm>
            <a:off x="3749040" y="3867912"/>
            <a:ext cx="1280160" cy="237744"/>
          </a:xfrm>
          <a:prstGeom prst="rect">
            <a:avLst/>
          </a:prstGeom>
          <a:noFill/>
          <a:ln/>
        </p:spPr>
        <p:txBody>
          <a:bodyPr wrap="square" lIns="0" tIns="0" rIns="0" bIns="0" rtlCol="0" anchor="ctr"/>
          <a:lstStyle/>
          <a:p>
            <a:pPr indent="0" marL="0">
              <a:buNone/>
            </a:pPr>
            <a:r>
              <a:rPr lang="en-US" sz="900" i="1" dirty="0">
                <a:solidFill>
                  <a:srgbClr val="5B4BE0"/>
                </a:solidFill>
                <a:latin typeface="Calibri" pitchFamily="34" charset="0"/>
                <a:ea typeface="Calibri" pitchFamily="34" charset="-122"/>
                <a:cs typeface="Calibri" pitchFamily="34" charset="-120"/>
              </a:rPr>
              <a:t>own context</a:t>
            </a:r>
            <a:endParaRPr lang="en-US" sz="900" dirty="0"/>
          </a:p>
        </p:txBody>
      </p:sp>
      <p:sp>
        <p:nvSpPr>
          <p:cNvPr id="25" name="Text 20"/>
          <p:cNvSpPr/>
          <p:nvPr/>
        </p:nvSpPr>
        <p:spPr>
          <a:xfrm>
            <a:off x="3218688" y="4142232"/>
            <a:ext cx="1783080" cy="274320"/>
          </a:xfrm>
          <a:prstGeom prst="rect">
            <a:avLst/>
          </a:prstGeom>
          <a:noFill/>
          <a:ln/>
        </p:spPr>
        <p:txBody>
          <a:bodyPr wrap="square" lIns="0" tIns="0" rIns="0" bIns="0" rtlCol="0" anchor="ctr"/>
          <a:lstStyle/>
          <a:p>
            <a:pPr indent="0" marL="0">
              <a:buNone/>
            </a:pPr>
            <a:r>
              <a:rPr lang="en-US" sz="1000" dirty="0">
                <a:solidFill>
                  <a:srgbClr val="5A6685"/>
                </a:solidFill>
                <a:latin typeface="Calibri" pitchFamily="34" charset="0"/>
                <a:ea typeface="Calibri" pitchFamily="34" charset="-122"/>
                <a:cs typeface="Calibri" pitchFamily="34" charset="-120"/>
              </a:rPr>
              <a:t>runs analysis</a:t>
            </a:r>
            <a:endParaRPr lang="en-US" sz="1000" dirty="0"/>
          </a:p>
        </p:txBody>
      </p:sp>
      <p:sp>
        <p:nvSpPr>
          <p:cNvPr id="26" name="Shape 21"/>
          <p:cNvSpPr/>
          <p:nvPr/>
        </p:nvSpPr>
        <p:spPr>
          <a:xfrm>
            <a:off x="4087368" y="2807208"/>
            <a:ext cx="0" cy="603504"/>
          </a:xfrm>
          <a:prstGeom prst="line">
            <a:avLst/>
          </a:prstGeom>
          <a:noFill/>
          <a:ln w="22225">
            <a:solidFill>
              <a:srgbClr val="8A93AB"/>
            </a:solidFill>
            <a:prstDash val="solid"/>
            <a:tailEnd type="triangle"/>
          </a:ln>
        </p:spPr>
      </p:sp>
      <p:sp>
        <p:nvSpPr>
          <p:cNvPr id="27" name="Shape 22"/>
          <p:cNvSpPr/>
          <p:nvPr/>
        </p:nvSpPr>
        <p:spPr>
          <a:xfrm>
            <a:off x="4087368" y="4480560"/>
            <a:ext cx="0" cy="484632"/>
          </a:xfrm>
          <a:prstGeom prst="line">
            <a:avLst/>
          </a:prstGeom>
          <a:noFill/>
          <a:ln w="22225">
            <a:solidFill>
              <a:srgbClr val="8A93AB"/>
            </a:solidFill>
            <a:prstDash val="solid"/>
            <a:tailEnd type="triangle"/>
          </a:ln>
        </p:spPr>
      </p:sp>
      <p:sp>
        <p:nvSpPr>
          <p:cNvPr id="28" name="Shape 23"/>
          <p:cNvSpPr/>
          <p:nvPr/>
        </p:nvSpPr>
        <p:spPr>
          <a:xfrm>
            <a:off x="5504688" y="3429000"/>
            <a:ext cx="2103120" cy="1051560"/>
          </a:xfrm>
          <a:prstGeom prst="roundRect">
            <a:avLst>
              <a:gd name="adj" fmla="val 8696"/>
            </a:avLst>
          </a:prstGeom>
          <a:solidFill>
            <a:srgbClr val="EEECFB"/>
          </a:solidFill>
          <a:ln w="12700">
            <a:solidFill>
              <a:srgbClr val="5B4BE0"/>
            </a:solidFill>
            <a:prstDash val="solid"/>
          </a:ln>
          <a:effectLst>
            <a:outerShdw sx="100000" sy="100000" kx="0" ky="0" algn="bl" rotWithShape="0" blurRad="114300" dist="38100" dir="5400000">
              <a:srgbClr val="9AA2BC">
                <a:alpha val="16000"/>
              </a:srgbClr>
            </a:outerShdw>
          </a:effectLst>
        </p:spPr>
      </p:sp>
      <p:sp>
        <p:nvSpPr>
          <p:cNvPr id="29" name="Shape 24"/>
          <p:cNvSpPr/>
          <p:nvPr/>
        </p:nvSpPr>
        <p:spPr>
          <a:xfrm>
            <a:off x="5687568" y="3593592"/>
            <a:ext cx="457200" cy="457200"/>
          </a:xfrm>
          <a:prstGeom prst="ellipse">
            <a:avLst/>
          </a:prstGeom>
          <a:solidFill>
            <a:srgbClr val="5B4BE0"/>
          </a:solidFill>
          <a:ln/>
        </p:spPr>
      </p:sp>
      <p:pic>
        <p:nvPicPr>
          <p:cNvPr id="30" name="Image 3" descr="preencoded.png">    </p:cNvPr>
          <p:cNvPicPr>
            <a:picLocks noChangeAspect="1"/>
          </p:cNvPicPr>
          <p:nvPr/>
        </p:nvPicPr>
        <p:blipFill>
          <a:blip r:embed="rId4"/>
          <a:stretch>
            <a:fillRect/>
          </a:stretch>
        </p:blipFill>
        <p:spPr>
          <a:xfrm>
            <a:off x="5801868" y="3707892"/>
            <a:ext cx="228600" cy="228600"/>
          </a:xfrm>
          <a:prstGeom prst="rect">
            <a:avLst/>
          </a:prstGeom>
        </p:spPr>
      </p:pic>
      <p:sp>
        <p:nvSpPr>
          <p:cNvPr id="31" name="Text 25"/>
          <p:cNvSpPr/>
          <p:nvPr/>
        </p:nvSpPr>
        <p:spPr>
          <a:xfrm>
            <a:off x="6217920" y="3611880"/>
            <a:ext cx="1280160" cy="274320"/>
          </a:xfrm>
          <a:prstGeom prst="rect">
            <a:avLst/>
          </a:prstGeom>
          <a:noFill/>
          <a:ln/>
        </p:spPr>
        <p:txBody>
          <a:bodyPr wrap="square" lIns="0" tIns="0" rIns="0" bIns="0" rtlCol="0" anchor="ctr"/>
          <a:lstStyle/>
          <a:p>
            <a:pPr indent="0" marL="0">
              <a:buNone/>
            </a:pPr>
            <a:r>
              <a:rPr lang="en-US" sz="1200" b="1" dirty="0">
                <a:solidFill>
                  <a:srgbClr val="1B2440"/>
                </a:solidFill>
                <a:latin typeface="Calibri" pitchFamily="34" charset="0"/>
                <a:ea typeface="Calibri" pitchFamily="34" charset="-122"/>
                <a:cs typeface="Calibri" pitchFamily="34" charset="-120"/>
              </a:rPr>
              <a:t>Subagent C</a:t>
            </a:r>
            <a:endParaRPr lang="en-US" sz="1200" dirty="0"/>
          </a:p>
        </p:txBody>
      </p:sp>
      <p:sp>
        <p:nvSpPr>
          <p:cNvPr id="32" name="Text 26"/>
          <p:cNvSpPr/>
          <p:nvPr/>
        </p:nvSpPr>
        <p:spPr>
          <a:xfrm>
            <a:off x="6217920" y="3867912"/>
            <a:ext cx="1280160" cy="237744"/>
          </a:xfrm>
          <a:prstGeom prst="rect">
            <a:avLst/>
          </a:prstGeom>
          <a:noFill/>
          <a:ln/>
        </p:spPr>
        <p:txBody>
          <a:bodyPr wrap="square" lIns="0" tIns="0" rIns="0" bIns="0" rtlCol="0" anchor="ctr"/>
          <a:lstStyle/>
          <a:p>
            <a:pPr indent="0" marL="0">
              <a:buNone/>
            </a:pPr>
            <a:r>
              <a:rPr lang="en-US" sz="900" i="1" dirty="0">
                <a:solidFill>
                  <a:srgbClr val="5B4BE0"/>
                </a:solidFill>
                <a:latin typeface="Calibri" pitchFamily="34" charset="0"/>
                <a:ea typeface="Calibri" pitchFamily="34" charset="-122"/>
                <a:cs typeface="Calibri" pitchFamily="34" charset="-120"/>
              </a:rPr>
              <a:t>own context</a:t>
            </a:r>
            <a:endParaRPr lang="en-US" sz="900" dirty="0"/>
          </a:p>
        </p:txBody>
      </p:sp>
      <p:sp>
        <p:nvSpPr>
          <p:cNvPr id="33" name="Text 27"/>
          <p:cNvSpPr/>
          <p:nvPr/>
        </p:nvSpPr>
        <p:spPr>
          <a:xfrm>
            <a:off x="5687568" y="4142232"/>
            <a:ext cx="1783080" cy="274320"/>
          </a:xfrm>
          <a:prstGeom prst="rect">
            <a:avLst/>
          </a:prstGeom>
          <a:noFill/>
          <a:ln/>
        </p:spPr>
        <p:txBody>
          <a:bodyPr wrap="square" lIns="0" tIns="0" rIns="0" bIns="0" rtlCol="0" anchor="ctr"/>
          <a:lstStyle/>
          <a:p>
            <a:pPr indent="0" marL="0">
              <a:buNone/>
            </a:pPr>
            <a:r>
              <a:rPr lang="en-US" sz="1000" dirty="0">
                <a:solidFill>
                  <a:srgbClr val="5A6685"/>
                </a:solidFill>
                <a:latin typeface="Calibri" pitchFamily="34" charset="0"/>
                <a:ea typeface="Calibri" pitchFamily="34" charset="-122"/>
                <a:cs typeface="Calibri" pitchFamily="34" charset="-120"/>
              </a:rPr>
              <a:t>checks data</a:t>
            </a:r>
            <a:endParaRPr lang="en-US" sz="1000" dirty="0"/>
          </a:p>
        </p:txBody>
      </p:sp>
      <p:sp>
        <p:nvSpPr>
          <p:cNvPr id="34" name="Shape 28"/>
          <p:cNvSpPr/>
          <p:nvPr/>
        </p:nvSpPr>
        <p:spPr>
          <a:xfrm>
            <a:off x="4087368" y="2807208"/>
            <a:ext cx="2468880" cy="603504"/>
          </a:xfrm>
          <a:prstGeom prst="line">
            <a:avLst/>
          </a:prstGeom>
          <a:noFill/>
          <a:ln w="22225">
            <a:solidFill>
              <a:srgbClr val="8A93AB"/>
            </a:solidFill>
            <a:prstDash val="solid"/>
            <a:tailEnd type="triangle"/>
          </a:ln>
        </p:spPr>
      </p:sp>
      <p:sp>
        <p:nvSpPr>
          <p:cNvPr id="35" name="Shape 29"/>
          <p:cNvSpPr/>
          <p:nvPr/>
        </p:nvSpPr>
        <p:spPr>
          <a:xfrm>
            <a:off x="6556248" y="4480560"/>
            <a:ext cx="-2468880" cy="484632"/>
          </a:xfrm>
          <a:prstGeom prst="line">
            <a:avLst/>
          </a:prstGeom>
          <a:noFill/>
          <a:ln w="22225">
            <a:solidFill>
              <a:srgbClr val="8A93AB"/>
            </a:solidFill>
            <a:prstDash val="solid"/>
            <a:tailEnd type="triangle"/>
          </a:ln>
        </p:spPr>
      </p:sp>
      <p:sp>
        <p:nvSpPr>
          <p:cNvPr id="36" name="Shape 30"/>
          <p:cNvSpPr/>
          <p:nvPr/>
        </p:nvSpPr>
        <p:spPr>
          <a:xfrm>
            <a:off x="2898648" y="4983480"/>
            <a:ext cx="2377440" cy="713232"/>
          </a:xfrm>
          <a:prstGeom prst="roundRect">
            <a:avLst>
              <a:gd name="adj" fmla="val 12821"/>
            </a:avLst>
          </a:prstGeom>
          <a:solidFill>
            <a:srgbClr val="E3F4EA"/>
          </a:solidFill>
          <a:ln w="12700">
            <a:solidFill>
              <a:srgbClr val="1B9C5A"/>
            </a:solidFill>
            <a:prstDash val="solid"/>
          </a:ln>
          <a:effectLst>
            <a:outerShdw sx="100000" sy="100000" kx="0" ky="0" algn="bl" rotWithShape="0" blurRad="114300" dist="38100" dir="5400000">
              <a:srgbClr val="9AA2BC">
                <a:alpha val="16000"/>
              </a:srgbClr>
            </a:outerShdw>
          </a:effectLst>
        </p:spPr>
      </p:sp>
      <p:sp>
        <p:nvSpPr>
          <p:cNvPr id="37" name="Shape 31"/>
          <p:cNvSpPr/>
          <p:nvPr/>
        </p:nvSpPr>
        <p:spPr>
          <a:xfrm>
            <a:off x="3063240" y="5102352"/>
            <a:ext cx="475488" cy="475488"/>
          </a:xfrm>
          <a:prstGeom prst="ellipse">
            <a:avLst/>
          </a:prstGeom>
          <a:solidFill>
            <a:srgbClr val="1B9C5A"/>
          </a:solidFill>
          <a:ln/>
        </p:spPr>
      </p:sp>
      <p:pic>
        <p:nvPicPr>
          <p:cNvPr id="38" name="Image 4" descr="preencoded.png">    </p:cNvPr>
          <p:cNvPicPr>
            <a:picLocks noChangeAspect="1"/>
          </p:cNvPicPr>
          <p:nvPr/>
        </p:nvPicPr>
        <p:blipFill>
          <a:blip r:embed="rId5"/>
          <a:stretch>
            <a:fillRect/>
          </a:stretch>
        </p:blipFill>
        <p:spPr>
          <a:xfrm>
            <a:off x="3182112" y="5221224"/>
            <a:ext cx="237744" cy="237744"/>
          </a:xfrm>
          <a:prstGeom prst="rect">
            <a:avLst/>
          </a:prstGeom>
        </p:spPr>
      </p:pic>
      <p:sp>
        <p:nvSpPr>
          <p:cNvPr id="39" name="Text 32"/>
          <p:cNvSpPr/>
          <p:nvPr/>
        </p:nvSpPr>
        <p:spPr>
          <a:xfrm>
            <a:off x="3611880" y="5120640"/>
            <a:ext cx="1554480" cy="457200"/>
          </a:xfrm>
          <a:prstGeom prst="rect">
            <a:avLst/>
          </a:prstGeom>
          <a:noFill/>
          <a:ln/>
        </p:spPr>
        <p:txBody>
          <a:bodyPr wrap="square" lIns="0" tIns="0" rIns="0" bIns="0" rtlCol="0" anchor="ctr"/>
          <a:lstStyle/>
          <a:p>
            <a:pPr indent="0" marL="0">
              <a:buNone/>
            </a:pPr>
            <a:r>
              <a:rPr lang="en-US" sz="1250" b="1" dirty="0">
                <a:solidFill>
                  <a:srgbClr val="1B9C5A"/>
                </a:solidFill>
                <a:latin typeface="Calibri" pitchFamily="34" charset="0"/>
                <a:ea typeface="Calibri" pitchFamily="34" charset="-122"/>
                <a:cs typeface="Calibri" pitchFamily="34" charset="-120"/>
              </a:rPr>
              <a:t>Merge results</a:t>
            </a:r>
            <a:endParaRPr lang="en-US" sz="1250" dirty="0"/>
          </a:p>
        </p:txBody>
      </p:sp>
      <p:sp>
        <p:nvSpPr>
          <p:cNvPr id="40" name="Shape 33"/>
          <p:cNvSpPr/>
          <p:nvPr/>
        </p:nvSpPr>
        <p:spPr>
          <a:xfrm>
            <a:off x="7863840" y="2057400"/>
            <a:ext cx="3767328" cy="3639312"/>
          </a:xfrm>
          <a:prstGeom prst="roundRect">
            <a:avLst>
              <a:gd name="adj" fmla="val 2513"/>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41" name="Text 34"/>
          <p:cNvSpPr/>
          <p:nvPr/>
        </p:nvSpPr>
        <p:spPr>
          <a:xfrm>
            <a:off x="8138160" y="2240280"/>
            <a:ext cx="3218688" cy="310896"/>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Why it helps</a:t>
            </a:r>
            <a:endParaRPr lang="en-US" sz="1500" dirty="0"/>
          </a:p>
        </p:txBody>
      </p:sp>
      <p:sp>
        <p:nvSpPr>
          <p:cNvPr id="42" name="Text 35"/>
          <p:cNvSpPr/>
          <p:nvPr/>
        </p:nvSpPr>
        <p:spPr>
          <a:xfrm>
            <a:off x="8156448" y="2697480"/>
            <a:ext cx="3200400" cy="1828800"/>
          </a:xfrm>
          <a:prstGeom prst="rect">
            <a:avLst/>
          </a:prstGeom>
          <a:noFill/>
          <a:ln/>
        </p:spPr>
        <p:txBody>
          <a:bodyPr wrap="square" lIns="25400" tIns="25400" rIns="25400" bIns="25400" rtlCol="0" anchor="t"/>
          <a:lstStyle/>
          <a:p>
            <a:pPr marL="177800" indent="-177800">
              <a:lnSpc>
                <a:spcPct val="104000"/>
              </a:lnSpc>
              <a:spcAft>
                <a:spcPts val="900"/>
              </a:spcAft>
              <a:buSzPct val="100000"/>
              <a:buChar char="•"/>
            </a:pPr>
            <a:r>
              <a:rPr lang="en-US" sz="1180" dirty="0">
                <a:solidFill>
                  <a:srgbClr val="1B2440"/>
                </a:solidFill>
                <a:latin typeface="Calibri" pitchFamily="34" charset="0"/>
                <a:ea typeface="Calibri" pitchFamily="34" charset="-122"/>
                <a:cs typeface="Calibri" pitchFamily="34" charset="-120"/>
              </a:rPr>
              <a:t>Parallel: explore several leads at once</a:t>
            </a:r>
            <a:endParaRPr lang="en-US" sz="1180" dirty="0"/>
          </a:p>
          <a:p>
            <a:pPr marL="177800" indent="-177800">
              <a:lnSpc>
                <a:spcPct val="104000"/>
              </a:lnSpc>
              <a:spcAft>
                <a:spcPts val="900"/>
              </a:spcAft>
              <a:buSzPct val="100000"/>
              <a:buChar char="•"/>
            </a:pPr>
            <a:r>
              <a:rPr lang="en-US" sz="1180" dirty="0">
                <a:solidFill>
                  <a:srgbClr val="1B2440"/>
                </a:solidFill>
                <a:latin typeface="Calibri" pitchFamily="34" charset="0"/>
                <a:ea typeface="Calibri" pitchFamily="34" charset="-122"/>
                <a:cs typeface="Calibri" pitchFamily="34" charset="-120"/>
              </a:rPr>
              <a:t>Isolated context — no cross-contamination</a:t>
            </a:r>
            <a:endParaRPr lang="en-US" sz="1180" dirty="0"/>
          </a:p>
          <a:p>
            <a:pPr marL="177800" indent="-177800">
              <a:lnSpc>
                <a:spcPct val="104000"/>
              </a:lnSpc>
              <a:spcAft>
                <a:spcPts val="900"/>
              </a:spcAft>
              <a:buSzPct val="100000"/>
              <a:buChar char="•"/>
            </a:pPr>
            <a:r>
              <a:rPr lang="en-US" sz="1180" dirty="0">
                <a:solidFill>
                  <a:srgbClr val="1B2440"/>
                </a:solidFill>
                <a:latin typeface="Calibri" pitchFamily="34" charset="0"/>
                <a:ea typeface="Calibri" pitchFamily="34" charset="-122"/>
                <a:cs typeface="Calibri" pitchFamily="34" charset="-120"/>
              </a:rPr>
              <a:t>Scales to tasks too big for one window</a:t>
            </a:r>
            <a:endParaRPr lang="en-US" sz="1180" dirty="0"/>
          </a:p>
          <a:p>
            <a:pPr marL="177800" indent="-177800">
              <a:lnSpc>
                <a:spcPct val="104000"/>
              </a:lnSpc>
              <a:spcAft>
                <a:spcPts val="900"/>
              </a:spcAft>
              <a:buSzPct val="100000"/>
              <a:buChar char="•"/>
            </a:pPr>
            <a:r>
              <a:rPr lang="en-US" sz="1180" dirty="0">
                <a:solidFill>
                  <a:srgbClr val="1B2440"/>
                </a:solidFill>
                <a:latin typeface="Calibri" pitchFamily="34" charset="0"/>
                <a:ea typeface="Calibri" pitchFamily="34" charset="-122"/>
                <a:cs typeface="Calibri" pitchFamily="34" charset="-120"/>
              </a:rPr>
              <a:t>Lead reviews &amp; merges before trusting</a:t>
            </a:r>
            <a:endParaRPr lang="en-US" sz="1180" dirty="0"/>
          </a:p>
        </p:txBody>
      </p:sp>
      <p:sp>
        <p:nvSpPr>
          <p:cNvPr id="43" name="Shape 36"/>
          <p:cNvSpPr/>
          <p:nvPr/>
        </p:nvSpPr>
        <p:spPr>
          <a:xfrm>
            <a:off x="8138160" y="4617720"/>
            <a:ext cx="3218688" cy="960120"/>
          </a:xfrm>
          <a:prstGeom prst="roundRect">
            <a:avLst>
              <a:gd name="adj" fmla="val 8571"/>
            </a:avLst>
          </a:prstGeom>
          <a:solidFill>
            <a:srgbClr val="EEECFB"/>
          </a:solidFill>
          <a:ln/>
        </p:spPr>
      </p:sp>
      <p:sp>
        <p:nvSpPr>
          <p:cNvPr id="44" name="Text 37"/>
          <p:cNvSpPr/>
          <p:nvPr/>
        </p:nvSpPr>
        <p:spPr>
          <a:xfrm>
            <a:off x="8302752" y="4663440"/>
            <a:ext cx="2898648" cy="868680"/>
          </a:xfrm>
          <a:prstGeom prst="rect">
            <a:avLst/>
          </a:prstGeom>
          <a:noFill/>
          <a:ln/>
        </p:spPr>
        <p:txBody>
          <a:bodyPr wrap="square" lIns="0" tIns="0" rIns="0" bIns="0" rtlCol="0" anchor="ctr"/>
          <a:lstStyle/>
          <a:p>
            <a:pPr indent="0" marL="0">
              <a:lnSpc>
                <a:spcPct val="112000"/>
              </a:lnSpc>
              <a:buNone/>
            </a:pPr>
            <a:r>
              <a:rPr lang="en-US" sz="1080" b="1" dirty="0">
                <a:solidFill>
                  <a:srgbClr val="5B4BE0"/>
                </a:solidFill>
                <a:latin typeface="Calibri" pitchFamily="34" charset="0"/>
                <a:ea typeface="Calibri" pitchFamily="34" charset="-122"/>
                <a:cs typeface="Calibri" pitchFamily="34" charset="-120"/>
              </a:rPr>
              <a:t>Real example.  </a:t>
            </a:r>
            <a:pPr indent="0" marL="0">
              <a:lnSpc>
                <a:spcPct val="112000"/>
              </a:lnSpc>
              <a:buNone/>
            </a:pPr>
            <a:r>
              <a:rPr lang="en-US" sz="1080" dirty="0">
                <a:solidFill>
                  <a:srgbClr val="1B2440"/>
                </a:solidFill>
                <a:latin typeface="Calibri" pitchFamily="34" charset="0"/>
                <a:ea typeface="Calibri" pitchFamily="34" charset="-122"/>
                <a:cs typeface="Calibri" pitchFamily="34" charset="-120"/>
              </a:rPr>
              <a:t>Anthropic’s research system uses a strong model to orchestrate and lighter models as subagents working in parallel.</a:t>
            </a:r>
            <a:endParaRPr lang="en-US" sz="10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SESSION 2 · EVIDENCE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Case studies — LLM &amp; agentic systems in US research</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Boiko et al. (2023) · M. Bran et al., ChemCrow (2024) · Ghareeb et al., Robin (2025) · Gottweis et al., AI co-scientist (2025)</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56692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822960" y="1901952"/>
            <a:ext cx="731520" cy="731520"/>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1005840" y="2084832"/>
            <a:ext cx="365760" cy="365760"/>
          </a:xfrm>
          <a:prstGeom prst="rect">
            <a:avLst/>
          </a:prstGeom>
        </p:spPr>
      </p:pic>
      <p:sp>
        <p:nvSpPr>
          <p:cNvPr id="9" name="Text 6"/>
          <p:cNvSpPr/>
          <p:nvPr/>
        </p:nvSpPr>
        <p:spPr>
          <a:xfrm>
            <a:off x="168249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Coscientist</a:t>
            </a:r>
            <a:endParaRPr lang="en-US" sz="1500" dirty="0"/>
          </a:p>
        </p:txBody>
      </p:sp>
      <p:sp>
        <p:nvSpPr>
          <p:cNvPr id="10" name="Text 7"/>
          <p:cNvSpPr/>
          <p:nvPr/>
        </p:nvSpPr>
        <p:spPr>
          <a:xfrm>
            <a:off x="1682496" y="2322576"/>
            <a:ext cx="2313432" cy="274320"/>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Boiko et al., 2023 (CMU)</a:t>
            </a:r>
            <a:endParaRPr lang="en-US" sz="1000" dirty="0"/>
          </a:p>
        </p:txBody>
      </p:sp>
      <p:sp>
        <p:nvSpPr>
          <p:cNvPr id="11" name="Text 8"/>
          <p:cNvSpPr/>
          <p:nvPr/>
        </p:nvSpPr>
        <p:spPr>
          <a:xfrm>
            <a:off x="84124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 GPT-4-driven agent that autonomously planned and executed chemistry experiments on real robotic lab hardware.</a:t>
            </a:r>
            <a:endParaRPr lang="en-US" sz="1080" dirty="0"/>
          </a:p>
        </p:txBody>
      </p:sp>
      <p:sp>
        <p:nvSpPr>
          <p:cNvPr id="12" name="Shape 9"/>
          <p:cNvSpPr/>
          <p:nvPr/>
        </p:nvSpPr>
        <p:spPr>
          <a:xfrm>
            <a:off x="431596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4572000" y="1901952"/>
            <a:ext cx="731520" cy="731520"/>
          </a:xfrm>
          <a:prstGeom prst="ellipse">
            <a:avLst/>
          </a:prstGeom>
          <a:solidFill>
            <a:srgbClr val="0E9E96"/>
          </a:solidFill>
          <a:ln/>
        </p:spPr>
      </p:sp>
      <p:pic>
        <p:nvPicPr>
          <p:cNvPr id="14" name="Image 1" descr="preencoded.png">    </p:cNvPr>
          <p:cNvPicPr>
            <a:picLocks noChangeAspect="1"/>
          </p:cNvPicPr>
          <p:nvPr/>
        </p:nvPicPr>
        <p:blipFill>
          <a:blip r:embed="rId2"/>
          <a:stretch>
            <a:fillRect/>
          </a:stretch>
        </p:blipFill>
        <p:spPr>
          <a:xfrm>
            <a:off x="4754880" y="2084832"/>
            <a:ext cx="365760" cy="365760"/>
          </a:xfrm>
          <a:prstGeom prst="rect">
            <a:avLst/>
          </a:prstGeom>
        </p:spPr>
      </p:pic>
      <p:sp>
        <p:nvSpPr>
          <p:cNvPr id="15" name="Text 11"/>
          <p:cNvSpPr/>
          <p:nvPr/>
        </p:nvSpPr>
        <p:spPr>
          <a:xfrm>
            <a:off x="543153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ChemCrow</a:t>
            </a:r>
            <a:endParaRPr lang="en-US" sz="1500" dirty="0"/>
          </a:p>
        </p:txBody>
      </p:sp>
      <p:sp>
        <p:nvSpPr>
          <p:cNvPr id="16" name="Text 12"/>
          <p:cNvSpPr/>
          <p:nvPr/>
        </p:nvSpPr>
        <p:spPr>
          <a:xfrm>
            <a:off x="5431536" y="2322576"/>
            <a:ext cx="2313432" cy="274320"/>
          </a:xfrm>
          <a:prstGeom prst="rect">
            <a:avLst/>
          </a:prstGeom>
          <a:noFill/>
          <a:ln/>
        </p:spPr>
        <p:txBody>
          <a:bodyPr wrap="square" lIns="0" tIns="0" rIns="0" bIns="0" rtlCol="0" anchor="ctr"/>
          <a:lstStyle/>
          <a:p>
            <a:pPr indent="0" marL="0">
              <a:buNone/>
            </a:pPr>
            <a:r>
              <a:rPr lang="en-US" sz="1000" b="1" dirty="0">
                <a:solidFill>
                  <a:srgbClr val="0E9E96"/>
                </a:solidFill>
                <a:latin typeface="Calibri" pitchFamily="34" charset="0"/>
                <a:ea typeface="Calibri" pitchFamily="34" charset="-122"/>
                <a:cs typeface="Calibri" pitchFamily="34" charset="-120"/>
              </a:rPr>
              <a:t>M. Bran et al., 2024</a:t>
            </a:r>
            <a:endParaRPr lang="en-US" sz="1000" dirty="0"/>
          </a:p>
        </p:txBody>
      </p:sp>
      <p:sp>
        <p:nvSpPr>
          <p:cNvPr id="17" name="Text 13"/>
          <p:cNvSpPr/>
          <p:nvPr/>
        </p:nvSpPr>
        <p:spPr>
          <a:xfrm>
            <a:off x="459028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An LLM augmented with ~18 expert chemistry tools — planned syntheses and guided organic synthesis tasks.</a:t>
            </a:r>
            <a:endParaRPr lang="en-US" sz="1080" dirty="0"/>
          </a:p>
        </p:txBody>
      </p:sp>
      <p:sp>
        <p:nvSpPr>
          <p:cNvPr id="18" name="Shape 14"/>
          <p:cNvSpPr/>
          <p:nvPr/>
        </p:nvSpPr>
        <p:spPr>
          <a:xfrm>
            <a:off x="8065008" y="1645920"/>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9" name="Shape 15"/>
          <p:cNvSpPr/>
          <p:nvPr/>
        </p:nvSpPr>
        <p:spPr>
          <a:xfrm>
            <a:off x="8321040" y="1901952"/>
            <a:ext cx="731520" cy="731520"/>
          </a:xfrm>
          <a:prstGeom prst="ellipse">
            <a:avLst/>
          </a:prstGeom>
          <a:solidFill>
            <a:srgbClr val="E5484D"/>
          </a:solidFill>
          <a:ln/>
        </p:spPr>
      </p:sp>
      <p:pic>
        <p:nvPicPr>
          <p:cNvPr id="20" name="Image 2" descr="preencoded.png">    </p:cNvPr>
          <p:cNvPicPr>
            <a:picLocks noChangeAspect="1"/>
          </p:cNvPicPr>
          <p:nvPr/>
        </p:nvPicPr>
        <p:blipFill>
          <a:blip r:embed="rId3"/>
          <a:stretch>
            <a:fillRect/>
          </a:stretch>
        </p:blipFill>
        <p:spPr>
          <a:xfrm>
            <a:off x="8503920" y="2084832"/>
            <a:ext cx="365760" cy="365760"/>
          </a:xfrm>
          <a:prstGeom prst="rect">
            <a:avLst/>
          </a:prstGeom>
        </p:spPr>
      </p:pic>
      <p:sp>
        <p:nvSpPr>
          <p:cNvPr id="21" name="Text 16"/>
          <p:cNvSpPr/>
          <p:nvPr/>
        </p:nvSpPr>
        <p:spPr>
          <a:xfrm>
            <a:off x="9180576" y="1956816"/>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Robin → ripasudil</a:t>
            </a:r>
            <a:endParaRPr lang="en-US" sz="1500" dirty="0"/>
          </a:p>
        </p:txBody>
      </p:sp>
      <p:sp>
        <p:nvSpPr>
          <p:cNvPr id="22" name="Text 17"/>
          <p:cNvSpPr/>
          <p:nvPr/>
        </p:nvSpPr>
        <p:spPr>
          <a:xfrm>
            <a:off x="9180576" y="2322576"/>
            <a:ext cx="2313432" cy="274320"/>
          </a:xfrm>
          <a:prstGeom prst="rect">
            <a:avLst/>
          </a:prstGeom>
          <a:noFill/>
          <a:ln/>
        </p:spPr>
        <p:txBody>
          <a:bodyPr wrap="square" lIns="0" tIns="0" rIns="0" bIns="0" rtlCol="0" anchor="ctr"/>
          <a:lstStyle/>
          <a:p>
            <a:pPr indent="0" marL="0">
              <a:buNone/>
            </a:pPr>
            <a:r>
              <a:rPr lang="en-US" sz="1000" b="1" dirty="0">
                <a:solidFill>
                  <a:srgbClr val="E5484D"/>
                </a:solidFill>
                <a:latin typeface="Calibri" pitchFamily="34" charset="0"/>
                <a:ea typeface="Calibri" pitchFamily="34" charset="-122"/>
                <a:cs typeface="Calibri" pitchFamily="34" charset="-120"/>
              </a:rPr>
              <a:t>Ghareeb et al., 2025</a:t>
            </a:r>
            <a:endParaRPr lang="en-US" sz="1000" dirty="0"/>
          </a:p>
        </p:txBody>
      </p:sp>
      <p:sp>
        <p:nvSpPr>
          <p:cNvPr id="23" name="Text 18"/>
          <p:cNvSpPr/>
          <p:nvPr/>
        </p:nvSpPr>
        <p:spPr>
          <a:xfrm>
            <a:off x="8339328" y="2724912"/>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An agentic system that generated a hypothesis leading to ripasudil as a candidate for dry-AMD — discovered by the agent.</a:t>
            </a:r>
            <a:endParaRPr lang="en-US" sz="1080" dirty="0"/>
          </a:p>
        </p:txBody>
      </p:sp>
      <p:sp>
        <p:nvSpPr>
          <p:cNvPr id="24" name="Shape 19"/>
          <p:cNvSpPr/>
          <p:nvPr/>
        </p:nvSpPr>
        <p:spPr>
          <a:xfrm>
            <a:off x="56692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Shape 20"/>
          <p:cNvSpPr/>
          <p:nvPr/>
        </p:nvSpPr>
        <p:spPr>
          <a:xfrm>
            <a:off x="822960" y="4078224"/>
            <a:ext cx="731520" cy="731520"/>
          </a:xfrm>
          <a:prstGeom prst="ellipse">
            <a:avLst/>
          </a:prstGeom>
          <a:solidFill>
            <a:srgbClr val="D9820A"/>
          </a:solidFill>
          <a:ln/>
        </p:spPr>
      </p:sp>
      <p:pic>
        <p:nvPicPr>
          <p:cNvPr id="26" name="Image 3" descr="preencoded.png">    </p:cNvPr>
          <p:cNvPicPr>
            <a:picLocks noChangeAspect="1"/>
          </p:cNvPicPr>
          <p:nvPr/>
        </p:nvPicPr>
        <p:blipFill>
          <a:blip r:embed="rId4"/>
          <a:stretch>
            <a:fillRect/>
          </a:stretch>
        </p:blipFill>
        <p:spPr>
          <a:xfrm>
            <a:off x="1005840" y="4261104"/>
            <a:ext cx="365760" cy="365760"/>
          </a:xfrm>
          <a:prstGeom prst="rect">
            <a:avLst/>
          </a:prstGeom>
        </p:spPr>
      </p:pic>
      <p:sp>
        <p:nvSpPr>
          <p:cNvPr id="27" name="Text 21"/>
          <p:cNvSpPr/>
          <p:nvPr/>
        </p:nvSpPr>
        <p:spPr>
          <a:xfrm>
            <a:off x="168249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AI co-scientist</a:t>
            </a:r>
            <a:endParaRPr lang="en-US" sz="1500" dirty="0"/>
          </a:p>
        </p:txBody>
      </p:sp>
      <p:sp>
        <p:nvSpPr>
          <p:cNvPr id="28" name="Text 22"/>
          <p:cNvSpPr/>
          <p:nvPr/>
        </p:nvSpPr>
        <p:spPr>
          <a:xfrm>
            <a:off x="1682496" y="4498848"/>
            <a:ext cx="2313432" cy="274320"/>
          </a:xfrm>
          <a:prstGeom prst="rect">
            <a:avLst/>
          </a:prstGeom>
          <a:noFill/>
          <a:ln/>
        </p:spPr>
        <p:txBody>
          <a:bodyPr wrap="square" lIns="0" tIns="0" rIns="0" bIns="0" rtlCol="0" anchor="ctr"/>
          <a:lstStyle/>
          <a:p>
            <a:pPr indent="0" marL="0">
              <a:buNone/>
            </a:pPr>
            <a:r>
              <a:rPr lang="en-US" sz="1000" b="1" dirty="0">
                <a:solidFill>
                  <a:srgbClr val="D9820A"/>
                </a:solidFill>
                <a:latin typeface="Calibri" pitchFamily="34" charset="0"/>
                <a:ea typeface="Calibri" pitchFamily="34" charset="-122"/>
                <a:cs typeface="Calibri" pitchFamily="34" charset="-120"/>
              </a:rPr>
              <a:t>Gottweis et al., 2025 (Google)</a:t>
            </a:r>
            <a:endParaRPr lang="en-US" sz="1000" dirty="0"/>
          </a:p>
        </p:txBody>
      </p:sp>
      <p:sp>
        <p:nvSpPr>
          <p:cNvPr id="29" name="Text 23"/>
          <p:cNvSpPr/>
          <p:nvPr/>
        </p:nvSpPr>
        <p:spPr>
          <a:xfrm>
            <a:off x="84124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A multi-agent 'co-scientist' that proposes and ranks novel, testable research hypotheses for biomedical problems.</a:t>
            </a:r>
            <a:endParaRPr lang="en-US" sz="1080" dirty="0"/>
          </a:p>
        </p:txBody>
      </p:sp>
      <p:sp>
        <p:nvSpPr>
          <p:cNvPr id="30" name="Shape 24"/>
          <p:cNvSpPr/>
          <p:nvPr/>
        </p:nvSpPr>
        <p:spPr>
          <a:xfrm>
            <a:off x="431596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Shape 25"/>
          <p:cNvSpPr/>
          <p:nvPr/>
        </p:nvSpPr>
        <p:spPr>
          <a:xfrm>
            <a:off x="4572000" y="4078224"/>
            <a:ext cx="731520" cy="731520"/>
          </a:xfrm>
          <a:prstGeom prst="ellipse">
            <a:avLst/>
          </a:prstGeom>
          <a:solidFill>
            <a:srgbClr val="1B9C5A"/>
          </a:solidFill>
          <a:ln/>
        </p:spPr>
      </p:sp>
      <p:pic>
        <p:nvPicPr>
          <p:cNvPr id="32" name="Image 4" descr="preencoded.png">    </p:cNvPr>
          <p:cNvPicPr>
            <a:picLocks noChangeAspect="1"/>
          </p:cNvPicPr>
          <p:nvPr/>
        </p:nvPicPr>
        <p:blipFill>
          <a:blip r:embed="rId5"/>
          <a:stretch>
            <a:fillRect/>
          </a:stretch>
        </p:blipFill>
        <p:spPr>
          <a:xfrm>
            <a:off x="4754880" y="4261104"/>
            <a:ext cx="365760" cy="365760"/>
          </a:xfrm>
          <a:prstGeom prst="rect">
            <a:avLst/>
          </a:prstGeom>
        </p:spPr>
      </p:pic>
      <p:sp>
        <p:nvSpPr>
          <p:cNvPr id="33" name="Text 26"/>
          <p:cNvSpPr/>
          <p:nvPr/>
        </p:nvSpPr>
        <p:spPr>
          <a:xfrm>
            <a:off x="543153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PaperQA / LitQA</a:t>
            </a:r>
            <a:endParaRPr lang="en-US" sz="1500" dirty="0"/>
          </a:p>
        </p:txBody>
      </p:sp>
      <p:sp>
        <p:nvSpPr>
          <p:cNvPr id="34" name="Text 27"/>
          <p:cNvSpPr/>
          <p:nvPr/>
        </p:nvSpPr>
        <p:spPr>
          <a:xfrm>
            <a:off x="5431536" y="4498848"/>
            <a:ext cx="2313432" cy="274320"/>
          </a:xfrm>
          <a:prstGeom prst="rect">
            <a:avLst/>
          </a:prstGeom>
          <a:noFill/>
          <a:ln/>
        </p:spPr>
        <p:txBody>
          <a:bodyPr wrap="square" lIns="0" tIns="0" rIns="0" bIns="0" rtlCol="0" anchor="ctr"/>
          <a:lstStyle/>
          <a:p>
            <a:pPr indent="0" marL="0">
              <a:buNone/>
            </a:pPr>
            <a:r>
              <a:rPr lang="en-US" sz="1000" b="1" dirty="0">
                <a:solidFill>
                  <a:srgbClr val="1B9C5A"/>
                </a:solidFill>
                <a:latin typeface="Calibri" pitchFamily="34" charset="0"/>
                <a:ea typeface="Calibri" pitchFamily="34" charset="-122"/>
                <a:cs typeface="Calibri" pitchFamily="34" charset="-120"/>
              </a:rPr>
              <a:t>Lála et al., 2023</a:t>
            </a:r>
            <a:endParaRPr lang="en-US" sz="1000" dirty="0"/>
          </a:p>
        </p:txBody>
      </p:sp>
      <p:sp>
        <p:nvSpPr>
          <p:cNvPr id="35" name="Text 28"/>
          <p:cNvSpPr/>
          <p:nvPr/>
        </p:nvSpPr>
        <p:spPr>
          <a:xfrm>
            <a:off x="459028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Retrieval-augmented agents for literature QA that exceed humans on grounded scientific question answering.</a:t>
            </a:r>
            <a:endParaRPr lang="en-US" sz="1080" dirty="0"/>
          </a:p>
        </p:txBody>
      </p:sp>
      <p:sp>
        <p:nvSpPr>
          <p:cNvPr id="36" name="Shape 29"/>
          <p:cNvSpPr/>
          <p:nvPr/>
        </p:nvSpPr>
        <p:spPr>
          <a:xfrm>
            <a:off x="8065008" y="3822192"/>
            <a:ext cx="3593592" cy="2011680"/>
          </a:xfrm>
          <a:prstGeom prst="roundRect">
            <a:avLst>
              <a:gd name="adj" fmla="val 454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Shape 30"/>
          <p:cNvSpPr/>
          <p:nvPr/>
        </p:nvSpPr>
        <p:spPr>
          <a:xfrm>
            <a:off x="8321040" y="4078224"/>
            <a:ext cx="731520" cy="731520"/>
          </a:xfrm>
          <a:prstGeom prst="ellipse">
            <a:avLst/>
          </a:prstGeom>
          <a:solidFill>
            <a:srgbClr val="7C6FF0"/>
          </a:solidFill>
          <a:ln/>
        </p:spPr>
      </p:sp>
      <p:pic>
        <p:nvPicPr>
          <p:cNvPr id="38" name="Image 5" descr="preencoded.png">    </p:cNvPr>
          <p:cNvPicPr>
            <a:picLocks noChangeAspect="1"/>
          </p:cNvPicPr>
          <p:nvPr/>
        </p:nvPicPr>
        <p:blipFill>
          <a:blip r:embed="rId6"/>
          <a:stretch>
            <a:fillRect/>
          </a:stretch>
        </p:blipFill>
        <p:spPr>
          <a:xfrm>
            <a:off x="8503920" y="4261104"/>
            <a:ext cx="365760" cy="365760"/>
          </a:xfrm>
          <a:prstGeom prst="rect">
            <a:avLst/>
          </a:prstGeom>
        </p:spPr>
      </p:pic>
      <p:sp>
        <p:nvSpPr>
          <p:cNvPr id="39" name="Text 31"/>
          <p:cNvSpPr/>
          <p:nvPr/>
        </p:nvSpPr>
        <p:spPr>
          <a:xfrm>
            <a:off x="9180576" y="4133088"/>
            <a:ext cx="2313432" cy="365760"/>
          </a:xfrm>
          <a:prstGeom prst="rect">
            <a:avLst/>
          </a:prstGeom>
          <a:noFill/>
          <a:ln/>
        </p:spPr>
        <p:txBody>
          <a:bodyPr wrap="square" lIns="0" tIns="0" rIns="0" bIns="0" rtlCol="0" anchor="ctr"/>
          <a:lstStyle/>
          <a:p>
            <a:pPr indent="0" marL="0">
              <a:buNone/>
            </a:pPr>
            <a:r>
              <a:rPr lang="en-US" sz="1500" b="1" dirty="0">
                <a:solidFill>
                  <a:srgbClr val="1B2440"/>
                </a:solidFill>
                <a:latin typeface="Calibri" pitchFamily="34" charset="0"/>
                <a:ea typeface="Calibri" pitchFamily="34" charset="-122"/>
                <a:cs typeface="Calibri" pitchFamily="34" charset="-120"/>
              </a:rPr>
              <a:t>R&amp;D agents in pharma</a:t>
            </a:r>
            <a:endParaRPr lang="en-US" sz="1500" dirty="0"/>
          </a:p>
        </p:txBody>
      </p:sp>
      <p:sp>
        <p:nvSpPr>
          <p:cNvPr id="40" name="Text 32"/>
          <p:cNvSpPr/>
          <p:nvPr/>
        </p:nvSpPr>
        <p:spPr>
          <a:xfrm>
            <a:off x="9180576" y="4498848"/>
            <a:ext cx="2313432" cy="274320"/>
          </a:xfrm>
          <a:prstGeom prst="rect">
            <a:avLst/>
          </a:prstGeom>
          <a:noFill/>
          <a:ln/>
        </p:spPr>
        <p:txBody>
          <a:bodyPr wrap="square" lIns="0" tIns="0" rIns="0" bIns="0" rtlCol="0" anchor="ctr"/>
          <a:lstStyle/>
          <a:p>
            <a:pPr indent="0" marL="0">
              <a:buNone/>
            </a:pPr>
            <a:r>
              <a:rPr lang="en-US" sz="1000" b="1" dirty="0">
                <a:solidFill>
                  <a:srgbClr val="7C6FF0"/>
                </a:solidFill>
                <a:latin typeface="Calibri" pitchFamily="34" charset="0"/>
                <a:ea typeface="Calibri" pitchFamily="34" charset="-122"/>
                <a:cs typeface="Calibri" pitchFamily="34" charset="-120"/>
              </a:rPr>
              <a:t>Industry reports, 2025</a:t>
            </a:r>
            <a:endParaRPr lang="en-US" sz="1000" dirty="0"/>
          </a:p>
        </p:txBody>
      </p:sp>
      <p:sp>
        <p:nvSpPr>
          <p:cNvPr id="41" name="Text 33"/>
          <p:cNvSpPr/>
          <p:nvPr/>
        </p:nvSpPr>
        <p:spPr>
          <a:xfrm>
            <a:off x="8339328" y="4901184"/>
            <a:ext cx="3063240" cy="868680"/>
          </a:xfrm>
          <a:prstGeom prst="rect">
            <a:avLst/>
          </a:prstGeom>
          <a:noFill/>
          <a:ln/>
        </p:spPr>
        <p:txBody>
          <a:bodyPr wrap="square" lIns="0" tIns="0" rIns="0" bIns="0" rtlCol="0" anchor="ctr"/>
          <a:lstStyle/>
          <a:p>
            <a:pPr indent="0" marL="0">
              <a:lnSpc>
                <a:spcPct val="110000"/>
              </a:lnSpc>
              <a:buNone/>
            </a:pPr>
            <a:r>
              <a:rPr lang="en-US" sz="1080" dirty="0">
                <a:solidFill>
                  <a:srgbClr val="5A6685"/>
                </a:solidFill>
                <a:latin typeface="Calibri" pitchFamily="34" charset="0"/>
                <a:ea typeface="Calibri" pitchFamily="34" charset="-122"/>
                <a:cs typeface="Calibri" pitchFamily="34" charset="-120"/>
              </a:rPr>
              <a:t>Major US R&amp;D orgs piloting LLM agents for literature triage, target ID and experiment design.</a:t>
            </a:r>
            <a:endParaRPr lang="en-US" sz="10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UNDER THE HOOD</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The research stack: how these systems are built</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Common architecture across the Session-2 case studies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566928" y="17373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7" name="Shape 5"/>
          <p:cNvSpPr/>
          <p:nvPr/>
        </p:nvSpPr>
        <p:spPr>
          <a:xfrm>
            <a:off x="768096" y="1856232"/>
            <a:ext cx="512064" cy="512064"/>
          </a:xfrm>
          <a:prstGeom prst="ellipse">
            <a:avLst/>
          </a:prstGeom>
          <a:solidFill>
            <a:srgbClr val="5B4BE0"/>
          </a:solidFill>
          <a:ln/>
        </p:spPr>
      </p:sp>
      <p:pic>
        <p:nvPicPr>
          <p:cNvPr id="8" name="Image 0" descr="preencoded.png">    </p:cNvPr>
          <p:cNvPicPr>
            <a:picLocks noChangeAspect="1"/>
          </p:cNvPicPr>
          <p:nvPr/>
        </p:nvPicPr>
        <p:blipFill>
          <a:blip r:embed="rId1"/>
          <a:stretch>
            <a:fillRect/>
          </a:stretch>
        </p:blipFill>
        <p:spPr>
          <a:xfrm>
            <a:off x="896112" y="1984248"/>
            <a:ext cx="256032" cy="256032"/>
          </a:xfrm>
          <a:prstGeom prst="rect">
            <a:avLst/>
          </a:prstGeom>
        </p:spPr>
      </p:pic>
      <p:sp>
        <p:nvSpPr>
          <p:cNvPr id="9" name="Shape 6"/>
          <p:cNvSpPr/>
          <p:nvPr/>
        </p:nvSpPr>
        <p:spPr>
          <a:xfrm>
            <a:off x="1481328" y="1892808"/>
            <a:ext cx="2468880" cy="438912"/>
          </a:xfrm>
          <a:prstGeom prst="roundRect">
            <a:avLst>
              <a:gd name="adj" fmla="val 14583"/>
            </a:avLst>
          </a:prstGeom>
          <a:solidFill>
            <a:srgbClr val="EEECFB"/>
          </a:solidFill>
          <a:ln/>
        </p:spPr>
      </p:sp>
      <p:sp>
        <p:nvSpPr>
          <p:cNvPr id="10" name="Text 7"/>
          <p:cNvSpPr/>
          <p:nvPr/>
        </p:nvSpPr>
        <p:spPr>
          <a:xfrm>
            <a:off x="1481328" y="1892808"/>
            <a:ext cx="2468880" cy="438912"/>
          </a:xfrm>
          <a:prstGeom prst="rect">
            <a:avLst/>
          </a:prstGeom>
          <a:noFill/>
          <a:ln/>
        </p:spPr>
        <p:txBody>
          <a:bodyPr wrap="square" lIns="0" tIns="0" rIns="0" bIns="0" rtlCol="0" anchor="ctr"/>
          <a:lstStyle/>
          <a:p>
            <a:pPr algn="ctr" indent="0" marL="0">
              <a:buNone/>
            </a:pPr>
            <a:r>
              <a:rPr lang="en-US" sz="1350" b="1" dirty="0">
                <a:solidFill>
                  <a:srgbClr val="5B4BE0"/>
                </a:solidFill>
                <a:latin typeface="Calibri" pitchFamily="34" charset="0"/>
                <a:ea typeface="Calibri" pitchFamily="34" charset="-122"/>
                <a:cs typeface="Calibri" pitchFamily="34" charset="-120"/>
              </a:rPr>
              <a:t>Foundation LLM</a:t>
            </a:r>
            <a:endParaRPr lang="en-US" sz="1350" dirty="0"/>
          </a:p>
        </p:txBody>
      </p:sp>
      <p:sp>
        <p:nvSpPr>
          <p:cNvPr id="11" name="Text 8"/>
          <p:cNvSpPr/>
          <p:nvPr/>
        </p:nvSpPr>
        <p:spPr>
          <a:xfrm>
            <a:off x="4178808" y="17373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A frontier model (GPT-4-class, Claude, etc.) provides reasoning &amp; language</a:t>
            </a:r>
            <a:endParaRPr lang="en-US" sz="1250" dirty="0"/>
          </a:p>
        </p:txBody>
      </p:sp>
      <p:sp>
        <p:nvSpPr>
          <p:cNvPr id="12" name="Shape 9"/>
          <p:cNvSpPr/>
          <p:nvPr/>
        </p:nvSpPr>
        <p:spPr>
          <a:xfrm>
            <a:off x="566928" y="26517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768096" y="2770632"/>
            <a:ext cx="512064" cy="512064"/>
          </a:xfrm>
          <a:prstGeom prst="ellipse">
            <a:avLst/>
          </a:prstGeom>
          <a:solidFill>
            <a:srgbClr val="0E9E96"/>
          </a:solidFill>
          <a:ln/>
        </p:spPr>
      </p:sp>
      <p:pic>
        <p:nvPicPr>
          <p:cNvPr id="14" name="Image 1" descr="preencoded.png">    </p:cNvPr>
          <p:cNvPicPr>
            <a:picLocks noChangeAspect="1"/>
          </p:cNvPicPr>
          <p:nvPr/>
        </p:nvPicPr>
        <p:blipFill>
          <a:blip r:embed="rId2"/>
          <a:stretch>
            <a:fillRect/>
          </a:stretch>
        </p:blipFill>
        <p:spPr>
          <a:xfrm>
            <a:off x="896112" y="2898648"/>
            <a:ext cx="256032" cy="256032"/>
          </a:xfrm>
          <a:prstGeom prst="rect">
            <a:avLst/>
          </a:prstGeom>
        </p:spPr>
      </p:pic>
      <p:sp>
        <p:nvSpPr>
          <p:cNvPr id="15" name="Shape 11"/>
          <p:cNvSpPr/>
          <p:nvPr/>
        </p:nvSpPr>
        <p:spPr>
          <a:xfrm>
            <a:off x="1481328" y="2807208"/>
            <a:ext cx="2468880" cy="438912"/>
          </a:xfrm>
          <a:prstGeom prst="roundRect">
            <a:avLst>
              <a:gd name="adj" fmla="val 14583"/>
            </a:avLst>
          </a:prstGeom>
          <a:solidFill>
            <a:srgbClr val="E2F4F2"/>
          </a:solidFill>
          <a:ln/>
        </p:spPr>
      </p:sp>
      <p:sp>
        <p:nvSpPr>
          <p:cNvPr id="16" name="Text 12"/>
          <p:cNvSpPr/>
          <p:nvPr/>
        </p:nvSpPr>
        <p:spPr>
          <a:xfrm>
            <a:off x="1481328" y="2807208"/>
            <a:ext cx="2468880" cy="438912"/>
          </a:xfrm>
          <a:prstGeom prst="rect">
            <a:avLst/>
          </a:prstGeom>
          <a:noFill/>
          <a:ln/>
        </p:spPr>
        <p:txBody>
          <a:bodyPr wrap="square" lIns="0" tIns="0" rIns="0" bIns="0" rtlCol="0" anchor="ctr"/>
          <a:lstStyle/>
          <a:p>
            <a:pPr algn="ctr" indent="0" marL="0">
              <a:buNone/>
            </a:pPr>
            <a:r>
              <a:rPr lang="en-US" sz="1350" b="1" dirty="0">
                <a:solidFill>
                  <a:srgbClr val="0E9E96"/>
                </a:solidFill>
                <a:latin typeface="Calibri" pitchFamily="34" charset="0"/>
                <a:ea typeface="Calibri" pitchFamily="34" charset="-122"/>
                <a:cs typeface="Calibri" pitchFamily="34" charset="-120"/>
              </a:rPr>
              <a:t>Retrieval (RAG)</a:t>
            </a:r>
            <a:endParaRPr lang="en-US" sz="1350" dirty="0"/>
          </a:p>
        </p:txBody>
      </p:sp>
      <p:sp>
        <p:nvSpPr>
          <p:cNvPr id="17" name="Text 13"/>
          <p:cNvSpPr/>
          <p:nvPr/>
        </p:nvSpPr>
        <p:spPr>
          <a:xfrm>
            <a:off x="4178808" y="26517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Grounds answers in real papers &amp; databases to cut hallucination</a:t>
            </a:r>
            <a:endParaRPr lang="en-US" sz="1250" dirty="0"/>
          </a:p>
        </p:txBody>
      </p:sp>
      <p:sp>
        <p:nvSpPr>
          <p:cNvPr id="18" name="Shape 14"/>
          <p:cNvSpPr/>
          <p:nvPr/>
        </p:nvSpPr>
        <p:spPr>
          <a:xfrm>
            <a:off x="566928" y="35661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9" name="Shape 15"/>
          <p:cNvSpPr/>
          <p:nvPr/>
        </p:nvSpPr>
        <p:spPr>
          <a:xfrm>
            <a:off x="768096" y="3685032"/>
            <a:ext cx="512064" cy="512064"/>
          </a:xfrm>
          <a:prstGeom prst="ellipse">
            <a:avLst/>
          </a:prstGeom>
          <a:solidFill>
            <a:srgbClr val="D9820A"/>
          </a:solidFill>
          <a:ln/>
        </p:spPr>
      </p:sp>
      <p:pic>
        <p:nvPicPr>
          <p:cNvPr id="20" name="Image 2" descr="preencoded.png">    </p:cNvPr>
          <p:cNvPicPr>
            <a:picLocks noChangeAspect="1"/>
          </p:cNvPicPr>
          <p:nvPr/>
        </p:nvPicPr>
        <p:blipFill>
          <a:blip r:embed="rId3"/>
          <a:stretch>
            <a:fillRect/>
          </a:stretch>
        </p:blipFill>
        <p:spPr>
          <a:xfrm>
            <a:off x="896112" y="3813048"/>
            <a:ext cx="256032" cy="256032"/>
          </a:xfrm>
          <a:prstGeom prst="rect">
            <a:avLst/>
          </a:prstGeom>
        </p:spPr>
      </p:pic>
      <p:sp>
        <p:nvSpPr>
          <p:cNvPr id="21" name="Shape 16"/>
          <p:cNvSpPr/>
          <p:nvPr/>
        </p:nvSpPr>
        <p:spPr>
          <a:xfrm>
            <a:off x="1481328" y="3721608"/>
            <a:ext cx="2468880" cy="438912"/>
          </a:xfrm>
          <a:prstGeom prst="roundRect">
            <a:avLst>
              <a:gd name="adj" fmla="val 14583"/>
            </a:avLst>
          </a:prstGeom>
          <a:solidFill>
            <a:srgbClr val="FBEFD8"/>
          </a:solidFill>
          <a:ln/>
        </p:spPr>
      </p:sp>
      <p:sp>
        <p:nvSpPr>
          <p:cNvPr id="22" name="Text 17"/>
          <p:cNvSpPr/>
          <p:nvPr/>
        </p:nvSpPr>
        <p:spPr>
          <a:xfrm>
            <a:off x="1481328" y="3721608"/>
            <a:ext cx="2468880" cy="438912"/>
          </a:xfrm>
          <a:prstGeom prst="rect">
            <a:avLst/>
          </a:prstGeom>
          <a:noFill/>
          <a:ln/>
        </p:spPr>
        <p:txBody>
          <a:bodyPr wrap="square" lIns="0" tIns="0" rIns="0" bIns="0" rtlCol="0" anchor="ctr"/>
          <a:lstStyle/>
          <a:p>
            <a:pPr algn="ctr" indent="0" marL="0">
              <a:buNone/>
            </a:pPr>
            <a:r>
              <a:rPr lang="en-US" sz="1350" b="1" dirty="0">
                <a:solidFill>
                  <a:srgbClr val="D9820A"/>
                </a:solidFill>
                <a:latin typeface="Calibri" pitchFamily="34" charset="0"/>
                <a:ea typeface="Calibri" pitchFamily="34" charset="-122"/>
                <a:cs typeface="Calibri" pitchFamily="34" charset="-120"/>
              </a:rPr>
              <a:t>Tool use</a:t>
            </a:r>
            <a:endParaRPr lang="en-US" sz="1350" dirty="0"/>
          </a:p>
        </p:txBody>
      </p:sp>
      <p:sp>
        <p:nvSpPr>
          <p:cNvPr id="23" name="Text 18"/>
          <p:cNvSpPr/>
          <p:nvPr/>
        </p:nvSpPr>
        <p:spPr>
          <a:xfrm>
            <a:off x="4178808" y="35661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Search, code execution, calculators, domain APIs, even lab robots</a:t>
            </a:r>
            <a:endParaRPr lang="en-US" sz="1250" dirty="0"/>
          </a:p>
        </p:txBody>
      </p:sp>
      <p:sp>
        <p:nvSpPr>
          <p:cNvPr id="24" name="Shape 19"/>
          <p:cNvSpPr/>
          <p:nvPr/>
        </p:nvSpPr>
        <p:spPr>
          <a:xfrm>
            <a:off x="566928" y="44805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Shape 20"/>
          <p:cNvSpPr/>
          <p:nvPr/>
        </p:nvSpPr>
        <p:spPr>
          <a:xfrm>
            <a:off x="768096" y="4599432"/>
            <a:ext cx="512064" cy="512064"/>
          </a:xfrm>
          <a:prstGeom prst="ellipse">
            <a:avLst/>
          </a:prstGeom>
          <a:solidFill>
            <a:srgbClr val="E5484D"/>
          </a:solidFill>
          <a:ln/>
        </p:spPr>
      </p:sp>
      <p:pic>
        <p:nvPicPr>
          <p:cNvPr id="26" name="Image 3" descr="preencoded.png">    </p:cNvPr>
          <p:cNvPicPr>
            <a:picLocks noChangeAspect="1"/>
          </p:cNvPicPr>
          <p:nvPr/>
        </p:nvPicPr>
        <p:blipFill>
          <a:blip r:embed="rId4"/>
          <a:stretch>
            <a:fillRect/>
          </a:stretch>
        </p:blipFill>
        <p:spPr>
          <a:xfrm>
            <a:off x="896112" y="4727448"/>
            <a:ext cx="256032" cy="256032"/>
          </a:xfrm>
          <a:prstGeom prst="rect">
            <a:avLst/>
          </a:prstGeom>
        </p:spPr>
      </p:pic>
      <p:sp>
        <p:nvSpPr>
          <p:cNvPr id="27" name="Shape 21"/>
          <p:cNvSpPr/>
          <p:nvPr/>
        </p:nvSpPr>
        <p:spPr>
          <a:xfrm>
            <a:off x="1481328" y="4636008"/>
            <a:ext cx="2468880" cy="438912"/>
          </a:xfrm>
          <a:prstGeom prst="roundRect">
            <a:avLst>
              <a:gd name="adj" fmla="val 14583"/>
            </a:avLst>
          </a:prstGeom>
          <a:solidFill>
            <a:srgbClr val="FBE7E7"/>
          </a:solidFill>
          <a:ln/>
        </p:spPr>
      </p:sp>
      <p:sp>
        <p:nvSpPr>
          <p:cNvPr id="28" name="Text 22"/>
          <p:cNvSpPr/>
          <p:nvPr/>
        </p:nvSpPr>
        <p:spPr>
          <a:xfrm>
            <a:off x="1481328" y="4636008"/>
            <a:ext cx="2468880" cy="438912"/>
          </a:xfrm>
          <a:prstGeom prst="rect">
            <a:avLst/>
          </a:prstGeom>
          <a:noFill/>
          <a:ln/>
        </p:spPr>
        <p:txBody>
          <a:bodyPr wrap="square" lIns="0" tIns="0" rIns="0" bIns="0" rtlCol="0" anchor="ctr"/>
          <a:lstStyle/>
          <a:p>
            <a:pPr algn="ctr" indent="0" marL="0">
              <a:buNone/>
            </a:pPr>
            <a:r>
              <a:rPr lang="en-US" sz="1350" b="1" dirty="0">
                <a:solidFill>
                  <a:srgbClr val="E5484D"/>
                </a:solidFill>
                <a:latin typeface="Calibri" pitchFamily="34" charset="0"/>
                <a:ea typeface="Calibri" pitchFamily="34" charset="-122"/>
                <a:cs typeface="Calibri" pitchFamily="34" charset="-120"/>
              </a:rPr>
              <a:t>Agent loop</a:t>
            </a:r>
            <a:endParaRPr lang="en-US" sz="1350" dirty="0"/>
          </a:p>
        </p:txBody>
      </p:sp>
      <p:sp>
        <p:nvSpPr>
          <p:cNvPr id="29" name="Text 23"/>
          <p:cNvSpPr/>
          <p:nvPr/>
        </p:nvSpPr>
        <p:spPr>
          <a:xfrm>
            <a:off x="4178808" y="44805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Plan → act → observe → reflect, often with multiple cooperating agents</a:t>
            </a:r>
            <a:endParaRPr lang="en-US" sz="1250" dirty="0"/>
          </a:p>
        </p:txBody>
      </p:sp>
      <p:sp>
        <p:nvSpPr>
          <p:cNvPr id="30" name="Shape 24"/>
          <p:cNvSpPr/>
          <p:nvPr/>
        </p:nvSpPr>
        <p:spPr>
          <a:xfrm>
            <a:off x="566928" y="5394960"/>
            <a:ext cx="11045952"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1" name="Shape 25"/>
          <p:cNvSpPr/>
          <p:nvPr/>
        </p:nvSpPr>
        <p:spPr>
          <a:xfrm>
            <a:off x="768096" y="5513832"/>
            <a:ext cx="512064" cy="512064"/>
          </a:xfrm>
          <a:prstGeom prst="ellipse">
            <a:avLst/>
          </a:prstGeom>
          <a:solidFill>
            <a:srgbClr val="1B9C5A"/>
          </a:solidFill>
          <a:ln/>
        </p:spPr>
      </p:sp>
      <p:pic>
        <p:nvPicPr>
          <p:cNvPr id="32" name="Image 4" descr="preencoded.png">    </p:cNvPr>
          <p:cNvPicPr>
            <a:picLocks noChangeAspect="1"/>
          </p:cNvPicPr>
          <p:nvPr/>
        </p:nvPicPr>
        <p:blipFill>
          <a:blip r:embed="rId5"/>
          <a:stretch>
            <a:fillRect/>
          </a:stretch>
        </p:blipFill>
        <p:spPr>
          <a:xfrm>
            <a:off x="896112" y="5641848"/>
            <a:ext cx="256032" cy="256032"/>
          </a:xfrm>
          <a:prstGeom prst="rect">
            <a:avLst/>
          </a:prstGeom>
        </p:spPr>
      </p:pic>
      <p:sp>
        <p:nvSpPr>
          <p:cNvPr id="33" name="Shape 26"/>
          <p:cNvSpPr/>
          <p:nvPr/>
        </p:nvSpPr>
        <p:spPr>
          <a:xfrm>
            <a:off x="1481328" y="5550408"/>
            <a:ext cx="2468880" cy="438912"/>
          </a:xfrm>
          <a:prstGeom prst="roundRect">
            <a:avLst>
              <a:gd name="adj" fmla="val 14583"/>
            </a:avLst>
          </a:prstGeom>
          <a:solidFill>
            <a:srgbClr val="E3F4EA"/>
          </a:solidFill>
          <a:ln/>
        </p:spPr>
      </p:sp>
      <p:sp>
        <p:nvSpPr>
          <p:cNvPr id="34" name="Text 27"/>
          <p:cNvSpPr/>
          <p:nvPr/>
        </p:nvSpPr>
        <p:spPr>
          <a:xfrm>
            <a:off x="1481328" y="5550408"/>
            <a:ext cx="2468880" cy="438912"/>
          </a:xfrm>
          <a:prstGeom prst="rect">
            <a:avLst/>
          </a:prstGeom>
          <a:noFill/>
          <a:ln/>
        </p:spPr>
        <p:txBody>
          <a:bodyPr wrap="square" lIns="0" tIns="0" rIns="0" bIns="0" rtlCol="0" anchor="ctr"/>
          <a:lstStyle/>
          <a:p>
            <a:pPr algn="ctr" indent="0" marL="0">
              <a:buNone/>
            </a:pPr>
            <a:r>
              <a:rPr lang="en-US" sz="1350" b="1" dirty="0">
                <a:solidFill>
                  <a:srgbClr val="1B9C5A"/>
                </a:solidFill>
                <a:latin typeface="Calibri" pitchFamily="34" charset="0"/>
                <a:ea typeface="Calibri" pitchFamily="34" charset="-122"/>
                <a:cs typeface="Calibri" pitchFamily="34" charset="-120"/>
              </a:rPr>
              <a:t>Human-in-the-loop</a:t>
            </a:r>
            <a:endParaRPr lang="en-US" sz="1350" dirty="0"/>
          </a:p>
        </p:txBody>
      </p:sp>
      <p:sp>
        <p:nvSpPr>
          <p:cNvPr id="35" name="Text 28"/>
          <p:cNvSpPr/>
          <p:nvPr/>
        </p:nvSpPr>
        <p:spPr>
          <a:xfrm>
            <a:off x="4178808" y="5394960"/>
            <a:ext cx="7205472" cy="749808"/>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Scientists verify hypotheses &amp; results before anything is trusted</a:t>
            </a:r>
            <a:endParaRPr lang="en-US" sz="1250" dirty="0"/>
          </a:p>
        </p:txBody>
      </p:sp>
      <p:sp>
        <p:nvSpPr>
          <p:cNvPr id="36" name="Text 29"/>
          <p:cNvSpPr/>
          <p:nvPr/>
        </p:nvSpPr>
        <p:spPr>
          <a:xfrm>
            <a:off x="566928" y="6080760"/>
            <a:ext cx="11064240" cy="365760"/>
          </a:xfrm>
          <a:prstGeom prst="rect">
            <a:avLst/>
          </a:prstGeom>
          <a:noFill/>
          <a:ln/>
        </p:spPr>
        <p:txBody>
          <a:bodyPr wrap="square" lIns="0" tIns="0" rIns="0" bIns="0" rtlCol="0" anchor="ctr"/>
          <a:lstStyle/>
          <a:p>
            <a:pPr indent="0" marL="0">
              <a:buNone/>
            </a:pPr>
            <a:r>
              <a:rPr lang="en-US" sz="1250" b="1" dirty="0">
                <a:solidFill>
                  <a:srgbClr val="5B4BE0"/>
                </a:solidFill>
                <a:latin typeface="Calibri" pitchFamily="34" charset="0"/>
                <a:ea typeface="Calibri" pitchFamily="34" charset="-122"/>
                <a:cs typeface="Calibri" pitchFamily="34" charset="-120"/>
              </a:rPr>
              <a:t>In short:  </a:t>
            </a:r>
            <a:pPr indent="0" marL="0">
              <a:buNone/>
            </a:pPr>
            <a:r>
              <a:rPr lang="en-US" sz="1250" dirty="0">
                <a:solidFill>
                  <a:srgbClr val="5A6685"/>
                </a:solidFill>
                <a:latin typeface="Calibri" pitchFamily="34" charset="0"/>
                <a:ea typeface="Calibri" pitchFamily="34" charset="-122"/>
                <a:cs typeface="Calibri" pitchFamily="34" charset="-120"/>
              </a:rPr>
              <a:t>foundation model + retrieval + tools + an agent loop + human oversight = a research assistant that actually does science.</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FEATURED RESEARCH · THE PRESENTER’S WORK</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XMRetriever — smarter retrieval beats larger prompts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Navneet Singh, 'XMRetriever' (Nov 2025) · navneet.page/research · text-embedding-3-small · ViT-B/16 · FAISS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44</a:t>
            </a:r>
            <a:endParaRPr lang="en-US" sz="900" dirty="0"/>
          </a:p>
        </p:txBody>
      </p:sp>
      <p:sp>
        <p:nvSpPr>
          <p:cNvPr id="6" name="Text 4"/>
          <p:cNvSpPr/>
          <p:nvPr/>
        </p:nvSpPr>
        <p:spPr>
          <a:xfrm>
            <a:off x="566928" y="1417320"/>
            <a:ext cx="11064240" cy="365760"/>
          </a:xfrm>
          <a:prstGeom prst="rect">
            <a:avLst/>
          </a:prstGeom>
          <a:noFill/>
          <a:ln/>
        </p:spPr>
        <p:txBody>
          <a:bodyPr wrap="square" lIns="0" tIns="0" rIns="0" bIns="0" rtlCol="0" anchor="ctr"/>
          <a:lstStyle/>
          <a:p>
            <a:pPr indent="0" marL="0">
              <a:lnSpc>
                <a:spcPct val="108000"/>
              </a:lnSpc>
              <a:buNone/>
            </a:pPr>
            <a:r>
              <a:rPr lang="en-US" sz="1250" dirty="0">
                <a:solidFill>
                  <a:srgbClr val="5A6685"/>
                </a:solidFill>
                <a:latin typeface="Calibri" pitchFamily="34" charset="0"/>
                <a:ea typeface="Calibri" pitchFamily="34" charset="-122"/>
                <a:cs typeface="Calibri" pitchFamily="34" charset="-120"/>
              </a:rPr>
              <a:t>Extracting data from complex tables (benefit summaries, formularies) with fixed few-shot prompts balloons to ~80k tokens/page — slow, costly and hallucination-prone.</a:t>
            </a:r>
            <a:endParaRPr lang="en-US" sz="1250" dirty="0"/>
          </a:p>
        </p:txBody>
      </p:sp>
      <p:sp>
        <p:nvSpPr>
          <p:cNvPr id="7" name="Shape 5"/>
          <p:cNvSpPr/>
          <p:nvPr/>
        </p:nvSpPr>
        <p:spPr>
          <a:xfrm>
            <a:off x="566928" y="1847088"/>
            <a:ext cx="7178040" cy="457200"/>
          </a:xfrm>
          <a:prstGeom prst="roundRect">
            <a:avLst>
              <a:gd name="adj" fmla="val 20000"/>
            </a:avLst>
          </a:prstGeom>
          <a:solidFill>
            <a:srgbClr val="FBEFD8"/>
          </a:solidFill>
          <a:ln/>
        </p:spPr>
      </p:sp>
      <p:sp>
        <p:nvSpPr>
          <p:cNvPr id="8" name="Shape 6"/>
          <p:cNvSpPr/>
          <p:nvPr/>
        </p:nvSpPr>
        <p:spPr>
          <a:xfrm>
            <a:off x="676656" y="1920240"/>
            <a:ext cx="310896" cy="310896"/>
          </a:xfrm>
          <a:prstGeom prst="ellipse">
            <a:avLst/>
          </a:prstGeom>
          <a:solidFill>
            <a:srgbClr val="D9820A"/>
          </a:solidFill>
          <a:ln/>
        </p:spPr>
      </p:sp>
      <p:pic>
        <p:nvPicPr>
          <p:cNvPr id="9" name="Image 0" descr="preencoded.png">    </p:cNvPr>
          <p:cNvPicPr>
            <a:picLocks noChangeAspect="1"/>
          </p:cNvPicPr>
          <p:nvPr/>
        </p:nvPicPr>
        <p:blipFill>
          <a:blip r:embed="rId1"/>
          <a:stretch>
            <a:fillRect/>
          </a:stretch>
        </p:blipFill>
        <p:spPr>
          <a:xfrm>
            <a:off x="754380" y="1997964"/>
            <a:ext cx="155448" cy="155448"/>
          </a:xfrm>
          <a:prstGeom prst="rect">
            <a:avLst/>
          </a:prstGeom>
        </p:spPr>
      </p:pic>
      <p:sp>
        <p:nvSpPr>
          <p:cNvPr id="10" name="Text 7"/>
          <p:cNvSpPr/>
          <p:nvPr/>
        </p:nvSpPr>
        <p:spPr>
          <a:xfrm>
            <a:off x="1115568" y="1847088"/>
            <a:ext cx="6583680" cy="457200"/>
          </a:xfrm>
          <a:prstGeom prst="rect">
            <a:avLst/>
          </a:prstGeom>
          <a:noFill/>
          <a:ln/>
        </p:spPr>
        <p:txBody>
          <a:bodyPr wrap="square" lIns="0" tIns="0" rIns="0" bIns="0" rtlCol="0" anchor="ctr"/>
          <a:lstStyle/>
          <a:p>
            <a:pPr indent="0" marL="0">
              <a:buNone/>
            </a:pPr>
            <a:r>
              <a:rPr lang="en-US" sz="1200" b="1" dirty="0">
                <a:solidFill>
                  <a:srgbClr val="D9820A"/>
                </a:solidFill>
                <a:latin typeface="Calibri" pitchFamily="34" charset="0"/>
                <a:ea typeface="Calibri" pitchFamily="34" charset="-122"/>
                <a:cs typeface="Calibri" pitchFamily="34" charset="-120"/>
              </a:rPr>
              <a:t>The idea:  </a:t>
            </a:r>
            <a:pPr indent="0" marL="0">
              <a:buNone/>
            </a:pPr>
            <a:r>
              <a:rPr lang="en-US" sz="1200" dirty="0">
                <a:solidFill>
                  <a:srgbClr val="1B2440"/>
                </a:solidFill>
                <a:latin typeface="Calibri" pitchFamily="34" charset="0"/>
                <a:ea typeface="Calibri" pitchFamily="34" charset="-122"/>
                <a:cs typeface="Calibri" pitchFamily="34" charset="-120"/>
              </a:rPr>
              <a:t>don’t add more examples — retrieve the </a:t>
            </a:r>
            <a:pPr indent="0" marL="0">
              <a:buNone/>
            </a:pPr>
            <a:r>
              <a:rPr lang="en-US" sz="1200" b="1" i="1" dirty="0">
                <a:solidFill>
                  <a:srgbClr val="1B2440"/>
                </a:solidFill>
                <a:latin typeface="Calibri" pitchFamily="34" charset="0"/>
                <a:ea typeface="Calibri" pitchFamily="34" charset="-122"/>
                <a:cs typeface="Calibri" pitchFamily="34" charset="-120"/>
              </a:rPr>
              <a:t>right</a:t>
            </a:r>
            <a:pPr indent="0" marL="0">
              <a:buNone/>
            </a:pPr>
            <a:r>
              <a:rPr lang="en-US" sz="1200" dirty="0">
                <a:solidFill>
                  <a:srgbClr val="1B2440"/>
                </a:solidFill>
                <a:latin typeface="Calibri" pitchFamily="34" charset="0"/>
                <a:ea typeface="Calibri" pitchFamily="34" charset="-122"/>
                <a:cs typeface="Calibri" pitchFamily="34" charset="-120"/>
              </a:rPr>
              <a:t> few-shot examples for each page.</a:t>
            </a:r>
            <a:endParaRPr lang="en-US" sz="1200" dirty="0"/>
          </a:p>
        </p:txBody>
      </p:sp>
      <p:sp>
        <p:nvSpPr>
          <p:cNvPr id="11" name="Shape 8"/>
          <p:cNvSpPr/>
          <p:nvPr/>
        </p:nvSpPr>
        <p:spPr>
          <a:xfrm>
            <a:off x="566928" y="2450592"/>
            <a:ext cx="7178040" cy="914400"/>
          </a:xfrm>
          <a:prstGeom prst="roundRect">
            <a:avLst>
              <a:gd name="adj" fmla="val 10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2" name="Text 9"/>
          <p:cNvSpPr/>
          <p:nvPr/>
        </p:nvSpPr>
        <p:spPr>
          <a:xfrm>
            <a:off x="731520" y="2542032"/>
            <a:ext cx="1371600" cy="219456"/>
          </a:xfrm>
          <a:prstGeom prst="rect">
            <a:avLst/>
          </a:prstGeom>
          <a:noFill/>
          <a:ln/>
        </p:spPr>
        <p:txBody>
          <a:bodyPr wrap="square" lIns="0" tIns="0" rIns="0" bIns="0" rtlCol="0" anchor="ctr"/>
          <a:lstStyle/>
          <a:p>
            <a:pPr indent="0" marL="0">
              <a:buNone/>
            </a:pPr>
            <a:r>
              <a:rPr lang="en-US" sz="850" b="1" spc="100" kern="0" dirty="0">
                <a:solidFill>
                  <a:srgbClr val="8A93AB"/>
                </a:solidFill>
                <a:latin typeface="Calibri" pitchFamily="34" charset="0"/>
                <a:ea typeface="Calibri" pitchFamily="34" charset="-122"/>
                <a:cs typeface="Calibri" pitchFamily="34" charset="-120"/>
              </a:rPr>
              <a:t>① ENCODE · frozen</a:t>
            </a:r>
            <a:endParaRPr lang="en-US" sz="850" dirty="0"/>
          </a:p>
        </p:txBody>
      </p:sp>
      <p:sp>
        <p:nvSpPr>
          <p:cNvPr id="13" name="Shape 10"/>
          <p:cNvSpPr/>
          <p:nvPr/>
        </p:nvSpPr>
        <p:spPr>
          <a:xfrm>
            <a:off x="2121408" y="2615184"/>
            <a:ext cx="2606040" cy="566928"/>
          </a:xfrm>
          <a:prstGeom prst="roundRect">
            <a:avLst>
              <a:gd name="adj" fmla="val 9677"/>
            </a:avLst>
          </a:prstGeom>
          <a:solidFill>
            <a:srgbClr val="E2F4F2"/>
          </a:solidFill>
          <a:ln w="12700">
            <a:solidFill>
              <a:srgbClr val="0E9E96"/>
            </a:solidFill>
            <a:prstDash val="solid"/>
          </a:ln>
        </p:spPr>
      </p:sp>
      <p:sp>
        <p:nvSpPr>
          <p:cNvPr id="14" name="Text 11"/>
          <p:cNvSpPr/>
          <p:nvPr/>
        </p:nvSpPr>
        <p:spPr>
          <a:xfrm>
            <a:off x="2167128" y="2615184"/>
            <a:ext cx="2514600" cy="566928"/>
          </a:xfrm>
          <a:prstGeom prst="rect">
            <a:avLst/>
          </a:prstGeom>
          <a:noFill/>
          <a:ln/>
        </p:spPr>
        <p:txBody>
          <a:bodyPr wrap="square" lIns="0" tIns="0" rIns="0" bIns="0" rtlCol="0" anchor="ctr"/>
          <a:lstStyle/>
          <a:p>
            <a:pPr algn="ctr" indent="0" marL="0">
              <a:lnSpc>
                <a:spcPct val="96000"/>
              </a:lnSpc>
              <a:buNone/>
            </a:pPr>
            <a:r>
              <a:rPr lang="en-US" sz="950" b="1" dirty="0">
                <a:solidFill>
                  <a:srgbClr val="1B2440"/>
                </a:solidFill>
                <a:latin typeface="Calibri" pitchFamily="34" charset="0"/>
                <a:ea typeface="Calibri" pitchFamily="34" charset="-122"/>
                <a:cs typeface="Calibri" pitchFamily="34" charset="-120"/>
              </a:rPr>
              <a:t>Page text (OCR)  →  OpenAI embed  (1536-d)</a:t>
            </a:r>
            <a:endParaRPr lang="en-US" sz="950" dirty="0"/>
          </a:p>
        </p:txBody>
      </p:sp>
      <p:sp>
        <p:nvSpPr>
          <p:cNvPr id="15" name="Shape 12"/>
          <p:cNvSpPr/>
          <p:nvPr/>
        </p:nvSpPr>
        <p:spPr>
          <a:xfrm>
            <a:off x="4910328" y="2615184"/>
            <a:ext cx="2606040" cy="566928"/>
          </a:xfrm>
          <a:prstGeom prst="roundRect">
            <a:avLst>
              <a:gd name="adj" fmla="val 9677"/>
            </a:avLst>
          </a:prstGeom>
          <a:solidFill>
            <a:srgbClr val="E3F4EA"/>
          </a:solidFill>
          <a:ln w="12700">
            <a:solidFill>
              <a:srgbClr val="1B9C5A"/>
            </a:solidFill>
            <a:prstDash val="solid"/>
          </a:ln>
        </p:spPr>
      </p:sp>
      <p:sp>
        <p:nvSpPr>
          <p:cNvPr id="16" name="Text 13"/>
          <p:cNvSpPr/>
          <p:nvPr/>
        </p:nvSpPr>
        <p:spPr>
          <a:xfrm>
            <a:off x="4956048" y="2615184"/>
            <a:ext cx="2514600" cy="566928"/>
          </a:xfrm>
          <a:prstGeom prst="rect">
            <a:avLst/>
          </a:prstGeom>
          <a:noFill/>
          <a:ln/>
        </p:spPr>
        <p:txBody>
          <a:bodyPr wrap="square" lIns="0" tIns="0" rIns="0" bIns="0" rtlCol="0" anchor="ctr"/>
          <a:lstStyle/>
          <a:p>
            <a:pPr algn="ctr" indent="0" marL="0">
              <a:lnSpc>
                <a:spcPct val="96000"/>
              </a:lnSpc>
              <a:buNone/>
            </a:pPr>
            <a:r>
              <a:rPr lang="en-US" sz="950" b="1" dirty="0">
                <a:solidFill>
                  <a:srgbClr val="1B2440"/>
                </a:solidFill>
                <a:latin typeface="Calibri" pitchFamily="34" charset="0"/>
                <a:ea typeface="Calibri" pitchFamily="34" charset="-122"/>
                <a:cs typeface="Calibri" pitchFamily="34" charset="-120"/>
              </a:rPr>
              <a:t>Page image  →  ViT-B/16  (768-d)</a:t>
            </a:r>
            <a:endParaRPr lang="en-US" sz="950" dirty="0"/>
          </a:p>
        </p:txBody>
      </p:sp>
      <p:sp>
        <p:nvSpPr>
          <p:cNvPr id="17" name="Shape 14"/>
          <p:cNvSpPr/>
          <p:nvPr/>
        </p:nvSpPr>
        <p:spPr>
          <a:xfrm>
            <a:off x="566928" y="3493008"/>
            <a:ext cx="7178040" cy="914400"/>
          </a:xfrm>
          <a:prstGeom prst="roundRect">
            <a:avLst>
              <a:gd name="adj" fmla="val 10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Text 15"/>
          <p:cNvSpPr/>
          <p:nvPr/>
        </p:nvSpPr>
        <p:spPr>
          <a:xfrm>
            <a:off x="731520" y="3584448"/>
            <a:ext cx="1371600" cy="219456"/>
          </a:xfrm>
          <a:prstGeom prst="rect">
            <a:avLst/>
          </a:prstGeom>
          <a:noFill/>
          <a:ln/>
        </p:spPr>
        <p:txBody>
          <a:bodyPr wrap="square" lIns="0" tIns="0" rIns="0" bIns="0" rtlCol="0" anchor="ctr"/>
          <a:lstStyle/>
          <a:p>
            <a:pPr indent="0" marL="0">
              <a:buNone/>
            </a:pPr>
            <a:r>
              <a:rPr lang="en-US" sz="850" b="1" spc="100" kern="0" dirty="0">
                <a:solidFill>
                  <a:srgbClr val="5B4BE0"/>
                </a:solidFill>
                <a:latin typeface="Calibri" pitchFamily="34" charset="0"/>
                <a:ea typeface="Calibri" pitchFamily="34" charset="-122"/>
                <a:cs typeface="Calibri" pitchFamily="34" charset="-120"/>
              </a:rPr>
              <a:t>② PROJECT · trained</a:t>
            </a:r>
            <a:endParaRPr lang="en-US" sz="850" dirty="0"/>
          </a:p>
        </p:txBody>
      </p:sp>
      <p:sp>
        <p:nvSpPr>
          <p:cNvPr id="19" name="Shape 16"/>
          <p:cNvSpPr/>
          <p:nvPr/>
        </p:nvSpPr>
        <p:spPr>
          <a:xfrm>
            <a:off x="2121408" y="3657600"/>
            <a:ext cx="1691640" cy="566928"/>
          </a:xfrm>
          <a:prstGeom prst="roundRect">
            <a:avLst>
              <a:gd name="adj" fmla="val 9677"/>
            </a:avLst>
          </a:prstGeom>
          <a:solidFill>
            <a:srgbClr val="EEECFB"/>
          </a:solidFill>
          <a:ln w="12700">
            <a:solidFill>
              <a:srgbClr val="5B4BE0"/>
            </a:solidFill>
            <a:prstDash val="solid"/>
          </a:ln>
        </p:spPr>
      </p:sp>
      <p:sp>
        <p:nvSpPr>
          <p:cNvPr id="20" name="Text 17"/>
          <p:cNvSpPr/>
          <p:nvPr/>
        </p:nvSpPr>
        <p:spPr>
          <a:xfrm>
            <a:off x="2167128" y="3657600"/>
            <a:ext cx="1600200" cy="566928"/>
          </a:xfrm>
          <a:prstGeom prst="rect">
            <a:avLst/>
          </a:prstGeom>
          <a:noFill/>
          <a:ln/>
        </p:spPr>
        <p:txBody>
          <a:bodyPr wrap="square" lIns="0" tIns="0" rIns="0" bIns="0" rtlCol="0" anchor="ctr"/>
          <a:lstStyle/>
          <a:p>
            <a:pPr algn="ctr" indent="0" marL="0">
              <a:lnSpc>
                <a:spcPct val="96000"/>
              </a:lnSpc>
              <a:buNone/>
            </a:pPr>
            <a:r>
              <a:rPr lang="en-US" sz="950" b="1" dirty="0">
                <a:solidFill>
                  <a:srgbClr val="1B2440"/>
                </a:solidFill>
                <a:latin typeface="Calibri" pitchFamily="34" charset="0"/>
                <a:ea typeface="Calibri" pitchFamily="34" charset="-122"/>
                <a:cs typeface="Calibri" pitchFamily="34" charset="-120"/>
              </a:rPr>
              <a:t>Text head</a:t>
            </a:r>
            <a:endParaRPr lang="en-US" sz="950" dirty="0"/>
          </a:p>
          <a:p>
            <a:pPr algn="ctr" indent="0" marL="0">
              <a:lnSpc>
                <a:spcPct val="96000"/>
              </a:lnSpc>
              <a:buNone/>
            </a:pPr>
            <a:r>
              <a:rPr lang="en-US" sz="950" b="1" dirty="0">
                <a:solidFill>
                  <a:srgbClr val="1B2440"/>
                </a:solidFill>
                <a:latin typeface="Calibri" pitchFamily="34" charset="0"/>
                <a:ea typeface="Calibri" pitchFamily="34" charset="-122"/>
                <a:cs typeface="Calibri" pitchFamily="34" charset="-120"/>
              </a:rPr>
              <a:t>→ 512-d</a:t>
            </a:r>
            <a:endParaRPr lang="en-US" sz="950" dirty="0"/>
          </a:p>
        </p:txBody>
      </p:sp>
      <p:sp>
        <p:nvSpPr>
          <p:cNvPr id="21" name="Shape 18"/>
          <p:cNvSpPr/>
          <p:nvPr/>
        </p:nvSpPr>
        <p:spPr>
          <a:xfrm>
            <a:off x="3877056" y="3657600"/>
            <a:ext cx="1691640" cy="566928"/>
          </a:xfrm>
          <a:prstGeom prst="roundRect">
            <a:avLst>
              <a:gd name="adj" fmla="val 9677"/>
            </a:avLst>
          </a:prstGeom>
          <a:solidFill>
            <a:srgbClr val="EEECFB"/>
          </a:solidFill>
          <a:ln w="12700">
            <a:solidFill>
              <a:srgbClr val="5B4BE0"/>
            </a:solidFill>
            <a:prstDash val="solid"/>
          </a:ln>
        </p:spPr>
      </p:sp>
      <p:sp>
        <p:nvSpPr>
          <p:cNvPr id="22" name="Text 19"/>
          <p:cNvSpPr/>
          <p:nvPr/>
        </p:nvSpPr>
        <p:spPr>
          <a:xfrm>
            <a:off x="3922776" y="3657600"/>
            <a:ext cx="1600200" cy="566928"/>
          </a:xfrm>
          <a:prstGeom prst="rect">
            <a:avLst/>
          </a:prstGeom>
          <a:noFill/>
          <a:ln/>
        </p:spPr>
        <p:txBody>
          <a:bodyPr wrap="square" lIns="0" tIns="0" rIns="0" bIns="0" rtlCol="0" anchor="ctr"/>
          <a:lstStyle/>
          <a:p>
            <a:pPr algn="ctr" indent="0" marL="0">
              <a:lnSpc>
                <a:spcPct val="96000"/>
              </a:lnSpc>
              <a:buNone/>
            </a:pPr>
            <a:r>
              <a:rPr lang="en-US" sz="950" b="1" dirty="0">
                <a:solidFill>
                  <a:srgbClr val="1B2440"/>
                </a:solidFill>
                <a:latin typeface="Calibri" pitchFamily="34" charset="0"/>
                <a:ea typeface="Calibri" pitchFamily="34" charset="-122"/>
                <a:cs typeface="Calibri" pitchFamily="34" charset="-120"/>
              </a:rPr>
              <a:t>Vision head</a:t>
            </a:r>
            <a:endParaRPr lang="en-US" sz="950" dirty="0"/>
          </a:p>
          <a:p>
            <a:pPr algn="ctr" indent="0" marL="0">
              <a:lnSpc>
                <a:spcPct val="96000"/>
              </a:lnSpc>
              <a:buNone/>
            </a:pPr>
            <a:r>
              <a:rPr lang="en-US" sz="950" b="1" dirty="0">
                <a:solidFill>
                  <a:srgbClr val="1B2440"/>
                </a:solidFill>
                <a:latin typeface="Calibri" pitchFamily="34" charset="0"/>
                <a:ea typeface="Calibri" pitchFamily="34" charset="-122"/>
                <a:cs typeface="Calibri" pitchFamily="34" charset="-120"/>
              </a:rPr>
              <a:t>→ 512-d</a:t>
            </a:r>
            <a:endParaRPr lang="en-US" sz="950" dirty="0"/>
          </a:p>
        </p:txBody>
      </p:sp>
      <p:sp>
        <p:nvSpPr>
          <p:cNvPr id="23" name="Shape 20"/>
          <p:cNvSpPr/>
          <p:nvPr/>
        </p:nvSpPr>
        <p:spPr>
          <a:xfrm>
            <a:off x="5632704" y="3657600"/>
            <a:ext cx="1874520" cy="566928"/>
          </a:xfrm>
          <a:prstGeom prst="roundRect">
            <a:avLst>
              <a:gd name="adj" fmla="val 9677"/>
            </a:avLst>
          </a:prstGeom>
          <a:solidFill>
            <a:srgbClr val="16213E"/>
          </a:solidFill>
          <a:ln/>
        </p:spPr>
      </p:sp>
      <p:sp>
        <p:nvSpPr>
          <p:cNvPr id="24" name="Text 21"/>
          <p:cNvSpPr/>
          <p:nvPr/>
        </p:nvSpPr>
        <p:spPr>
          <a:xfrm>
            <a:off x="5678424" y="3657600"/>
            <a:ext cx="1783080" cy="566928"/>
          </a:xfrm>
          <a:prstGeom prst="rect">
            <a:avLst/>
          </a:prstGeom>
          <a:noFill/>
          <a:ln/>
        </p:spPr>
        <p:txBody>
          <a:bodyPr wrap="square" lIns="0" tIns="0" rIns="0" bIns="0" rtlCol="0" anchor="ctr"/>
          <a:lstStyle/>
          <a:p>
            <a:pPr algn="ctr" indent="0" marL="0">
              <a:lnSpc>
                <a:spcPct val="96000"/>
              </a:lnSpc>
              <a:buNone/>
            </a:pPr>
            <a:r>
              <a:rPr lang="en-US" sz="1000" b="1" dirty="0">
                <a:solidFill>
                  <a:srgbClr val="FFFFFF"/>
                </a:solidFill>
                <a:latin typeface="Calibri" pitchFamily="34" charset="0"/>
                <a:ea typeface="Calibri" pitchFamily="34" charset="-122"/>
                <a:cs typeface="Calibri" pitchFamily="34" charset="-120"/>
              </a:rPr>
              <a:t>Concat → 1024-d</a:t>
            </a:r>
            <a:endParaRPr lang="en-US" sz="1000" dirty="0"/>
          </a:p>
        </p:txBody>
      </p:sp>
      <p:sp>
        <p:nvSpPr>
          <p:cNvPr id="25" name="Shape 22"/>
          <p:cNvSpPr/>
          <p:nvPr/>
        </p:nvSpPr>
        <p:spPr>
          <a:xfrm>
            <a:off x="566928" y="4535424"/>
            <a:ext cx="7178040" cy="713232"/>
          </a:xfrm>
          <a:prstGeom prst="roundRect">
            <a:avLst>
              <a:gd name="adj" fmla="val 12821"/>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Text 23"/>
          <p:cNvSpPr/>
          <p:nvPr/>
        </p:nvSpPr>
        <p:spPr>
          <a:xfrm>
            <a:off x="731520" y="4626864"/>
            <a:ext cx="1371600" cy="219456"/>
          </a:xfrm>
          <a:prstGeom prst="rect">
            <a:avLst/>
          </a:prstGeom>
          <a:noFill/>
          <a:ln/>
        </p:spPr>
        <p:txBody>
          <a:bodyPr wrap="square" lIns="0" tIns="0" rIns="0" bIns="0" rtlCol="0" anchor="ctr"/>
          <a:lstStyle/>
          <a:p>
            <a:pPr indent="0" marL="0">
              <a:buNone/>
            </a:pPr>
            <a:r>
              <a:rPr lang="en-US" sz="850" b="1" spc="100" kern="0" dirty="0">
                <a:solidFill>
                  <a:srgbClr val="D9820A"/>
                </a:solidFill>
                <a:latin typeface="Calibri" pitchFamily="34" charset="0"/>
                <a:ea typeface="Calibri" pitchFamily="34" charset="-122"/>
                <a:cs typeface="Calibri" pitchFamily="34" charset="-120"/>
              </a:rPr>
              <a:t>③ RETRIEVE</a:t>
            </a:r>
            <a:endParaRPr lang="en-US" sz="850" dirty="0"/>
          </a:p>
        </p:txBody>
      </p:sp>
      <p:sp>
        <p:nvSpPr>
          <p:cNvPr id="27" name="Shape 24"/>
          <p:cNvSpPr/>
          <p:nvPr/>
        </p:nvSpPr>
        <p:spPr>
          <a:xfrm>
            <a:off x="2121408" y="4608576"/>
            <a:ext cx="5394960" cy="566928"/>
          </a:xfrm>
          <a:prstGeom prst="roundRect">
            <a:avLst>
              <a:gd name="adj" fmla="val 9677"/>
            </a:avLst>
          </a:prstGeom>
          <a:solidFill>
            <a:srgbClr val="FBEFD8"/>
          </a:solidFill>
          <a:ln w="12700">
            <a:solidFill>
              <a:srgbClr val="D9820A"/>
            </a:solidFill>
            <a:prstDash val="solid"/>
          </a:ln>
        </p:spPr>
      </p:sp>
      <p:sp>
        <p:nvSpPr>
          <p:cNvPr id="28" name="Text 25"/>
          <p:cNvSpPr/>
          <p:nvPr/>
        </p:nvSpPr>
        <p:spPr>
          <a:xfrm>
            <a:off x="2167128" y="4608576"/>
            <a:ext cx="5303520" cy="566928"/>
          </a:xfrm>
          <a:prstGeom prst="rect">
            <a:avLst/>
          </a:prstGeom>
          <a:noFill/>
          <a:ln/>
        </p:spPr>
        <p:txBody>
          <a:bodyPr wrap="square" lIns="0" tIns="0" rIns="0" bIns="0" rtlCol="0" anchor="ctr"/>
          <a:lstStyle/>
          <a:p>
            <a:pPr algn="ctr" indent="0" marL="0">
              <a:lnSpc>
                <a:spcPct val="96000"/>
              </a:lnSpc>
              <a:buNone/>
            </a:pPr>
            <a:r>
              <a:rPr lang="en-US" sz="1050" b="1" dirty="0">
                <a:solidFill>
                  <a:srgbClr val="1B2440"/>
                </a:solidFill>
                <a:latin typeface="Calibri" pitchFamily="34" charset="0"/>
                <a:ea typeface="Calibri" pitchFamily="34" charset="-122"/>
                <a:cs typeface="Calibri" pitchFamily="34" charset="-120"/>
              </a:rPr>
              <a:t>FAISS index  ·  top-K nearest pages  +  MMR diversity</a:t>
            </a:r>
            <a:endParaRPr lang="en-US" sz="1050" dirty="0"/>
          </a:p>
        </p:txBody>
      </p:sp>
      <p:sp>
        <p:nvSpPr>
          <p:cNvPr id="29" name="Shape 26"/>
          <p:cNvSpPr/>
          <p:nvPr/>
        </p:nvSpPr>
        <p:spPr>
          <a:xfrm>
            <a:off x="566928" y="5376672"/>
            <a:ext cx="7178040" cy="749808"/>
          </a:xfrm>
          <a:prstGeom prst="roundRect">
            <a:avLst>
              <a:gd name="adj" fmla="val 12195"/>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0" name="Text 27"/>
          <p:cNvSpPr/>
          <p:nvPr/>
        </p:nvSpPr>
        <p:spPr>
          <a:xfrm>
            <a:off x="731520" y="5468112"/>
            <a:ext cx="1371600" cy="219456"/>
          </a:xfrm>
          <a:prstGeom prst="rect">
            <a:avLst/>
          </a:prstGeom>
          <a:noFill/>
          <a:ln/>
        </p:spPr>
        <p:txBody>
          <a:bodyPr wrap="square" lIns="0" tIns="0" rIns="0" bIns="0" rtlCol="0" anchor="ctr"/>
          <a:lstStyle/>
          <a:p>
            <a:pPr indent="0" marL="0">
              <a:buNone/>
            </a:pPr>
            <a:r>
              <a:rPr lang="en-US" sz="850" b="1" spc="100" kern="0" dirty="0">
                <a:solidFill>
                  <a:srgbClr val="E5484D"/>
                </a:solidFill>
                <a:latin typeface="Calibri" pitchFamily="34" charset="0"/>
                <a:ea typeface="Calibri" pitchFamily="34" charset="-122"/>
                <a:cs typeface="Calibri" pitchFamily="34" charset="-120"/>
              </a:rPr>
              <a:t>④ GENERATE</a:t>
            </a:r>
            <a:endParaRPr lang="en-US" sz="850" dirty="0"/>
          </a:p>
        </p:txBody>
      </p:sp>
      <p:sp>
        <p:nvSpPr>
          <p:cNvPr id="31" name="Shape 28"/>
          <p:cNvSpPr/>
          <p:nvPr/>
        </p:nvSpPr>
        <p:spPr>
          <a:xfrm>
            <a:off x="2121408" y="5458968"/>
            <a:ext cx="5394960" cy="585216"/>
          </a:xfrm>
          <a:prstGeom prst="roundRect">
            <a:avLst>
              <a:gd name="adj" fmla="val 9375"/>
            </a:avLst>
          </a:prstGeom>
          <a:solidFill>
            <a:srgbClr val="FBE7E7"/>
          </a:solidFill>
          <a:ln w="12700">
            <a:solidFill>
              <a:srgbClr val="E5484D"/>
            </a:solidFill>
            <a:prstDash val="solid"/>
          </a:ln>
        </p:spPr>
      </p:sp>
      <p:sp>
        <p:nvSpPr>
          <p:cNvPr id="32" name="Text 29"/>
          <p:cNvSpPr/>
          <p:nvPr/>
        </p:nvSpPr>
        <p:spPr>
          <a:xfrm>
            <a:off x="2167128" y="5458968"/>
            <a:ext cx="5303520" cy="585216"/>
          </a:xfrm>
          <a:prstGeom prst="rect">
            <a:avLst/>
          </a:prstGeom>
          <a:noFill/>
          <a:ln/>
        </p:spPr>
        <p:txBody>
          <a:bodyPr wrap="square" lIns="0" tIns="0" rIns="0" bIns="0" rtlCol="0" anchor="ctr"/>
          <a:lstStyle/>
          <a:p>
            <a:pPr algn="ctr" indent="0" marL="0">
              <a:lnSpc>
                <a:spcPct val="96000"/>
              </a:lnSpc>
              <a:buNone/>
            </a:pPr>
            <a:r>
              <a:rPr lang="en-US" sz="1000" b="1" dirty="0">
                <a:solidFill>
                  <a:srgbClr val="1B2440"/>
                </a:solidFill>
                <a:latin typeface="Calibri" pitchFamily="34" charset="0"/>
                <a:ea typeface="Calibri" pitchFamily="34" charset="-122"/>
                <a:cs typeface="Calibri" pitchFamily="34" charset="-120"/>
              </a:rPr>
              <a:t>Token-budgeted prompt (4–8 exemplars, ~20k)  →  GPT-4o (frozen)  →  JSON</a:t>
            </a:r>
            <a:endParaRPr lang="en-US" sz="1000" dirty="0"/>
          </a:p>
        </p:txBody>
      </p:sp>
      <p:sp>
        <p:nvSpPr>
          <p:cNvPr id="33" name="Shape 30"/>
          <p:cNvSpPr/>
          <p:nvPr/>
        </p:nvSpPr>
        <p:spPr>
          <a:xfrm>
            <a:off x="1389888" y="3364992"/>
            <a:ext cx="0" cy="182880"/>
          </a:xfrm>
          <a:prstGeom prst="line">
            <a:avLst/>
          </a:prstGeom>
          <a:noFill/>
          <a:ln w="22225">
            <a:solidFill>
              <a:srgbClr val="8A93AB"/>
            </a:solidFill>
            <a:prstDash val="solid"/>
            <a:tailEnd type="triangle"/>
          </a:ln>
        </p:spPr>
      </p:sp>
      <p:sp>
        <p:nvSpPr>
          <p:cNvPr id="34" name="Shape 31"/>
          <p:cNvSpPr/>
          <p:nvPr/>
        </p:nvSpPr>
        <p:spPr>
          <a:xfrm>
            <a:off x="1389888" y="4407408"/>
            <a:ext cx="0" cy="182880"/>
          </a:xfrm>
          <a:prstGeom prst="line">
            <a:avLst/>
          </a:prstGeom>
          <a:noFill/>
          <a:ln w="22225">
            <a:solidFill>
              <a:srgbClr val="8A93AB"/>
            </a:solidFill>
            <a:prstDash val="solid"/>
            <a:tailEnd type="triangle"/>
          </a:ln>
        </p:spPr>
      </p:sp>
      <p:sp>
        <p:nvSpPr>
          <p:cNvPr id="35" name="Shape 32"/>
          <p:cNvSpPr/>
          <p:nvPr/>
        </p:nvSpPr>
        <p:spPr>
          <a:xfrm>
            <a:off x="1389888" y="5248656"/>
            <a:ext cx="0" cy="182880"/>
          </a:xfrm>
          <a:prstGeom prst="line">
            <a:avLst/>
          </a:prstGeom>
          <a:noFill/>
          <a:ln w="22225">
            <a:solidFill>
              <a:srgbClr val="8A93AB"/>
            </a:solidFill>
            <a:prstDash val="solid"/>
            <a:tailEnd type="triangle"/>
          </a:ln>
        </p:spPr>
      </p:sp>
      <p:sp>
        <p:nvSpPr>
          <p:cNvPr id="36" name="Shape 33"/>
          <p:cNvSpPr/>
          <p:nvPr/>
        </p:nvSpPr>
        <p:spPr>
          <a:xfrm>
            <a:off x="7863840" y="2450592"/>
            <a:ext cx="3767328" cy="3675888"/>
          </a:xfrm>
          <a:prstGeom prst="roundRect">
            <a:avLst>
              <a:gd name="adj" fmla="val 2488"/>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7" name="Text 34"/>
          <p:cNvSpPr/>
          <p:nvPr/>
        </p:nvSpPr>
        <p:spPr>
          <a:xfrm>
            <a:off x="8119872" y="2596896"/>
            <a:ext cx="3264408"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Only the small heads are trained</a:t>
            </a:r>
            <a:endParaRPr lang="en-US" sz="1350" dirty="0"/>
          </a:p>
        </p:txBody>
      </p:sp>
      <p:sp>
        <p:nvSpPr>
          <p:cNvPr id="38" name="Text 35"/>
          <p:cNvSpPr/>
          <p:nvPr/>
        </p:nvSpPr>
        <p:spPr>
          <a:xfrm>
            <a:off x="8119872" y="2926080"/>
            <a:ext cx="3264408" cy="64008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Foundation encoders stay frozen; two lightweight 3-layer MLPs learn the cross-modal alignment.</a:t>
            </a:r>
            <a:endParaRPr lang="en-US" sz="1100" dirty="0"/>
          </a:p>
        </p:txBody>
      </p:sp>
      <p:sp>
        <p:nvSpPr>
          <p:cNvPr id="39" name="Text 36"/>
          <p:cNvSpPr/>
          <p:nvPr/>
        </p:nvSpPr>
        <p:spPr>
          <a:xfrm>
            <a:off x="8119872" y="3611880"/>
            <a:ext cx="1188720" cy="45720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&lt;5M</a:t>
            </a:r>
            <a:endParaRPr lang="en-US" sz="1600" dirty="0"/>
          </a:p>
        </p:txBody>
      </p:sp>
      <p:sp>
        <p:nvSpPr>
          <p:cNvPr id="40" name="Text 37"/>
          <p:cNvSpPr/>
          <p:nvPr/>
        </p:nvSpPr>
        <p:spPr>
          <a:xfrm>
            <a:off x="9281160" y="3611880"/>
            <a:ext cx="2121408" cy="457200"/>
          </a:xfrm>
          <a:prstGeom prst="rect">
            <a:avLst/>
          </a:prstGeom>
          <a:noFill/>
          <a:ln/>
        </p:spPr>
        <p:txBody>
          <a:bodyPr wrap="square" lIns="0" tIns="0" rIns="0" bIns="0" rtlCol="0" anchor="ctr"/>
          <a:lstStyle/>
          <a:p>
            <a:pPr indent="0" marL="0">
              <a:lnSpc>
                <a:spcPct val="105000"/>
              </a:lnSpc>
              <a:buNone/>
            </a:pPr>
            <a:r>
              <a:rPr lang="en-US" sz="1050" dirty="0">
                <a:solidFill>
                  <a:srgbClr val="1B2440"/>
                </a:solidFill>
                <a:latin typeface="Calibri" pitchFamily="34" charset="0"/>
                <a:ea typeface="Calibri" pitchFamily="34" charset="-122"/>
                <a:cs typeface="Calibri" pitchFamily="34" charset="-120"/>
              </a:rPr>
              <a:t>trainable params (both heads)</a:t>
            </a:r>
            <a:endParaRPr lang="en-US" sz="1050" dirty="0"/>
          </a:p>
        </p:txBody>
      </p:sp>
      <p:sp>
        <p:nvSpPr>
          <p:cNvPr id="41" name="Text 38"/>
          <p:cNvSpPr/>
          <p:nvPr/>
        </p:nvSpPr>
        <p:spPr>
          <a:xfrm>
            <a:off x="8119872" y="4215384"/>
            <a:ext cx="1188720" cy="45720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512-d</a:t>
            </a:r>
            <a:endParaRPr lang="en-US" sz="1600" dirty="0"/>
          </a:p>
        </p:txBody>
      </p:sp>
      <p:sp>
        <p:nvSpPr>
          <p:cNvPr id="42" name="Text 39"/>
          <p:cNvSpPr/>
          <p:nvPr/>
        </p:nvSpPr>
        <p:spPr>
          <a:xfrm>
            <a:off x="9281160" y="4215384"/>
            <a:ext cx="2121408" cy="457200"/>
          </a:xfrm>
          <a:prstGeom prst="rect">
            <a:avLst/>
          </a:prstGeom>
          <a:noFill/>
          <a:ln/>
        </p:spPr>
        <p:txBody>
          <a:bodyPr wrap="square" lIns="0" tIns="0" rIns="0" bIns="0" rtlCol="0" anchor="ctr"/>
          <a:lstStyle/>
          <a:p>
            <a:pPr indent="0" marL="0">
              <a:lnSpc>
                <a:spcPct val="105000"/>
              </a:lnSpc>
              <a:buNone/>
            </a:pPr>
            <a:r>
              <a:rPr lang="en-US" sz="1050" dirty="0">
                <a:solidFill>
                  <a:srgbClr val="1B2440"/>
                </a:solidFill>
                <a:latin typeface="Calibri" pitchFamily="34" charset="0"/>
                <a:ea typeface="Calibri" pitchFamily="34" charset="-122"/>
                <a:cs typeface="Calibri" pitchFamily="34" charset="-120"/>
              </a:rPr>
              <a:t>shared text+vision space</a:t>
            </a:r>
            <a:endParaRPr lang="en-US" sz="1050" dirty="0"/>
          </a:p>
        </p:txBody>
      </p:sp>
      <p:sp>
        <p:nvSpPr>
          <p:cNvPr id="43" name="Text 40"/>
          <p:cNvSpPr/>
          <p:nvPr/>
        </p:nvSpPr>
        <p:spPr>
          <a:xfrm>
            <a:off x="8119872" y="4818888"/>
            <a:ext cx="1188720" cy="45720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&lt;3 ms</a:t>
            </a:r>
            <a:endParaRPr lang="en-US" sz="1600" dirty="0"/>
          </a:p>
        </p:txBody>
      </p:sp>
      <p:sp>
        <p:nvSpPr>
          <p:cNvPr id="44" name="Text 41"/>
          <p:cNvSpPr/>
          <p:nvPr/>
        </p:nvSpPr>
        <p:spPr>
          <a:xfrm>
            <a:off x="9281160" y="4818888"/>
            <a:ext cx="2121408" cy="457200"/>
          </a:xfrm>
          <a:prstGeom prst="rect">
            <a:avLst/>
          </a:prstGeom>
          <a:noFill/>
          <a:ln/>
        </p:spPr>
        <p:txBody>
          <a:bodyPr wrap="square" lIns="0" tIns="0" rIns="0" bIns="0" rtlCol="0" anchor="ctr"/>
          <a:lstStyle/>
          <a:p>
            <a:pPr indent="0" marL="0">
              <a:lnSpc>
                <a:spcPct val="105000"/>
              </a:lnSpc>
              <a:buNone/>
            </a:pPr>
            <a:r>
              <a:rPr lang="en-US" sz="1050" dirty="0">
                <a:solidFill>
                  <a:srgbClr val="1B2440"/>
                </a:solidFill>
                <a:latin typeface="Calibri" pitchFamily="34" charset="0"/>
                <a:ea typeface="Calibri" pitchFamily="34" charset="-122"/>
                <a:cs typeface="Calibri" pitchFamily="34" charset="-120"/>
              </a:rPr>
              <a:t>FAISS retrieval / query</a:t>
            </a:r>
            <a:endParaRPr lang="en-US" sz="1050" dirty="0"/>
          </a:p>
        </p:txBody>
      </p:sp>
      <p:sp>
        <p:nvSpPr>
          <p:cNvPr id="45" name="Text 42"/>
          <p:cNvSpPr/>
          <p:nvPr/>
        </p:nvSpPr>
        <p:spPr>
          <a:xfrm>
            <a:off x="8119872" y="5422392"/>
            <a:ext cx="1188720" cy="457200"/>
          </a:xfrm>
          <a:prstGeom prst="rect">
            <a:avLst/>
          </a:prstGeom>
          <a:noFill/>
          <a:ln/>
        </p:spPr>
        <p:txBody>
          <a:bodyPr wrap="square" lIns="0" tIns="0" rIns="0" bIns="0" rtlCol="0" anchor="ctr"/>
          <a:lstStyle/>
          <a:p>
            <a:pPr indent="0" marL="0">
              <a:buNone/>
            </a:pPr>
            <a:r>
              <a:rPr lang="en-US" sz="1600" b="1" dirty="0">
                <a:solidFill>
                  <a:srgbClr val="5B4BE0"/>
                </a:solidFill>
                <a:latin typeface="Cambria" pitchFamily="34" charset="0"/>
                <a:ea typeface="Cambria" pitchFamily="34" charset="-122"/>
                <a:cs typeface="Cambria" pitchFamily="34" charset="-120"/>
              </a:rPr>
              <a:t>&lt;3 hr</a:t>
            </a:r>
            <a:endParaRPr lang="en-US" sz="1600" dirty="0"/>
          </a:p>
        </p:txBody>
      </p:sp>
      <p:sp>
        <p:nvSpPr>
          <p:cNvPr id="46" name="Text 43"/>
          <p:cNvSpPr/>
          <p:nvPr/>
        </p:nvSpPr>
        <p:spPr>
          <a:xfrm>
            <a:off x="9281160" y="5422392"/>
            <a:ext cx="2121408" cy="457200"/>
          </a:xfrm>
          <a:prstGeom prst="rect">
            <a:avLst/>
          </a:prstGeom>
          <a:noFill/>
          <a:ln/>
        </p:spPr>
        <p:txBody>
          <a:bodyPr wrap="square" lIns="0" tIns="0" rIns="0" bIns="0" rtlCol="0" anchor="ctr"/>
          <a:lstStyle/>
          <a:p>
            <a:pPr indent="0" marL="0">
              <a:lnSpc>
                <a:spcPct val="105000"/>
              </a:lnSpc>
              <a:buNone/>
            </a:pPr>
            <a:r>
              <a:rPr lang="en-US" sz="1050" dirty="0">
                <a:solidFill>
                  <a:srgbClr val="1B2440"/>
                </a:solidFill>
                <a:latin typeface="Calibri" pitchFamily="34" charset="0"/>
                <a:ea typeface="Calibri" pitchFamily="34" charset="-122"/>
                <a:cs typeface="Calibri" pitchFamily="34" charset="-120"/>
              </a:rPr>
              <a:t>trains on a laptop (M4)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FEATURED RESEARCH · RESULTS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XMRetriever — fewer, better examples win on every axis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Navneet Singh, 'XMRetriever' (Nov 2025) · evaluated vs a static all-examples baseline on complex document tables</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45</a:t>
            </a:r>
            <a:endParaRPr lang="en-US" sz="900" dirty="0"/>
          </a:p>
        </p:txBody>
      </p:sp>
      <p:sp>
        <p:nvSpPr>
          <p:cNvPr id="6" name="Shape 4"/>
          <p:cNvSpPr/>
          <p:nvPr/>
        </p:nvSpPr>
        <p:spPr>
          <a:xfrm>
            <a:off x="566928" y="1600200"/>
            <a:ext cx="3154680" cy="1417320"/>
          </a:xfrm>
          <a:prstGeom prst="roundRect">
            <a:avLst>
              <a:gd name="adj" fmla="val 6452"/>
            </a:avLst>
          </a:prstGeom>
          <a:solidFill>
            <a:srgbClr val="EEECFB"/>
          </a:solidFill>
          <a:ln/>
          <a:effectLst>
            <a:outerShdw sx="100000" sy="100000" kx="0" ky="0" algn="bl" rotWithShape="0" blurRad="114300" dist="38100" dir="5400000">
              <a:srgbClr val="9AA2BC">
                <a:alpha val="16000"/>
              </a:srgbClr>
            </a:outerShdw>
          </a:effectLst>
        </p:spPr>
      </p:sp>
      <p:sp>
        <p:nvSpPr>
          <p:cNvPr id="7" name="Text 5"/>
          <p:cNvSpPr/>
          <p:nvPr/>
        </p:nvSpPr>
        <p:spPr>
          <a:xfrm>
            <a:off x="795528" y="1764792"/>
            <a:ext cx="2697480" cy="640080"/>
          </a:xfrm>
          <a:prstGeom prst="rect">
            <a:avLst/>
          </a:prstGeom>
          <a:noFill/>
          <a:ln/>
        </p:spPr>
        <p:txBody>
          <a:bodyPr wrap="square" lIns="0" tIns="0" rIns="0" bIns="0" rtlCol="0" anchor="ctr"/>
          <a:lstStyle/>
          <a:p>
            <a:pPr indent="0" marL="0">
              <a:buNone/>
            </a:pPr>
            <a:r>
              <a:rPr lang="en-US" sz="3800" b="1" dirty="0">
                <a:solidFill>
                  <a:srgbClr val="5B4BE0"/>
                </a:solidFill>
                <a:latin typeface="Cambria" pitchFamily="34" charset="0"/>
                <a:ea typeface="Cambria" pitchFamily="34" charset="-122"/>
                <a:cs typeface="Cambria" pitchFamily="34" charset="-120"/>
              </a:rPr>
              <a:t>−75%</a:t>
            </a:r>
            <a:endParaRPr lang="en-US" sz="3800" dirty="0"/>
          </a:p>
        </p:txBody>
      </p:sp>
      <p:sp>
        <p:nvSpPr>
          <p:cNvPr id="8" name="Text 6"/>
          <p:cNvSpPr/>
          <p:nvPr/>
        </p:nvSpPr>
        <p:spPr>
          <a:xfrm>
            <a:off x="813816" y="2441448"/>
            <a:ext cx="2697480"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tokens / page</a:t>
            </a:r>
            <a:endParaRPr lang="en-US" sz="1250" dirty="0"/>
          </a:p>
        </p:txBody>
      </p:sp>
      <p:sp>
        <p:nvSpPr>
          <p:cNvPr id="9" name="Text 7"/>
          <p:cNvSpPr/>
          <p:nvPr/>
        </p:nvSpPr>
        <p:spPr>
          <a:xfrm>
            <a:off x="813816" y="2697480"/>
            <a:ext cx="2697480" cy="256032"/>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80k → 18k</a:t>
            </a:r>
            <a:endParaRPr lang="en-US" sz="1050" dirty="0"/>
          </a:p>
        </p:txBody>
      </p:sp>
      <p:sp>
        <p:nvSpPr>
          <p:cNvPr id="10" name="Shape 8"/>
          <p:cNvSpPr/>
          <p:nvPr/>
        </p:nvSpPr>
        <p:spPr>
          <a:xfrm>
            <a:off x="3904488" y="1600200"/>
            <a:ext cx="3154680" cy="1417320"/>
          </a:xfrm>
          <a:prstGeom prst="roundRect">
            <a:avLst>
              <a:gd name="adj" fmla="val 6452"/>
            </a:avLst>
          </a:prstGeom>
          <a:solidFill>
            <a:srgbClr val="E2F4F2"/>
          </a:solidFill>
          <a:ln/>
          <a:effectLst>
            <a:outerShdw sx="100000" sy="100000" kx="0" ky="0" algn="bl" rotWithShape="0" blurRad="114300" dist="38100" dir="5400000">
              <a:srgbClr val="9AA2BC">
                <a:alpha val="16000"/>
              </a:srgbClr>
            </a:outerShdw>
          </a:effectLst>
        </p:spPr>
      </p:sp>
      <p:sp>
        <p:nvSpPr>
          <p:cNvPr id="11" name="Text 9"/>
          <p:cNvSpPr/>
          <p:nvPr/>
        </p:nvSpPr>
        <p:spPr>
          <a:xfrm>
            <a:off x="4133088" y="1764792"/>
            <a:ext cx="2697480" cy="640080"/>
          </a:xfrm>
          <a:prstGeom prst="rect">
            <a:avLst/>
          </a:prstGeom>
          <a:noFill/>
          <a:ln/>
        </p:spPr>
        <p:txBody>
          <a:bodyPr wrap="square" lIns="0" tIns="0" rIns="0" bIns="0" rtlCol="0" anchor="ctr"/>
          <a:lstStyle/>
          <a:p>
            <a:pPr indent="0" marL="0">
              <a:buNone/>
            </a:pPr>
            <a:r>
              <a:rPr lang="en-US" sz="3800" b="1" dirty="0">
                <a:solidFill>
                  <a:srgbClr val="0E9E96"/>
                </a:solidFill>
                <a:latin typeface="Cambria" pitchFamily="34" charset="0"/>
                <a:ea typeface="Cambria" pitchFamily="34" charset="-122"/>
                <a:cs typeface="Cambria" pitchFamily="34" charset="-120"/>
              </a:rPr>
              <a:t>−53%</a:t>
            </a:r>
            <a:endParaRPr lang="en-US" sz="3800" dirty="0"/>
          </a:p>
        </p:txBody>
      </p:sp>
      <p:sp>
        <p:nvSpPr>
          <p:cNvPr id="12" name="Text 10"/>
          <p:cNvSpPr/>
          <p:nvPr/>
        </p:nvSpPr>
        <p:spPr>
          <a:xfrm>
            <a:off x="4151376" y="2441448"/>
            <a:ext cx="2697480"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latency / doc</a:t>
            </a:r>
            <a:endParaRPr lang="en-US" sz="1250" dirty="0"/>
          </a:p>
        </p:txBody>
      </p:sp>
      <p:sp>
        <p:nvSpPr>
          <p:cNvPr id="13" name="Text 11"/>
          <p:cNvSpPr/>
          <p:nvPr/>
        </p:nvSpPr>
        <p:spPr>
          <a:xfrm>
            <a:off x="4151376" y="2697480"/>
            <a:ext cx="2697480" cy="256032"/>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210s → 98s</a:t>
            </a:r>
            <a:endParaRPr lang="en-US" sz="1050" dirty="0"/>
          </a:p>
        </p:txBody>
      </p:sp>
      <p:sp>
        <p:nvSpPr>
          <p:cNvPr id="14" name="Shape 12"/>
          <p:cNvSpPr/>
          <p:nvPr/>
        </p:nvSpPr>
        <p:spPr>
          <a:xfrm>
            <a:off x="566928" y="3200400"/>
            <a:ext cx="3154680" cy="1417320"/>
          </a:xfrm>
          <a:prstGeom prst="roundRect">
            <a:avLst>
              <a:gd name="adj" fmla="val 6452"/>
            </a:avLst>
          </a:prstGeom>
          <a:solidFill>
            <a:srgbClr val="FBEFD8"/>
          </a:solidFill>
          <a:ln/>
          <a:effectLst>
            <a:outerShdw sx="100000" sy="100000" kx="0" ky="0" algn="bl" rotWithShape="0" blurRad="114300" dist="38100" dir="5400000">
              <a:srgbClr val="9AA2BC">
                <a:alpha val="16000"/>
              </a:srgbClr>
            </a:outerShdw>
          </a:effectLst>
        </p:spPr>
      </p:sp>
      <p:sp>
        <p:nvSpPr>
          <p:cNvPr id="15" name="Text 13"/>
          <p:cNvSpPr/>
          <p:nvPr/>
        </p:nvSpPr>
        <p:spPr>
          <a:xfrm>
            <a:off x="795528" y="3364992"/>
            <a:ext cx="2697480" cy="640080"/>
          </a:xfrm>
          <a:prstGeom prst="rect">
            <a:avLst/>
          </a:prstGeom>
          <a:noFill/>
          <a:ln/>
        </p:spPr>
        <p:txBody>
          <a:bodyPr wrap="square" lIns="0" tIns="0" rIns="0" bIns="0" rtlCol="0" anchor="ctr"/>
          <a:lstStyle/>
          <a:p>
            <a:pPr indent="0" marL="0">
              <a:buNone/>
            </a:pPr>
            <a:r>
              <a:rPr lang="en-US" sz="3800" b="1" dirty="0">
                <a:solidFill>
                  <a:srgbClr val="D9820A"/>
                </a:solidFill>
                <a:latin typeface="Cambria" pitchFamily="34" charset="0"/>
                <a:ea typeface="Cambria" pitchFamily="34" charset="-122"/>
                <a:cs typeface="Cambria" pitchFamily="34" charset="-120"/>
              </a:rPr>
              <a:t>79.4%</a:t>
            </a:r>
            <a:endParaRPr lang="en-US" sz="3800" dirty="0"/>
          </a:p>
        </p:txBody>
      </p:sp>
      <p:sp>
        <p:nvSpPr>
          <p:cNvPr id="16" name="Text 14"/>
          <p:cNvSpPr/>
          <p:nvPr/>
        </p:nvSpPr>
        <p:spPr>
          <a:xfrm>
            <a:off x="813816" y="4041648"/>
            <a:ext cx="2697480"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exact match</a:t>
            </a:r>
            <a:endParaRPr lang="en-US" sz="1250" dirty="0"/>
          </a:p>
        </p:txBody>
      </p:sp>
      <p:sp>
        <p:nvSpPr>
          <p:cNvPr id="17" name="Text 15"/>
          <p:cNvSpPr/>
          <p:nvPr/>
        </p:nvSpPr>
        <p:spPr>
          <a:xfrm>
            <a:off x="813816" y="4297680"/>
            <a:ext cx="2697480" cy="256032"/>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up from 72.0%</a:t>
            </a:r>
            <a:endParaRPr lang="en-US" sz="1050" dirty="0"/>
          </a:p>
        </p:txBody>
      </p:sp>
      <p:sp>
        <p:nvSpPr>
          <p:cNvPr id="18" name="Shape 16"/>
          <p:cNvSpPr/>
          <p:nvPr/>
        </p:nvSpPr>
        <p:spPr>
          <a:xfrm>
            <a:off x="3904488" y="3200400"/>
            <a:ext cx="3154680" cy="1417320"/>
          </a:xfrm>
          <a:prstGeom prst="roundRect">
            <a:avLst>
              <a:gd name="adj" fmla="val 6452"/>
            </a:avLst>
          </a:prstGeom>
          <a:solidFill>
            <a:srgbClr val="FBE7E7"/>
          </a:solidFill>
          <a:ln/>
          <a:effectLst>
            <a:outerShdw sx="100000" sy="100000" kx="0" ky="0" algn="bl" rotWithShape="0" blurRad="114300" dist="38100" dir="5400000">
              <a:srgbClr val="9AA2BC">
                <a:alpha val="16000"/>
              </a:srgbClr>
            </a:outerShdw>
          </a:effectLst>
        </p:spPr>
      </p:sp>
      <p:sp>
        <p:nvSpPr>
          <p:cNvPr id="19" name="Text 17"/>
          <p:cNvSpPr/>
          <p:nvPr/>
        </p:nvSpPr>
        <p:spPr>
          <a:xfrm>
            <a:off x="4133088" y="3364992"/>
            <a:ext cx="2697480" cy="640080"/>
          </a:xfrm>
          <a:prstGeom prst="rect">
            <a:avLst/>
          </a:prstGeom>
          <a:noFill/>
          <a:ln/>
        </p:spPr>
        <p:txBody>
          <a:bodyPr wrap="square" lIns="0" tIns="0" rIns="0" bIns="0" rtlCol="0" anchor="ctr"/>
          <a:lstStyle/>
          <a:p>
            <a:pPr indent="0" marL="0">
              <a:buNone/>
            </a:pPr>
            <a:r>
              <a:rPr lang="en-US" sz="3800" b="1" dirty="0">
                <a:solidFill>
                  <a:srgbClr val="E5484D"/>
                </a:solidFill>
                <a:latin typeface="Cambria" pitchFamily="34" charset="0"/>
                <a:ea typeface="Cambria" pitchFamily="34" charset="-122"/>
                <a:cs typeface="Cambria" pitchFamily="34" charset="-120"/>
              </a:rPr>
              <a:t>1.2%</a:t>
            </a:r>
            <a:endParaRPr lang="en-US" sz="3800" dirty="0"/>
          </a:p>
        </p:txBody>
      </p:sp>
      <p:sp>
        <p:nvSpPr>
          <p:cNvPr id="20" name="Text 18"/>
          <p:cNvSpPr/>
          <p:nvPr/>
        </p:nvSpPr>
        <p:spPr>
          <a:xfrm>
            <a:off x="4151376" y="4041648"/>
            <a:ext cx="2697480" cy="274320"/>
          </a:xfrm>
          <a:prstGeom prst="rect">
            <a:avLst/>
          </a:prstGeom>
          <a:noFill/>
          <a:ln/>
        </p:spPr>
        <p:txBody>
          <a:bodyPr wrap="square" lIns="0" tIns="0" rIns="0" bIns="0" rtlCol="0" anchor="ctr"/>
          <a:lstStyle/>
          <a:p>
            <a:pPr indent="0" marL="0">
              <a:buNone/>
            </a:pPr>
            <a:r>
              <a:rPr lang="en-US" sz="1250" b="1" dirty="0">
                <a:solidFill>
                  <a:srgbClr val="1B2440"/>
                </a:solidFill>
                <a:latin typeface="Calibri" pitchFamily="34" charset="0"/>
                <a:ea typeface="Calibri" pitchFamily="34" charset="-122"/>
                <a:cs typeface="Calibri" pitchFamily="34" charset="-120"/>
              </a:rPr>
              <a:t>hallucination</a:t>
            </a:r>
            <a:endParaRPr lang="en-US" sz="1250" dirty="0"/>
          </a:p>
        </p:txBody>
      </p:sp>
      <p:sp>
        <p:nvSpPr>
          <p:cNvPr id="21" name="Text 19"/>
          <p:cNvSpPr/>
          <p:nvPr/>
        </p:nvSpPr>
        <p:spPr>
          <a:xfrm>
            <a:off x="4151376" y="4297680"/>
            <a:ext cx="2697480" cy="256032"/>
          </a:xfrm>
          <a:prstGeom prst="rect">
            <a:avLst/>
          </a:prstGeom>
          <a:noFill/>
          <a:ln/>
        </p:spPr>
        <p:txBody>
          <a:bodyPr wrap="square" lIns="0" tIns="0" rIns="0" bIns="0" rtlCol="0" anchor="ctr"/>
          <a:lstStyle/>
          <a:p>
            <a:pPr indent="0" marL="0">
              <a:buNone/>
            </a:pPr>
            <a:r>
              <a:rPr lang="en-US" sz="1050" i="1" dirty="0">
                <a:solidFill>
                  <a:srgbClr val="5A6685"/>
                </a:solidFill>
                <a:latin typeface="Calibri" pitchFamily="34" charset="0"/>
                <a:ea typeface="Calibri" pitchFamily="34" charset="-122"/>
                <a:cs typeface="Calibri" pitchFamily="34" charset="-120"/>
              </a:rPr>
              <a:t>down from 8.6%</a:t>
            </a:r>
            <a:endParaRPr lang="en-US" sz="1050" dirty="0"/>
          </a:p>
        </p:txBody>
      </p:sp>
      <p:sp>
        <p:nvSpPr>
          <p:cNvPr id="22" name="Shape 20"/>
          <p:cNvSpPr/>
          <p:nvPr/>
        </p:nvSpPr>
        <p:spPr>
          <a:xfrm>
            <a:off x="566928" y="4672584"/>
            <a:ext cx="6492240" cy="566928"/>
          </a:xfrm>
          <a:prstGeom prst="roundRect">
            <a:avLst>
              <a:gd name="adj" fmla="val 14516"/>
            </a:avLst>
          </a:prstGeom>
          <a:solidFill>
            <a:srgbClr val="16213E"/>
          </a:solidFill>
          <a:ln/>
        </p:spPr>
      </p:sp>
      <p:sp>
        <p:nvSpPr>
          <p:cNvPr id="23" name="Text 21"/>
          <p:cNvSpPr/>
          <p:nvPr/>
        </p:nvSpPr>
        <p:spPr>
          <a:xfrm>
            <a:off x="841248" y="4672584"/>
            <a:ext cx="6035040" cy="566928"/>
          </a:xfrm>
          <a:prstGeom prst="rect">
            <a:avLst/>
          </a:prstGeom>
          <a:noFill/>
          <a:ln/>
        </p:spPr>
        <p:txBody>
          <a:bodyPr wrap="square" lIns="0" tIns="0" rIns="0" bIns="0" rtlCol="0" anchor="ctr"/>
          <a:lstStyle/>
          <a:p>
            <a:pPr indent="0" marL="0">
              <a:buNone/>
            </a:pPr>
            <a:r>
              <a:rPr lang="en-US" sz="1300" b="1" dirty="0">
                <a:solidFill>
                  <a:srgbClr val="7C6FF0"/>
                </a:solidFill>
                <a:latin typeface="Calibri" pitchFamily="34" charset="0"/>
                <a:ea typeface="Calibri" pitchFamily="34" charset="-122"/>
                <a:cs typeface="Calibri" pitchFamily="34" charset="-120"/>
              </a:rPr>
              <a:t>4.2× </a:t>
            </a:r>
            <a:pPr indent="0" marL="0">
              <a:buNone/>
            </a:pPr>
            <a:r>
              <a:rPr lang="en-US" sz="1300" b="1" dirty="0">
                <a:solidFill>
                  <a:srgbClr val="FFFFFF"/>
                </a:solidFill>
                <a:latin typeface="Calibri" pitchFamily="34" charset="0"/>
                <a:ea typeface="Calibri" pitchFamily="34" charset="-122"/>
                <a:cs typeface="Calibri" pitchFamily="34" charset="-120"/>
              </a:rPr>
              <a:t>throughput</a:t>
            </a:r>
            <a:pPr indent="0" marL="0">
              <a:buNone/>
            </a:pPr>
            <a:r>
              <a:rPr lang="en-US" sz="1300" dirty="0">
                <a:solidFill>
                  <a:srgbClr val="C6CCE0"/>
                </a:solidFill>
                <a:latin typeface="Calibri" pitchFamily="34" charset="0"/>
                <a:ea typeface="Calibri" pitchFamily="34" charset="-122"/>
                <a:cs typeface="Calibri" pitchFamily="34" charset="-120"/>
              </a:rPr>
              <a:t>   ·   accuracy </a:t>
            </a:r>
            <a:pPr indent="0" marL="0">
              <a:buNone/>
            </a:pPr>
            <a:r>
              <a:rPr lang="en-US" sz="1300" b="1" dirty="0">
                <a:solidFill>
                  <a:srgbClr val="7FD1CB"/>
                </a:solidFill>
                <a:latin typeface="Calibri" pitchFamily="34" charset="0"/>
                <a:ea typeface="Calibri" pitchFamily="34" charset="-122"/>
                <a:cs typeface="Calibri" pitchFamily="34" charset="-120"/>
              </a:rPr>
              <a:t>up</a:t>
            </a:r>
            <a:pPr indent="0" marL="0">
              <a:buNone/>
            </a:pPr>
            <a:r>
              <a:rPr lang="en-US" sz="1300" dirty="0">
                <a:solidFill>
                  <a:srgbClr val="C6CCE0"/>
                </a:solidFill>
                <a:latin typeface="Calibri" pitchFamily="34" charset="0"/>
                <a:ea typeface="Calibri" pitchFamily="34" charset="-122"/>
                <a:cs typeface="Calibri" pitchFamily="34" charset="-120"/>
              </a:rPr>
              <a:t> while tokens go </a:t>
            </a:r>
            <a:pPr indent="0" marL="0">
              <a:buNone/>
            </a:pPr>
            <a:r>
              <a:rPr lang="en-US" sz="1300" b="1" dirty="0">
                <a:solidFill>
                  <a:srgbClr val="7C6FF0"/>
                </a:solidFill>
                <a:latin typeface="Calibri" pitchFamily="34" charset="0"/>
                <a:ea typeface="Calibri" pitchFamily="34" charset="-122"/>
                <a:cs typeface="Calibri" pitchFamily="34" charset="-120"/>
              </a:rPr>
              <a:t>down</a:t>
            </a:r>
            <a:endParaRPr lang="en-US" sz="1300" dirty="0"/>
          </a:p>
        </p:txBody>
      </p:sp>
      <p:sp>
        <p:nvSpPr>
          <p:cNvPr id="24" name="Shape 22"/>
          <p:cNvSpPr/>
          <p:nvPr/>
        </p:nvSpPr>
        <p:spPr>
          <a:xfrm>
            <a:off x="7178040" y="1600200"/>
            <a:ext cx="4434840" cy="4160520"/>
          </a:xfrm>
          <a:prstGeom prst="roundRect">
            <a:avLst>
              <a:gd name="adj" fmla="val 2198"/>
            </a:avLst>
          </a:prstGeom>
          <a:solidFill>
            <a:srgbClr val="F4F5F9"/>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5" name="Text 23"/>
          <p:cNvSpPr/>
          <p:nvPr/>
        </p:nvSpPr>
        <p:spPr>
          <a:xfrm>
            <a:off x="7452360" y="1755648"/>
            <a:ext cx="3886200" cy="310896"/>
          </a:xfrm>
          <a:prstGeom prst="rect">
            <a:avLst/>
          </a:prstGeom>
          <a:noFill/>
          <a:ln/>
        </p:spPr>
        <p:txBody>
          <a:bodyPr wrap="square" lIns="0" tIns="0" rIns="0" bIns="0" rtlCol="0" anchor="ctr"/>
          <a:lstStyle/>
          <a:p>
            <a:pPr indent="0" marL="0">
              <a:buNone/>
            </a:pPr>
            <a:r>
              <a:rPr lang="en-US" sz="1350" b="1" dirty="0">
                <a:solidFill>
                  <a:srgbClr val="1B2440"/>
                </a:solidFill>
                <a:latin typeface="Calibri" pitchFamily="34" charset="0"/>
                <a:ea typeface="Calibri" pitchFamily="34" charset="-122"/>
                <a:cs typeface="Calibri" pitchFamily="34" charset="-120"/>
              </a:rPr>
              <a:t>The secret sauce: neighbor-aware sampling</a:t>
            </a:r>
            <a:endParaRPr lang="en-US" sz="1350" dirty="0"/>
          </a:p>
        </p:txBody>
      </p:sp>
      <p:sp>
        <p:nvSpPr>
          <p:cNvPr id="26" name="Text 24"/>
          <p:cNvSpPr/>
          <p:nvPr/>
        </p:nvSpPr>
        <p:spPr>
          <a:xfrm>
            <a:off x="7452360" y="2084832"/>
            <a:ext cx="3886200" cy="685800"/>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Train the retriever with hard negatives drawn mostly from pages of similar length — so it learns fine distinctions, not just obvious ones.</a:t>
            </a:r>
            <a:endParaRPr lang="en-US" sz="1100" dirty="0"/>
          </a:p>
        </p:txBody>
      </p:sp>
      <p:sp>
        <p:nvSpPr>
          <p:cNvPr id="27" name="Text 25"/>
          <p:cNvSpPr/>
          <p:nvPr/>
        </p:nvSpPr>
        <p:spPr>
          <a:xfrm>
            <a:off x="7452360" y="2907792"/>
            <a:ext cx="1051560" cy="310896"/>
          </a:xfrm>
          <a:prstGeom prst="rect">
            <a:avLst/>
          </a:prstGeom>
          <a:noFill/>
          <a:ln/>
        </p:spPr>
        <p:txBody>
          <a:bodyPr wrap="square" lIns="0" tIns="0" rIns="0" bIns="0" rtlCol="0" anchor="ctr"/>
          <a:lstStyle/>
          <a:p>
            <a:pPr algn="r" indent="0" marL="0">
              <a:buNone/>
            </a:pPr>
            <a:r>
              <a:rPr lang="en-US" sz="1050" b="1" dirty="0">
                <a:solidFill>
                  <a:srgbClr val="1B2440"/>
                </a:solidFill>
                <a:latin typeface="Courier New" pitchFamily="34" charset="0"/>
                <a:ea typeface="Courier New" pitchFamily="34" charset="-122"/>
                <a:cs typeface="Courier New" pitchFamily="34" charset="-120"/>
              </a:rPr>
              <a:t>g−1</a:t>
            </a:r>
            <a:endParaRPr lang="en-US" sz="1050" dirty="0"/>
          </a:p>
        </p:txBody>
      </p:sp>
      <p:sp>
        <p:nvSpPr>
          <p:cNvPr id="28" name="Shape 26"/>
          <p:cNvSpPr/>
          <p:nvPr/>
        </p:nvSpPr>
        <p:spPr>
          <a:xfrm>
            <a:off x="8549640" y="2926080"/>
            <a:ext cx="370332" cy="274320"/>
          </a:xfrm>
          <a:prstGeom prst="roundRect">
            <a:avLst>
              <a:gd name="adj" fmla="val 13333"/>
            </a:avLst>
          </a:prstGeom>
          <a:solidFill>
            <a:srgbClr val="8A93AB"/>
          </a:solidFill>
          <a:ln/>
        </p:spPr>
      </p:sp>
      <p:sp>
        <p:nvSpPr>
          <p:cNvPr id="29" name="Text 27"/>
          <p:cNvSpPr/>
          <p:nvPr/>
        </p:nvSpPr>
        <p:spPr>
          <a:xfrm>
            <a:off x="8993124" y="2907792"/>
            <a:ext cx="731520" cy="310896"/>
          </a:xfrm>
          <a:prstGeom prst="rect">
            <a:avLst/>
          </a:prstGeom>
          <a:noFill/>
          <a:ln/>
        </p:spPr>
        <p:txBody>
          <a:bodyPr wrap="square" lIns="0" tIns="0" rIns="0" bIns="0" rtlCol="0" anchor="ctr"/>
          <a:lstStyle/>
          <a:p>
            <a:pPr indent="0" marL="0">
              <a:buNone/>
            </a:pPr>
            <a:r>
              <a:rPr lang="en-US" sz="1000" b="1" dirty="0">
                <a:solidFill>
                  <a:srgbClr val="8A93AB"/>
                </a:solidFill>
                <a:latin typeface="Calibri" pitchFamily="34" charset="0"/>
                <a:ea typeface="Calibri" pitchFamily="34" charset="-122"/>
                <a:cs typeface="Calibri" pitchFamily="34" charset="-120"/>
              </a:rPr>
              <a:t>15%</a:t>
            </a:r>
            <a:endParaRPr lang="en-US" sz="1000" dirty="0"/>
          </a:p>
        </p:txBody>
      </p:sp>
      <p:sp>
        <p:nvSpPr>
          <p:cNvPr id="30" name="Text 28"/>
          <p:cNvSpPr/>
          <p:nvPr/>
        </p:nvSpPr>
        <p:spPr>
          <a:xfrm>
            <a:off x="7452360" y="3364992"/>
            <a:ext cx="1051560" cy="310896"/>
          </a:xfrm>
          <a:prstGeom prst="rect">
            <a:avLst/>
          </a:prstGeom>
          <a:noFill/>
          <a:ln/>
        </p:spPr>
        <p:txBody>
          <a:bodyPr wrap="square" lIns="0" tIns="0" rIns="0" bIns="0" rtlCol="0" anchor="ctr"/>
          <a:lstStyle/>
          <a:p>
            <a:pPr algn="r" indent="0" marL="0">
              <a:buNone/>
            </a:pPr>
            <a:r>
              <a:rPr lang="en-US" sz="1050" b="1" dirty="0">
                <a:solidFill>
                  <a:srgbClr val="1B2440"/>
                </a:solidFill>
                <a:latin typeface="Courier New" pitchFamily="34" charset="0"/>
                <a:ea typeface="Courier New" pitchFamily="34" charset="-122"/>
                <a:cs typeface="Courier New" pitchFamily="34" charset="-120"/>
              </a:rPr>
              <a:t>g (same)</a:t>
            </a:r>
            <a:endParaRPr lang="en-US" sz="1050" dirty="0"/>
          </a:p>
        </p:txBody>
      </p:sp>
      <p:sp>
        <p:nvSpPr>
          <p:cNvPr id="31" name="Shape 29"/>
          <p:cNvSpPr/>
          <p:nvPr/>
        </p:nvSpPr>
        <p:spPr>
          <a:xfrm>
            <a:off x="8549640" y="3383280"/>
            <a:ext cx="1728216" cy="274320"/>
          </a:xfrm>
          <a:prstGeom prst="roundRect">
            <a:avLst>
              <a:gd name="adj" fmla="val 13333"/>
            </a:avLst>
          </a:prstGeom>
          <a:solidFill>
            <a:srgbClr val="5B4BE0"/>
          </a:solidFill>
          <a:ln/>
        </p:spPr>
      </p:sp>
      <p:sp>
        <p:nvSpPr>
          <p:cNvPr id="32" name="Text 30"/>
          <p:cNvSpPr/>
          <p:nvPr/>
        </p:nvSpPr>
        <p:spPr>
          <a:xfrm>
            <a:off x="10351008" y="3364992"/>
            <a:ext cx="731520" cy="310896"/>
          </a:xfrm>
          <a:prstGeom prst="rect">
            <a:avLst/>
          </a:prstGeom>
          <a:noFill/>
          <a:ln/>
        </p:spPr>
        <p:txBody>
          <a:bodyPr wrap="square" lIns="0" tIns="0" rIns="0" bIns="0" rtlCol="0" anchor="ctr"/>
          <a:lstStyle/>
          <a:p>
            <a:pPr indent="0" marL="0">
              <a:buNone/>
            </a:pPr>
            <a:r>
              <a:rPr lang="en-US" sz="1000" b="1" dirty="0">
                <a:solidFill>
                  <a:srgbClr val="5B4BE0"/>
                </a:solidFill>
                <a:latin typeface="Calibri" pitchFamily="34" charset="0"/>
                <a:ea typeface="Calibri" pitchFamily="34" charset="-122"/>
                <a:cs typeface="Calibri" pitchFamily="34" charset="-120"/>
              </a:rPr>
              <a:t>70%</a:t>
            </a:r>
            <a:endParaRPr lang="en-US" sz="1000" dirty="0"/>
          </a:p>
        </p:txBody>
      </p:sp>
      <p:sp>
        <p:nvSpPr>
          <p:cNvPr id="33" name="Text 31"/>
          <p:cNvSpPr/>
          <p:nvPr/>
        </p:nvSpPr>
        <p:spPr>
          <a:xfrm>
            <a:off x="7452360" y="3822192"/>
            <a:ext cx="1051560" cy="310896"/>
          </a:xfrm>
          <a:prstGeom prst="rect">
            <a:avLst/>
          </a:prstGeom>
          <a:noFill/>
          <a:ln/>
        </p:spPr>
        <p:txBody>
          <a:bodyPr wrap="square" lIns="0" tIns="0" rIns="0" bIns="0" rtlCol="0" anchor="ctr"/>
          <a:lstStyle/>
          <a:p>
            <a:pPr algn="r" indent="0" marL="0">
              <a:buNone/>
            </a:pPr>
            <a:r>
              <a:rPr lang="en-US" sz="1050" b="1" dirty="0">
                <a:solidFill>
                  <a:srgbClr val="1B2440"/>
                </a:solidFill>
                <a:latin typeface="Courier New" pitchFamily="34" charset="0"/>
                <a:ea typeface="Courier New" pitchFamily="34" charset="-122"/>
                <a:cs typeface="Courier New" pitchFamily="34" charset="-120"/>
              </a:rPr>
              <a:t>g+1</a:t>
            </a:r>
            <a:endParaRPr lang="en-US" sz="1050" dirty="0"/>
          </a:p>
        </p:txBody>
      </p:sp>
      <p:sp>
        <p:nvSpPr>
          <p:cNvPr id="34" name="Shape 32"/>
          <p:cNvSpPr/>
          <p:nvPr/>
        </p:nvSpPr>
        <p:spPr>
          <a:xfrm>
            <a:off x="8549640" y="3840480"/>
            <a:ext cx="370332" cy="274320"/>
          </a:xfrm>
          <a:prstGeom prst="roundRect">
            <a:avLst>
              <a:gd name="adj" fmla="val 13333"/>
            </a:avLst>
          </a:prstGeom>
          <a:solidFill>
            <a:srgbClr val="8A93AB"/>
          </a:solidFill>
          <a:ln/>
        </p:spPr>
      </p:sp>
      <p:sp>
        <p:nvSpPr>
          <p:cNvPr id="35" name="Text 33"/>
          <p:cNvSpPr/>
          <p:nvPr/>
        </p:nvSpPr>
        <p:spPr>
          <a:xfrm>
            <a:off x="8993124" y="3822192"/>
            <a:ext cx="731520" cy="310896"/>
          </a:xfrm>
          <a:prstGeom prst="rect">
            <a:avLst/>
          </a:prstGeom>
          <a:noFill/>
          <a:ln/>
        </p:spPr>
        <p:txBody>
          <a:bodyPr wrap="square" lIns="0" tIns="0" rIns="0" bIns="0" rtlCol="0" anchor="ctr"/>
          <a:lstStyle/>
          <a:p>
            <a:pPr indent="0" marL="0">
              <a:buNone/>
            </a:pPr>
            <a:r>
              <a:rPr lang="en-US" sz="1000" b="1" dirty="0">
                <a:solidFill>
                  <a:srgbClr val="8A93AB"/>
                </a:solidFill>
                <a:latin typeface="Calibri" pitchFamily="34" charset="0"/>
                <a:ea typeface="Calibri" pitchFamily="34" charset="-122"/>
                <a:cs typeface="Calibri" pitchFamily="34" charset="-120"/>
              </a:rPr>
              <a:t>15%</a:t>
            </a:r>
            <a:endParaRPr lang="en-US" sz="1000" dirty="0"/>
          </a:p>
        </p:txBody>
      </p:sp>
      <p:sp>
        <p:nvSpPr>
          <p:cNvPr id="36" name="Text 34"/>
          <p:cNvSpPr/>
          <p:nvPr/>
        </p:nvSpPr>
        <p:spPr>
          <a:xfrm>
            <a:off x="7452360" y="4370832"/>
            <a:ext cx="3886200" cy="411480"/>
          </a:xfrm>
          <a:prstGeom prst="rect">
            <a:avLst/>
          </a:prstGeom>
          <a:noFill/>
          <a:ln/>
        </p:spPr>
        <p:txBody>
          <a:bodyPr wrap="square" lIns="0" tIns="0" rIns="0" bIns="0" rtlCol="0" anchor="ctr"/>
          <a:lstStyle/>
          <a:p>
            <a:pPr indent="0" marL="0">
              <a:lnSpc>
                <a:spcPct val="108000"/>
              </a:lnSpc>
              <a:buNone/>
            </a:pPr>
            <a:r>
              <a:rPr lang="en-US" sz="950" i="1" dirty="0">
                <a:solidFill>
                  <a:srgbClr val="8A93AB"/>
                </a:solidFill>
                <a:latin typeface="Calibri" pitchFamily="34" charset="0"/>
                <a:ea typeface="Calibri" pitchFamily="34" charset="-122"/>
                <a:cs typeface="Calibri" pitchFamily="34" charset="-120"/>
              </a:rPr>
              <a:t>negatives by page-length group (anchor = text, positive = same page’s image)</a:t>
            </a:r>
            <a:endParaRPr lang="en-US" sz="950" dirty="0"/>
          </a:p>
        </p:txBody>
      </p:sp>
      <p:sp>
        <p:nvSpPr>
          <p:cNvPr id="37" name="Shape 35"/>
          <p:cNvSpPr/>
          <p:nvPr/>
        </p:nvSpPr>
        <p:spPr>
          <a:xfrm>
            <a:off x="7452360" y="4892040"/>
            <a:ext cx="3886200" cy="731520"/>
          </a:xfrm>
          <a:prstGeom prst="roundRect">
            <a:avLst>
              <a:gd name="adj" fmla="val 11250"/>
            </a:avLst>
          </a:prstGeom>
          <a:solidFill>
            <a:srgbClr val="EEECFB"/>
          </a:solidFill>
          <a:ln/>
        </p:spPr>
      </p:sp>
      <p:sp>
        <p:nvSpPr>
          <p:cNvPr id="38" name="Text 36"/>
          <p:cNvSpPr/>
          <p:nvPr/>
        </p:nvSpPr>
        <p:spPr>
          <a:xfrm>
            <a:off x="7635240" y="4937760"/>
            <a:ext cx="3566160" cy="658368"/>
          </a:xfrm>
          <a:prstGeom prst="rect">
            <a:avLst/>
          </a:prstGeom>
          <a:noFill/>
          <a:ln/>
        </p:spPr>
        <p:txBody>
          <a:bodyPr wrap="square" lIns="0" tIns="0" rIns="0" bIns="0" rtlCol="0" anchor="ctr"/>
          <a:lstStyle/>
          <a:p>
            <a:pPr indent="0" marL="0">
              <a:lnSpc>
                <a:spcPct val="112000"/>
              </a:lnSpc>
              <a:buNone/>
            </a:pPr>
            <a:r>
              <a:rPr lang="en-US" sz="1080" b="1" dirty="0">
                <a:solidFill>
                  <a:srgbClr val="5B4BE0"/>
                </a:solidFill>
                <a:latin typeface="Calibri" pitchFamily="34" charset="0"/>
                <a:ea typeface="Calibri" pitchFamily="34" charset="-122"/>
                <a:cs typeface="Calibri" pitchFamily="34" charset="-120"/>
              </a:rPr>
              <a:t>Takeaway:  </a:t>
            </a:r>
            <a:pPr indent="0" marL="0">
              <a:lnSpc>
                <a:spcPct val="112000"/>
              </a:lnSpc>
              <a:buNone/>
            </a:pPr>
            <a:r>
              <a:rPr lang="en-US" sz="1080" dirty="0">
                <a:solidFill>
                  <a:srgbClr val="1B2440"/>
                </a:solidFill>
                <a:latin typeface="Calibri" pitchFamily="34" charset="0"/>
                <a:ea typeface="Calibri" pitchFamily="34" charset="-122"/>
                <a:cs typeface="Calibri" pitchFamily="34" charset="-120"/>
              </a:rPr>
              <a:t>how you train matters more than how big you build — a 3-layer MLP with smart sampling beats deeper networks.</a:t>
            </a:r>
            <a:endParaRPr lang="en-US" sz="10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STAY HONEST</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Limitations, risks &amp; open problems</a:t>
            </a:r>
            <a:endParaRPr lang="en-US" sz="2700" dirty="0"/>
          </a:p>
        </p:txBody>
      </p:sp>
      <p:sp>
        <p:nvSpPr>
          <p:cNvPr id="4" name="Text 2"/>
          <p:cNvSpPr/>
          <p:nvPr/>
        </p:nvSpPr>
        <p:spPr>
          <a:xfrm>
            <a:off x="566928" y="6437376"/>
            <a:ext cx="10607040" cy="310896"/>
          </a:xfrm>
          <a:prstGeom prst="rect">
            <a:avLst/>
          </a:prstGeom>
          <a:noFill/>
          <a:ln/>
        </p:spPr>
        <p:txBody>
          <a:bodyPr wrap="square" lIns="0" tIns="0" rIns="0" bIns="0" rtlCol="0" anchor="ctr"/>
          <a:lstStyle/>
          <a:p>
            <a:pPr algn="l" indent="0" marL="0">
              <a:buNone/>
            </a:pPr>
            <a:r>
              <a:rPr lang="en-US" sz="820" b="1" dirty="0">
                <a:solidFill>
                  <a:srgbClr val="5A6685"/>
                </a:solidFill>
                <a:latin typeface="Calibri" pitchFamily="34" charset="0"/>
                <a:ea typeface="Calibri" pitchFamily="34" charset="-122"/>
                <a:cs typeface="Calibri" pitchFamily="34" charset="-120"/>
              </a:rPr>
              <a:t>Source: </a:t>
            </a:r>
            <a:pPr algn="l" indent="0" marL="0">
              <a:buNone/>
            </a:pPr>
            <a:r>
              <a:rPr lang="en-US" sz="820" dirty="0">
                <a:solidFill>
                  <a:srgbClr val="5A6685"/>
                </a:solidFill>
                <a:latin typeface="Calibri" pitchFamily="34" charset="0"/>
                <a:ea typeface="Calibri" pitchFamily="34" charset="-122"/>
                <a:cs typeface="Calibri" pitchFamily="34" charset="-120"/>
              </a:rPr>
              <a:t>Synthesis of model cards &amp; safety literature, 2023–2026</a:t>
            </a:r>
            <a:endParaRPr lang="en-US" sz="820" dirty="0"/>
          </a:p>
        </p:txBody>
      </p:sp>
      <p:sp>
        <p:nvSpPr>
          <p:cNvPr id="5" name="Text 3"/>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46</a:t>
            </a:r>
            <a:endParaRPr lang="en-US" sz="900" dirty="0"/>
          </a:p>
        </p:txBody>
      </p:sp>
      <p:sp>
        <p:nvSpPr>
          <p:cNvPr id="6" name="Text 4"/>
          <p:cNvSpPr/>
          <p:nvPr/>
        </p:nvSpPr>
        <p:spPr>
          <a:xfrm>
            <a:off x="566928" y="1444752"/>
            <a:ext cx="11064240" cy="365760"/>
          </a:xfrm>
          <a:prstGeom prst="rect">
            <a:avLst/>
          </a:prstGeom>
          <a:noFill/>
          <a:ln/>
        </p:spPr>
        <p:txBody>
          <a:bodyPr wrap="square" lIns="0" tIns="0" rIns="0" bIns="0" rtlCol="0" anchor="ctr"/>
          <a:lstStyle/>
          <a:p>
            <a:pPr indent="0" marL="0">
              <a:buNone/>
            </a:pPr>
            <a:r>
              <a:rPr lang="en-US" sz="1350" dirty="0">
                <a:solidFill>
                  <a:srgbClr val="5A6685"/>
                </a:solidFill>
                <a:latin typeface="Calibri" pitchFamily="34" charset="0"/>
                <a:ea typeface="Calibri" pitchFamily="34" charset="-122"/>
                <a:cs typeface="Calibri" pitchFamily="34" charset="-120"/>
              </a:rPr>
              <a:t>LLMs are powerful, not omniscient. A technical talk should name the failure modes as clearly as the wins.</a:t>
            </a:r>
            <a:endParaRPr lang="en-US" sz="1350" dirty="0"/>
          </a:p>
        </p:txBody>
      </p:sp>
      <p:sp>
        <p:nvSpPr>
          <p:cNvPr id="7" name="Shape 5"/>
          <p:cNvSpPr/>
          <p:nvPr/>
        </p:nvSpPr>
        <p:spPr>
          <a:xfrm>
            <a:off x="56692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8" name="Shape 6"/>
          <p:cNvSpPr/>
          <p:nvPr/>
        </p:nvSpPr>
        <p:spPr>
          <a:xfrm>
            <a:off x="822960" y="2267712"/>
            <a:ext cx="731520" cy="731520"/>
          </a:xfrm>
          <a:prstGeom prst="ellipse">
            <a:avLst/>
          </a:prstGeom>
          <a:solidFill>
            <a:srgbClr val="E5484D"/>
          </a:solidFill>
          <a:ln/>
        </p:spPr>
      </p:sp>
      <p:pic>
        <p:nvPicPr>
          <p:cNvPr id="9" name="Image 0" descr="preencoded.png">    </p:cNvPr>
          <p:cNvPicPr>
            <a:picLocks noChangeAspect="1"/>
          </p:cNvPicPr>
          <p:nvPr/>
        </p:nvPicPr>
        <p:blipFill>
          <a:blip r:embed="rId1"/>
          <a:stretch>
            <a:fillRect/>
          </a:stretch>
        </p:blipFill>
        <p:spPr>
          <a:xfrm>
            <a:off x="1005840" y="2450592"/>
            <a:ext cx="365760" cy="365760"/>
          </a:xfrm>
          <a:prstGeom prst="rect">
            <a:avLst/>
          </a:prstGeom>
        </p:spPr>
      </p:pic>
      <p:sp>
        <p:nvSpPr>
          <p:cNvPr id="10" name="Text 7"/>
          <p:cNvSpPr/>
          <p:nvPr/>
        </p:nvSpPr>
        <p:spPr>
          <a:xfrm>
            <a:off x="168249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Hallucination</a:t>
            </a:r>
            <a:endParaRPr lang="en-US" sz="1450" dirty="0"/>
          </a:p>
        </p:txBody>
      </p:sp>
      <p:sp>
        <p:nvSpPr>
          <p:cNvPr id="11" name="Text 8"/>
          <p:cNvSpPr/>
          <p:nvPr/>
        </p:nvSpPr>
        <p:spPr>
          <a:xfrm>
            <a:off x="84124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Fluent, confident output can still be factually wrong — grounding/RAG mitigates, doesn't cure.</a:t>
            </a:r>
            <a:endParaRPr lang="en-US" sz="1100" dirty="0"/>
          </a:p>
        </p:txBody>
      </p:sp>
      <p:sp>
        <p:nvSpPr>
          <p:cNvPr id="12" name="Shape 9"/>
          <p:cNvSpPr/>
          <p:nvPr/>
        </p:nvSpPr>
        <p:spPr>
          <a:xfrm>
            <a:off x="431596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3" name="Shape 10"/>
          <p:cNvSpPr/>
          <p:nvPr/>
        </p:nvSpPr>
        <p:spPr>
          <a:xfrm>
            <a:off x="4572000" y="2267712"/>
            <a:ext cx="731520" cy="731520"/>
          </a:xfrm>
          <a:prstGeom prst="ellipse">
            <a:avLst/>
          </a:prstGeom>
          <a:solidFill>
            <a:srgbClr val="D9820A"/>
          </a:solidFill>
          <a:ln/>
        </p:spPr>
      </p:sp>
      <p:pic>
        <p:nvPicPr>
          <p:cNvPr id="14" name="Image 1" descr="preencoded.png">    </p:cNvPr>
          <p:cNvPicPr>
            <a:picLocks noChangeAspect="1"/>
          </p:cNvPicPr>
          <p:nvPr/>
        </p:nvPicPr>
        <p:blipFill>
          <a:blip r:embed="rId2"/>
          <a:stretch>
            <a:fillRect/>
          </a:stretch>
        </p:blipFill>
        <p:spPr>
          <a:xfrm>
            <a:off x="4754880" y="2450592"/>
            <a:ext cx="365760" cy="365760"/>
          </a:xfrm>
          <a:prstGeom prst="rect">
            <a:avLst/>
          </a:prstGeom>
        </p:spPr>
      </p:pic>
      <p:sp>
        <p:nvSpPr>
          <p:cNvPr id="15" name="Text 11"/>
          <p:cNvSpPr/>
          <p:nvPr/>
        </p:nvSpPr>
        <p:spPr>
          <a:xfrm>
            <a:off x="543153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Bias &amp; fairness</a:t>
            </a:r>
            <a:endParaRPr lang="en-US" sz="1450" dirty="0"/>
          </a:p>
        </p:txBody>
      </p:sp>
      <p:sp>
        <p:nvSpPr>
          <p:cNvPr id="16" name="Text 12"/>
          <p:cNvSpPr/>
          <p:nvPr/>
        </p:nvSpPr>
        <p:spPr>
          <a:xfrm>
            <a:off x="459028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Models inherit biases from training data; outputs can reflect and amplify them.</a:t>
            </a:r>
            <a:endParaRPr lang="en-US" sz="1100" dirty="0"/>
          </a:p>
        </p:txBody>
      </p:sp>
      <p:sp>
        <p:nvSpPr>
          <p:cNvPr id="17" name="Shape 13"/>
          <p:cNvSpPr/>
          <p:nvPr/>
        </p:nvSpPr>
        <p:spPr>
          <a:xfrm>
            <a:off x="8065008" y="2011680"/>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8" name="Shape 14"/>
          <p:cNvSpPr/>
          <p:nvPr/>
        </p:nvSpPr>
        <p:spPr>
          <a:xfrm>
            <a:off x="8321040" y="2267712"/>
            <a:ext cx="731520" cy="731520"/>
          </a:xfrm>
          <a:prstGeom prst="ellipse">
            <a:avLst/>
          </a:prstGeom>
          <a:solidFill>
            <a:srgbClr val="5B4BE0"/>
          </a:solidFill>
          <a:ln/>
        </p:spPr>
      </p:sp>
      <p:pic>
        <p:nvPicPr>
          <p:cNvPr id="19" name="Image 2" descr="preencoded.png">    </p:cNvPr>
          <p:cNvPicPr>
            <a:picLocks noChangeAspect="1"/>
          </p:cNvPicPr>
          <p:nvPr/>
        </p:nvPicPr>
        <p:blipFill>
          <a:blip r:embed="rId3"/>
          <a:stretch>
            <a:fillRect/>
          </a:stretch>
        </p:blipFill>
        <p:spPr>
          <a:xfrm>
            <a:off x="8503920" y="2450592"/>
            <a:ext cx="365760" cy="365760"/>
          </a:xfrm>
          <a:prstGeom prst="rect">
            <a:avLst/>
          </a:prstGeom>
        </p:spPr>
      </p:pic>
      <p:sp>
        <p:nvSpPr>
          <p:cNvPr id="20" name="Text 15"/>
          <p:cNvSpPr/>
          <p:nvPr/>
        </p:nvSpPr>
        <p:spPr>
          <a:xfrm>
            <a:off x="9180576" y="2395728"/>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Compute &amp; cost</a:t>
            </a:r>
            <a:endParaRPr lang="en-US" sz="1450" dirty="0"/>
          </a:p>
        </p:txBody>
      </p:sp>
      <p:sp>
        <p:nvSpPr>
          <p:cNvPr id="21" name="Text 16"/>
          <p:cNvSpPr/>
          <p:nvPr/>
        </p:nvSpPr>
        <p:spPr>
          <a:xfrm>
            <a:off x="8339328" y="3054096"/>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Training and serving frontier models is energy- and capital-intensive.</a:t>
            </a:r>
            <a:endParaRPr lang="en-US" sz="1100" dirty="0"/>
          </a:p>
        </p:txBody>
      </p:sp>
      <p:sp>
        <p:nvSpPr>
          <p:cNvPr id="22" name="Shape 17"/>
          <p:cNvSpPr/>
          <p:nvPr/>
        </p:nvSpPr>
        <p:spPr>
          <a:xfrm>
            <a:off x="56692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3" name="Shape 18"/>
          <p:cNvSpPr/>
          <p:nvPr/>
        </p:nvSpPr>
        <p:spPr>
          <a:xfrm>
            <a:off x="822960" y="4261104"/>
            <a:ext cx="731520" cy="731520"/>
          </a:xfrm>
          <a:prstGeom prst="ellipse">
            <a:avLst/>
          </a:prstGeom>
          <a:solidFill>
            <a:srgbClr val="0E9E96"/>
          </a:solidFill>
          <a:ln/>
        </p:spPr>
      </p:sp>
      <p:pic>
        <p:nvPicPr>
          <p:cNvPr id="24" name="Image 3" descr="preencoded.png">    </p:cNvPr>
          <p:cNvPicPr>
            <a:picLocks noChangeAspect="1"/>
          </p:cNvPicPr>
          <p:nvPr/>
        </p:nvPicPr>
        <p:blipFill>
          <a:blip r:embed="rId4"/>
          <a:stretch>
            <a:fillRect/>
          </a:stretch>
        </p:blipFill>
        <p:spPr>
          <a:xfrm>
            <a:off x="1005840" y="4443984"/>
            <a:ext cx="365760" cy="365760"/>
          </a:xfrm>
          <a:prstGeom prst="rect">
            <a:avLst/>
          </a:prstGeom>
        </p:spPr>
      </p:pic>
      <p:sp>
        <p:nvSpPr>
          <p:cNvPr id="25" name="Text 19"/>
          <p:cNvSpPr/>
          <p:nvPr/>
        </p:nvSpPr>
        <p:spPr>
          <a:xfrm>
            <a:off x="168249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Interpretability</a:t>
            </a:r>
            <a:endParaRPr lang="en-US" sz="1450" dirty="0"/>
          </a:p>
        </p:txBody>
      </p:sp>
      <p:sp>
        <p:nvSpPr>
          <p:cNvPr id="26" name="Text 20"/>
          <p:cNvSpPr/>
          <p:nvPr/>
        </p:nvSpPr>
        <p:spPr>
          <a:xfrm>
            <a:off x="84124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We still can't fully explain why a model produced a given answer.</a:t>
            </a:r>
            <a:endParaRPr lang="en-US" sz="1100" dirty="0"/>
          </a:p>
        </p:txBody>
      </p:sp>
      <p:sp>
        <p:nvSpPr>
          <p:cNvPr id="27" name="Shape 21"/>
          <p:cNvSpPr/>
          <p:nvPr/>
        </p:nvSpPr>
        <p:spPr>
          <a:xfrm>
            <a:off x="431596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8" name="Shape 22"/>
          <p:cNvSpPr/>
          <p:nvPr/>
        </p:nvSpPr>
        <p:spPr>
          <a:xfrm>
            <a:off x="4572000" y="4261104"/>
            <a:ext cx="731520" cy="731520"/>
          </a:xfrm>
          <a:prstGeom prst="ellipse">
            <a:avLst/>
          </a:prstGeom>
          <a:solidFill>
            <a:srgbClr val="1B9C5A"/>
          </a:solidFill>
          <a:ln/>
        </p:spPr>
      </p:sp>
      <p:pic>
        <p:nvPicPr>
          <p:cNvPr id="29" name="Image 4" descr="preencoded.png">    </p:cNvPr>
          <p:cNvPicPr>
            <a:picLocks noChangeAspect="1"/>
          </p:cNvPicPr>
          <p:nvPr/>
        </p:nvPicPr>
        <p:blipFill>
          <a:blip r:embed="rId5"/>
          <a:stretch>
            <a:fillRect/>
          </a:stretch>
        </p:blipFill>
        <p:spPr>
          <a:xfrm>
            <a:off x="4754880" y="4443984"/>
            <a:ext cx="365760" cy="365760"/>
          </a:xfrm>
          <a:prstGeom prst="rect">
            <a:avLst/>
          </a:prstGeom>
        </p:spPr>
      </p:pic>
      <p:sp>
        <p:nvSpPr>
          <p:cNvPr id="30" name="Text 23"/>
          <p:cNvSpPr/>
          <p:nvPr/>
        </p:nvSpPr>
        <p:spPr>
          <a:xfrm>
            <a:off x="543153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Safety &amp; misuse</a:t>
            </a:r>
            <a:endParaRPr lang="en-US" sz="1450" dirty="0"/>
          </a:p>
        </p:txBody>
      </p:sp>
      <p:sp>
        <p:nvSpPr>
          <p:cNvPr id="31" name="Text 24"/>
          <p:cNvSpPr/>
          <p:nvPr/>
        </p:nvSpPr>
        <p:spPr>
          <a:xfrm>
            <a:off x="459028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Capable models raise security, privacy and dual-use concerns.</a:t>
            </a:r>
            <a:endParaRPr lang="en-US" sz="1100" dirty="0"/>
          </a:p>
        </p:txBody>
      </p:sp>
      <p:sp>
        <p:nvSpPr>
          <p:cNvPr id="32" name="Shape 25"/>
          <p:cNvSpPr/>
          <p:nvPr/>
        </p:nvSpPr>
        <p:spPr>
          <a:xfrm>
            <a:off x="8065008" y="4005072"/>
            <a:ext cx="3593592" cy="1828800"/>
          </a:xfrm>
          <a:prstGeom prst="roundRect">
            <a:avLst>
              <a:gd name="adj" fmla="val 500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33" name="Shape 26"/>
          <p:cNvSpPr/>
          <p:nvPr/>
        </p:nvSpPr>
        <p:spPr>
          <a:xfrm>
            <a:off x="8321040" y="4261104"/>
            <a:ext cx="731520" cy="731520"/>
          </a:xfrm>
          <a:prstGeom prst="ellipse">
            <a:avLst/>
          </a:prstGeom>
          <a:solidFill>
            <a:srgbClr val="7C6FF0"/>
          </a:solidFill>
          <a:ln/>
        </p:spPr>
      </p:sp>
      <p:pic>
        <p:nvPicPr>
          <p:cNvPr id="34" name="Image 5" descr="preencoded.png">    </p:cNvPr>
          <p:cNvPicPr>
            <a:picLocks noChangeAspect="1"/>
          </p:cNvPicPr>
          <p:nvPr/>
        </p:nvPicPr>
        <p:blipFill>
          <a:blip r:embed="rId6"/>
          <a:stretch>
            <a:fillRect/>
          </a:stretch>
        </p:blipFill>
        <p:spPr>
          <a:xfrm>
            <a:off x="8503920" y="4443984"/>
            <a:ext cx="365760" cy="365760"/>
          </a:xfrm>
          <a:prstGeom prst="rect">
            <a:avLst/>
          </a:prstGeom>
        </p:spPr>
      </p:pic>
      <p:sp>
        <p:nvSpPr>
          <p:cNvPr id="35" name="Text 27"/>
          <p:cNvSpPr/>
          <p:nvPr/>
        </p:nvSpPr>
        <p:spPr>
          <a:xfrm>
            <a:off x="9180576" y="4389120"/>
            <a:ext cx="2313432" cy="502920"/>
          </a:xfrm>
          <a:prstGeom prst="rect">
            <a:avLst/>
          </a:prstGeom>
          <a:noFill/>
          <a:ln/>
        </p:spPr>
        <p:txBody>
          <a:bodyPr wrap="square" lIns="0" tIns="0" rIns="0" bIns="0" rtlCol="0" anchor="ctr"/>
          <a:lstStyle/>
          <a:p>
            <a:pPr indent="0" marL="0">
              <a:buNone/>
            </a:pPr>
            <a:r>
              <a:rPr lang="en-US" sz="1450" b="1" dirty="0">
                <a:solidFill>
                  <a:srgbClr val="1B2440"/>
                </a:solidFill>
                <a:latin typeface="Calibri" pitchFamily="34" charset="0"/>
                <a:ea typeface="Calibri" pitchFamily="34" charset="-122"/>
                <a:cs typeface="Calibri" pitchFamily="34" charset="-120"/>
              </a:rPr>
              <a:t>Knowledge cutoff</a:t>
            </a:r>
            <a:endParaRPr lang="en-US" sz="1450" dirty="0"/>
          </a:p>
        </p:txBody>
      </p:sp>
      <p:sp>
        <p:nvSpPr>
          <p:cNvPr id="36" name="Text 28"/>
          <p:cNvSpPr/>
          <p:nvPr/>
        </p:nvSpPr>
        <p:spPr>
          <a:xfrm>
            <a:off x="8339328" y="5047488"/>
            <a:ext cx="3063240" cy="713232"/>
          </a:xfrm>
          <a:prstGeom prst="rect">
            <a:avLst/>
          </a:prstGeom>
          <a:noFill/>
          <a:ln/>
        </p:spPr>
        <p:txBody>
          <a:bodyPr wrap="square" lIns="0" tIns="0" rIns="0" bIns="0" rtlCol="0" anchor="ctr"/>
          <a:lstStyle/>
          <a:p>
            <a:pPr indent="0" marL="0">
              <a:lnSpc>
                <a:spcPct val="112000"/>
              </a:lnSpc>
              <a:buNone/>
            </a:pPr>
            <a:r>
              <a:rPr lang="en-US" sz="1100" dirty="0">
                <a:solidFill>
                  <a:srgbClr val="5A6685"/>
                </a:solidFill>
                <a:latin typeface="Calibri" pitchFamily="34" charset="0"/>
                <a:ea typeface="Calibri" pitchFamily="34" charset="-122"/>
                <a:cs typeface="Calibri" pitchFamily="34" charset="-120"/>
              </a:rPr>
              <a:t>Static weights go stale; models need retrieval or retraining to stay current.</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THE THROUGH-LINE</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Five ideas to walk away with</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47</a:t>
            </a:r>
            <a:endParaRPr lang="en-US" sz="900" dirty="0"/>
          </a:p>
        </p:txBody>
      </p:sp>
      <p:sp>
        <p:nvSpPr>
          <p:cNvPr id="5" name="Shape 3"/>
          <p:cNvSpPr/>
          <p:nvPr/>
        </p:nvSpPr>
        <p:spPr>
          <a:xfrm>
            <a:off x="566928" y="1645920"/>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6" name="Shape 4"/>
          <p:cNvSpPr/>
          <p:nvPr/>
        </p:nvSpPr>
        <p:spPr>
          <a:xfrm>
            <a:off x="804672" y="1837944"/>
            <a:ext cx="457200" cy="457200"/>
          </a:xfrm>
          <a:prstGeom prst="ellipse">
            <a:avLst/>
          </a:prstGeom>
          <a:solidFill>
            <a:srgbClr val="5B4BE0"/>
          </a:solidFill>
          <a:ln/>
        </p:spPr>
      </p:sp>
      <p:sp>
        <p:nvSpPr>
          <p:cNvPr id="7" name="Text 5"/>
          <p:cNvSpPr/>
          <p:nvPr/>
        </p:nvSpPr>
        <p:spPr>
          <a:xfrm>
            <a:off x="804672" y="183794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81328" y="1764792"/>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Attention replaced recurrence</a:t>
            </a:r>
            <a:endParaRPr lang="en-US" sz="1500" dirty="0"/>
          </a:p>
        </p:txBody>
      </p:sp>
      <p:sp>
        <p:nvSpPr>
          <p:cNvPr id="9" name="Text 7"/>
          <p:cNvSpPr/>
          <p:nvPr/>
        </p:nvSpPr>
        <p:spPr>
          <a:xfrm>
            <a:off x="5641848" y="1737360"/>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The 2017 Transformer removed the sequential bottleneck and made parallel training — and thus scale — possible.</a:t>
            </a:r>
            <a:endParaRPr lang="en-US" sz="1180" dirty="0"/>
          </a:p>
        </p:txBody>
      </p:sp>
      <p:sp>
        <p:nvSpPr>
          <p:cNvPr id="10" name="Shape 8"/>
          <p:cNvSpPr/>
          <p:nvPr/>
        </p:nvSpPr>
        <p:spPr>
          <a:xfrm>
            <a:off x="566928" y="2596896"/>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1" name="Shape 9"/>
          <p:cNvSpPr/>
          <p:nvPr/>
        </p:nvSpPr>
        <p:spPr>
          <a:xfrm>
            <a:off x="804672" y="2788920"/>
            <a:ext cx="457200" cy="457200"/>
          </a:xfrm>
          <a:prstGeom prst="ellipse">
            <a:avLst/>
          </a:prstGeom>
          <a:solidFill>
            <a:srgbClr val="0E9E96"/>
          </a:solidFill>
          <a:ln/>
        </p:spPr>
      </p:sp>
      <p:sp>
        <p:nvSpPr>
          <p:cNvPr id="12" name="Text 10"/>
          <p:cNvSpPr/>
          <p:nvPr/>
        </p:nvSpPr>
        <p:spPr>
          <a:xfrm>
            <a:off x="804672" y="2788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481328" y="2715768"/>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Scale created capability</a:t>
            </a:r>
            <a:endParaRPr lang="en-US" sz="1500" dirty="0"/>
          </a:p>
        </p:txBody>
      </p:sp>
      <p:sp>
        <p:nvSpPr>
          <p:cNvPr id="14" name="Text 12"/>
          <p:cNvSpPr/>
          <p:nvPr/>
        </p:nvSpPr>
        <p:spPr>
          <a:xfrm>
            <a:off x="5641848" y="2688336"/>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More parameters + data + compute produced emergent abilities like in-context learning; scaling laws made it predictable.</a:t>
            </a:r>
            <a:endParaRPr lang="en-US" sz="1180" dirty="0"/>
          </a:p>
        </p:txBody>
      </p:sp>
      <p:sp>
        <p:nvSpPr>
          <p:cNvPr id="15" name="Shape 13"/>
          <p:cNvSpPr/>
          <p:nvPr/>
        </p:nvSpPr>
        <p:spPr>
          <a:xfrm>
            <a:off x="566928" y="3547872"/>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16" name="Shape 14"/>
          <p:cNvSpPr/>
          <p:nvPr/>
        </p:nvSpPr>
        <p:spPr>
          <a:xfrm>
            <a:off x="804672" y="3739896"/>
            <a:ext cx="457200" cy="457200"/>
          </a:xfrm>
          <a:prstGeom prst="ellipse">
            <a:avLst/>
          </a:prstGeom>
          <a:solidFill>
            <a:srgbClr val="D9820A"/>
          </a:solidFill>
          <a:ln/>
        </p:spPr>
      </p:sp>
      <p:sp>
        <p:nvSpPr>
          <p:cNvPr id="17" name="Text 15"/>
          <p:cNvSpPr/>
          <p:nvPr/>
        </p:nvSpPr>
        <p:spPr>
          <a:xfrm>
            <a:off x="804672" y="373989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481328" y="3666744"/>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Efficiency beat brute force</a:t>
            </a:r>
            <a:endParaRPr lang="en-US" sz="1500" dirty="0"/>
          </a:p>
        </p:txBody>
      </p:sp>
      <p:sp>
        <p:nvSpPr>
          <p:cNvPr id="19" name="Text 17"/>
          <p:cNvSpPr/>
          <p:nvPr/>
        </p:nvSpPr>
        <p:spPr>
          <a:xfrm>
            <a:off x="5641848" y="3639312"/>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RoPE, GQA, FlashAttention and MoE delivered long-context, fast, affordable models without simply growing bigger.</a:t>
            </a:r>
            <a:endParaRPr lang="en-US" sz="1180" dirty="0"/>
          </a:p>
        </p:txBody>
      </p:sp>
      <p:sp>
        <p:nvSpPr>
          <p:cNvPr id="20" name="Shape 18"/>
          <p:cNvSpPr/>
          <p:nvPr/>
        </p:nvSpPr>
        <p:spPr>
          <a:xfrm>
            <a:off x="566928" y="4498848"/>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1" name="Shape 19"/>
          <p:cNvSpPr/>
          <p:nvPr/>
        </p:nvSpPr>
        <p:spPr>
          <a:xfrm>
            <a:off x="804672" y="4690872"/>
            <a:ext cx="457200" cy="457200"/>
          </a:xfrm>
          <a:prstGeom prst="ellipse">
            <a:avLst/>
          </a:prstGeom>
          <a:solidFill>
            <a:srgbClr val="E5484D"/>
          </a:solidFill>
          <a:ln/>
        </p:spPr>
      </p:sp>
      <p:sp>
        <p:nvSpPr>
          <p:cNvPr id="22" name="Text 20"/>
          <p:cNvSpPr/>
          <p:nvPr/>
        </p:nvSpPr>
        <p:spPr>
          <a:xfrm>
            <a:off x="804672" y="46908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481328" y="4617720"/>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A new axis: reasoning</a:t>
            </a:r>
            <a:endParaRPr lang="en-US" sz="1500" dirty="0"/>
          </a:p>
        </p:txBody>
      </p:sp>
      <p:sp>
        <p:nvSpPr>
          <p:cNvPr id="24" name="Text 22"/>
          <p:cNvSpPr/>
          <p:nvPr/>
        </p:nvSpPr>
        <p:spPr>
          <a:xfrm>
            <a:off x="5641848" y="4590288"/>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2025's models scale test-time compute — thinking before answering — opening capability beyond raw size.</a:t>
            </a:r>
            <a:endParaRPr lang="en-US" sz="1180" dirty="0"/>
          </a:p>
        </p:txBody>
      </p:sp>
      <p:sp>
        <p:nvSpPr>
          <p:cNvPr id="25" name="Shape 23"/>
          <p:cNvSpPr/>
          <p:nvPr/>
        </p:nvSpPr>
        <p:spPr>
          <a:xfrm>
            <a:off x="566928" y="5449824"/>
            <a:ext cx="11045952" cy="841248"/>
          </a:xfrm>
          <a:prstGeom prst="roundRect">
            <a:avLst>
              <a:gd name="adj" fmla="val 10870"/>
            </a:avLst>
          </a:prstGeom>
          <a:solidFill>
            <a:srgbClr val="FFFFFF"/>
          </a:solidFill>
          <a:ln w="12700">
            <a:solidFill>
              <a:srgbClr val="DDE1EC"/>
            </a:solidFill>
            <a:prstDash val="solid"/>
          </a:ln>
          <a:effectLst>
            <a:outerShdw sx="100000" sy="100000" kx="0" ky="0" algn="bl" rotWithShape="0" blurRad="114300" dist="38100" dir="5400000">
              <a:srgbClr val="9AA2BC">
                <a:alpha val="16000"/>
              </a:srgbClr>
            </a:outerShdw>
          </a:effectLst>
        </p:spPr>
      </p:sp>
      <p:sp>
        <p:nvSpPr>
          <p:cNvPr id="26" name="Shape 24"/>
          <p:cNvSpPr/>
          <p:nvPr/>
        </p:nvSpPr>
        <p:spPr>
          <a:xfrm>
            <a:off x="804672" y="5641848"/>
            <a:ext cx="457200" cy="457200"/>
          </a:xfrm>
          <a:prstGeom prst="ellipse">
            <a:avLst/>
          </a:prstGeom>
          <a:solidFill>
            <a:srgbClr val="1B9C5A"/>
          </a:solidFill>
          <a:ln/>
        </p:spPr>
      </p:sp>
      <p:sp>
        <p:nvSpPr>
          <p:cNvPr id="27" name="Text 25"/>
          <p:cNvSpPr/>
          <p:nvPr/>
        </p:nvSpPr>
        <p:spPr>
          <a:xfrm>
            <a:off x="804672" y="56418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481328" y="5568696"/>
            <a:ext cx="4023360" cy="603504"/>
          </a:xfrm>
          <a:prstGeom prst="rect">
            <a:avLst/>
          </a:prstGeom>
          <a:noFill/>
          <a:ln/>
        </p:spPr>
        <p:txBody>
          <a:bodyPr wrap="square" lIns="0" tIns="0" rIns="0" bIns="0" rtlCol="0" anchor="ctr"/>
          <a:lstStyle/>
          <a:p>
            <a:pPr indent="0" marL="0">
              <a:lnSpc>
                <a:spcPct val="100000"/>
              </a:lnSpc>
              <a:buNone/>
            </a:pPr>
            <a:r>
              <a:rPr lang="en-US" sz="1500" b="1" dirty="0">
                <a:solidFill>
                  <a:srgbClr val="1B2440"/>
                </a:solidFill>
                <a:latin typeface="Calibri" pitchFamily="34" charset="0"/>
                <a:ea typeface="Calibri" pitchFamily="34" charset="-122"/>
                <a:cs typeface="Calibri" pitchFamily="34" charset="-120"/>
              </a:rPr>
              <a:t>From tool to collaborator</a:t>
            </a:r>
            <a:endParaRPr lang="en-US" sz="1500" dirty="0"/>
          </a:p>
        </p:txBody>
      </p:sp>
      <p:sp>
        <p:nvSpPr>
          <p:cNvPr id="29" name="Text 27"/>
          <p:cNvSpPr/>
          <p:nvPr/>
        </p:nvSpPr>
        <p:spPr>
          <a:xfrm>
            <a:off x="5641848" y="5541264"/>
            <a:ext cx="5696712" cy="658368"/>
          </a:xfrm>
          <a:prstGeom prst="rect">
            <a:avLst/>
          </a:prstGeom>
          <a:noFill/>
          <a:ln/>
        </p:spPr>
        <p:txBody>
          <a:bodyPr wrap="square" lIns="0" tIns="0" rIns="0" bIns="0" rtlCol="0" anchor="ctr"/>
          <a:lstStyle/>
          <a:p>
            <a:pPr indent="0" marL="0">
              <a:lnSpc>
                <a:spcPct val="110000"/>
              </a:lnSpc>
              <a:buNone/>
            </a:pPr>
            <a:r>
              <a:rPr lang="en-US" sz="1180" dirty="0">
                <a:solidFill>
                  <a:srgbClr val="5A6685"/>
                </a:solidFill>
                <a:latin typeface="Calibri" pitchFamily="34" charset="0"/>
                <a:ea typeface="Calibri" pitchFamily="34" charset="-122"/>
                <a:cs typeface="Calibri" pitchFamily="34" charset="-120"/>
              </a:rPr>
              <a:t>Agentic LLMs now read literature, design experiments and assist real scientific discovery.</a:t>
            </a:r>
            <a:endParaRPr lang="en-US" sz="11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274320"/>
          </a:xfrm>
          <a:prstGeom prst="rect">
            <a:avLst/>
          </a:prstGeom>
          <a:noFill/>
          <a:ln/>
        </p:spPr>
        <p:txBody>
          <a:bodyPr wrap="square" lIns="0" tIns="0" rIns="0" bIns="0" rtlCol="0" anchor="ctr"/>
          <a:lstStyle/>
          <a:p>
            <a:pPr indent="0" marL="0">
              <a:buNone/>
            </a:pPr>
            <a:r>
              <a:rPr lang="en-US" sz="1150" b="1" spc="250" kern="0" dirty="0">
                <a:solidFill>
                  <a:srgbClr val="5B4BE0"/>
                </a:solidFill>
                <a:latin typeface="Calibri" pitchFamily="34" charset="0"/>
                <a:ea typeface="Calibri" pitchFamily="34" charset="-122"/>
                <a:cs typeface="Calibri" pitchFamily="34" charset="-120"/>
              </a:rPr>
              <a:t>FOR THE CURIOUS</a:t>
            </a:r>
            <a:endParaRPr lang="en-US" sz="1150" dirty="0"/>
          </a:p>
        </p:txBody>
      </p:sp>
      <p:sp>
        <p:nvSpPr>
          <p:cNvPr id="3" name="Text 1"/>
          <p:cNvSpPr/>
          <p:nvPr/>
        </p:nvSpPr>
        <p:spPr>
          <a:xfrm>
            <a:off x="566928" y="566928"/>
            <a:ext cx="11064240" cy="676656"/>
          </a:xfrm>
          <a:prstGeom prst="rect">
            <a:avLst/>
          </a:prstGeom>
          <a:noFill/>
          <a:ln/>
        </p:spPr>
        <p:txBody>
          <a:bodyPr wrap="square" lIns="0" tIns="0" rIns="0" bIns="0" rtlCol="0" anchor="ctr"/>
          <a:lstStyle/>
          <a:p>
            <a:pPr indent="0" marL="0">
              <a:buNone/>
            </a:pPr>
            <a:r>
              <a:rPr lang="en-US" sz="2700" b="1" dirty="0">
                <a:solidFill>
                  <a:srgbClr val="1B2440"/>
                </a:solidFill>
                <a:latin typeface="Calibri" pitchFamily="34" charset="0"/>
                <a:ea typeface="Calibri" pitchFamily="34" charset="-122"/>
                <a:cs typeface="Calibri" pitchFamily="34" charset="-120"/>
              </a:rPr>
              <a:t>References &amp; sources</a:t>
            </a:r>
            <a:endParaRPr lang="en-US" sz="2700" dirty="0"/>
          </a:p>
        </p:txBody>
      </p:sp>
      <p:sp>
        <p:nvSpPr>
          <p:cNvPr id="4" name="Text 2"/>
          <p:cNvSpPr/>
          <p:nvPr/>
        </p:nvSpPr>
        <p:spPr>
          <a:xfrm>
            <a:off x="11430000" y="6437376"/>
            <a:ext cx="411480" cy="310896"/>
          </a:xfrm>
          <a:prstGeom prst="rect">
            <a:avLst/>
          </a:prstGeom>
          <a:noFill/>
          <a:ln/>
        </p:spPr>
        <p:txBody>
          <a:bodyPr wrap="square" lIns="0" tIns="0" rIns="0" bIns="0" rtlCol="0" anchor="ctr"/>
          <a:lstStyle/>
          <a:p>
            <a:pPr algn="r" indent="0" marL="0">
              <a:buNone/>
            </a:pPr>
            <a:r>
              <a:rPr lang="en-US" sz="900" dirty="0">
                <a:solidFill>
                  <a:srgbClr val="8A93AB"/>
                </a:solidFill>
                <a:latin typeface="Calibri" pitchFamily="34" charset="0"/>
                <a:ea typeface="Calibri" pitchFamily="34" charset="-122"/>
                <a:cs typeface="Calibri" pitchFamily="34" charset="-120"/>
              </a:rPr>
              <a:t>48</a:t>
            </a:r>
            <a:endParaRPr lang="en-US" sz="900" dirty="0"/>
          </a:p>
        </p:txBody>
      </p:sp>
      <p:sp>
        <p:nvSpPr>
          <p:cNvPr id="5" name="Shape 3"/>
          <p:cNvSpPr/>
          <p:nvPr/>
        </p:nvSpPr>
        <p:spPr>
          <a:xfrm>
            <a:off x="566928" y="1444752"/>
            <a:ext cx="5394960" cy="347472"/>
          </a:xfrm>
          <a:prstGeom prst="roundRect">
            <a:avLst>
              <a:gd name="adj" fmla="val 15789"/>
            </a:avLst>
          </a:prstGeom>
          <a:solidFill>
            <a:srgbClr val="5B4BE0"/>
          </a:solidFill>
          <a:ln/>
        </p:spPr>
      </p:sp>
      <p:sp>
        <p:nvSpPr>
          <p:cNvPr id="6" name="Text 4"/>
          <p:cNvSpPr/>
          <p:nvPr/>
        </p:nvSpPr>
        <p:spPr>
          <a:xfrm>
            <a:off x="731520" y="1444752"/>
            <a:ext cx="51206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Foundational papers</a:t>
            </a:r>
            <a:endParaRPr lang="en-US" sz="1200" dirty="0"/>
          </a:p>
        </p:txBody>
      </p:sp>
      <p:sp>
        <p:nvSpPr>
          <p:cNvPr id="7" name="Text 5"/>
          <p:cNvSpPr/>
          <p:nvPr/>
        </p:nvSpPr>
        <p:spPr>
          <a:xfrm>
            <a:off x="658368" y="1865376"/>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Attention Is All You Need — arxiv.org/abs/1706.03762</a:t>
            </a:r>
            <a:endParaRPr lang="en-US" sz="1100" dirty="0"/>
          </a:p>
        </p:txBody>
      </p:sp>
      <p:sp>
        <p:nvSpPr>
          <p:cNvPr id="8" name="Text 6"/>
          <p:cNvSpPr/>
          <p:nvPr/>
        </p:nvSpPr>
        <p:spPr>
          <a:xfrm>
            <a:off x="658368" y="2194560"/>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BERT — arxiv.org/abs/1810.04805</a:t>
            </a:r>
            <a:endParaRPr lang="en-US" sz="1100" dirty="0"/>
          </a:p>
        </p:txBody>
      </p:sp>
      <p:sp>
        <p:nvSpPr>
          <p:cNvPr id="9" name="Text 7"/>
          <p:cNvSpPr/>
          <p:nvPr/>
        </p:nvSpPr>
        <p:spPr>
          <a:xfrm>
            <a:off x="658368" y="2523744"/>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GPT-3 (Few-Shot Learners) — arxiv.org/abs/2005.14165</a:t>
            </a:r>
            <a:endParaRPr lang="en-US" sz="1100" dirty="0"/>
          </a:p>
        </p:txBody>
      </p:sp>
      <p:sp>
        <p:nvSpPr>
          <p:cNvPr id="10" name="Text 8"/>
          <p:cNvSpPr/>
          <p:nvPr/>
        </p:nvSpPr>
        <p:spPr>
          <a:xfrm>
            <a:off x="658368" y="2852928"/>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Scaling Laws (Kaplan) — arxiv.org/abs/2001.08361</a:t>
            </a:r>
            <a:endParaRPr lang="en-US" sz="1100" dirty="0"/>
          </a:p>
        </p:txBody>
      </p:sp>
      <p:sp>
        <p:nvSpPr>
          <p:cNvPr id="11" name="Text 9"/>
          <p:cNvSpPr/>
          <p:nvPr/>
        </p:nvSpPr>
        <p:spPr>
          <a:xfrm>
            <a:off x="658368" y="3182112"/>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Chinchilla — arxiv.org/abs/2203.15556</a:t>
            </a:r>
            <a:endParaRPr lang="en-US" sz="1100" dirty="0"/>
          </a:p>
        </p:txBody>
      </p:sp>
      <p:sp>
        <p:nvSpPr>
          <p:cNvPr id="12" name="Text 10"/>
          <p:cNvSpPr/>
          <p:nvPr/>
        </p:nvSpPr>
        <p:spPr>
          <a:xfrm>
            <a:off x="658368" y="3511296"/>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InstructGPT / RLHF — arxiv.org/abs/2203.02155</a:t>
            </a:r>
            <a:endParaRPr lang="en-US" sz="1100" dirty="0"/>
          </a:p>
        </p:txBody>
      </p:sp>
      <p:sp>
        <p:nvSpPr>
          <p:cNvPr id="13" name="Shape 11"/>
          <p:cNvSpPr/>
          <p:nvPr/>
        </p:nvSpPr>
        <p:spPr>
          <a:xfrm>
            <a:off x="566928" y="3840480"/>
            <a:ext cx="5394960" cy="347472"/>
          </a:xfrm>
          <a:prstGeom prst="roundRect">
            <a:avLst>
              <a:gd name="adj" fmla="val 15789"/>
            </a:avLst>
          </a:prstGeom>
          <a:solidFill>
            <a:srgbClr val="0E9E96"/>
          </a:solidFill>
          <a:ln/>
        </p:spPr>
      </p:sp>
      <p:sp>
        <p:nvSpPr>
          <p:cNvPr id="14" name="Text 12"/>
          <p:cNvSpPr/>
          <p:nvPr/>
        </p:nvSpPr>
        <p:spPr>
          <a:xfrm>
            <a:off x="731520" y="3840480"/>
            <a:ext cx="51206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Architectural innovations</a:t>
            </a:r>
            <a:endParaRPr lang="en-US" sz="1200" dirty="0"/>
          </a:p>
        </p:txBody>
      </p:sp>
      <p:sp>
        <p:nvSpPr>
          <p:cNvPr id="15" name="Text 13"/>
          <p:cNvSpPr/>
          <p:nvPr/>
        </p:nvSpPr>
        <p:spPr>
          <a:xfrm>
            <a:off x="658368" y="4261104"/>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RoFormer / RoPE — arxiv.org/abs/2104.09864</a:t>
            </a:r>
            <a:endParaRPr lang="en-US" sz="1100" dirty="0"/>
          </a:p>
        </p:txBody>
      </p:sp>
      <p:sp>
        <p:nvSpPr>
          <p:cNvPr id="16" name="Text 14"/>
          <p:cNvSpPr/>
          <p:nvPr/>
        </p:nvSpPr>
        <p:spPr>
          <a:xfrm>
            <a:off x="658368" y="4590288"/>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GQA — arxiv.org/abs/2305.13245</a:t>
            </a:r>
            <a:endParaRPr lang="en-US" sz="1100" dirty="0"/>
          </a:p>
        </p:txBody>
      </p:sp>
      <p:sp>
        <p:nvSpPr>
          <p:cNvPr id="17" name="Text 15"/>
          <p:cNvSpPr/>
          <p:nvPr/>
        </p:nvSpPr>
        <p:spPr>
          <a:xfrm>
            <a:off x="658368" y="4919472"/>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Multi-Query Attention — arxiv.org/abs/1911.02150</a:t>
            </a:r>
            <a:endParaRPr lang="en-US" sz="1100" dirty="0"/>
          </a:p>
        </p:txBody>
      </p:sp>
      <p:sp>
        <p:nvSpPr>
          <p:cNvPr id="18" name="Text 16"/>
          <p:cNvSpPr/>
          <p:nvPr/>
        </p:nvSpPr>
        <p:spPr>
          <a:xfrm>
            <a:off x="658368" y="5248656"/>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FlashAttention — arxiv.org/abs/2205.14135</a:t>
            </a:r>
            <a:endParaRPr lang="en-US" sz="1100" dirty="0"/>
          </a:p>
        </p:txBody>
      </p:sp>
      <p:sp>
        <p:nvSpPr>
          <p:cNvPr id="19" name="Text 17"/>
          <p:cNvSpPr/>
          <p:nvPr/>
        </p:nvSpPr>
        <p:spPr>
          <a:xfrm>
            <a:off x="658368" y="5577840"/>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MoE (Sparsely-Gated) — arxiv.org/abs/1701.06538</a:t>
            </a:r>
            <a:endParaRPr lang="en-US" sz="1100" dirty="0"/>
          </a:p>
        </p:txBody>
      </p:sp>
      <p:sp>
        <p:nvSpPr>
          <p:cNvPr id="20" name="Text 18"/>
          <p:cNvSpPr/>
          <p:nvPr/>
        </p:nvSpPr>
        <p:spPr>
          <a:xfrm>
            <a:off x="658368" y="5907024"/>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Kimi K2 / MuonClip — arxiv.org/abs/2507.20534</a:t>
            </a:r>
            <a:endParaRPr lang="en-US" sz="1100" dirty="0"/>
          </a:p>
        </p:txBody>
      </p:sp>
      <p:sp>
        <p:nvSpPr>
          <p:cNvPr id="21" name="Shape 19"/>
          <p:cNvSpPr/>
          <p:nvPr/>
        </p:nvSpPr>
        <p:spPr>
          <a:xfrm>
            <a:off x="6236208" y="1444752"/>
            <a:ext cx="5394960" cy="347472"/>
          </a:xfrm>
          <a:prstGeom prst="roundRect">
            <a:avLst>
              <a:gd name="adj" fmla="val 15789"/>
            </a:avLst>
          </a:prstGeom>
          <a:solidFill>
            <a:srgbClr val="D9820A"/>
          </a:solidFill>
          <a:ln/>
        </p:spPr>
      </p:sp>
      <p:sp>
        <p:nvSpPr>
          <p:cNvPr id="22" name="Text 20"/>
          <p:cNvSpPr/>
          <p:nvPr/>
        </p:nvSpPr>
        <p:spPr>
          <a:xfrm>
            <a:off x="6400800" y="1444752"/>
            <a:ext cx="51206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Modern models &amp; benchmarks</a:t>
            </a:r>
            <a:endParaRPr lang="en-US" sz="1200" dirty="0"/>
          </a:p>
        </p:txBody>
      </p:sp>
      <p:sp>
        <p:nvSpPr>
          <p:cNvPr id="23" name="Text 21"/>
          <p:cNvSpPr/>
          <p:nvPr/>
        </p:nvSpPr>
        <p:spPr>
          <a:xfrm>
            <a:off x="6327648" y="1865376"/>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GPT-4 Technical Report — arxiv.org/abs/2303.08774</a:t>
            </a:r>
            <a:endParaRPr lang="en-US" sz="1100" dirty="0"/>
          </a:p>
        </p:txBody>
      </p:sp>
      <p:sp>
        <p:nvSpPr>
          <p:cNvPr id="24" name="Text 22"/>
          <p:cNvSpPr/>
          <p:nvPr/>
        </p:nvSpPr>
        <p:spPr>
          <a:xfrm>
            <a:off x="6327648" y="2194560"/>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LLaMA — arxiv.org/abs/2302.13971</a:t>
            </a:r>
            <a:endParaRPr lang="en-US" sz="1100" dirty="0"/>
          </a:p>
        </p:txBody>
      </p:sp>
      <p:sp>
        <p:nvSpPr>
          <p:cNvPr id="25" name="Text 23"/>
          <p:cNvSpPr/>
          <p:nvPr/>
        </p:nvSpPr>
        <p:spPr>
          <a:xfrm>
            <a:off x="6327648" y="2523744"/>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DeepSeek-V3 — arxiv.org/abs/2412.19437</a:t>
            </a:r>
            <a:endParaRPr lang="en-US" sz="1100" dirty="0"/>
          </a:p>
        </p:txBody>
      </p:sp>
      <p:sp>
        <p:nvSpPr>
          <p:cNvPr id="26" name="Text 24"/>
          <p:cNvSpPr/>
          <p:nvPr/>
        </p:nvSpPr>
        <p:spPr>
          <a:xfrm>
            <a:off x="6327648" y="2852928"/>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DeepSeek-R1 — arxiv.org/abs/2501.12948</a:t>
            </a:r>
            <a:endParaRPr lang="en-US" sz="1100" dirty="0"/>
          </a:p>
        </p:txBody>
      </p:sp>
      <p:sp>
        <p:nvSpPr>
          <p:cNvPr id="27" name="Text 25"/>
          <p:cNvSpPr/>
          <p:nvPr/>
        </p:nvSpPr>
        <p:spPr>
          <a:xfrm>
            <a:off x="6327648" y="3182112"/>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MMLU benchmark — arxiv.org/abs/2009.03300</a:t>
            </a:r>
            <a:endParaRPr lang="en-US" sz="1100" dirty="0"/>
          </a:p>
        </p:txBody>
      </p:sp>
      <p:sp>
        <p:nvSpPr>
          <p:cNvPr id="28" name="Shape 26"/>
          <p:cNvSpPr/>
          <p:nvPr/>
        </p:nvSpPr>
        <p:spPr>
          <a:xfrm>
            <a:off x="6236208" y="3511296"/>
            <a:ext cx="5394960" cy="347472"/>
          </a:xfrm>
          <a:prstGeom prst="roundRect">
            <a:avLst>
              <a:gd name="adj" fmla="val 15789"/>
            </a:avLst>
          </a:prstGeom>
          <a:solidFill>
            <a:srgbClr val="E5484D"/>
          </a:solidFill>
          <a:ln/>
        </p:spPr>
      </p:sp>
      <p:sp>
        <p:nvSpPr>
          <p:cNvPr id="29" name="Text 27"/>
          <p:cNvSpPr/>
          <p:nvPr/>
        </p:nvSpPr>
        <p:spPr>
          <a:xfrm>
            <a:off x="6400800" y="3511296"/>
            <a:ext cx="51206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in research &amp; agents</a:t>
            </a:r>
            <a:endParaRPr lang="en-US" sz="1200" dirty="0"/>
          </a:p>
        </p:txBody>
      </p:sp>
      <p:sp>
        <p:nvSpPr>
          <p:cNvPr id="30" name="Text 28"/>
          <p:cNvSpPr/>
          <p:nvPr/>
        </p:nvSpPr>
        <p:spPr>
          <a:xfrm>
            <a:off x="6327648" y="3931920"/>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Scientific LLMs survey — arxiv.org/abs/2503.24047</a:t>
            </a:r>
            <a:endParaRPr lang="en-US" sz="1100" dirty="0"/>
          </a:p>
        </p:txBody>
      </p:sp>
      <p:sp>
        <p:nvSpPr>
          <p:cNvPr id="31" name="Text 29"/>
          <p:cNvSpPr/>
          <p:nvPr/>
        </p:nvSpPr>
        <p:spPr>
          <a:xfrm>
            <a:off x="6327648" y="4261104"/>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AI co-scientist — arxiv.org/abs/2502.18864</a:t>
            </a:r>
            <a:endParaRPr lang="en-US" sz="1100" dirty="0"/>
          </a:p>
        </p:txBody>
      </p:sp>
      <p:sp>
        <p:nvSpPr>
          <p:cNvPr id="32" name="Text 30"/>
          <p:cNvSpPr/>
          <p:nvPr/>
        </p:nvSpPr>
        <p:spPr>
          <a:xfrm>
            <a:off x="6327648" y="4590288"/>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Agentic loop — code.claude.com/docs</a:t>
            </a:r>
            <a:endParaRPr lang="en-US" sz="1100" dirty="0"/>
          </a:p>
        </p:txBody>
      </p:sp>
      <p:sp>
        <p:nvSpPr>
          <p:cNvPr id="33" name="Text 31"/>
          <p:cNvSpPr/>
          <p:nvPr/>
        </p:nvSpPr>
        <p:spPr>
          <a:xfrm>
            <a:off x="6327648" y="4919472"/>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XMRetriever — navneet.page/research</a:t>
            </a:r>
            <a:endParaRPr lang="en-US" sz="1100" dirty="0"/>
          </a:p>
        </p:txBody>
      </p:sp>
      <p:sp>
        <p:nvSpPr>
          <p:cNvPr id="34" name="Shape 32"/>
          <p:cNvSpPr/>
          <p:nvPr/>
        </p:nvSpPr>
        <p:spPr>
          <a:xfrm>
            <a:off x="6236208" y="5248656"/>
            <a:ext cx="5394960" cy="347472"/>
          </a:xfrm>
          <a:prstGeom prst="roundRect">
            <a:avLst>
              <a:gd name="adj" fmla="val 15789"/>
            </a:avLst>
          </a:prstGeom>
          <a:solidFill>
            <a:srgbClr val="1B9C5A"/>
          </a:solidFill>
          <a:ln/>
        </p:spPr>
      </p:sp>
      <p:sp>
        <p:nvSpPr>
          <p:cNvPr id="35" name="Text 33"/>
          <p:cNvSpPr/>
          <p:nvPr/>
        </p:nvSpPr>
        <p:spPr>
          <a:xfrm>
            <a:off x="6400800" y="5248656"/>
            <a:ext cx="5120640" cy="3474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Video explainers</a:t>
            </a:r>
            <a:endParaRPr lang="en-US" sz="1200" dirty="0"/>
          </a:p>
        </p:txBody>
      </p:sp>
      <p:sp>
        <p:nvSpPr>
          <p:cNvPr id="36" name="Text 34"/>
          <p:cNvSpPr/>
          <p:nvPr/>
        </p:nvSpPr>
        <p:spPr>
          <a:xfrm>
            <a:off x="6327648" y="5669280"/>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3Blue1Brown — youtube.com/watch?v=wjZofJX0v4M</a:t>
            </a:r>
            <a:endParaRPr lang="en-US" sz="1100" dirty="0"/>
          </a:p>
        </p:txBody>
      </p:sp>
      <p:sp>
        <p:nvSpPr>
          <p:cNvPr id="37" name="Text 35"/>
          <p:cNvSpPr/>
          <p:nvPr/>
        </p:nvSpPr>
        <p:spPr>
          <a:xfrm>
            <a:off x="6327648" y="5998464"/>
            <a:ext cx="5349240" cy="329184"/>
          </a:xfrm>
          <a:prstGeom prst="rect">
            <a:avLst/>
          </a:prstGeom>
          <a:noFill/>
          <a:ln/>
        </p:spPr>
        <p:txBody>
          <a:bodyPr wrap="square" lIns="0" tIns="0" rIns="0" bIns="0" rtlCol="0" anchor="ctr"/>
          <a:lstStyle/>
          <a:p>
            <a:pPr indent="0" marL="0">
              <a:buNone/>
            </a:pPr>
            <a:r>
              <a:rPr lang="en-US" sz="1100" b="1" dirty="0">
                <a:solidFill>
                  <a:srgbClr val="7C6FF0"/>
                </a:solidFill>
                <a:latin typeface="Calibri" pitchFamily="34" charset="0"/>
                <a:ea typeface="Calibri" pitchFamily="34" charset="-122"/>
                <a:cs typeface="Calibri" pitchFamily="34" charset="-120"/>
              </a:rPr>
              <a:t>›  </a:t>
            </a:r>
            <a:pPr indent="0" marL="0">
              <a:buNone/>
            </a:pPr>
            <a:r>
              <a:rPr lang="en-US" sz="1100" dirty="0">
                <a:solidFill>
                  <a:srgbClr val="1B2440"/>
                </a:solidFill>
                <a:latin typeface="Calibri" pitchFamily="34" charset="0"/>
                <a:ea typeface="Calibri" pitchFamily="34" charset="-122"/>
                <a:cs typeface="Calibri" pitchFamily="34" charset="-120"/>
              </a:rPr>
              <a:t>A. Karpathy, Intro to LLMs — youtube.com/watch?v=zjkBMFhNj_g</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955280" y="-182880"/>
            <a:ext cx="4572000" cy="7040880"/>
          </a:xfrm>
          <a:prstGeom prst="rect">
            <a:avLst/>
          </a:prstGeom>
          <a:noFill/>
          <a:ln/>
        </p:spPr>
        <p:txBody>
          <a:bodyPr wrap="square" lIns="0" tIns="0" rIns="0" bIns="0" rtlCol="0" anchor="ctr"/>
          <a:lstStyle/>
          <a:p>
            <a:pPr algn="ctr" indent="0" marL="0">
              <a:buNone/>
            </a:pPr>
            <a:r>
              <a:rPr lang="en-US" sz="43000" b="1" dirty="0">
                <a:solidFill>
                  <a:srgbClr val="5B4BE0">
                    <a:alpha val="16000"/>
                  </a:srgbClr>
                </a:solidFill>
                <a:latin typeface="Cambria" pitchFamily="34" charset="0"/>
                <a:ea typeface="Cambria" pitchFamily="34" charset="-122"/>
                <a:cs typeface="Cambria" pitchFamily="34" charset="-120"/>
              </a:rPr>
              <a:t>?</a:t>
            </a:r>
            <a:endParaRPr lang="en-US" sz="43000" dirty="0"/>
          </a:p>
        </p:txBody>
      </p:sp>
      <p:sp>
        <p:nvSpPr>
          <p:cNvPr id="3" name="Shape 1"/>
          <p:cNvSpPr/>
          <p:nvPr/>
        </p:nvSpPr>
        <p:spPr>
          <a:xfrm>
            <a:off x="612648" y="1965960"/>
            <a:ext cx="960120" cy="960120"/>
          </a:xfrm>
          <a:prstGeom prst="ellipse">
            <a:avLst/>
          </a:prstGeom>
          <a:solidFill>
            <a:srgbClr val="5B4BE0"/>
          </a:solidFill>
          <a:ln/>
        </p:spPr>
      </p:sp>
      <p:pic>
        <p:nvPicPr>
          <p:cNvPr id="4" name="Image 0" descr="preencoded.png">    </p:cNvPr>
          <p:cNvPicPr>
            <a:picLocks noChangeAspect="1"/>
          </p:cNvPicPr>
          <p:nvPr/>
        </p:nvPicPr>
        <p:blipFill>
          <a:blip r:embed="rId1"/>
          <a:stretch>
            <a:fillRect/>
          </a:stretch>
        </p:blipFill>
        <p:spPr>
          <a:xfrm>
            <a:off x="852678" y="2205990"/>
            <a:ext cx="480060" cy="480060"/>
          </a:xfrm>
          <a:prstGeom prst="rect">
            <a:avLst/>
          </a:prstGeom>
        </p:spPr>
      </p:pic>
      <p:sp>
        <p:nvSpPr>
          <p:cNvPr id="5" name="Text 2"/>
          <p:cNvSpPr/>
          <p:nvPr/>
        </p:nvSpPr>
        <p:spPr>
          <a:xfrm>
            <a:off x="566928" y="3063240"/>
            <a:ext cx="82296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3"/>
          <p:cNvSpPr/>
          <p:nvPr/>
        </p:nvSpPr>
        <p:spPr>
          <a:xfrm>
            <a:off x="594360" y="4069080"/>
            <a:ext cx="8229600" cy="457200"/>
          </a:xfrm>
          <a:prstGeom prst="rect">
            <a:avLst/>
          </a:prstGeom>
          <a:noFill/>
          <a:ln/>
        </p:spPr>
        <p:txBody>
          <a:bodyPr wrap="square" lIns="0" tIns="0" rIns="0" bIns="0" rtlCol="0" anchor="ctr"/>
          <a:lstStyle/>
          <a:p>
            <a:pPr indent="0" marL="0">
              <a:buNone/>
            </a:pPr>
            <a:r>
              <a:rPr lang="en-US" sz="1700" dirty="0">
                <a:solidFill>
                  <a:srgbClr val="C6CCE0"/>
                </a:solidFill>
                <a:latin typeface="Calibri" pitchFamily="34" charset="0"/>
                <a:ea typeface="Calibri" pitchFamily="34" charset="-122"/>
                <a:cs typeface="Calibri" pitchFamily="34" charset="-120"/>
              </a:rPr>
              <a:t>Questions, pushback and hard cases all welcome.</a:t>
            </a:r>
            <a:endParaRPr lang="en-US" sz="1700" dirty="0"/>
          </a:p>
        </p:txBody>
      </p:sp>
      <p:sp>
        <p:nvSpPr>
          <p:cNvPr id="7" name="Text 4"/>
          <p:cNvSpPr/>
          <p:nvPr/>
        </p:nvSpPr>
        <p:spPr>
          <a:xfrm>
            <a:off x="594360" y="4709160"/>
            <a:ext cx="9144000" cy="365760"/>
          </a:xfrm>
          <a:prstGeom prst="rect">
            <a:avLst/>
          </a:prstGeom>
          <a:noFill/>
          <a:ln/>
        </p:spPr>
        <p:txBody>
          <a:bodyPr wrap="square" lIns="0" tIns="0" rIns="0" bIns="0" rtlCol="0" anchor="ctr"/>
          <a:lstStyle/>
          <a:p>
            <a:pPr indent="0" marL="0">
              <a:buNone/>
            </a:pPr>
            <a:r>
              <a:rPr lang="en-US" sz="1300" i="1" dirty="0">
                <a:solidFill>
                  <a:srgbClr val="8A93AB"/>
                </a:solidFill>
                <a:latin typeface="Calibri" pitchFamily="34" charset="0"/>
                <a:ea typeface="Calibri" pitchFamily="34" charset="-122"/>
                <a:cs typeface="Calibri" pitchFamily="34" charset="-120"/>
              </a:rPr>
              <a:t>LLM Foundations · 2017 → 2026 · A technical walk through the era of scale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Day 1 - AI and ML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Foundations: 2017 → 2026</dc:title>
  <dc:subject>PptxGenJS Presentation</dc:subject>
  <dc:creator>LLM Foundations</dc:creator>
  <cp:lastModifiedBy>LLM Foundations</cp:lastModifiedBy>
  <cp:revision>1</cp:revision>
  <dcterms:created xsi:type="dcterms:W3CDTF">2026-06-22T16:16:43Z</dcterms:created>
  <dcterms:modified xsi:type="dcterms:W3CDTF">2026-06-22T16:16:43Z</dcterms:modified>
</cp:coreProperties>
</file>