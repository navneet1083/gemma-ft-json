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params</c:v>
                </c:pt>
              </c:strCache>
            </c:strRef>
          </c:tx>
          <c:spPr>
            <a:solidFill>
              <a:srgbClr val="0C4B49"/>
            </a:solidFill>
            <a:effectLst/>
          </c:spPr>
          <c:invertIfNegative val="0"/>
          <c:dLbls>
            <c:numFmt formatCode="#,##0.0&quot;B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Dense-13B</c:v>
                  </c:pt>
                  <c:pt idx="1">
                    <c:v>Mixtral 8×7B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46.7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params</c:v>
                </c:pt>
              </c:strCache>
            </c:strRef>
          </c:tx>
          <c:spPr>
            <a:solidFill>
              <a:srgbClr val="D99A2B"/>
            </a:solidFill>
            <a:effectLst/>
          </c:spPr>
          <c:invertIfNegative val="0"/>
          <c:dLbls>
            <c:numFmt formatCode="#,##0.0&quot;B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Dense-13B</c:v>
                  </c:pt>
                  <c:pt idx="1">
                    <c:v>Mixtral 8×7B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</c:v>
                </c:pt>
                <c:pt idx="1">
                  <c:v>12.9</c:v>
                </c:pt>
              </c:numCache>
            </c:numRef>
          </c:val>
        </c:ser>
        <c:dLbls>
          <c:numFmt formatCode="#,##0.0&quot;B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73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E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C6E6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Compute cost (US$K)</c:v>
                </c:pt>
              </c:strCache>
            </c:strRef>
          </c:tx>
          <c:spPr>
            <a:solidFill>
              <a:srgbClr val="10716E"/>
            </a:solidFill>
            <a:effectLst/>
          </c:spPr>
          <c:invertIfNegative val="0"/>
          <c:dLbls>
            <c:numFmt formatCode="&quot;$&quot;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C4B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3B / 300B</c:v>
                  </c:pt>
                  <c:pt idx="1">
                    <c:v>7B / 500B</c:v>
                  </c:pt>
                  <c:pt idx="2">
                    <c:v>13B / 1T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10.4</c:v>
                </c:pt>
                <c:pt idx="1">
                  <c:v>40.5</c:v>
                </c:pt>
                <c:pt idx="2">
                  <c:v>150.5</c:v>
                </c:pt>
              </c:numCache>
            </c:numRef>
          </c:val>
        </c:ser>
        <c:dLbls>
          <c:numFmt formatCode="&quot;$&quot;#,##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C4B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E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RESEARCH PROPOSAL   ·   PHARMACY  ×  LARGE LANGUAGE MODELS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13716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PharmaLLM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2724912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in-house Large Language Model, built from scratch for Pharmacy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37033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our proprietary pharmacy data into a private, low-cost, domain-expert AI asset — a build no frontier lab can replicate.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5074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0749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Senior Leadership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5074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50749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Strategy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57150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out-general the frontier — but on our domain, our data, our privacy and our cost, we can win.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12680" y="3794760"/>
            <a:ext cx="-1851660" cy="-1668780"/>
          </a:xfrm>
          <a:prstGeom prst="line">
            <a:avLst/>
          </a:prstGeom>
          <a:noFill/>
          <a:ln w="22225">
            <a:solidFill>
              <a:srgbClr val="B9D2C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012680" y="3794760"/>
            <a:ext cx="1440180" cy="-1668780"/>
          </a:xfrm>
          <a:prstGeom prst="line">
            <a:avLst/>
          </a:prstGeom>
          <a:noFill/>
          <a:ln w="22225">
            <a:solidFill>
              <a:srgbClr val="B9D2C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012680" y="3794760"/>
            <a:ext cx="-1851660" cy="1348740"/>
          </a:xfrm>
          <a:prstGeom prst="line">
            <a:avLst/>
          </a:prstGeom>
          <a:noFill/>
          <a:ln w="22225">
            <a:solidFill>
              <a:srgbClr val="B9D2C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012680" y="3794760"/>
            <a:ext cx="1440180" cy="1348740"/>
          </a:xfrm>
          <a:prstGeom prst="line">
            <a:avLst/>
          </a:prstGeom>
          <a:noFill/>
          <a:ln w="22225">
            <a:solidFill>
              <a:srgbClr val="B9D2C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464040" y="3246120"/>
            <a:ext cx="1737360" cy="1737360"/>
          </a:xfrm>
          <a:prstGeom prst="roundRect">
            <a:avLst>
              <a:gd name="adj" fmla="val 8421"/>
            </a:avLst>
          </a:prstGeom>
          <a:solidFill>
            <a:srgbClr val="0C4B49"/>
          </a:solidFill>
          <a:ln/>
          <a:effectLst>
            <a:outerShdw sx="100000" sy="100000" kx="0" ky="0" algn="bl" rotWithShape="0" blurRad="127000" dist="50800" dir="5400000">
              <a:srgbClr val="9BB4B1">
                <a:alpha val="34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630168"/>
            <a:ext cx="822960" cy="822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464040" y="4416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160020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A69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B1">
                <a:alpha val="2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1837944"/>
            <a:ext cx="484632" cy="4846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679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0927080" y="160020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613C"/>
            </a:solidFill>
            <a:prstDash val="solid"/>
          </a:ln>
          <a:effectLst>
            <a:outerShdw sx="100000" sy="100000" kx="0" ky="0" algn="bl" rotWithShape="0" blurRad="76200" dist="25400" dir="5400000">
              <a:srgbClr val="9BB4B1">
                <a:alpha val="2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4" y="1837944"/>
            <a:ext cx="484632" cy="4846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607040" y="2679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635240" y="461772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0716E"/>
            </a:solidFill>
            <a:prstDash val="solid"/>
          </a:ln>
          <a:effectLst>
            <a:outerShdw sx="100000" sy="100000" kx="0" ky="0" algn="bl" rotWithShape="0" blurRad="76200" dist="25400" dir="5400000">
              <a:srgbClr val="9BB4B1">
                <a:alpha val="2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485546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5696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0927080" y="461772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9A2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B1">
                <a:alpha val="22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0544" y="4855464"/>
            <a:ext cx="484632" cy="4846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607040" y="5696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Pharmacy Domain — and Why a From-Scratch Model Helps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DOMAIN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11556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pharmacy function is a dense, high-stakes, code-driven corner of healthcare. A model that speaks its language natively — trained on our own de-identified data — becomes an owned capability, not a rented one.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3521354" cy="1572768"/>
          </a:xfrm>
          <a:prstGeom prst="roundRect">
            <a:avLst>
              <a:gd name="adj" fmla="val 5814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2376" y="2002536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7" y="2149937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9032" y="2020824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e-Prescribing &amp; SIG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0664" y="2624328"/>
            <a:ext cx="30641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directions, doses, frequencies, routes from free-text SIG codes.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35170" y="1783080"/>
            <a:ext cx="3521354" cy="1572768"/>
          </a:xfrm>
          <a:prstGeom prst="roundRect">
            <a:avLst>
              <a:gd name="adj" fmla="val 5814"/>
            </a:avLst>
          </a:prstGeom>
          <a:solidFill>
            <a:srgbClr val="E6F4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54626" y="2002536"/>
            <a:ext cx="566928" cy="566928"/>
          </a:xfrm>
          <a:prstGeom prst="ellipse">
            <a:avLst/>
          </a:prstGeom>
          <a:solidFill>
            <a:srgbClr val="2FA69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028" y="214993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1282" y="2020824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Drug–Drug Interactions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914" y="2624328"/>
            <a:ext cx="30641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rank clinically relevant interactions and contraindications.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167421" y="1783080"/>
            <a:ext cx="3521354" cy="1572768"/>
          </a:xfrm>
          <a:prstGeom prst="roundRect">
            <a:avLst>
              <a:gd name="adj" fmla="val 5814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86877" y="2002536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278" y="2149937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63533" y="2020824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405165" y="2624328"/>
            <a:ext cx="30641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payer criteria checks, documentation and appeals drafting.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2920" y="3630168"/>
            <a:ext cx="3521354" cy="1572768"/>
          </a:xfrm>
          <a:prstGeom prst="roundRect">
            <a:avLst>
              <a:gd name="adj" fmla="val 5814"/>
            </a:avLst>
          </a:prstGeom>
          <a:solidFill>
            <a:srgbClr val="FBEDE7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22376" y="3849624"/>
            <a:ext cx="566928" cy="566928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77" y="3997025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99032" y="3867912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40664" y="4471416"/>
            <a:ext cx="30641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adverse-event signals and near-miss patterns from records.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35170" y="3630168"/>
            <a:ext cx="3521354" cy="1572768"/>
          </a:xfrm>
          <a:prstGeom prst="roundRect">
            <a:avLst>
              <a:gd name="adj" fmla="val 5814"/>
            </a:avLst>
          </a:prstGeom>
          <a:solidFill>
            <a:srgbClr val="E6F4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54626" y="3849624"/>
            <a:ext cx="566928" cy="566928"/>
          </a:xfrm>
          <a:prstGeom prst="ellipse">
            <a:avLst/>
          </a:prstGeom>
          <a:solidFill>
            <a:srgbClr val="2FA69B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028" y="3997025"/>
            <a:ext cx="272125" cy="2721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31282" y="3867912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Formulary &amp; Claims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572914" y="4471416"/>
            <a:ext cx="30641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over NCPDP claims, coverage, tiers and negotiated pricing.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167421" y="3630168"/>
            <a:ext cx="3521354" cy="1572768"/>
          </a:xfrm>
          <a:prstGeom prst="roundRect">
            <a:avLst>
              <a:gd name="adj" fmla="val 5814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86877" y="3849624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278" y="3997025"/>
            <a:ext cx="272125" cy="27212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063533" y="3867912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MTM &amp; Reconciliation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405165" y="4471416"/>
            <a:ext cx="30641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therapy management and cross-setting med reconciliation.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02920" y="5367528"/>
            <a:ext cx="11185855" cy="786384"/>
          </a:xfrm>
          <a:prstGeom prst="roundRect">
            <a:avLst>
              <a:gd name="adj" fmla="val 11628"/>
            </a:avLst>
          </a:prstGeom>
          <a:solidFill>
            <a:srgbClr val="0C4B49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758952" y="54955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FROM SCRATCH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3017520" y="5495544"/>
            <a:ext cx="8442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fluency the frontier lacks   ·   Every token stays inside our security perimeter (PHI never leaves)   ·   A reusable asset that drives marginal cost toward zero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A69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Pharmacy Data Looks Like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text is code-dense and abbreviation-heavy — a distinct language built on standardized terminologies. This is exactly where a custom tokenizer and domain pre-training pay off.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989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956816"/>
            <a:ext cx="475488" cy="47548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27" y="2080443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9304" y="19019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RxNorm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9304" y="2194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clinical drug names; links vocabularies via RxCUI.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2706624"/>
            <a:ext cx="5989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5800" y="2880360"/>
            <a:ext cx="475488" cy="475488"/>
          </a:xfrm>
          <a:prstGeom prst="ellipse">
            <a:avLst/>
          </a:prstGeom>
          <a:solidFill>
            <a:srgbClr val="2FA69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27" y="3003987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9304" y="282549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89304" y="31181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10/11-digit product code — the pharmacy industry key for dispensing &amp; billing.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2920" y="3630168"/>
            <a:ext cx="5989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5800" y="3803904"/>
            <a:ext cx="475488" cy="47548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27" y="3927531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9304" y="37490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SNOMED CT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289304" y="40416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largest clinical terminology for conditions &amp; procedures.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02920" y="4553712"/>
            <a:ext cx="5989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85800" y="4727448"/>
            <a:ext cx="475488" cy="475488"/>
          </a:xfrm>
          <a:prstGeom prst="ellipse">
            <a:avLst/>
          </a:prstGeom>
          <a:solidFill>
            <a:srgbClr val="2FA69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27" y="4851075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89304" y="467258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NCPDP SCRIPT / Telecom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289304" y="49651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HIPAA-mandated standards for e-prescribing and claims transactions.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02920" y="5477256"/>
            <a:ext cx="5989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85800" y="5650992"/>
            <a:ext cx="475488" cy="47548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27" y="5774619"/>
            <a:ext cx="228234" cy="22823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89304" y="55961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SPL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1289304" y="58887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Product Labeling — the source corpus behind PharmBERT.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812280" y="1783080"/>
            <a:ext cx="4876495" cy="2423160"/>
          </a:xfrm>
          <a:prstGeom prst="roundRect">
            <a:avLst>
              <a:gd name="adj" fmla="val 3019"/>
            </a:avLst>
          </a:prstGeom>
          <a:solidFill>
            <a:srgbClr val="083836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7031736" y="190195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de-identified e-prescription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7050024" y="2212848"/>
            <a:ext cx="44192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      : ****  (de-identified)</a:t>
            </a:r>
            <a:endParaRPr lang="en-US" sz="10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drug_name       : Metformin HCl 500 mg</a:t>
            </a:r>
            <a:endParaRPr lang="en-US" sz="10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ndc_11          : 00093-1048-01</a:t>
            </a:r>
            <a:endParaRPr lang="en-US" sz="10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rxcui           : 861007</a:t>
            </a:r>
            <a:endParaRPr lang="en-US" sz="10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            : 1 TAB PO BID WITH MEALS</a:t>
            </a:r>
            <a:endParaRPr lang="en-US" sz="10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directions      : take 1 tablet by mouth</a:t>
            </a:r>
            <a:endParaRPr lang="en-US" sz="10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twice daily with meals</a:t>
            </a:r>
            <a:endParaRPr lang="en-US" sz="10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days_supply     : 30      refills : 5</a:t>
            </a:r>
            <a:endParaRPr lang="en-US" sz="10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interaction_chk : none (level 0)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812280" y="4343400"/>
            <a:ext cx="4876495" cy="1600200"/>
          </a:xfrm>
          <a:prstGeom prst="roundRect">
            <a:avLst>
              <a:gd name="adj" fmla="val 4571"/>
            </a:avLst>
          </a:prstGeom>
          <a:solidFill>
            <a:srgbClr val="FCF4E3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013448" y="4526280"/>
            <a:ext cx="475488" cy="475488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7075" y="4649907"/>
            <a:ext cx="228234" cy="22823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598664" y="44805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pharmacy tokenizer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7031736" y="4956048"/>
            <a:ext cx="44375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NDC, RxCUI and SIG abbreviations as coherent tokens (≈50k vocab). Precedent: BioMedLM, GatorTron and BloombergGPT all gained accuracy &amp; efficiency from domain vocabularies.</a:t>
            </a:r>
            <a:endParaRPr lang="en-US" sz="1080" dirty="0"/>
          </a:p>
        </p:txBody>
      </p:sp>
      <p:sp>
        <p:nvSpPr>
          <p:cNvPr id="40" name="Text 31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Frontier Models (GPT-4o, Claude, Gemini) Fall Short Here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GAP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frontier models are remarkable — but for production pharmacy work at our scale, six structural gaps make them unsafe, non-compliant, or uneconomical.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3521354" cy="1737360"/>
          </a:xfrm>
          <a:prstGeom prst="roundRect">
            <a:avLst>
              <a:gd name="adj" fmla="val 5263"/>
            </a:avLst>
          </a:prstGeom>
          <a:solidFill>
            <a:srgbClr val="FBEDE7"/>
          </a:solidFill>
          <a:ln w="12700">
            <a:solidFill>
              <a:srgbClr val="EAC9BD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" y="1975104"/>
            <a:ext cx="603504" cy="603504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75" y="2132015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53896" y="1993392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drug facts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58952" y="2670048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6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invents dosages, interactions and even non-existent medications.</a:t>
            </a:r>
            <a:endParaRPr lang="en-US" sz="1130" dirty="0"/>
          </a:p>
        </p:txBody>
      </p:sp>
      <p:sp>
        <p:nvSpPr>
          <p:cNvPr id="12" name="Shape 8"/>
          <p:cNvSpPr/>
          <p:nvPr/>
        </p:nvSpPr>
        <p:spPr>
          <a:xfrm>
            <a:off x="4335170" y="1737360"/>
            <a:ext cx="3521354" cy="1737360"/>
          </a:xfrm>
          <a:prstGeom prst="roundRect">
            <a:avLst>
              <a:gd name="adj" fmla="val 5263"/>
            </a:avLst>
          </a:prstGeom>
          <a:solidFill>
            <a:srgbClr val="FBEDE7"/>
          </a:solidFill>
          <a:ln w="12700">
            <a:solidFill>
              <a:srgbClr val="EAC9BD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914" y="1975104"/>
            <a:ext cx="603504" cy="603504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825" y="2132015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86146" y="1993392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/ HIPAA egress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591202" y="2670048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6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patient &amp; claims data to external APIs creates real privacy exposure.</a:t>
            </a:r>
            <a:endParaRPr lang="en-US" sz="1130" dirty="0"/>
          </a:p>
        </p:txBody>
      </p:sp>
      <p:sp>
        <p:nvSpPr>
          <p:cNvPr id="17" name="Shape 12"/>
          <p:cNvSpPr/>
          <p:nvPr/>
        </p:nvSpPr>
        <p:spPr>
          <a:xfrm>
            <a:off x="8167421" y="1737360"/>
            <a:ext cx="3521354" cy="1737360"/>
          </a:xfrm>
          <a:prstGeom prst="roundRect">
            <a:avLst>
              <a:gd name="adj" fmla="val 5263"/>
            </a:avLst>
          </a:prstGeom>
          <a:solidFill>
            <a:srgbClr val="FBEDE7"/>
          </a:solidFill>
          <a:ln w="12700">
            <a:solidFill>
              <a:srgbClr val="EAC9BD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05165" y="1975104"/>
            <a:ext cx="603504" cy="603504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076" y="2132015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18397" y="1993392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knowledge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423453" y="2670048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6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our formulary, claims history, prior-auth rules and pricing.</a:t>
            </a:r>
            <a:endParaRPr lang="en-US" sz="1130" dirty="0"/>
          </a:p>
        </p:txBody>
      </p:sp>
      <p:sp>
        <p:nvSpPr>
          <p:cNvPr id="22" name="Shape 16"/>
          <p:cNvSpPr/>
          <p:nvPr/>
        </p:nvSpPr>
        <p:spPr>
          <a:xfrm>
            <a:off x="502920" y="3767328"/>
            <a:ext cx="3521354" cy="1737360"/>
          </a:xfrm>
          <a:prstGeom prst="roundRect">
            <a:avLst>
              <a:gd name="adj" fmla="val 5263"/>
            </a:avLst>
          </a:prstGeom>
          <a:solidFill>
            <a:srgbClr val="FBEDE7"/>
          </a:solidFill>
          <a:ln w="12700">
            <a:solidFill>
              <a:srgbClr val="EAC9BD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40664" y="4005072"/>
            <a:ext cx="603504" cy="603504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575" y="4161983"/>
            <a:ext cx="289682" cy="28968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53896" y="4023360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tokenization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58952" y="4700016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6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NDC codes and drug names, scattering meaning across subwords.</a:t>
            </a:r>
            <a:endParaRPr lang="en-US" sz="1130" dirty="0"/>
          </a:p>
        </p:txBody>
      </p:sp>
      <p:sp>
        <p:nvSpPr>
          <p:cNvPr id="27" name="Shape 20"/>
          <p:cNvSpPr/>
          <p:nvPr/>
        </p:nvSpPr>
        <p:spPr>
          <a:xfrm>
            <a:off x="4335170" y="3767328"/>
            <a:ext cx="3521354" cy="1737360"/>
          </a:xfrm>
          <a:prstGeom prst="roundRect">
            <a:avLst>
              <a:gd name="adj" fmla="val 5263"/>
            </a:avLst>
          </a:prstGeom>
          <a:solidFill>
            <a:srgbClr val="FBEDE7"/>
          </a:solidFill>
          <a:ln w="12700">
            <a:solidFill>
              <a:srgbClr val="EAC9BD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914" y="4005072"/>
            <a:ext cx="603504" cy="603504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825" y="4161983"/>
            <a:ext cx="289682" cy="28968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86146" y="4023360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API cost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591202" y="4700016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6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fees compound relentlessly with enterprise-scale volume.</a:t>
            </a:r>
            <a:endParaRPr lang="en-US" sz="1130" dirty="0"/>
          </a:p>
        </p:txBody>
      </p:sp>
      <p:sp>
        <p:nvSpPr>
          <p:cNvPr id="32" name="Shape 24"/>
          <p:cNvSpPr/>
          <p:nvPr/>
        </p:nvSpPr>
        <p:spPr>
          <a:xfrm>
            <a:off x="8167421" y="3767328"/>
            <a:ext cx="3521354" cy="1737360"/>
          </a:xfrm>
          <a:prstGeom prst="roundRect">
            <a:avLst>
              <a:gd name="adj" fmla="val 5263"/>
            </a:avLst>
          </a:prstGeom>
          <a:solidFill>
            <a:srgbClr val="FBEDE7"/>
          </a:solidFill>
          <a:ln w="12700">
            <a:solidFill>
              <a:srgbClr val="EAC9BD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405165" y="4005072"/>
            <a:ext cx="603504" cy="603504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2076" y="4161983"/>
            <a:ext cx="289682" cy="28968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18397" y="4023360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423453" y="4700016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6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drug approvals and formulary changes are frozen out of the model.</a:t>
            </a:r>
            <a:endParaRPr lang="en-US" sz="1130" dirty="0"/>
          </a:p>
        </p:txBody>
      </p:sp>
      <p:sp>
        <p:nvSpPr>
          <p:cNvPr id="37" name="Text 28"/>
          <p:cNvSpPr/>
          <p:nvPr/>
        </p:nvSpPr>
        <p:spPr>
          <a:xfrm>
            <a:off x="502920" y="56509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frontier models can pass pharmacy licensing exams — but exam performance is not the same as safe, grounded, proprietary-data-aware behavior in production.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Is Documented, Not Hypothetical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EVIDENCE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and preprint studies quantify how general models behave on real medication tasks — and how purpose-built systems outperform them.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FBEDE7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3816" y="202996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6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108960" y="2121408"/>
            <a:ext cx="2575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GPT-4 drug-interaction answers were potentially harmful recommendations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" y="3255264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Sikora et al., medRxiv 2024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78728" y="1828800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FCF4E3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9624" y="202996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8884768" y="2121408"/>
            <a:ext cx="2575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accurate but incomplete — missing clinically important detail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9624" y="3255264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Sikora et al., medRxiv 2024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3950208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13816" y="415137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07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4.38×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3108960" y="4242816"/>
            <a:ext cx="2575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near-miss dispensing events from a general LLM vs a purpose-built model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3816" y="537667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MEDIC, Nature Medicine 2024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78728" y="3950208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89624" y="415137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FA6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8884768" y="4242816"/>
            <a:ext cx="2575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near-miss dispensing events achieved by the purpose-built system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9624" y="537667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MEDIC, Nature Medicine 2024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5888736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medical hallucination is an intrinsic property of general LLMs. An in-house model plus retrieval and guardrails reduces it — and keeps every record inside our walls.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Thought Process — How We Justify the Objective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STRATEGY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honest framing de-risks the pitch: we are not chasing the frontier. We are building a narrow, defensible, winnable capability on ground we already own.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410048" cy="1965960"/>
          </a:xfrm>
          <a:prstGeom prst="roundRect">
            <a:avLst>
              <a:gd name="adj" fmla="val 4651"/>
            </a:avLst>
          </a:prstGeom>
          <a:solidFill>
            <a:srgbClr val="F2F5F5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" y="2002536"/>
            <a:ext cx="548640" cy="548640"/>
          </a:xfrm>
          <a:prstGeom prst="ellipse">
            <a:avLst/>
          </a:prstGeom>
          <a:solidFill>
            <a:srgbClr val="5C6E6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145182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9032" y="2020824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NOT attempt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69748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C5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Out-general GPT-5 or beat the frontier on broad reasoning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C5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public leaderboards or general-purpose benchmarks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C5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clinicians — the model assists, humans decide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8728" y="1783080"/>
            <a:ext cx="5410048" cy="1965960"/>
          </a:xfrm>
          <a:prstGeom prst="roundRect">
            <a:avLst>
              <a:gd name="adj" fmla="val 4651"/>
            </a:avLst>
          </a:prstGeom>
          <a:solidFill>
            <a:srgbClr val="0C4B49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16472" y="2002536"/>
            <a:ext cx="548640" cy="54864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118" y="2145182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4840" y="2020824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win 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553048" y="269748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domain — pharmacy fluency the frontier cannot match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— a proprietary corpus no lab can replicate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privacy — zero PHI egress, fully inside our perimeter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cost — a one-time asset, not a perpetual API bill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LOGIC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4352544"/>
            <a:ext cx="241927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22225">
            <a:solidFill>
              <a:srgbClr val="10716E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49224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7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069848" y="4352544"/>
            <a:ext cx="17609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</a:t>
            </a:r>
            <a:endParaRPr lang="en-US" sz="113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exists</a:t>
            </a:r>
            <a:endParaRPr lang="en-US" sz="1130" dirty="0"/>
          </a:p>
        </p:txBody>
      </p:sp>
      <p:sp>
        <p:nvSpPr>
          <p:cNvPr id="21" name="Shape 16"/>
          <p:cNvSpPr/>
          <p:nvPr/>
        </p:nvSpPr>
        <p:spPr>
          <a:xfrm>
            <a:off x="2995346" y="4773168"/>
            <a:ext cx="347472" cy="0"/>
          </a:xfrm>
          <a:prstGeom prst="line">
            <a:avLst/>
          </a:prstGeom>
          <a:noFill/>
          <a:ln w="25400">
            <a:solidFill>
              <a:srgbClr val="5C6E6D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3425114" y="4352544"/>
            <a:ext cx="241927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22225">
            <a:solidFill>
              <a:srgbClr val="D9613C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57141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3992042" y="4352544"/>
            <a:ext cx="17609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are</a:t>
            </a:r>
            <a:endParaRPr lang="en-US" sz="113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&amp; costly here</a:t>
            </a:r>
            <a:endParaRPr lang="en-US" sz="1130" dirty="0"/>
          </a:p>
        </p:txBody>
      </p:sp>
      <p:sp>
        <p:nvSpPr>
          <p:cNvPr id="25" name="Shape 20"/>
          <p:cNvSpPr/>
          <p:nvPr/>
        </p:nvSpPr>
        <p:spPr>
          <a:xfrm>
            <a:off x="5917540" y="4773168"/>
            <a:ext cx="347472" cy="0"/>
          </a:xfrm>
          <a:prstGeom prst="line">
            <a:avLst/>
          </a:prstGeom>
          <a:noFill/>
          <a:ln w="25400">
            <a:solidFill>
              <a:srgbClr val="5C6E6D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347308" y="4352544"/>
            <a:ext cx="241927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22225">
            <a:solidFill>
              <a:srgbClr val="2FA69B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493612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A6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914236" y="4352544"/>
            <a:ext cx="17609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Domain-model precedent</a:t>
            </a:r>
            <a:endParaRPr lang="en-US" sz="113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proven</a:t>
            </a:r>
            <a:endParaRPr lang="en-US" sz="1130" dirty="0"/>
          </a:p>
        </p:txBody>
      </p:sp>
      <p:sp>
        <p:nvSpPr>
          <p:cNvPr id="29" name="Shape 24"/>
          <p:cNvSpPr/>
          <p:nvPr/>
        </p:nvSpPr>
        <p:spPr>
          <a:xfrm>
            <a:off x="8839733" y="4773168"/>
            <a:ext cx="347472" cy="0"/>
          </a:xfrm>
          <a:prstGeom prst="line">
            <a:avLst/>
          </a:prstGeom>
          <a:noFill/>
          <a:ln w="25400">
            <a:solidFill>
              <a:srgbClr val="5C6E6D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269501" y="4352544"/>
            <a:ext cx="241927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22225">
            <a:solidFill>
              <a:srgbClr val="D99A2B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6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9415805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9836429" y="4352544"/>
            <a:ext cx="17609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Staged, low-risk,</a:t>
            </a:r>
            <a:endParaRPr lang="en-US" sz="113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build</a:t>
            </a:r>
            <a:endParaRPr lang="en-US" sz="1130" dirty="0"/>
          </a:p>
        </p:txBody>
      </p:sp>
      <p:sp>
        <p:nvSpPr>
          <p:cNvPr id="33" name="Text 28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Been Done — Domain Models That Won on Their Turf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PRECEDENT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finance, clinical care and biomedicine, focused models built (or adapted) in-house beat far larger general models on their target tasks — repeatedly.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585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3200400"/>
                <a:gridCol w="2331720"/>
                <a:gridCol w="277063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/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BloombergGPT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709B tokens (363B proprietary)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~1.3M A100-hrs (~$3–10M)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+8–10 pts on finance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GatorTronGPT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 &amp; 20B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277B words (82B UF clinical)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 × A100 (HiPerGator)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biomedical relation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Meditron-70B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&amp; 70B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48.1B-token medical (Llama-2 DAPT)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× A100 80GB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 Llama-2-70B &amp; GPT-3.5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BioMedLM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300B PubMed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× A100, ~6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50.3% MedQA (beat GPT-Neo)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Med-PaLM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PaLM-2 fine-tune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MultiMedQA instruction 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(Google TPU)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86.5% MedQA at 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Palmyra-Med-70B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Biomed corpus + SFT + DPO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(post-training)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85.9% avg (zero-shot) &gt; Med-PaLM-2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671B / 37B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14.8T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2.79M H800-hrs (~$5.6M)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GPT-4o-class at ~1/10 the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623560"/>
            <a:ext cx="11185855" cy="676656"/>
          </a:xfrm>
          <a:prstGeom prst="roundRect">
            <a:avLst>
              <a:gd name="adj" fmla="val 13514"/>
            </a:avLst>
          </a:prstGeom>
          <a:solidFill>
            <a:srgbClr val="0C4B49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04088" y="5742432"/>
            <a:ext cx="457200" cy="45720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86130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07592" y="5623560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clear:  domain data + modest scale + smart post-training beats giant general models. DeepSeek-V3 proves that clever architecture — not brute spend — drives cost-effectiveness.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A69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Phases: Pre-Training (the Moat) vs Post-Training (the Leverage)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METHOD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1155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are built in a pipeline. The expensive phase happens rarely and creates the asset; the cheap, iterative phase runs on our own compute and makes the model useful and safe.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1871411" cy="1234440"/>
          </a:xfrm>
          <a:prstGeom prst="roundRect">
            <a:avLst>
              <a:gd name="adj" fmla="val 7407"/>
            </a:avLst>
          </a:prstGeom>
          <a:solidFill>
            <a:srgbClr val="083836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2648" y="1975104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94360" y="2432304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pharmacy</a:t>
            </a:r>
            <a:endParaRPr lang="en-US" sz="103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“language”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2438339" y="2446020"/>
            <a:ext cx="329184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31531" y="1828800"/>
            <a:ext cx="1871411" cy="1234440"/>
          </a:xfrm>
          <a:prstGeom prst="roundRect">
            <a:avLst>
              <a:gd name="adj" fmla="val 7407"/>
            </a:avLst>
          </a:prstGeom>
          <a:solidFill>
            <a:srgbClr val="0C4B49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941259" y="1975104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pre-train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922971" y="2432304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/ DAPT</a:t>
            </a:r>
            <a:endParaRPr lang="en-US" sz="103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corpus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766950" y="2446020"/>
            <a:ext cx="329184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60142" y="1828800"/>
            <a:ext cx="1871411" cy="1234440"/>
          </a:xfrm>
          <a:prstGeom prst="roundRect">
            <a:avLst>
              <a:gd name="adj" fmla="val 7407"/>
            </a:avLst>
          </a:prstGeom>
          <a:solidFill>
            <a:srgbClr val="10716E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69870" y="1975104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251582" y="2432304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3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7095561" y="2446020"/>
            <a:ext cx="329184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488753" y="1828800"/>
            <a:ext cx="1871411" cy="1234440"/>
          </a:xfrm>
          <a:prstGeom prst="roundRect">
            <a:avLst>
              <a:gd name="adj" fmla="val 7407"/>
            </a:avLst>
          </a:prstGeom>
          <a:solidFill>
            <a:srgbClr val="2FA69B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598481" y="1975104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580193" y="2432304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03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9424172" y="2446020"/>
            <a:ext cx="329184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817364" y="1828800"/>
            <a:ext cx="1871411" cy="1234440"/>
          </a:xfrm>
          <a:prstGeom prst="roundRect">
            <a:avLst>
              <a:gd name="adj" fmla="val 7407"/>
            </a:avLst>
          </a:prstGeom>
          <a:solidFill>
            <a:srgbClr val="D99A2B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927092" y="1975104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RAG · Guardrails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908804" y="2432304"/>
            <a:ext cx="1688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Ground, align</a:t>
            </a:r>
            <a:endParaRPr lang="en-US" sz="103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make safe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502920" y="3209544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27" name="Text 24"/>
          <p:cNvSpPr/>
          <p:nvPr/>
        </p:nvSpPr>
        <p:spPr>
          <a:xfrm>
            <a:off x="576072" y="3209544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· rare · creates the asset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305495" y="3209544"/>
            <a:ext cx="3383280" cy="329184"/>
          </a:xfrm>
          <a:prstGeom prst="roundRect">
            <a:avLst>
              <a:gd name="adj" fmla="val 50000"/>
            </a:avLst>
          </a:prstGeom>
          <a:solidFill>
            <a:srgbClr val="FCF4E3"/>
          </a:solidFill>
          <a:ln/>
        </p:spPr>
      </p:sp>
      <p:sp>
        <p:nvSpPr>
          <p:cNvPr id="29" name="Text 26"/>
          <p:cNvSpPr/>
          <p:nvPr/>
        </p:nvSpPr>
        <p:spPr>
          <a:xfrm>
            <a:off x="8378647" y="3209544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· iterative · on our own compute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3703320"/>
            <a:ext cx="5410048" cy="1737360"/>
          </a:xfrm>
          <a:prstGeom prst="roundRect">
            <a:avLst>
              <a:gd name="adj" fmla="val 5263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22376" y="3904488"/>
            <a:ext cx="512064" cy="512064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13" y="4037625"/>
            <a:ext cx="245791" cy="245791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344168" y="3922776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 —  the moat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777240" y="4507992"/>
            <a:ext cx="487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statistical “language” of pharmacy from large unlabeled text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once, rarely repeated — this is where our proprietary data becomes defensible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model is a reusable, appreciating asset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278728" y="3703320"/>
            <a:ext cx="5410048" cy="1737360"/>
          </a:xfrm>
          <a:prstGeom prst="roundRect">
            <a:avLst>
              <a:gd name="adj" fmla="val 5263"/>
            </a:avLst>
          </a:prstGeom>
          <a:solidFill>
            <a:srgbClr val="FCF4E3"/>
          </a:solidFill>
          <a:ln w="12700">
            <a:solidFill>
              <a:srgbClr val="ECD9AE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498184" y="3904488"/>
            <a:ext cx="512064" cy="512064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320" y="4037625"/>
            <a:ext cx="245791" cy="245791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119976" y="3922776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 —  the leverage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6553048" y="4507992"/>
            <a:ext cx="487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+ DPO make it follow instructions and behave safely — cheaply, on our hardware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keeps drug facts current without retraining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 model → many LoRA-adapted pharmacy tasks at low marginal cost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C4B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 — End-to-End Pipeline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ARCHITECTURE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607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design:  the proven LLaMA-3 / Meditron stack · dense-first for stability · DAPT for speed · RAG for freshness · LoRA for cheap multi-task deployment.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1481328"/>
            <a:ext cx="2508428" cy="1481328"/>
          </a:xfrm>
          <a:prstGeom prst="roundRect">
            <a:avLst>
              <a:gd name="adj" fmla="val 5556"/>
            </a:avLst>
          </a:prstGeom>
          <a:solidFill>
            <a:srgbClr val="E9F3F1"/>
          </a:solidFill>
          <a:ln w="15875">
            <a:solidFill>
              <a:srgbClr val="10716E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0936" y="1609344"/>
            <a:ext cx="347472" cy="347472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68706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600200"/>
            <a:ext cx="1868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Sources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685800" y="2011680"/>
            <a:ext cx="21792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e-Rx / SIG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Claims (NCPDP)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FDA SPL labels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Formulary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RxNorm·NDC·SNOMED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PubMed · Guidelines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066212" y="2221992"/>
            <a:ext cx="274320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395396" y="1481328"/>
            <a:ext cx="2508428" cy="1481328"/>
          </a:xfrm>
          <a:prstGeom prst="roundRect">
            <a:avLst>
              <a:gd name="adj" fmla="val 5556"/>
            </a:avLst>
          </a:prstGeom>
          <a:solidFill>
            <a:srgbClr val="FBEDE7"/>
          </a:solidFill>
          <a:ln w="15875">
            <a:solidFill>
              <a:srgbClr val="D9613C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23412" y="1609344"/>
            <a:ext cx="347472" cy="347472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136" y="168706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44036" y="1600200"/>
            <a:ext cx="1868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De-Identification</a:t>
            </a:r>
            <a:endParaRPr lang="en-US" sz="1080" dirty="0"/>
          </a:p>
        </p:txBody>
      </p:sp>
      <p:sp>
        <p:nvSpPr>
          <p:cNvPr id="17" name="Text 12"/>
          <p:cNvSpPr/>
          <p:nvPr/>
        </p:nvSpPr>
        <p:spPr>
          <a:xfrm>
            <a:off x="3578276" y="2011680"/>
            <a:ext cx="21792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Safe Harbor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Expert Determination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NER PHI scrubbing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958688" y="2221992"/>
            <a:ext cx="274320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287872" y="1481328"/>
            <a:ext cx="2508428" cy="1481328"/>
          </a:xfrm>
          <a:prstGeom prst="roundRect">
            <a:avLst>
              <a:gd name="adj" fmla="val 5556"/>
            </a:avLst>
          </a:prstGeom>
          <a:solidFill>
            <a:srgbClr val="E6F4F1"/>
          </a:solidFill>
          <a:ln w="15875">
            <a:solidFill>
              <a:srgbClr val="2FA69B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5888" y="1609344"/>
            <a:ext cx="347472" cy="347472"/>
          </a:xfrm>
          <a:prstGeom prst="ellipse">
            <a:avLst/>
          </a:prstGeom>
          <a:solidFill>
            <a:srgbClr val="2FA69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12" y="1687068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36512" y="1600200"/>
            <a:ext cx="1868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Curation</a:t>
            </a:r>
            <a:endParaRPr lang="en-US" sz="1080" dirty="0"/>
          </a:p>
        </p:txBody>
      </p:sp>
      <p:sp>
        <p:nvSpPr>
          <p:cNvPr id="23" name="Text 17"/>
          <p:cNvSpPr/>
          <p:nvPr/>
        </p:nvSpPr>
        <p:spPr>
          <a:xfrm>
            <a:off x="6470752" y="2011680"/>
            <a:ext cx="21792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MinHash dedup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Quality filtering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mixing ~30/70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Synthetic augmentation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8851163" y="2221992"/>
            <a:ext cx="274320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180347" y="1481328"/>
            <a:ext cx="2508428" cy="1481328"/>
          </a:xfrm>
          <a:prstGeom prst="roundRect">
            <a:avLst>
              <a:gd name="adj" fmla="val 5556"/>
            </a:avLst>
          </a:prstGeom>
          <a:solidFill>
            <a:srgbClr val="E9F3F1"/>
          </a:solidFill>
          <a:ln w="15875">
            <a:solidFill>
              <a:srgbClr val="10716E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08363" y="1609344"/>
            <a:ext cx="347472" cy="347472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6087" y="1687068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28987" y="1600200"/>
            <a:ext cx="1868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Domain Tokenizer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9363227" y="2011680"/>
            <a:ext cx="21792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Custom BPE / SP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NDC·RxCUI·SIG tokens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≈50k vocabulary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0434561" y="3035808"/>
            <a:ext cx="0" cy="310896"/>
          </a:xfrm>
          <a:prstGeom prst="line">
            <a:avLst/>
          </a:prstGeom>
          <a:noFill/>
          <a:ln w="34925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502920" y="3419856"/>
            <a:ext cx="2508428" cy="1481328"/>
          </a:xfrm>
          <a:prstGeom prst="roundRect">
            <a:avLst>
              <a:gd name="adj" fmla="val 5556"/>
            </a:avLst>
          </a:prstGeom>
          <a:solidFill>
            <a:srgbClr val="FCF4E3"/>
          </a:solidFill>
          <a:ln w="15875">
            <a:solidFill>
              <a:srgbClr val="D99A2B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0936" y="3547872"/>
            <a:ext cx="347472" cy="347472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3625596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51560" y="3538728"/>
            <a:ext cx="1868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Downstream Apps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685800" y="3950208"/>
            <a:ext cx="21792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DDI check · Prior-auth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SIG translate · PV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Formulary Q&amp;A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(LoRA adapters/task)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3066212" y="4160520"/>
            <a:ext cx="274320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headEnd type="triangle"/>
          </a:ln>
        </p:spPr>
      </p:sp>
      <p:sp>
        <p:nvSpPr>
          <p:cNvPr id="37" name="Shape 29"/>
          <p:cNvSpPr/>
          <p:nvPr/>
        </p:nvSpPr>
        <p:spPr>
          <a:xfrm>
            <a:off x="3395396" y="3419856"/>
            <a:ext cx="2508428" cy="1481328"/>
          </a:xfrm>
          <a:prstGeom prst="roundRect">
            <a:avLst>
              <a:gd name="adj" fmla="val 5556"/>
            </a:avLst>
          </a:prstGeom>
          <a:solidFill>
            <a:srgbClr val="FBEDE7"/>
          </a:solidFill>
          <a:ln w="15875">
            <a:solidFill>
              <a:srgbClr val="D9613C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3523412" y="3547872"/>
            <a:ext cx="347472" cy="347472"/>
          </a:xfrm>
          <a:prstGeom prst="ellipse">
            <a:avLst/>
          </a:prstGeom>
          <a:solidFill>
            <a:srgbClr val="D9613C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1136" y="3625596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944036" y="3538728"/>
            <a:ext cx="1868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RAG + Guardrails</a:t>
            </a:r>
            <a:endParaRPr lang="en-US" sz="1080" dirty="0"/>
          </a:p>
        </p:txBody>
      </p:sp>
      <p:sp>
        <p:nvSpPr>
          <p:cNvPr id="41" name="Text 32"/>
          <p:cNvSpPr/>
          <p:nvPr/>
        </p:nvSpPr>
        <p:spPr>
          <a:xfrm>
            <a:off x="3578276" y="3950208"/>
            <a:ext cx="21792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Live formulary / drug DB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Retrieval grounding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Safety filter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5958688" y="4160520"/>
            <a:ext cx="274320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headEnd type="triangle"/>
          </a:ln>
        </p:spPr>
      </p:sp>
      <p:sp>
        <p:nvSpPr>
          <p:cNvPr id="43" name="Shape 34"/>
          <p:cNvSpPr/>
          <p:nvPr/>
        </p:nvSpPr>
        <p:spPr>
          <a:xfrm>
            <a:off x="6287872" y="3419856"/>
            <a:ext cx="2508428" cy="1481328"/>
          </a:xfrm>
          <a:prstGeom prst="roundRect">
            <a:avLst>
              <a:gd name="adj" fmla="val 5556"/>
            </a:avLst>
          </a:prstGeom>
          <a:solidFill>
            <a:srgbClr val="FCF4E3"/>
          </a:solidFill>
          <a:ln w="15875">
            <a:solidFill>
              <a:srgbClr val="D99A2B"/>
            </a:solidFill>
            <a:prstDash val="solid"/>
          </a:ln>
          <a:effectLst>
            <a:outerShdw sx="100000" sy="100000" kx="0" ky="0" algn="bl" rotWithShape="0" blurRad="63500" dist="25400" dir="5400000">
              <a:srgbClr val="9BB4B1">
                <a:alpha val="1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6415888" y="3547872"/>
            <a:ext cx="347472" cy="347472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3612" y="3625596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836512" y="3538728"/>
            <a:ext cx="1868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Post-Training</a:t>
            </a:r>
            <a:endParaRPr lang="en-US" sz="1080" dirty="0"/>
          </a:p>
        </p:txBody>
      </p:sp>
      <p:sp>
        <p:nvSpPr>
          <p:cNvPr id="47" name="Text 37"/>
          <p:cNvSpPr/>
          <p:nvPr/>
        </p:nvSpPr>
        <p:spPr>
          <a:xfrm>
            <a:off x="6470752" y="3950208"/>
            <a:ext cx="21792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SFT (pharmacist data)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DPO preference opt.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Guardrails / RLAIF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8851163" y="4160520"/>
            <a:ext cx="274320" cy="0"/>
          </a:xfrm>
          <a:prstGeom prst="line">
            <a:avLst/>
          </a:prstGeom>
          <a:noFill/>
          <a:ln w="31750">
            <a:solidFill>
              <a:srgbClr val="0C4B49"/>
            </a:solidFill>
            <a:prstDash val="solid"/>
            <a:headEnd type="triangle"/>
          </a:ln>
        </p:spPr>
      </p:sp>
      <p:sp>
        <p:nvSpPr>
          <p:cNvPr id="49" name="Shape 39"/>
          <p:cNvSpPr/>
          <p:nvPr/>
        </p:nvSpPr>
        <p:spPr>
          <a:xfrm>
            <a:off x="9180347" y="3419856"/>
            <a:ext cx="2508428" cy="1481328"/>
          </a:xfrm>
          <a:prstGeom prst="roundRect">
            <a:avLst>
              <a:gd name="adj" fmla="val 5556"/>
            </a:avLst>
          </a:prstGeom>
          <a:solidFill>
            <a:srgbClr val="083836"/>
          </a:solidFill>
          <a:ln/>
          <a:effectLst>
            <a:outerShdw sx="100000" sy="100000" kx="0" ky="0" algn="bl" rotWithShape="0" blurRad="63500" dist="25400" dir="5400000">
              <a:srgbClr val="9BB4B1">
                <a:alpha val="1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9308363" y="3547872"/>
            <a:ext cx="347472" cy="347472"/>
          </a:xfrm>
          <a:prstGeom prst="ellipse">
            <a:avLst/>
          </a:prstGeom>
          <a:solidFill>
            <a:srgbClr val="0C4B49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6087" y="3625596"/>
            <a:ext cx="182880" cy="1828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728987" y="3538728"/>
            <a:ext cx="1868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Pre-Training Core</a:t>
            </a:r>
            <a:endParaRPr lang="en-US" sz="1080" dirty="0"/>
          </a:p>
        </p:txBody>
      </p:sp>
      <p:sp>
        <p:nvSpPr>
          <p:cNvPr id="53" name="Text 42"/>
          <p:cNvSpPr/>
          <p:nvPr/>
        </p:nvSpPr>
        <p:spPr>
          <a:xfrm>
            <a:off x="9363227" y="3950208"/>
            <a:ext cx="21792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Decoder-only Transformer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RMSNorm · RoPE · GQA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SwiGLU FFN (opt. MoE)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FlashAttn · BF16 · FSDP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502920" y="5120640"/>
            <a:ext cx="11185855" cy="512064"/>
          </a:xfrm>
          <a:prstGeom prst="roundRect">
            <a:avLst>
              <a:gd name="adj" fmla="val 16071"/>
            </a:avLst>
          </a:prstGeom>
          <a:solidFill>
            <a:srgbClr val="0C4B49"/>
          </a:solidFill>
          <a:ln/>
          <a:effectLst>
            <a:outerShdw sx="100000" sy="100000" kx="0" ky="0" algn="bl" rotWithShape="0" blurRad="63500" dist="25400" dir="5400000">
              <a:srgbClr val="9BB4B1">
                <a:alpha val="22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667512" y="5221224"/>
            <a:ext cx="310896" cy="310896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345" y="5302057"/>
            <a:ext cx="149230" cy="14923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106424" y="51206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58" name="Text 46"/>
          <p:cNvSpPr/>
          <p:nvPr/>
        </p:nvSpPr>
        <p:spPr>
          <a:xfrm>
            <a:off x="2788920" y="5120640"/>
            <a:ext cx="8716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 (H100 / A100)   ·   Object storage for corpus   ·   Experiment tracking   ·   Model registry   ·   Secure-VPC inference</a:t>
            </a:r>
            <a:endParaRPr lang="en-US" sz="1080" dirty="0"/>
          </a:p>
        </p:txBody>
      </p:sp>
      <p:sp>
        <p:nvSpPr>
          <p:cNvPr id="59" name="Text 47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60" name="Text 48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C4B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I  —  Inside the Model Block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TECHNICAL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decoder layer, repeated N times. Every component is the current LLaMA-3 / Meditron consensus — chosen for training stability and cheap inference.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4206240" cy="420624"/>
          </a:xfrm>
          <a:prstGeom prst="roundRect">
            <a:avLst>
              <a:gd name="adj" fmla="val 15217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6002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2022653"/>
            <a:ext cx="0" cy="100584"/>
          </a:xfrm>
          <a:prstGeom prst="line">
            <a:avLst/>
          </a:prstGeom>
          <a:noFill/>
          <a:ln w="2540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02920" y="2135124"/>
            <a:ext cx="4206240" cy="420624"/>
          </a:xfrm>
          <a:prstGeom prst="roundRect">
            <a:avLst>
              <a:gd name="adj" fmla="val 15217"/>
            </a:avLst>
          </a:prstGeom>
          <a:solidFill>
            <a:srgbClr val="E6F4F1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13512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2557577"/>
            <a:ext cx="0" cy="100584"/>
          </a:xfrm>
          <a:prstGeom prst="line">
            <a:avLst/>
          </a:prstGeom>
          <a:noFill/>
          <a:ln w="2540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02920" y="2670048"/>
            <a:ext cx="4206240" cy="420624"/>
          </a:xfrm>
          <a:prstGeom prst="roundRect">
            <a:avLst>
              <a:gd name="adj" fmla="val 15217"/>
            </a:avLst>
          </a:prstGeom>
          <a:solidFill>
            <a:srgbClr val="10716E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6700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Grouped-Query Attention  (RoPE)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06040" y="3092501"/>
            <a:ext cx="0" cy="100584"/>
          </a:xfrm>
          <a:prstGeom prst="line">
            <a:avLst/>
          </a:prstGeom>
          <a:noFill/>
          <a:ln w="2540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417320" y="3204972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F2F5F5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17320" y="320497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 residual add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06040" y="3627425"/>
            <a:ext cx="0" cy="100584"/>
          </a:xfrm>
          <a:prstGeom prst="line">
            <a:avLst/>
          </a:prstGeom>
          <a:noFill/>
          <a:ln w="2540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02920" y="3739896"/>
            <a:ext cx="4206240" cy="420624"/>
          </a:xfrm>
          <a:prstGeom prst="roundRect">
            <a:avLst>
              <a:gd name="adj" fmla="val 15217"/>
            </a:avLst>
          </a:prstGeom>
          <a:solidFill>
            <a:srgbClr val="E6F4F1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7398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606040" y="4162349"/>
            <a:ext cx="0" cy="100584"/>
          </a:xfrm>
          <a:prstGeom prst="line">
            <a:avLst/>
          </a:prstGeom>
          <a:noFill/>
          <a:ln w="2540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02920" y="4274820"/>
            <a:ext cx="4206240" cy="420624"/>
          </a:xfrm>
          <a:prstGeom prst="roundRect">
            <a:avLst>
              <a:gd name="adj" fmla="val 15217"/>
            </a:avLst>
          </a:prstGeom>
          <a:solidFill>
            <a:srgbClr val="2FA69B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2748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SwiGLU  FFN   (optional MoE)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606040" y="4697273"/>
            <a:ext cx="0" cy="100584"/>
          </a:xfrm>
          <a:prstGeom prst="line">
            <a:avLst/>
          </a:prstGeom>
          <a:noFill/>
          <a:ln w="2540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417320" y="4809744"/>
            <a:ext cx="2377440" cy="420624"/>
          </a:xfrm>
          <a:prstGeom prst="roundRect">
            <a:avLst>
              <a:gd name="adj" fmla="val 15217"/>
            </a:avLst>
          </a:prstGeom>
          <a:solidFill>
            <a:srgbClr val="F2F5F5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17320" y="48097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 residual add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606040" y="5232197"/>
            <a:ext cx="0" cy="100584"/>
          </a:xfrm>
          <a:prstGeom prst="line">
            <a:avLst/>
          </a:prstGeom>
          <a:noFill/>
          <a:ln w="2540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02920" y="5344668"/>
            <a:ext cx="4206240" cy="420624"/>
          </a:xfrm>
          <a:prstGeom prst="roundRect">
            <a:avLst>
              <a:gd name="adj" fmla="val 15217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3446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next layer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143000" y="589788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0C4B49"/>
          </a:solidFill>
          <a:ln/>
        </p:spPr>
      </p:sp>
      <p:sp>
        <p:nvSpPr>
          <p:cNvPr id="31" name="Text 28"/>
          <p:cNvSpPr/>
          <p:nvPr/>
        </p:nvSpPr>
        <p:spPr>
          <a:xfrm>
            <a:off x="1216152" y="5897880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N decoder layers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166360" y="1627632"/>
            <a:ext cx="31240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330952" y="1737360"/>
            <a:ext cx="284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30952" y="2029968"/>
            <a:ext cx="283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Pre-norm; stable &amp; cheaper than LayerNorm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8564728" y="1627632"/>
            <a:ext cx="31240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729320" y="1737360"/>
            <a:ext cx="284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729320" y="2029968"/>
            <a:ext cx="283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Rotary positions; better length extrapolation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5166360" y="2615184"/>
            <a:ext cx="31240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330952" y="2724912"/>
            <a:ext cx="284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Grouped-Query Attn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330952" y="3017520"/>
            <a:ext cx="283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KV-cache → fast, cheap inference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8564728" y="2615184"/>
            <a:ext cx="31240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8729320" y="2724912"/>
            <a:ext cx="284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SwiGLU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729320" y="3017520"/>
            <a:ext cx="283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quality; the LLaMA / PaLM standard</a:t>
            </a:r>
            <a:endParaRPr lang="en-US" sz="1020" dirty="0"/>
          </a:p>
        </p:txBody>
      </p:sp>
      <p:sp>
        <p:nvSpPr>
          <p:cNvPr id="44" name="Shape 41"/>
          <p:cNvSpPr/>
          <p:nvPr/>
        </p:nvSpPr>
        <p:spPr>
          <a:xfrm>
            <a:off x="5166360" y="3602736"/>
            <a:ext cx="31240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30952" y="3712464"/>
            <a:ext cx="284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2/3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5330952" y="4005072"/>
            <a:ext cx="283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Memory-efficient exact attention</a:t>
            </a:r>
            <a:endParaRPr lang="en-US" sz="1020" dirty="0"/>
          </a:p>
        </p:txBody>
      </p:sp>
      <p:sp>
        <p:nvSpPr>
          <p:cNvPr id="47" name="Shape 44"/>
          <p:cNvSpPr/>
          <p:nvPr/>
        </p:nvSpPr>
        <p:spPr>
          <a:xfrm>
            <a:off x="8564728" y="3602736"/>
            <a:ext cx="31240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8729320" y="3712464"/>
            <a:ext cx="284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mixed precision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729320" y="4005072"/>
            <a:ext cx="283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2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stable training on modern GPUs</a:t>
            </a:r>
            <a:endParaRPr lang="en-US" sz="1020" dirty="0"/>
          </a:p>
        </p:txBody>
      </p:sp>
      <p:sp>
        <p:nvSpPr>
          <p:cNvPr id="50" name="Text 47"/>
          <p:cNvSpPr/>
          <p:nvPr/>
        </p:nvSpPr>
        <p:spPr>
          <a:xfrm>
            <a:off x="5166360" y="4608576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configurations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4919472"/>
          <a:ext cx="6522415" cy="914400"/>
        </p:xfrm>
        <a:graphic>
          <a:graphicData uri="http://schemas.openxmlformats.org/drawingml/2006/table">
            <a:tbl>
              <a:tblPr/>
              <a:tblGrid>
                <a:gridCol w="1304483"/>
                <a:gridCol w="1043586"/>
                <a:gridCol w="1304483"/>
                <a:gridCol w="1565380"/>
                <a:gridCol w="1304483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d_model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 (KV)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(8)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(8)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(8)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 48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C4B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II  —  Scale, Tokens &amp; the MoE Decision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TECHNICAL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big, how many tokens, and dense-vs-MoE — decided by scaling laws and by our inference economics, not by fashion.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627632"/>
            <a:ext cx="5029200" cy="1417320"/>
          </a:xfrm>
          <a:prstGeom prst="roundRect">
            <a:avLst>
              <a:gd name="adj" fmla="val 5806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1792224"/>
            <a:ext cx="457200" cy="457200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1109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1016" y="17739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22376" y="2157984"/>
            <a:ext cx="4608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Chinchilla-optimal ≈ 20 tokens / parameter. Compute ≈ 6 × N × D FLOPs (Kaplan 2020; Hoffmann 2022). For a model we run constantly, we deliberately over-train past optimal for cheaper inference — LLaMA-3-8B used ≈ 15T tokens (~1,875 tok/param).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02920" y="32004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0C4B49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22376" y="3328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22376" y="3602736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– 13B parameters   ·   300B – 1T tokens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22376" y="4023360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Chinchilla-optimal, tuned for inference economics — small enough to serve cheaply, trained long enough to be sharp. Data quality (Phi-style) substitutes for raw scale.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292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gives capacity at low active-compute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2920" y="5029200"/>
          <a:ext cx="50292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Shape 13"/>
          <p:cNvSpPr/>
          <p:nvPr/>
        </p:nvSpPr>
        <p:spPr>
          <a:xfrm>
            <a:off x="5806440" y="1627632"/>
            <a:ext cx="28040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0716E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971032" y="1773936"/>
            <a:ext cx="2474824" cy="365760"/>
          </a:xfrm>
          <a:prstGeom prst="roundRect">
            <a:avLst>
              <a:gd name="adj" fmla="val 50000"/>
            </a:avLst>
          </a:prstGeom>
          <a:solidFill>
            <a:srgbClr val="10716E"/>
          </a:solidFill>
          <a:ln/>
        </p:spPr>
      </p:sp>
      <p:sp>
        <p:nvSpPr>
          <p:cNvPr id="20" name="Text 15"/>
          <p:cNvSpPr/>
          <p:nvPr/>
        </p:nvSpPr>
        <p:spPr>
          <a:xfrm>
            <a:off x="6044184" y="1773936"/>
            <a:ext cx="232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  (recommended first)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89320" y="2249424"/>
            <a:ext cx="243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062472" y="2505456"/>
            <a:ext cx="2346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stable training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predictable serving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3–13B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989320" y="3200400"/>
            <a:ext cx="243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062472" y="3456432"/>
            <a:ext cx="2346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params active → more FLOPs/token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884768" y="1627632"/>
            <a:ext cx="28040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D99A2B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49360" y="1773936"/>
            <a:ext cx="2474824" cy="36576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27" name="Text 22"/>
          <p:cNvSpPr/>
          <p:nvPr/>
        </p:nvSpPr>
        <p:spPr>
          <a:xfrm>
            <a:off x="9122512" y="1773936"/>
            <a:ext cx="232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  (revisit later)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9067648" y="2249424"/>
            <a:ext cx="243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140800" y="2505456"/>
            <a:ext cx="2346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capacity, low active cost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specialize by subdomain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9067648" y="3200400"/>
            <a:ext cx="243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140800" y="3456432"/>
            <a:ext cx="2346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instability &amp; load-balancing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serving stack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806440" y="4133088"/>
            <a:ext cx="5882335" cy="1280160"/>
          </a:xfrm>
          <a:prstGeom prst="roundRect">
            <a:avLst>
              <a:gd name="adj" fmla="val 6429"/>
            </a:avLst>
          </a:prstGeom>
          <a:solidFill>
            <a:srgbClr val="FCF4E3"/>
          </a:solidFill>
          <a:ln w="12700">
            <a:solidFill>
              <a:srgbClr val="ECD9AE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007608" y="4315968"/>
            <a:ext cx="457200" cy="45720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434840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574536" y="4297680"/>
            <a:ext cx="496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6025896" y="4645152"/>
            <a:ext cx="54434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dense (3–13B) for a stable, serveable first model. Revisit MoE once we want experts per subdomain (DDI, claims, prior-auth) — and adopt Multi-head Latent Attention (DeepSeek) if long-context claims processing dominates.</a:t>
            </a:r>
            <a:endParaRPr lang="en-US" sz="1080" dirty="0"/>
          </a:p>
        </p:txBody>
      </p:sp>
      <p:sp>
        <p:nvSpPr>
          <p:cNvPr id="37" name="Text 31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0C4B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III  —  Data Curation, De-ID &amp; Post-Training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TECHNICAL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disciplined pipelines feed the model: curation turns raw records into safe, high-quality tokens; post-training turns the base model into a safe, instructable pharmacy assistant.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1591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CURATION &amp; DE-IDENTIFICATION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92024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7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06424" y="20025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34640" y="2002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pharmacy records, labels, literature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473452"/>
            <a:ext cx="0" cy="73152"/>
          </a:xfrm>
          <a:prstGeom prst="line">
            <a:avLst/>
          </a:prstGeom>
          <a:noFill/>
          <a:ln w="22225">
            <a:solidFill>
              <a:srgbClr val="10716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02920" y="256032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BEDE7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7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06424" y="26426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34640" y="2642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Harbor + Expert Determination + NER PHI scrub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3113532"/>
            <a:ext cx="0" cy="73152"/>
          </a:xfrm>
          <a:prstGeom prst="line">
            <a:avLst/>
          </a:prstGeom>
          <a:noFill/>
          <a:ln w="22225">
            <a:solidFill>
              <a:srgbClr val="10716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2920" y="32004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E6F4F1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7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06424" y="3282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834640" y="32826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near-duplicate removal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46120" y="3753612"/>
            <a:ext cx="0" cy="73152"/>
          </a:xfrm>
          <a:prstGeom prst="line">
            <a:avLst/>
          </a:prstGeom>
          <a:noFill/>
          <a:ln w="22225">
            <a:solidFill>
              <a:srgbClr val="10716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02920" y="384048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7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06424" y="3922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834640" y="39227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+ model-based scoring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46120" y="4393692"/>
            <a:ext cx="0" cy="73152"/>
          </a:xfrm>
          <a:prstGeom prst="line">
            <a:avLst/>
          </a:prstGeom>
          <a:noFill/>
          <a:ln w="22225">
            <a:solidFill>
              <a:srgbClr val="10716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02920" y="448056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E6F4F1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7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06424" y="45628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mixing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834640" y="45628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≈30% clinical / 70% general (GatorTron precedent)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46120" y="5033772"/>
            <a:ext cx="0" cy="73152"/>
          </a:xfrm>
          <a:prstGeom prst="line">
            <a:avLst/>
          </a:prstGeom>
          <a:noFill/>
          <a:ln w="22225">
            <a:solidFill>
              <a:srgbClr val="10716E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502920" y="512064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CF4E3"/>
          </a:solidFill>
          <a:ln w="12700">
            <a:solidFill>
              <a:srgbClr val="D5E4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71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106424" y="52029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augment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834640" y="52029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GatorTronGPT: synthetic ≥ real on downstream tasks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09360" y="1591056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STACK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309360" y="1920240"/>
            <a:ext cx="537941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0716E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473952" y="2048256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10716E"/>
          </a:solidFill>
          <a:ln/>
        </p:spPr>
      </p:sp>
      <p:sp>
        <p:nvSpPr>
          <p:cNvPr id="40" name="Text 37"/>
          <p:cNvSpPr/>
          <p:nvPr/>
        </p:nvSpPr>
        <p:spPr>
          <a:xfrm>
            <a:off x="6547104" y="2048256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492240" y="2432304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2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Pharmacist-authored instructions; self-instruct / Evol-Instruct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8999068" y="2799893"/>
            <a:ext cx="0" cy="77724"/>
          </a:xfrm>
          <a:prstGeom prst="line">
            <a:avLst/>
          </a:prstGeom>
          <a:noFill/>
          <a:ln w="22225">
            <a:solidFill>
              <a:srgbClr val="D99A2B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309360" y="2889504"/>
            <a:ext cx="537941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FA69B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473952" y="30175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2FA69B"/>
          </a:solidFill>
          <a:ln/>
        </p:spPr>
      </p:sp>
      <p:sp>
        <p:nvSpPr>
          <p:cNvPr id="45" name="Text 42"/>
          <p:cNvSpPr/>
          <p:nvPr/>
        </p:nvSpPr>
        <p:spPr>
          <a:xfrm>
            <a:off x="6547104" y="3017520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6492240" y="3401568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2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Preference Optimization — simpler &amp; more stable than RLHF PPO (used by Palmyra-Med)</a:t>
            </a:r>
            <a:endParaRPr lang="en-US" sz="1020" dirty="0"/>
          </a:p>
        </p:txBody>
      </p:sp>
      <p:sp>
        <p:nvSpPr>
          <p:cNvPr id="47" name="Shape 44"/>
          <p:cNvSpPr/>
          <p:nvPr/>
        </p:nvSpPr>
        <p:spPr>
          <a:xfrm>
            <a:off x="8999068" y="3769157"/>
            <a:ext cx="0" cy="77724"/>
          </a:xfrm>
          <a:prstGeom prst="line">
            <a:avLst/>
          </a:prstGeom>
          <a:noFill/>
          <a:ln w="22225">
            <a:solidFill>
              <a:srgbClr val="D99A2B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309360" y="3858768"/>
            <a:ext cx="537941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D9613C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73952" y="3986784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D9613C"/>
          </a:solidFill>
          <a:ln/>
        </p:spPr>
      </p:sp>
      <p:sp>
        <p:nvSpPr>
          <p:cNvPr id="50" name="Text 47"/>
          <p:cNvSpPr/>
          <p:nvPr/>
        </p:nvSpPr>
        <p:spPr>
          <a:xfrm>
            <a:off x="6547104" y="398678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/ RLAIF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6492240" y="4370832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2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constraints, refusal &amp; escalation policies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8999068" y="4738421"/>
            <a:ext cx="0" cy="77724"/>
          </a:xfrm>
          <a:prstGeom prst="line">
            <a:avLst/>
          </a:prstGeom>
          <a:noFill/>
          <a:ln w="22225">
            <a:solidFill>
              <a:srgbClr val="D99A2B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6309360" y="4828032"/>
            <a:ext cx="537941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D99A2B"/>
            </a:solidFill>
            <a:prstDash val="solid"/>
          </a:ln>
          <a:effectLst>
            <a:outerShdw sx="100000" sy="100000" kx="0" ky="0" algn="bl" rotWithShape="0" blurRad="50800" dist="25400" dir="5400000">
              <a:srgbClr val="9BB4B1">
                <a:alpha val="14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473952" y="495604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55" name="Text 52"/>
          <p:cNvSpPr/>
          <p:nvPr/>
        </p:nvSpPr>
        <p:spPr>
          <a:xfrm>
            <a:off x="6547104" y="4956048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6492240" y="5340096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2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per-task adapters — one base powers many pharmacy tasks</a:t>
            </a:r>
            <a:endParaRPr lang="en-US" sz="1020" dirty="0"/>
          </a:p>
        </p:txBody>
      </p:sp>
      <p:sp>
        <p:nvSpPr>
          <p:cNvPr id="57" name="Shape 54"/>
          <p:cNvSpPr/>
          <p:nvPr/>
        </p:nvSpPr>
        <p:spPr>
          <a:xfrm>
            <a:off x="502920" y="5961888"/>
            <a:ext cx="11185855" cy="420624"/>
          </a:xfrm>
          <a:prstGeom prst="roundRect">
            <a:avLst>
              <a:gd name="adj" fmla="val 19565"/>
            </a:avLst>
          </a:prstGeom>
          <a:solidFill>
            <a:srgbClr val="0C4B49"/>
          </a:solidFill>
          <a:ln/>
          <a:effectLst>
            <a:outerShdw sx="100000" sy="100000" kx="0" ky="0" algn="bl" rotWithShape="0" blurRad="63500" dist="25400" dir="5400000">
              <a:srgbClr val="9BB4B1">
                <a:alpha val="2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649224" y="6035040"/>
            <a:ext cx="274320" cy="27432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5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" y="6106363"/>
            <a:ext cx="131674" cy="131674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1033272" y="5961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61" name="Text 57"/>
          <p:cNvSpPr/>
          <p:nvPr/>
        </p:nvSpPr>
        <p:spPr>
          <a:xfrm>
            <a:off x="2377440" y="5961888"/>
            <a:ext cx="9128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MedQA   ·   PubMedQA   ·   MedMCQA   ·   NAPLEX-style pharmacy exams   ·   internal DDI / prior-auth / formulary benchmarks</a:t>
            </a:r>
            <a:endParaRPr lang="en-US" sz="1050" dirty="0"/>
          </a:p>
        </p:txBody>
      </p:sp>
      <p:sp>
        <p:nvSpPr>
          <p:cNvPr id="62" name="Text 58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 —  One-Time Asset vs Perpetual API Bills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COST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is modest and knowable. Compute ≈ 6 × N × D FLOPs, on H100 at ~40% utilization and $2.50–3.00 / GPU-hour.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18585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2468880"/>
                <a:gridCol w="2377440"/>
                <a:gridCol w="1856232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(FLOPs)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 GPU-hours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@ $2.50/hr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@ $3.00/hr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 × 10²¹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3,790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6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$9.5K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6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$11.4K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× 10²²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14,730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6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$36.8K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6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$44.2K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 × 10²²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54,710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6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$136.8K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6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$164.1K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3355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by model size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3611880"/>
          <a:ext cx="53035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/>
          <p:nvPr/>
        </p:nvSpPr>
        <p:spPr>
          <a:xfrm>
            <a:off x="6309360" y="3355848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API pricing  (per 1M tokens)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611880"/>
          <a:ext cx="5271827" cy="914400"/>
        </p:xfrm>
        <a:graphic>
          <a:graphicData uri="http://schemas.openxmlformats.org/drawingml/2006/table">
            <a:tbl>
              <a:tblPr/>
              <a:tblGrid>
                <a:gridCol w="2689708"/>
                <a:gridCol w="1291060"/>
                <a:gridCol w="12910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mini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3.5 Sonnet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C4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Palmyra-Med (domain)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1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6309360" y="5230368"/>
            <a:ext cx="5271827" cy="676656"/>
          </a:xfrm>
          <a:prstGeom prst="roundRect">
            <a:avLst>
              <a:gd name="adj" fmla="val 10811"/>
            </a:avLst>
          </a:prstGeom>
          <a:solidFill>
            <a:srgbClr val="FBEDE7"/>
          </a:solidFill>
          <a:ln w="12700">
            <a:solidFill>
              <a:srgbClr val="EAC9BD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6492240" y="5230368"/>
            <a:ext cx="490606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A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enterprise volume, a one-time training run + cheap in-house inference undercuts recurring API fees — with zero PHI egress.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compute-only lower bounds — add 20–50% for data prep, failed runs, checkpointing &amp; storage; spot H100 (~$1.50/hr) roughly halves them. Context: DeepSeek-V3 trained end-to-end for ≈ $5.6M.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Investment, Not an Expense  —  Building an Asset &amp; a Moat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ROI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correctly, this is capital that compounds: a finite input of time, talent and compute becomes a durable, private, domain-expert capability.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20052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8196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8016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staged effort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063240" y="16916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874520"/>
            <a:ext cx="502920" cy="502920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79" y="200527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0480" y="18196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84048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pharmacist expertise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623560" y="16916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806440" y="1874520"/>
            <a:ext cx="502920" cy="502920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199" y="200527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00800" y="18196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4008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GPU &amp; infra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165592" y="2125980"/>
            <a:ext cx="457200" cy="0"/>
          </a:xfrm>
          <a:prstGeom prst="line">
            <a:avLst/>
          </a:prstGeom>
          <a:noFill/>
          <a:ln w="38100">
            <a:solidFill>
              <a:srgbClr val="0C4B49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8695944" y="1691640"/>
            <a:ext cx="2992831" cy="868680"/>
          </a:xfrm>
          <a:prstGeom prst="roundRect">
            <a:avLst>
              <a:gd name="adj" fmla="val 10526"/>
            </a:avLst>
          </a:prstGeom>
          <a:solidFill>
            <a:srgbClr val="0C4B49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897112" y="1874520"/>
            <a:ext cx="502920" cy="50292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7871" y="200527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18904" y="1819656"/>
            <a:ext cx="19869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appreciating AI asset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518904" y="2167128"/>
            <a:ext cx="1986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· low-cost · domain-expert · reusable across every pharmacy task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02920" y="2871216"/>
            <a:ext cx="3521354" cy="1828800"/>
          </a:xfrm>
          <a:prstGeom prst="roundRect">
            <a:avLst>
              <a:gd name="adj" fmla="val 5000"/>
            </a:avLst>
          </a:prstGeom>
          <a:solidFill>
            <a:srgbClr val="E9F3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22376" y="3072384"/>
            <a:ext cx="548640" cy="548640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" y="3215030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80744" y="3090672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Asset, not subscription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740664" y="3730752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that yields an owned model, tokenizer &amp; pipeline — versus perpetual OpEx that scales forever with usage and never yields ownership.</a:t>
            </a:r>
            <a:endParaRPr lang="en-US" sz="1080" dirty="0"/>
          </a:p>
        </p:txBody>
      </p:sp>
      <p:sp>
        <p:nvSpPr>
          <p:cNvPr id="33" name="Shape 25"/>
          <p:cNvSpPr/>
          <p:nvPr/>
        </p:nvSpPr>
        <p:spPr>
          <a:xfrm>
            <a:off x="4335170" y="2871216"/>
            <a:ext cx="3521354" cy="182880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554626" y="3072384"/>
            <a:ext cx="548640" cy="548640"/>
          </a:xfrm>
          <a:prstGeom prst="ellipse">
            <a:avLst/>
          </a:prstGeom>
          <a:solidFill>
            <a:srgbClr val="2FA69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273" y="3215030"/>
            <a:ext cx="263347" cy="263347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212994" y="3090672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 refinery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4572914" y="3730752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de-identified corpus is the crude; the model is the refinery. Rivals lack the crude — BloombergGPT used 363B proprietary tokens; GatorTronGPT 82B clinical words.</a:t>
            </a:r>
            <a:endParaRPr lang="en-US" sz="1080" dirty="0"/>
          </a:p>
        </p:txBody>
      </p:sp>
      <p:sp>
        <p:nvSpPr>
          <p:cNvPr id="38" name="Shape 29"/>
          <p:cNvSpPr/>
          <p:nvPr/>
        </p:nvSpPr>
        <p:spPr>
          <a:xfrm>
            <a:off x="8167421" y="2871216"/>
            <a:ext cx="3521354" cy="1828800"/>
          </a:xfrm>
          <a:prstGeom prst="roundRect">
            <a:avLst>
              <a:gd name="adj" fmla="val 5000"/>
            </a:avLst>
          </a:prstGeom>
          <a:solidFill>
            <a:srgbClr val="FCF4E3"/>
          </a:solidFill>
          <a:ln w="12700">
            <a:solidFill>
              <a:srgbClr val="D5E4E2"/>
            </a:solidFill>
            <a:prstDash val="solid"/>
          </a:ln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8386877" y="3072384"/>
            <a:ext cx="548640" cy="54864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9523" y="3215030"/>
            <a:ext cx="263347" cy="263347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045245" y="3090672"/>
            <a:ext cx="2515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returns</a:t>
            </a:r>
            <a:endParaRPr lang="en-US" sz="1350" dirty="0"/>
          </a:p>
        </p:txBody>
      </p:sp>
      <p:sp>
        <p:nvSpPr>
          <p:cNvPr id="42" name="Text 32"/>
          <p:cNvSpPr/>
          <p:nvPr/>
        </p:nvSpPr>
        <p:spPr>
          <a:xfrm>
            <a:off x="8405165" y="3730752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 model spins up many LoRA-adapted applications at low marginal cost — the more tasks we add, the cheaper each becomes.</a:t>
            </a:r>
            <a:endParaRPr lang="en-US" sz="1080" dirty="0"/>
          </a:p>
        </p:txBody>
      </p:sp>
      <p:sp>
        <p:nvSpPr>
          <p:cNvPr id="43" name="Shape 33"/>
          <p:cNvSpPr/>
          <p:nvPr/>
        </p:nvSpPr>
        <p:spPr>
          <a:xfrm>
            <a:off x="502920" y="4937760"/>
            <a:ext cx="11185855" cy="603504"/>
          </a:xfrm>
          <a:prstGeom prst="roundRect">
            <a:avLst>
              <a:gd name="adj" fmla="val 15152"/>
            </a:avLst>
          </a:prstGeom>
          <a:solidFill>
            <a:srgbClr val="083836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44" name="Text 34"/>
          <p:cNvSpPr/>
          <p:nvPr/>
        </p:nvSpPr>
        <p:spPr>
          <a:xfrm>
            <a:off x="758952" y="49377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ON FOUR AXES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3429000" y="4937760"/>
            <a:ext cx="80768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domain     ·     Our data     ·     Our privacy     ·     Our cost</a:t>
            </a:r>
            <a:endParaRPr lang="en-US" sz="1500" dirty="0"/>
          </a:p>
        </p:txBody>
      </p:sp>
      <p:sp>
        <p:nvSpPr>
          <p:cNvPr id="46" name="Text 36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071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Staged, Low-Risk Roadmap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59775" y="475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PLAN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cheap, reversible and gated by a clear go / no-go — so leadership commits incrementally, never blindly.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256329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10716E"/>
            </a:solidFill>
            <a:prstDash val="solid"/>
          </a:ln>
          <a:effectLst>
            <a:outerShdw sx="100000" sy="100000" kx="0" ky="0" algn="bl" rotWithShape="0" blurRad="76200" dist="25400" dir="5400000">
              <a:srgbClr val="9BB4B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691640"/>
            <a:ext cx="2563292" cy="640080"/>
          </a:xfrm>
          <a:prstGeom prst="roundRect">
            <a:avLst>
              <a:gd name="adj" fmla="val 14286"/>
            </a:avLst>
          </a:prstGeom>
          <a:solidFill>
            <a:srgbClr val="E9F3F1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011680"/>
            <a:ext cx="2563292" cy="320040"/>
          </a:xfrm>
          <a:prstGeom prst="rect">
            <a:avLst/>
          </a:prstGeom>
          <a:solidFill>
            <a:srgbClr val="E9F3F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783080"/>
            <a:ext cx="2197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075688"/>
            <a:ext cx="2197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2441448"/>
            <a:ext cx="2197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2376" y="2990088"/>
            <a:ext cx="21609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 pipeline &amp; corpus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tokenizer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4–6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093644" y="2948940"/>
            <a:ext cx="274320" cy="0"/>
          </a:xfrm>
          <a:prstGeom prst="line">
            <a:avLst/>
          </a:prstGeom>
          <a:noFill/>
          <a:ln w="31750">
            <a:solidFill>
              <a:srgbClr val="10716E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77108" y="1691640"/>
            <a:ext cx="256329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2FA69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B1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77108" y="1691640"/>
            <a:ext cx="2563292" cy="640080"/>
          </a:xfrm>
          <a:prstGeom prst="roundRect">
            <a:avLst>
              <a:gd name="adj" fmla="val 14286"/>
            </a:avLst>
          </a:prstGeom>
          <a:solidFill>
            <a:srgbClr val="E6F4F1"/>
          </a:solidFill>
          <a:ln/>
        </p:spPr>
      </p:sp>
      <p:sp>
        <p:nvSpPr>
          <p:cNvPr id="17" name="Shape 14"/>
          <p:cNvSpPr/>
          <p:nvPr/>
        </p:nvSpPr>
        <p:spPr>
          <a:xfrm>
            <a:off x="3377108" y="2011680"/>
            <a:ext cx="2563292" cy="320040"/>
          </a:xfrm>
          <a:prstGeom prst="rect">
            <a:avLst/>
          </a:prstGeom>
          <a:solidFill>
            <a:srgbClr val="E6F4F1"/>
          </a:solidFill>
          <a:ln/>
        </p:spPr>
      </p:sp>
      <p:sp>
        <p:nvSpPr>
          <p:cNvPr id="18" name="Text 15"/>
          <p:cNvSpPr/>
          <p:nvPr/>
        </p:nvSpPr>
        <p:spPr>
          <a:xfrm>
            <a:off x="3559988" y="1783080"/>
            <a:ext cx="2197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59988" y="2075688"/>
            <a:ext cx="2197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59988" y="2441448"/>
            <a:ext cx="2197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(DAPT + post-train)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596564" y="2990088"/>
            <a:ext cx="21609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Continue-pretrain open base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+ DPO + RAG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Go/no-go: beat GPT-4o on our evals, zero PHI egress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5967832" y="2948940"/>
            <a:ext cx="274320" cy="0"/>
          </a:xfrm>
          <a:prstGeom prst="line">
            <a:avLst/>
          </a:prstGeom>
          <a:noFill/>
          <a:ln w="31750">
            <a:solidFill>
              <a:srgbClr val="2FA69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51296" y="1691640"/>
            <a:ext cx="256329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D99A2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B1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51296" y="1691640"/>
            <a:ext cx="2563292" cy="640080"/>
          </a:xfrm>
          <a:prstGeom prst="roundRect">
            <a:avLst>
              <a:gd name="adj" fmla="val 14286"/>
            </a:avLst>
          </a:prstGeom>
          <a:solidFill>
            <a:srgbClr val="FCF4E3"/>
          </a:solidFill>
          <a:ln/>
        </p:spPr>
      </p:sp>
      <p:sp>
        <p:nvSpPr>
          <p:cNvPr id="25" name="Shape 22"/>
          <p:cNvSpPr/>
          <p:nvPr/>
        </p:nvSpPr>
        <p:spPr>
          <a:xfrm>
            <a:off x="6251296" y="2011680"/>
            <a:ext cx="2563292" cy="320040"/>
          </a:xfrm>
          <a:prstGeom prst="rect">
            <a:avLst/>
          </a:prstGeom>
          <a:solidFill>
            <a:srgbClr val="FCF4E3"/>
          </a:solidFill>
          <a:ln/>
        </p:spPr>
      </p:sp>
      <p:sp>
        <p:nvSpPr>
          <p:cNvPr id="26" name="Text 23"/>
          <p:cNvSpPr/>
          <p:nvPr/>
        </p:nvSpPr>
        <p:spPr>
          <a:xfrm>
            <a:off x="6434176" y="1783080"/>
            <a:ext cx="2197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34176" y="2075688"/>
            <a:ext cx="2197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5–12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34176" y="2441448"/>
            <a:ext cx="2197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70752" y="2990088"/>
            <a:ext cx="21609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3–7B, from-scratch if justified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300–500B tokens (~$10–45K)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 per task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8842019" y="2948940"/>
            <a:ext cx="274320" cy="0"/>
          </a:xfrm>
          <a:prstGeom prst="line">
            <a:avLst/>
          </a:prstGeom>
          <a:noFill/>
          <a:ln w="31750">
            <a:solidFill>
              <a:srgbClr val="D99A2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125483" y="1691640"/>
            <a:ext cx="256329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D9613C"/>
            </a:solidFill>
            <a:prstDash val="solid"/>
          </a:ln>
          <a:effectLst>
            <a:outerShdw sx="100000" sy="100000" kx="0" ky="0" algn="bl" rotWithShape="0" blurRad="76200" dist="25400" dir="5400000">
              <a:srgbClr val="9BB4B1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125483" y="1691640"/>
            <a:ext cx="2563292" cy="640080"/>
          </a:xfrm>
          <a:prstGeom prst="roundRect">
            <a:avLst>
              <a:gd name="adj" fmla="val 14286"/>
            </a:avLst>
          </a:prstGeom>
          <a:solidFill>
            <a:srgbClr val="FBEDE7"/>
          </a:solidFill>
          <a:ln/>
        </p:spPr>
      </p:sp>
      <p:sp>
        <p:nvSpPr>
          <p:cNvPr id="33" name="Shape 30"/>
          <p:cNvSpPr/>
          <p:nvPr/>
        </p:nvSpPr>
        <p:spPr>
          <a:xfrm>
            <a:off x="9125483" y="2011680"/>
            <a:ext cx="2563292" cy="32004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34" name="Text 31"/>
          <p:cNvSpPr/>
          <p:nvPr/>
        </p:nvSpPr>
        <p:spPr>
          <a:xfrm>
            <a:off x="9308363" y="1783080"/>
            <a:ext cx="2197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308363" y="2075688"/>
            <a:ext cx="2197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308363" y="2441448"/>
            <a:ext cx="2197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344939" y="2990088"/>
            <a:ext cx="21609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Secure-VPC inference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guardrails</a:t>
            </a:r>
            <a:endParaRPr lang="en-US" sz="980" dirty="0"/>
          </a:p>
          <a:p>
            <a:pPr marL="342900" indent="-342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RAG updates</a:t>
            </a:r>
            <a:endParaRPr lang="en-US" sz="980" dirty="0"/>
          </a:p>
        </p:txBody>
      </p:sp>
      <p:sp>
        <p:nvSpPr>
          <p:cNvPr id="38" name="Text 35"/>
          <p:cNvSpPr/>
          <p:nvPr/>
        </p:nvSpPr>
        <p:spPr>
          <a:xfrm>
            <a:off x="502920" y="44622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61288" y="4443984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40" name="Text 37"/>
          <p:cNvSpPr/>
          <p:nvPr/>
        </p:nvSpPr>
        <p:spPr>
          <a:xfrm>
            <a:off x="1234440" y="4443984"/>
            <a:ext cx="1420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GPT-4o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2893162" y="4443984"/>
            <a:ext cx="2250338" cy="329184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42" name="Text 39"/>
          <p:cNvSpPr/>
          <p:nvPr/>
        </p:nvSpPr>
        <p:spPr>
          <a:xfrm>
            <a:off x="2966314" y="4443984"/>
            <a:ext cx="21040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on DDI/dosage</a:t>
            </a:r>
            <a:endParaRPr lang="en-US" sz="980" dirty="0"/>
          </a:p>
        </p:txBody>
      </p:sp>
      <p:sp>
        <p:nvSpPr>
          <p:cNvPr id="43" name="Shape 40"/>
          <p:cNvSpPr/>
          <p:nvPr/>
        </p:nvSpPr>
        <p:spPr>
          <a:xfrm>
            <a:off x="5308092" y="4443984"/>
            <a:ext cx="1339596" cy="329184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44" name="Text 41"/>
          <p:cNvSpPr/>
          <p:nvPr/>
        </p:nvSpPr>
        <p:spPr>
          <a:xfrm>
            <a:off x="5381244" y="4443984"/>
            <a:ext cx="11932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PHI egress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6812280" y="4443984"/>
            <a:ext cx="1415491" cy="329184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46" name="Text 43"/>
          <p:cNvSpPr/>
          <p:nvPr/>
        </p:nvSpPr>
        <p:spPr>
          <a:xfrm>
            <a:off x="6885432" y="4443984"/>
            <a:ext cx="12691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1M tokens</a:t>
            </a:r>
            <a:endParaRPr lang="en-US" sz="980" dirty="0"/>
          </a:p>
        </p:txBody>
      </p:sp>
      <p:sp>
        <p:nvSpPr>
          <p:cNvPr id="47" name="Shape 44"/>
          <p:cNvSpPr/>
          <p:nvPr/>
        </p:nvSpPr>
        <p:spPr>
          <a:xfrm>
            <a:off x="8392363" y="4443984"/>
            <a:ext cx="732434" cy="329184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48" name="Text 45"/>
          <p:cNvSpPr/>
          <p:nvPr/>
        </p:nvSpPr>
        <p:spPr>
          <a:xfrm>
            <a:off x="8465515" y="4443984"/>
            <a:ext cx="5861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80" dirty="0"/>
          </a:p>
        </p:txBody>
      </p:sp>
      <p:sp>
        <p:nvSpPr>
          <p:cNvPr id="49" name="Shape 46"/>
          <p:cNvSpPr/>
          <p:nvPr/>
        </p:nvSpPr>
        <p:spPr>
          <a:xfrm>
            <a:off x="9289390" y="4443984"/>
            <a:ext cx="1946758" cy="329184"/>
          </a:xfrm>
          <a:prstGeom prst="roundRect">
            <a:avLst>
              <a:gd name="adj" fmla="val 50000"/>
            </a:avLst>
          </a:prstGeom>
          <a:solidFill>
            <a:srgbClr val="E9F3F1"/>
          </a:solidFill>
          <a:ln/>
        </p:spPr>
      </p:sp>
      <p:sp>
        <p:nvSpPr>
          <p:cNvPr id="50" name="Text 47"/>
          <p:cNvSpPr/>
          <p:nvPr/>
        </p:nvSpPr>
        <p:spPr>
          <a:xfrm>
            <a:off x="9362542" y="4443984"/>
            <a:ext cx="18004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C4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Pharmacist-rated safety</a:t>
            </a:r>
            <a:endParaRPr lang="en-US" sz="980" dirty="0"/>
          </a:p>
        </p:txBody>
      </p:sp>
      <p:sp>
        <p:nvSpPr>
          <p:cNvPr id="51" name="Shape 48"/>
          <p:cNvSpPr/>
          <p:nvPr/>
        </p:nvSpPr>
        <p:spPr>
          <a:xfrm>
            <a:off x="502920" y="4956048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0C4B49"/>
          </a:solidFill>
          <a:ln/>
          <a:effectLst>
            <a:outerShdw sx="100000" sy="100000" kx="0" ky="0" algn="bl" rotWithShape="0" blurRad="88900" dist="38100" dir="5400000">
              <a:srgbClr val="9BB4B1">
                <a:alpha val="3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85800" y="5074920"/>
            <a:ext cx="329184" cy="329184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88" y="5160508"/>
            <a:ext cx="158008" cy="158008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1124712" y="49560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55" name="Text 51"/>
          <p:cNvSpPr/>
          <p:nvPr/>
        </p:nvSpPr>
        <p:spPr>
          <a:xfrm>
            <a:off x="2377440" y="4956048"/>
            <a:ext cx="9128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begin Stage 0–1 — low cost, fully reversible, high option value. If the pilot clears its bar, we scale; if not, we stop having spent very little.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PharmaLLM  ·  Internal Research Proposal — Confidential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10728655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2026-07-22T05:02:00Z</dcterms:created>
  <dcterms:modified xsi:type="dcterms:W3CDTF">2026-07-22T05:02:00Z</dcterms:modified>
</cp:coreProperties>
</file>