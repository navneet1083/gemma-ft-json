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3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4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5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6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GB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B8A6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Weights (BF16)</c:v>
                </c:pt>
                <c:pt idx="1">
                  <c:v>KV cache budget</c:v>
                </c:pt>
                <c:pt idx="2">
                  <c:v>Activations + overhead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29.3</c:v>
                </c:pt>
                <c:pt idx="1">
                  <c:v>12.4</c:v>
                </c:pt>
                <c:pt idx="2">
                  <c:v>1.5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5F7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Aggregate tok/s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B=1</c:v>
                  </c:pt>
                  <c:pt idx="1">
                    <c:v>B=4</c:v>
                  </c:pt>
                  <c:pt idx="2">
                    <c:v>B=8</c:v>
                  </c:pt>
                  <c:pt idx="3">
                    <c:v>B=16</c:v>
                  </c:pt>
                  <c:pt idx="4">
                    <c:v>B=32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</c:v>
                </c:pt>
                <c:pt idx="1">
                  <c:v>118</c:v>
                </c:pt>
                <c:pt idx="2">
                  <c:v>236</c:v>
                </c:pt>
                <c:pt idx="3">
                  <c:v>472</c:v>
                </c:pt>
                <c:pt idx="4">
                  <c:v>943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7F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GB/s</c:v>
                </c:pt>
              </c:strCache>
            </c:strRef>
          </c:tx>
          <c:spPr>
            <a:solidFill>
              <a:srgbClr val="F871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8717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L40S (PCIe Gen4)</c:v>
                  </c:pt>
                  <c:pt idx="1">
                    <c:v>A100 (NVLink)</c:v>
                  </c:pt>
                  <c:pt idx="2">
                    <c:v>H100 (NVLink)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</c:v>
                </c:pt>
                <c:pt idx="1">
                  <c:v>600</c:v>
                </c:pt>
                <c:pt idx="2">
                  <c:v>900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5F7FB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sequences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2K ctx</c:v>
                  </c:pt>
                  <c:pt idx="1">
                    <c:v>4K ctx</c:v>
                  </c:pt>
                  <c:pt idx="2">
                    <c:v>8K ctx</c:v>
                  </c:pt>
                  <c:pt idx="3">
                    <c:v>16K ctx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15</c:v>
                </c:pt>
                <c:pt idx="2">
                  <c:v>7</c:v>
                </c:pt>
                <c:pt idx="3">
                  <c:v>3.7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BD5E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GB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Gemma 3 270M</c:v>
                  </c:pt>
                  <c:pt idx="1">
                    <c:v>Gemma 3 4B</c:v>
                  </c:pt>
                  <c:pt idx="2">
                    <c:v>Phi-4 14B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0.54</c:v>
                </c:pt>
                <c:pt idx="1">
                  <c:v>8.59</c:v>
                </c:pt>
                <c:pt idx="2">
                  <c:v>29.32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4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BF16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Phi-4</c:v>
                  </c:pt>
                  <c:pt idx="1">
                    <c:v>Gemma 4 31B</c:v>
                  </c:pt>
                  <c:pt idx="2">
                    <c:v>Gemma 3 4B</c:v>
                  </c:pt>
                  <c:pt idx="3">
                    <c:v>Gemma 3 270M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</c:v>
                </c:pt>
                <c:pt idx="1">
                  <c:v>14</c:v>
                </c:pt>
                <c:pt idx="2">
                  <c:v>101</c:v>
                </c:pt>
                <c:pt idx="3">
                  <c:v>1612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FP8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Phi-4</c:v>
                  </c:pt>
                  <c:pt idx="1">
                    <c:v>Gemma 4 31B</c:v>
                  </c:pt>
                  <c:pt idx="2">
                    <c:v>Gemma 3 4B</c:v>
                  </c:pt>
                  <c:pt idx="3">
                    <c:v>Gemma 3 270M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59</c:v>
                </c:pt>
                <c:pt idx="1">
                  <c:v>28</c:v>
                </c:pt>
                <c:pt idx="2">
                  <c:v>201</c:v>
                </c:pt>
                <c:pt idx="3">
                  <c:v>3223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ax val="4000"/>
          <c:min val="10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94A3B8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94A3B8"/>
                    </a:solidFill>
                    <a:latin typeface="Arial"/>
                  </a:rPr>
                  <a:t>tokens / sec (log scale)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image" Target="../media/image-8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3.png"/><Relationship Id="rId5" Type="http://schemas.openxmlformats.org/officeDocument/2006/relationships/image" Target="../media/image-11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2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.xml"/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image" Target="../media/image-26-1.png"/><Relationship Id="rId3" Type="http://schemas.openxmlformats.org/officeDocument/2006/relationships/image" Target="../media/image-2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868680"/>
            <a:ext cx="713232" cy="713232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4" name="Image 0" descr="ic/brain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653" y="1061253"/>
            <a:ext cx="328087" cy="3280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10332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DEEP DIVE · 60 MINUTES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03504" y="182880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Memory Mechanics of</a:t>
            </a:r>
            <a:endParaRPr lang="en-US" sz="46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Inference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40080" y="361188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Phi-4, Gemma 3 &amp; Gemma 4 with vLLM on AWS — from the KV cache to autoscaling, with the math worked out on a single NVIDIA L40S.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17830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B0E2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86384" y="523036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2–4× throughput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6384" y="57607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PagedAttention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487168" y="5074920"/>
            <a:ext cx="17830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B0E2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633472" y="523036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23× util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633472" y="57607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batching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334256" y="5074920"/>
            <a:ext cx="17830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B0E2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480560" y="523036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GB @ 864 GB/s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480560" y="57607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L40S · g6e.2xlarge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181344" y="5074920"/>
            <a:ext cx="17830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B0E2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327648" y="523036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models, real numbers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327648" y="57607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641080" y="1051560"/>
            <a:ext cx="2971800" cy="5074920"/>
          </a:xfrm>
          <a:prstGeom prst="roundRect">
            <a:avLst>
              <a:gd name="adj" fmla="val 4308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B0E2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641080" y="125272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50" kern="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L40S · 48 GB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641080" y="156362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budget every slide returns to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915400" y="2011680"/>
            <a:ext cx="2423160" cy="1874520"/>
          </a:xfrm>
          <a:prstGeom prst="roundRect">
            <a:avLst>
              <a:gd name="adj" fmla="val 3415"/>
            </a:avLst>
          </a:prstGeom>
          <a:solidFill>
            <a:srgbClr val="14B8A6"/>
          </a:solidFill>
          <a:ln/>
          <a:effectLst>
            <a:outerShdw sx="100000" sy="100000" kx="0" ky="0" algn="bl" rotWithShape="0" blurRad="63500" dist="25400" dir="2700000">
              <a:srgbClr val="0B0E2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9079992" y="2103120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9079992" y="2414016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F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 × bytes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8915400" y="3995928"/>
            <a:ext cx="2423160" cy="1234440"/>
          </a:xfrm>
          <a:prstGeom prst="roundRect">
            <a:avLst>
              <a:gd name="adj" fmla="val 5185"/>
            </a:avLst>
          </a:prstGeom>
          <a:solidFill>
            <a:srgbClr val="F59E0B"/>
          </a:solidFill>
          <a:ln/>
          <a:effectLst>
            <a:outerShdw sx="100000" sy="100000" kx="0" ky="0" algn="bl" rotWithShape="0" blurRad="63500" dist="25400" dir="2700000">
              <a:srgbClr val="0B0E20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9079992" y="4087368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cache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9079992" y="4398264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F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with tokens × users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8915400" y="5340096"/>
            <a:ext cx="2423160" cy="548640"/>
          </a:xfrm>
          <a:prstGeom prst="roundRect">
            <a:avLst>
              <a:gd name="adj" fmla="val 11667"/>
            </a:avLst>
          </a:prstGeom>
          <a:solidFill>
            <a:srgbClr val="94A3B8"/>
          </a:solidFill>
          <a:ln/>
          <a:effectLst>
            <a:outerShdw sx="100000" sy="100000" kx="0" ky="0" algn="bl" rotWithShape="0" blurRad="63500" dist="25400" dir="2700000">
              <a:srgbClr val="0B0E20">
                <a:alpha val="12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9079992" y="5431536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Activations + overhead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9079992" y="5742432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transient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8641080" y="566928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this into 48 GB  →  a serving plan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LEAVE KNOWING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hour, one thesis: inference is a memory-movement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84832"/>
            <a:ext cx="713232" cy="713232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6" name="Image 0" descr="ic/layers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533" y="2277405"/>
            <a:ext cx="328087" cy="328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310128" y="206654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22960" y="29260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forward pass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334670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 vs decode, and why the KV cache exists at all.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9120" y="18288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45152" y="2084832"/>
            <a:ext cx="713232" cy="713232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2" name="Image 1" descr="ic/mem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725" y="2277405"/>
            <a:ext cx="328087" cy="3280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206654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4645152" y="29260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memory budget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645152" y="334670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+ KV + activations — the master equations.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211312" y="18288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67344" y="2084832"/>
            <a:ext cx="713232" cy="713232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8" name="Image 2" descr="ic/chip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917" y="2277405"/>
            <a:ext cx="328087" cy="32808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954512" y="2066544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8467344" y="29260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hardware floor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67344" y="334670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SRAM→HBM→DRAM hierarchy, the roofline &amp; memory wall.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66928" y="4233672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22960" y="4489704"/>
            <a:ext cx="713232" cy="713232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4" name="Image 3" descr="ic/stream_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533" y="4682277"/>
            <a:ext cx="328087" cy="32808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310128" y="447141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26" name="Text 20"/>
          <p:cNvSpPr/>
          <p:nvPr/>
        </p:nvSpPr>
        <p:spPr>
          <a:xfrm>
            <a:off x="822960" y="53309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throughput tricks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822960" y="5751576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batching, PagedAttention, FlashAttention.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4389120" y="4233672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645152" y="4489704"/>
            <a:ext cx="713232" cy="713232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30" name="Image 4" descr="ic/scale_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7725" y="4682277"/>
            <a:ext cx="328087" cy="328087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132320" y="447141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32" name="Text 25"/>
          <p:cNvSpPr/>
          <p:nvPr/>
        </p:nvSpPr>
        <p:spPr>
          <a:xfrm>
            <a:off x="4645152" y="53309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out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4645152" y="5751576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Quantization, tensor/pipeline parallelism, autoscaling.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8211312" y="4233672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467344" y="4489704"/>
            <a:ext cx="713232" cy="713232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36" name="Image 5" descr="ic/cubes_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9917" y="4682277"/>
            <a:ext cx="328087" cy="328087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954512" y="4471416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000" dirty="0"/>
          </a:p>
        </p:txBody>
      </p:sp>
      <p:sp>
        <p:nvSpPr>
          <p:cNvPr id="38" name="Text 30"/>
          <p:cNvSpPr/>
          <p:nvPr/>
        </p:nvSpPr>
        <p:spPr>
          <a:xfrm>
            <a:off x="8467344" y="53309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on real models</a:t>
            </a:r>
            <a:endParaRPr lang="en-US" sz="1700" dirty="0"/>
          </a:p>
        </p:txBody>
      </p:sp>
      <p:sp>
        <p:nvSpPr>
          <p:cNvPr id="39" name="Text 31"/>
          <p:cNvSpPr/>
          <p:nvPr/>
        </p:nvSpPr>
        <p:spPr>
          <a:xfrm>
            <a:off x="8467344" y="5751576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Phi-4, Gemma 3 270M, Gemma 3 4B-vision, Gemma 4.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MENTAL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trained LLM is fixed weights.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 it well is about moving bytes.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269748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generated token re-reads the entire model from GPU memory. The arithmetic is cheap; the data movement is not. Almost every technique in this session exists to move fewer bytes, or to reuse the bytes you already moved.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4160520"/>
            <a:ext cx="2542032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B0E2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4398264"/>
            <a:ext cx="640080" cy="64008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7" name="Image 0" descr="ic/compress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350" y="4571086"/>
            <a:ext cx="294437" cy="2944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5528" y="514807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fewer bytes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95528" y="56418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Quantization, GQA, sliding-window attention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64408" y="4160520"/>
            <a:ext cx="2542032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B0E2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93008" y="4398264"/>
            <a:ext cx="640080" cy="64008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2" name="Image 1" descr="ic/recyc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830" y="4571086"/>
            <a:ext cx="294437" cy="29443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93008" y="514807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moved bytes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3493008" y="56418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cache, prefix sharing, FlashAttention tiling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961888" y="4160520"/>
            <a:ext cx="2542032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B0E2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90488" y="4398264"/>
            <a:ext cx="640080" cy="64008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7" name="Image 2" descr="ic/stream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3310" y="4571086"/>
            <a:ext cx="294437" cy="29443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90488" y="514807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Amortize the move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190488" y="564184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Batching: one weight read serves many requests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732520" y="960120"/>
            <a:ext cx="2926080" cy="5257800"/>
          </a:xfrm>
          <a:prstGeom prst="roundRect">
            <a:avLst>
              <a:gd name="adj" fmla="val 3750"/>
            </a:avLst>
          </a:prstGeom>
          <a:solidFill>
            <a:srgbClr val="10142C"/>
          </a:solidFill>
          <a:ln/>
          <a:effectLst>
            <a:outerShdw sx="100000" sy="100000" kx="0" ky="0" algn="bl" rotWithShape="0" blurRad="152400" dist="50800" dir="2700000">
              <a:srgbClr val="0B0E20">
                <a:alpha val="14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8942832" y="1188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spc="150" kern="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SESSION IN ONE BUDGET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942832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 memory =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8942832" y="22860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Weights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9098280" y="25786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 × bytes/param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8942832" y="29992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KV cache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9098280" y="3291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2·L·n_kv·d·tokens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8942832" y="371246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Activations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9098280" y="4005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transient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8942832" y="44256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Overhead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9098280" y="47183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CUDA, fragmentation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8942832" y="53492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this budget into 48 GB and you have a serving plan.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AN LLM ACTUALLY COMPUTES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one decoder forward pass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in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E2E8F0"/>
          </a:solidFill>
          <a:ln/>
          <a:effectLst>
            <a:outerShdw sx="100000" sy="100000" kx="0" ky="0" algn="bl" rotWithShape="0" blurRad="63500" dist="25400" dir="2700000">
              <a:srgbClr val="0B0E2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19456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lookup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852928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14B8A6"/>
          </a:solidFill>
          <a:ln/>
          <a:effectLst>
            <a:outerShdw sx="100000" sy="100000" kx="0" ky="0" algn="bl" rotWithShape="0" blurRad="63500" dist="25400" dir="2700000">
              <a:srgbClr val="0B0E2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85292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Self-Attention  (reads KV cache)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511296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1B2145"/>
          </a:solidFill>
          <a:ln/>
          <a:effectLst>
            <a:outerShdw sx="100000" sy="100000" kx="0" ky="0" algn="bl" rotWithShape="0" blurRad="63500" dist="25400" dir="2700000">
              <a:srgbClr val="0B0E2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51129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Feed-Forward MLP  (≈⅔ of weights)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169664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F5F7FB"/>
          </a:solidFill>
          <a:ln w="15875">
            <a:solidFill>
              <a:srgbClr val="94A3B8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77240" y="416966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L layers (repeat)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873752"/>
            <a:ext cx="3657600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  <a:effectLst>
            <a:outerShdw sx="100000" sy="100000" kx="0" ky="0" algn="bl" rotWithShape="0" blurRad="63500" dist="25400" dir="2700000">
              <a:srgbClr val="0B0E2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87375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Logits → next-token probability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00600" y="1828800"/>
            <a:ext cx="68122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0" y="2011680"/>
            <a:ext cx="731520" cy="73152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7" name="Image 0" descr="ic/layers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6710" y="2209190"/>
            <a:ext cx="336499" cy="336499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943600" y="19933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= the only operator that looks across tokens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943600" y="2432304"/>
            <a:ext cx="5532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token's Query attends to the Keys &amp; Values of every previous token. Those K and V tensors are exactly what we cache — recomputing them each step would be quadratic waste.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800600" y="3310128"/>
            <a:ext cx="68122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029200" y="3493008"/>
            <a:ext cx="731520" cy="73152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2" name="Image 1" descr="ic/chip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6710" y="3690518"/>
            <a:ext cx="336499" cy="336499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943600" y="3474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= where most parameters (and memory traffic) live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5943600" y="3913632"/>
            <a:ext cx="5532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gate/up/down projections are ~⅔ of the weights. Reading them from GPU memory dominates decode time — this is why bandwidth, not FLOPs, sets your token rate.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4800600" y="4791456"/>
            <a:ext cx="6812280" cy="1325880"/>
          </a:xfrm>
          <a:prstGeom prst="roundRect">
            <a:avLst>
              <a:gd name="adj" fmla="val 6897"/>
            </a:avLst>
          </a:prstGeom>
          <a:solidFill>
            <a:srgbClr val="ECFEFF"/>
          </a:solidFill>
          <a:ln/>
          <a:effectLst>
            <a:outerShdw sx="100000" sy="100000" kx="0" ky="0" algn="bl" rotWithShape="0" blurRad="114300" dist="38100" dir="2700000">
              <a:srgbClr val="0B0E2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5029200" y="4974336"/>
            <a:ext cx="731520" cy="73152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7" name="Image 2" descr="ic/key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6710" y="5171846"/>
            <a:ext cx="336499" cy="336499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943600" y="495604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 to remember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5943600" y="5340096"/>
            <a:ext cx="5532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token's cost ≈ read every weight once + read the KV cache once. </a:t>
            </a:r>
            <a:pPr indent="0" marL="0">
              <a:lnSpc>
                <a:spcPts val="1500"/>
              </a:lnSpc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that thought through every slide that follows.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Vaswani et al. 2017 (Attention Is All You Need, arXiv:1706.03762); Ainslie et al. 2023 (GQA, arXiv:2305.13245).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PHASES, TWO BOTTLENECKS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Prefill is compute-bound · Decode is memory-bound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48640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828800"/>
            <a:ext cx="5486400" cy="841248"/>
          </a:xfrm>
          <a:prstGeom prst="roundRect">
            <a:avLst>
              <a:gd name="adj" fmla="val 13043"/>
            </a:avLst>
          </a:prstGeom>
          <a:solidFill>
            <a:srgbClr val="FCEAC8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1947672"/>
            <a:ext cx="603504" cy="603504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7" name="Image 0" descr="ic/gauge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194" y="2110618"/>
            <a:ext cx="277612" cy="2776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1874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PREFILL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572768" y="228600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the whole prompt at once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86968" y="288036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 prompt tokens run in parallel — big matrix-multiplies</a:t>
            </a:r>
            <a:endParaRPr lang="en-US" sz="1300" dirty="0"/>
          </a:p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arithmetic intensity → saturates Tensor Cores</a:t>
            </a:r>
            <a:endParaRPr lang="en-US" sz="1300" dirty="0"/>
          </a:p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initial KV cache for the prompt</a:t>
            </a:r>
            <a:endParaRPr lang="en-US" sz="1300" dirty="0"/>
          </a:p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scales with prompt length; happens once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59536" y="5532120"/>
            <a:ext cx="4901184" cy="502920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859536" y="5532120"/>
            <a:ext cx="4901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Bottleneck: raw FLOPs (compute-bound)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693408" y="1828800"/>
            <a:ext cx="548640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693408" y="1828800"/>
            <a:ext cx="5486400" cy="841248"/>
          </a:xfrm>
          <a:prstGeom prst="roundRect">
            <a:avLst>
              <a:gd name="adj" fmla="val 13043"/>
            </a:avLst>
          </a:prstGeom>
          <a:solidFill>
            <a:srgbClr val="D1FAF4"/>
          </a:solidFill>
          <a:ln/>
        </p:spPr>
      </p:sp>
      <p:sp>
        <p:nvSpPr>
          <p:cNvPr id="15" name="Shape 12"/>
          <p:cNvSpPr/>
          <p:nvPr/>
        </p:nvSpPr>
        <p:spPr>
          <a:xfrm>
            <a:off x="6967728" y="1947672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6" name="Image 1" descr="ic/speed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0674" y="2110618"/>
            <a:ext cx="277612" cy="2776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699248" y="1874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</a:t>
            </a:r>
            <a:endParaRPr lang="en-US" sz="2100" dirty="0"/>
          </a:p>
        </p:txBody>
      </p:sp>
      <p:sp>
        <p:nvSpPr>
          <p:cNvPr id="18" name="Text 14"/>
          <p:cNvSpPr/>
          <p:nvPr/>
        </p:nvSpPr>
        <p:spPr>
          <a:xfrm>
            <a:off x="7699248" y="228600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one token at a time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7013448" y="288036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processes a single new token</a:t>
            </a:r>
            <a:endParaRPr lang="en-US" sz="1300" dirty="0"/>
          </a:p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re-read all weights every step → low intensity</a:t>
            </a:r>
            <a:endParaRPr lang="en-US" sz="1300" dirty="0"/>
          </a:p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Appends one row of K,V to the cache per layer</a:t>
            </a:r>
            <a:endParaRPr lang="en-US" sz="1300" dirty="0"/>
          </a:p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scales with output length; happens many times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986016" y="5532120"/>
            <a:ext cx="4901184" cy="502920"/>
          </a:xfrm>
          <a:prstGeom prst="roundRect">
            <a:avLst>
              <a:gd name="adj" fmla="val 18182"/>
            </a:avLst>
          </a:prstGeom>
          <a:solidFill>
            <a:srgbClr val="14B8A6"/>
          </a:solidFill>
          <a:ln/>
        </p:spPr>
      </p:sp>
      <p:sp>
        <p:nvSpPr>
          <p:cNvPr id="21" name="Text 17"/>
          <p:cNvSpPr/>
          <p:nvPr/>
        </p:nvSpPr>
        <p:spPr>
          <a:xfrm>
            <a:off x="6986016" y="5532120"/>
            <a:ext cx="4901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Bottleneck: memory bandwidth (memory-bound)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PremAI &amp; Anyscale serving notes 2024–26; Spheron 'AI Memory Wall' 2026.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SINGLE MOST IMPORTANT DATA STRUCTURE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KV cache: trade memory to kill quadratic recompute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2920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 cache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emit token t, recompute K,V for tokens 1..t every step → O(n²) work, the same keys built again and again.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" y="3337560"/>
            <a:ext cx="640080" cy="146304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3538728"/>
            <a:ext cx="1463040" cy="146304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3739896"/>
            <a:ext cx="2286000" cy="146304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941064"/>
            <a:ext cx="3108960" cy="146304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4142232"/>
            <a:ext cx="3931920" cy="146304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389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grows every step ↑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KV cache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51206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each token's K,V once; each new step computes only one new column. O(n²) → O(n) per step. You pay in memory instead of compute.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89320" y="1965960"/>
            <a:ext cx="5623560" cy="4069080"/>
          </a:xfrm>
          <a:prstGeom prst="roundRect">
            <a:avLst>
              <a:gd name="adj" fmla="val 2697"/>
            </a:avLst>
          </a:prstGeom>
          <a:solidFill>
            <a:srgbClr val="10142C"/>
          </a:solidFill>
          <a:ln/>
          <a:effectLst>
            <a:outerShdw sx="100000" sy="100000" kx="0" ky="0" algn="bl" rotWithShape="0" blurRad="114300" dist="38100" dir="2700000">
              <a:srgbClr val="0B0E2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936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lives in the cache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55080" y="2743200"/>
            <a:ext cx="146304" cy="14630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26517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layer: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 tensor and a Value tensor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3218688"/>
            <a:ext cx="146304" cy="14630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312724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token: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 and one V vector are appended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55080" y="3694176"/>
            <a:ext cx="146304" cy="14630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360273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request: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cache grows with the conversation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55080" y="4169664"/>
            <a:ext cx="146304" cy="146304"/>
          </a:xfrm>
          <a:prstGeom prst="ellipse">
            <a:avLst/>
          </a:prstGeom>
          <a:solidFill>
            <a:srgbClr val="5EEAD4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407822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Shared: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prefixes can point to one copy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55080" y="4754880"/>
            <a:ext cx="4937760" cy="1097280"/>
          </a:xfrm>
          <a:prstGeom prst="roundRect">
            <a:avLst>
              <a:gd name="adj" fmla="val 8333"/>
            </a:avLst>
          </a:prstGeom>
          <a:solidFill>
            <a:srgbClr val="1B2145"/>
          </a:solidFill>
          <a:ln/>
        </p:spPr>
      </p:sp>
      <p:sp>
        <p:nvSpPr>
          <p:cNvPr id="26" name="Shape 24"/>
          <p:cNvSpPr/>
          <p:nvPr/>
        </p:nvSpPr>
        <p:spPr>
          <a:xfrm>
            <a:off x="6537960" y="4937760"/>
            <a:ext cx="566928" cy="566928"/>
          </a:xfrm>
          <a:prstGeom prst="ellipse">
            <a:avLst/>
          </a:prstGeom>
          <a:solidFill>
            <a:srgbClr val="252C52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7" name="Image 0" descr="ic/warn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1031" y="5090831"/>
            <a:ext cx="260787" cy="260787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223760" y="4901184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catch: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cache grows linearly with tokens × users and quickly rivals the model weights. Managing it is the whole game.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Kwon et al. 2023 (PagedAttention, SOSP'23, arXiv:2309.06180).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IT QUANTITATIVE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KV-cache master equation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KV bytes</a:t>
            </a:r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 2 </a:t>
            </a:r>
            <a:pPr indent="0" marL="0">
              <a:buNone/>
            </a:pPr>
            <a:r>
              <a:rPr lang="en-US" sz="2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(K,V)</a:t>
            </a:r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×  L </a:t>
            </a:r>
            <a:pPr indent="0" marL="0">
              <a:buNone/>
            </a:pPr>
            <a:r>
              <a:rPr lang="en-US" sz="2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layers</a:t>
            </a:r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×  n_kv </a:t>
            </a:r>
            <a:pPr indent="0" marL="0">
              <a:buNone/>
            </a:pPr>
            <a:r>
              <a:rPr lang="en-US" sz="2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kv-heads</a:t>
            </a:r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×  d_head  ×  precision  ×  tokens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6928" y="301752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B0E2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30175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139696" y="301752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and Values are both stored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15968" y="301752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B0E2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0560" y="30175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888736" y="301752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layers → proportionally more cache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65008" y="301752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B0E2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0" y="30175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n_kv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37776" y="301752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GQA/MQA shrink this vs. query heads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406908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B0E2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40690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d_head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39696" y="406908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dimension (often 128 or 256)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15968" y="406908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B0E2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480560" y="40690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88736" y="406908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 in BF16, 1 B in FP8 — halve it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65008" y="406908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2700000">
              <a:srgbClr val="0B0E2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0" y="40690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37776" y="406908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over all sequences in flight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16636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16636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— Phi-4 (L=40, n_kv=10, d=128, BF16): 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2·40·10·128·2 = 204,800 B ≈ </a:t>
            </a:r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0.20 MB per token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16K-token context = 3.2 GB for ONE sequence.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 standard; Phi-4 config from microsoft/phi-4 (HF). Independent of batch — it sums over all live tokens.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ACCOUNTING FOR EVERY GIGABYTE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GPU's memory actually goes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Inference, Phi-4 on one L40S (43.2 GB working set)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2148840"/>
          <a:ext cx="493776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06440" y="1828800"/>
            <a:ext cx="5806440" cy="886968"/>
          </a:xfrm>
          <a:prstGeom prst="roundRect">
            <a:avLst>
              <a:gd name="adj" fmla="val 103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89320" y="1993392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8" name="Image 0" descr="ic/mem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7453" y="2141525"/>
            <a:ext cx="252374" cy="25237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75120" y="194767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weights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675120" y="2258568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Fixed: params × bytes. The floor you can't avoid (only quantize).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806440" y="2798064"/>
            <a:ext cx="5806440" cy="886968"/>
          </a:xfrm>
          <a:prstGeom prst="roundRect">
            <a:avLst>
              <a:gd name="adj" fmla="val 103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989320" y="2962656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3" name="Image 1" descr="ic/db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453" y="3110789"/>
            <a:ext cx="252374" cy="25237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75120" y="291693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cache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6675120" y="3227832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with tokens × users. The variable you actually manage.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806440" y="3767328"/>
            <a:ext cx="5806440" cy="886968"/>
          </a:xfrm>
          <a:prstGeom prst="roundRect">
            <a:avLst>
              <a:gd name="adj" fmla="val 103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989320" y="3931920"/>
            <a:ext cx="548640" cy="548640"/>
          </a:xfrm>
          <a:prstGeom prst="ellipse">
            <a:avLst/>
          </a:prstGeom>
          <a:solidFill>
            <a:srgbClr val="818CF8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8" name="Image 2" descr="ic/wave_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7453" y="4080053"/>
            <a:ext cx="252374" cy="25237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675120" y="388620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Activations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6675120" y="4197096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per-step tensors; small at inference with FlashAttention.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806440" y="4736592"/>
            <a:ext cx="5806440" cy="886968"/>
          </a:xfrm>
          <a:prstGeom prst="roundRect">
            <a:avLst>
              <a:gd name="adj" fmla="val 103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5989320" y="4901184"/>
            <a:ext cx="548640" cy="548640"/>
          </a:xfrm>
          <a:prstGeom prst="ellipse">
            <a:avLst/>
          </a:prstGeom>
          <a:solidFill>
            <a:srgbClr val="64748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3" name="Image 3" descr="ic/gears_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7453" y="5049317"/>
            <a:ext cx="252374" cy="25237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675120" y="485546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overhead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6675120" y="51663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context, kernels, fragmentation — budget ~1–2 GB.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5806440" y="5724144"/>
            <a:ext cx="5806440" cy="749808"/>
          </a:xfrm>
          <a:prstGeom prst="roundRect">
            <a:avLst>
              <a:gd name="adj" fmla="val 12195"/>
            </a:avLst>
          </a:prstGeom>
          <a:solidFill>
            <a:srgbClr val="FEF3C7"/>
          </a:solidFill>
          <a:ln/>
        </p:spPr>
      </p:sp>
      <p:sp>
        <p:nvSpPr>
          <p:cNvPr id="27" name="Text 20"/>
          <p:cNvSpPr/>
          <p:nvPr/>
        </p:nvSpPr>
        <p:spPr>
          <a:xfrm>
            <a:off x="6035040" y="5724144"/>
            <a:ext cx="5394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aside:  </a:t>
            </a:r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gradients (1×) + optimizer states (Adam ≈ 2×) → 3–4× the weight memory. That's why we serve in 48 GB but train on clusters.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default gpu_memory_utilization=0.9; Adam memory accounting standard (Kingma &amp; Ba 2014).</a:t>
            </a:r>
            <a:endParaRPr lang="en-US" sz="850" dirty="0"/>
          </a:p>
        </p:txBody>
      </p:sp>
      <p:sp>
        <p:nvSpPr>
          <p:cNvPr id="29" name="Text 22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HARDWARE REALITY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memory hierarchy: tiny &amp; fast vs. huge &amp; slow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631436" y="173736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0F766E"/>
          </a:solidFill>
          <a:ln/>
          <a:effectLst>
            <a:outerShdw sx="100000" sy="100000" kx="0" ky="0" algn="bl" rotWithShape="0" blurRad="88900" dist="25400" dir="2700000">
              <a:srgbClr val="0B0E2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814316" y="18288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Registers / SRAM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814316" y="215798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~20 TB/s   </a:t>
            </a:r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KBs per SM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08276" y="19933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on-chip — where FlashAttention keeps its tiles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808476" y="2715768"/>
            <a:ext cx="4572000" cy="868680"/>
          </a:xfrm>
          <a:prstGeom prst="roundRect">
            <a:avLst>
              <a:gd name="adj" fmla="val 8421"/>
            </a:avLst>
          </a:prstGeom>
          <a:solidFill>
            <a:srgbClr val="115E59"/>
          </a:solidFill>
          <a:ln/>
          <a:effectLst>
            <a:outerShdw sx="100000" sy="100000" kx="0" ky="0" algn="bl" rotWithShape="0" blurRad="88900" dist="25400" dir="2700000">
              <a:srgbClr val="0B0E2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91356" y="280720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cache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991356" y="313639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~6 TB/s   </a:t>
            </a:r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tens of MB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85316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across the GPU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19756" y="3694176"/>
            <a:ext cx="6949440" cy="868680"/>
          </a:xfrm>
          <a:prstGeom prst="roundRect">
            <a:avLst>
              <a:gd name="adj" fmla="val 8421"/>
            </a:avLst>
          </a:prstGeom>
          <a:solidFill>
            <a:srgbClr val="B45309"/>
          </a:solidFill>
          <a:ln/>
          <a:effectLst>
            <a:outerShdw sx="100000" sy="100000" kx="0" ky="0" algn="bl" rotWithShape="0" blurRad="88900" dist="25400" dir="2700000">
              <a:srgbClr val="0B0E2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802636" y="3785616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HBM / GDDR6 (VRAM)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802636" y="411480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0.86–3.3 TB/s   </a:t>
            </a:r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16–80 GB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706356" y="39502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weights &amp; KV live — the working set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431036" y="4672584"/>
            <a:ext cx="9326880" cy="868680"/>
          </a:xfrm>
          <a:prstGeom prst="roundRect">
            <a:avLst>
              <a:gd name="adj" fmla="val 8421"/>
            </a:avLst>
          </a:prstGeom>
          <a:solidFill>
            <a:srgbClr val="475569"/>
          </a:solidFill>
          <a:ln/>
          <a:effectLst>
            <a:outerShdw sx="100000" sy="100000" kx="0" ky="0" algn="bl" rotWithShape="0" blurRad="88900" dist="25400" dir="2700000">
              <a:srgbClr val="0B0E2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613916" y="4764024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DRAM (host)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13916" y="5093208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~50 GB/s   </a:t>
            </a:r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100s of GB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895076" y="492861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offload target; PCIe ~32 GB/s is a cliff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5943600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9436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down is ~10× slower and ~100× larger. The L40S uses </a:t>
            </a:r>
            <a:pPr indent="0" marL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GDDR6 (864 GB/s)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HBM — which is exactly why its bandwidth, not its 48 GB, often sets the limit.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et al. 2022 (FlashAttention, arXiv:2205.14135); NVIDIA L40S datasheet; GPU memory-hierarchy references.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MORE FLOPS WON'T SAVE YOU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roofline &amp; the memory wall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2920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Arithmetic intensity = FLOPs ÷ bytes moved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395728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performance vs. intensity and you get two regimes meeting at a ridge point. Left of the ridge you are starved for data — memory-bound. Right of it, compute-bound.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" y="3291840"/>
            <a:ext cx="4480560" cy="1371600"/>
          </a:xfrm>
          <a:prstGeom prst="roundRect">
            <a:avLst>
              <a:gd name="adj" fmla="val 6667"/>
            </a:avLst>
          </a:prstGeom>
          <a:solidFill>
            <a:srgbClr val="10142C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4290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42-millisecond fact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3767328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70B model in FP16 = 140 GB read per token. Even at an H100's 3.35 TB/s that's </a:t>
            </a:r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~42 ms/token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before any math. Batch=1 decode lives here.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80060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 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go faster you must move fewer bytes (quantize) or serve more requests per byte read (batch).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89320" y="17830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Roofline — L40S (≈733 BF16 TFLOPS, 864 GB/s)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2286000"/>
            <a:ext cx="574243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7960" y="3227832"/>
            <a:ext cx="5093208" cy="0"/>
          </a:xfrm>
          <a:prstGeom prst="line">
            <a:avLst/>
          </a:prstGeom>
          <a:noFill/>
          <a:ln w="9525">
            <a:solidFill>
              <a:srgbClr val="EEF2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3913632"/>
            <a:ext cx="5093208" cy="0"/>
          </a:xfrm>
          <a:prstGeom prst="line">
            <a:avLst/>
          </a:prstGeom>
          <a:noFill/>
          <a:ln w="9525">
            <a:solidFill>
              <a:srgbClr val="EEF2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37960" y="4599432"/>
            <a:ext cx="5093208" cy="0"/>
          </a:xfrm>
          <a:prstGeom prst="line">
            <a:avLst/>
          </a:prstGeom>
          <a:noFill/>
          <a:ln w="9525">
            <a:solidFill>
              <a:srgbClr val="EEF2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2587752"/>
            <a:ext cx="914400" cy="26974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7" name="Shape 15"/>
          <p:cNvSpPr/>
          <p:nvPr/>
        </p:nvSpPr>
        <p:spPr>
          <a:xfrm>
            <a:off x="6537960" y="2542032"/>
            <a:ext cx="0" cy="27432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37960" y="5285232"/>
            <a:ext cx="509320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6537960" y="2788920"/>
            <a:ext cx="2560320" cy="2496312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98280" y="2788920"/>
            <a:ext cx="2532888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25128" y="2715768"/>
            <a:ext cx="146304" cy="146304"/>
          </a:xfrm>
          <a:prstGeom prst="ellipse">
            <a:avLst/>
          </a:prstGeom>
          <a:solidFill>
            <a:srgbClr val="0F766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0" y="24048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point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208008" y="2496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roof — 733 TFLOP/s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589520" y="3977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memory-bound</a:t>
            </a:r>
            <a:endParaRPr lang="en-US" sz="9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= 864 GB/s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788506" y="4878415"/>
            <a:ext cx="164592" cy="164592"/>
          </a:xfrm>
          <a:prstGeom prst="ellipse">
            <a:avLst/>
          </a:prstGeom>
          <a:solidFill>
            <a:srgbClr val="F8717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13602" y="4338919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90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(batch 1)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537960" y="53583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intensity (FLOP/byte)  →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92240" y="22494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TFLOP/s ↑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989320" y="577900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sits far left of the ridge → bandwidth, not TFLOPs, is the ceiling.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Williams et al. 2009 (Roofline, CACM); Spheron 'AI Memory Wall' 2026; L40S datasheet.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HIGHEST-LEVERAGE IDEA IN SERVING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Batching: read the weights once, serve many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decode is memory-bound, the 29 GB weight read for Phi-4 costs ~34 ms whether you serve 1 request or 32. Batch them and that fixed cost is amortized — aggregate throughput scales almost linearly until you run out of compute or KV memory.</a:t>
            </a:r>
            <a:endParaRPr lang="en-US" sz="14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2697480"/>
          <a:ext cx="64008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943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Phi-4, BF16, weight-read-bound model · same ~34 ms step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223760" y="2697480"/>
            <a:ext cx="4434840" cy="3291840"/>
          </a:xfrm>
          <a:prstGeom prst="roundRect">
            <a:avLst>
              <a:gd name="adj" fmla="val 3333"/>
            </a:avLst>
          </a:prstGeom>
          <a:solidFill>
            <a:srgbClr val="10142C"/>
          </a:solidFill>
          <a:ln/>
          <a:effectLst>
            <a:outerShdw sx="100000" sy="100000" kx="0" ky="0" algn="bl" rotWithShape="0" blurRad="114300" dist="38100" dir="2700000">
              <a:srgbClr val="0B0E2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498080" y="2880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 — and where it stops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516368" y="3337560"/>
            <a:ext cx="457200" cy="45720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0" name="Image 0" descr="ic/check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812" y="3461004"/>
            <a:ext cx="210312" cy="2103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092440" y="330098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re-used across the batch → near-free extra tokens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516368" y="3977640"/>
            <a:ext cx="457200" cy="457200"/>
          </a:xfrm>
          <a:prstGeom prst="ellipse">
            <a:avLst/>
          </a:prstGeom>
          <a:solidFill>
            <a:srgbClr val="0F766E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3" name="Image 1" descr="ic/check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9812" y="4101084"/>
            <a:ext cx="210312" cy="2103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92440" y="394106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per request barely moves while throughput multiplies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7516368" y="4617720"/>
            <a:ext cx="457200" cy="457200"/>
          </a:xfrm>
          <a:prstGeom prst="ellipse">
            <a:avLst/>
          </a:prstGeom>
          <a:solidFill>
            <a:srgbClr val="1B2145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6" name="Image 2" descr="ic/warn_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9812" y="4741164"/>
            <a:ext cx="210312" cy="2103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092440" y="458114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1: KV cache fills up — fewer slots for long contexts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7516368" y="5257800"/>
            <a:ext cx="457200" cy="457200"/>
          </a:xfrm>
          <a:prstGeom prst="ellipse">
            <a:avLst/>
          </a:prstGeom>
          <a:solidFill>
            <a:srgbClr val="1B2145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9" name="Image 3" descr="ic/warn_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9812" y="5381244"/>
            <a:ext cx="210312" cy="2103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092440" y="522122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2: you cross the ridge into compute-bound at large B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Memory-bound decode model; Anyscale continuous-batching benchmarks 2024–26.</a:t>
            </a:r>
            <a:endParaRPr lang="en-US" sz="850" dirty="0"/>
          </a:p>
        </p:txBody>
      </p:sp>
      <p:sp>
        <p:nvSpPr>
          <p:cNvPr id="22" name="Text 15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SCHEDULING: THE FREE LUNCH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vs. continuous batching (Orca, OSDI '22)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97510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batching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30428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batch waits for the slowest request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41248" y="26791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133856" y="2697480"/>
            <a:ext cx="4572000" cy="164592"/>
          </a:xfrm>
          <a:prstGeom prst="roundRect">
            <a:avLst>
              <a:gd name="adj" fmla="val 22222"/>
            </a:avLst>
          </a:prstGeom>
          <a:solidFill>
            <a:srgbClr val="F87171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92608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33856" y="2944368"/>
            <a:ext cx="1280160" cy="164592"/>
          </a:xfrm>
          <a:prstGeom prst="roundRect">
            <a:avLst>
              <a:gd name="adj" fmla="val 22222"/>
            </a:avLst>
          </a:prstGeom>
          <a:solidFill>
            <a:srgbClr val="F87171"/>
          </a:solidFill>
          <a:ln/>
        </p:spPr>
      </p:sp>
      <p:sp>
        <p:nvSpPr>
          <p:cNvPr id="11" name="Shape 9"/>
          <p:cNvSpPr/>
          <p:nvPr/>
        </p:nvSpPr>
        <p:spPr>
          <a:xfrm>
            <a:off x="2414016" y="2944368"/>
            <a:ext cx="3291840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31729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133856" y="3191256"/>
            <a:ext cx="2377440" cy="164592"/>
          </a:xfrm>
          <a:prstGeom prst="roundRect">
            <a:avLst>
              <a:gd name="adj" fmla="val 22222"/>
            </a:avLst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3511296" y="3191256"/>
            <a:ext cx="2194560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341985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133856" y="3438144"/>
            <a:ext cx="3108960" cy="164592"/>
          </a:xfrm>
          <a:prstGeom prst="roundRect">
            <a:avLst>
              <a:gd name="adj" fmla="val 22222"/>
            </a:avLst>
          </a:prstGeom>
          <a:solidFill>
            <a:srgbClr val="F87171"/>
          </a:solidFill>
          <a:ln/>
        </p:spPr>
      </p:sp>
      <p:sp>
        <p:nvSpPr>
          <p:cNvPr id="17" name="Shape 15"/>
          <p:cNvSpPr/>
          <p:nvPr/>
        </p:nvSpPr>
        <p:spPr>
          <a:xfrm>
            <a:off x="4242816" y="3438144"/>
            <a:ext cx="1463040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/>
        </p:spPr>
      </p:sp>
      <p:sp>
        <p:nvSpPr>
          <p:cNvPr id="18" name="Shape 16"/>
          <p:cNvSpPr/>
          <p:nvPr/>
        </p:nvSpPr>
        <p:spPr>
          <a:xfrm>
            <a:off x="6172200" y="182880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46520" y="197510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batching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46520" y="230428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slot → new request joins next iteration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46520" y="267919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39128" y="2697480"/>
            <a:ext cx="4572000" cy="164592"/>
          </a:xfrm>
          <a:prstGeom prst="roundRect">
            <a:avLst>
              <a:gd name="adj" fmla="val 22222"/>
            </a:avLst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292608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39128" y="2944368"/>
            <a:ext cx="1280160" cy="164592"/>
          </a:xfrm>
          <a:prstGeom prst="roundRect">
            <a:avLst>
              <a:gd name="adj" fmla="val 22222"/>
            </a:avLst>
          </a:prstGeom>
          <a:solidFill>
            <a:srgbClr val="0F766E"/>
          </a:solidFill>
          <a:ln/>
        </p:spPr>
      </p:sp>
      <p:sp>
        <p:nvSpPr>
          <p:cNvPr id="25" name="Shape 23"/>
          <p:cNvSpPr/>
          <p:nvPr/>
        </p:nvSpPr>
        <p:spPr>
          <a:xfrm>
            <a:off x="8019288" y="2944368"/>
            <a:ext cx="3291840" cy="164592"/>
          </a:xfrm>
          <a:prstGeom prst="roundRect">
            <a:avLst>
              <a:gd name="adj" fmla="val 22222"/>
            </a:avLst>
          </a:prstGeom>
          <a:solidFill>
            <a:srgbClr val="5EEAD4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317296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39128" y="3191256"/>
            <a:ext cx="2377440" cy="164592"/>
          </a:xfrm>
          <a:prstGeom prst="roundRect">
            <a:avLst>
              <a:gd name="adj" fmla="val 22222"/>
            </a:avLst>
          </a:prstGeom>
          <a:solidFill>
            <a:srgbClr val="0F766E"/>
          </a:solidFill>
          <a:ln/>
        </p:spPr>
      </p:sp>
      <p:sp>
        <p:nvSpPr>
          <p:cNvPr id="28" name="Shape 26"/>
          <p:cNvSpPr/>
          <p:nvPr/>
        </p:nvSpPr>
        <p:spPr>
          <a:xfrm>
            <a:off x="9116568" y="3191256"/>
            <a:ext cx="2194560" cy="164592"/>
          </a:xfrm>
          <a:prstGeom prst="roundRect">
            <a:avLst>
              <a:gd name="adj" fmla="val 22222"/>
            </a:avLst>
          </a:prstGeom>
          <a:solidFill>
            <a:srgbClr val="5EEAD4"/>
          </a:solidFill>
          <a:ln/>
        </p:spPr>
      </p:sp>
      <p:sp>
        <p:nvSpPr>
          <p:cNvPr id="29" name="Text 27"/>
          <p:cNvSpPr/>
          <p:nvPr/>
        </p:nvSpPr>
        <p:spPr>
          <a:xfrm>
            <a:off x="6446520" y="341985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39128" y="3438144"/>
            <a:ext cx="3108960" cy="164592"/>
          </a:xfrm>
          <a:prstGeom prst="roundRect">
            <a:avLst>
              <a:gd name="adj" fmla="val 22222"/>
            </a:avLst>
          </a:prstGeom>
          <a:solidFill>
            <a:srgbClr val="0F766E"/>
          </a:solidFill>
          <a:ln/>
        </p:spPr>
      </p:sp>
      <p:sp>
        <p:nvSpPr>
          <p:cNvPr id="31" name="Shape 29"/>
          <p:cNvSpPr/>
          <p:nvPr/>
        </p:nvSpPr>
        <p:spPr>
          <a:xfrm>
            <a:off x="9848088" y="3438144"/>
            <a:ext cx="1463040" cy="164592"/>
          </a:xfrm>
          <a:prstGeom prst="roundRect">
            <a:avLst>
              <a:gd name="adj" fmla="val 22222"/>
            </a:avLst>
          </a:prstGeom>
          <a:solidFill>
            <a:srgbClr val="5EEAD4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" y="3822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 = wasted GPU cycles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92240" y="3822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= a new request filling the freed slot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6928" y="4251960"/>
            <a:ext cx="3584448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41248" y="4480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Iteration-level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841248" y="49834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runs every forward pass, not every request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279392" y="4251960"/>
            <a:ext cx="3584448" cy="1783080"/>
          </a:xfrm>
          <a:prstGeom prst="roundRect">
            <a:avLst>
              <a:gd name="adj" fmla="val 6154"/>
            </a:avLst>
          </a:prstGeom>
          <a:solidFill>
            <a:srgbClr val="0F766E"/>
          </a:solidFill>
          <a:ln/>
          <a:effectLst>
            <a:outerShdw sx="100000" sy="100000" kx="0" ky="0" algn="bl" rotWithShape="0" blurRad="114300" dist="38100" dir="2700000">
              <a:srgbClr val="0B0E2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53712" y="4480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36.9×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4553712" y="51206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D1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Orca's reported gain over FasterTransformer at equal latency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7991856" y="4251960"/>
            <a:ext cx="3584448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266176" y="4480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Default-on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8266176" y="49834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vLLM, TGI, TensorRT-LLM, SGLang all ship it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 et al. 2022 (Orca, OSDI'22); Anyscale 2023; BentoML LLM Inference Handbook 2026.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VLLM'S CORE IDEA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PagedAttention: virtual memory for the KV cache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566928" cy="566928"/>
          </a:xfrm>
          <a:prstGeom prst="ellipse">
            <a:avLst/>
          </a:prstGeom>
          <a:solidFill>
            <a:srgbClr val="F87171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6" name="Image 0" descr="ic/warn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311" y="1981871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28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fragmentation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33172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serving reserves one contiguous block per request sized to the max length. Most of it sits empty (internal waste); leftover gaps can't be reused (external waste). Up to 60–80% of KV memory is lost.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99632" y="164592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9944" y="1828800"/>
            <a:ext cx="566928" cy="56692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1" name="Image 1" descr="ic/chec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015" y="1981871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95744" y="1828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fix: paging, like an OS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09944" y="233172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cache into fixed-size blocks. A per-request block table maps logical token positions → physical blocks anywhere in memory. Allocate on demand; near-zero waste.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66928" y="3840480"/>
            <a:ext cx="11064240" cy="2148840"/>
          </a:xfrm>
          <a:prstGeom prst="roundRect">
            <a:avLst>
              <a:gd name="adj" fmla="val 510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68680" y="4023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view (one sequence)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68680" y="4389120"/>
            <a:ext cx="1207008" cy="502920"/>
          </a:xfrm>
          <a:prstGeom prst="roundRect">
            <a:avLst>
              <a:gd name="adj" fmla="val 10909"/>
            </a:avLst>
          </a:prstGeom>
          <a:solidFill>
            <a:srgbClr val="0F766E"/>
          </a:solidFill>
          <a:ln/>
          <a:effectLst>
            <a:outerShdw sx="100000" sy="100000" kx="0" ky="0" algn="bl" rotWithShape="0" blurRad="50800" dist="12700" dir="2700000">
              <a:srgbClr val="0B0E20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68680" y="443484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blk 0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868680" y="4626864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F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 0–15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2194560" y="4389120"/>
            <a:ext cx="1207008" cy="502920"/>
          </a:xfrm>
          <a:prstGeom prst="roundRect">
            <a:avLst>
              <a:gd name="adj" fmla="val 10909"/>
            </a:avLst>
          </a:prstGeom>
          <a:solidFill>
            <a:srgbClr val="0F766E"/>
          </a:solidFill>
          <a:ln/>
          <a:effectLst>
            <a:outerShdw sx="100000" sy="100000" kx="0" ky="0" algn="bl" rotWithShape="0" blurRad="50800" dist="12700" dir="2700000">
              <a:srgbClr val="0B0E20">
                <a:alpha val="1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2194560" y="443484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blk 1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2194560" y="4626864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F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 16–31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3520440" y="4389120"/>
            <a:ext cx="1207008" cy="502920"/>
          </a:xfrm>
          <a:prstGeom prst="roundRect">
            <a:avLst>
              <a:gd name="adj" fmla="val 10909"/>
            </a:avLst>
          </a:prstGeom>
          <a:solidFill>
            <a:srgbClr val="0F766E"/>
          </a:solidFill>
          <a:ln/>
          <a:effectLst>
            <a:outerShdw sx="100000" sy="100000" kx="0" ky="0" algn="bl" rotWithShape="0" blurRad="50800" dist="12700" dir="2700000">
              <a:srgbClr val="0B0E20">
                <a:alpha val="10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3520440" y="443484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blk 2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3520440" y="4626864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F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 32–47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4846320" y="4389120"/>
            <a:ext cx="1207008" cy="502920"/>
          </a:xfrm>
          <a:prstGeom prst="roundRect">
            <a:avLst>
              <a:gd name="adj" fmla="val 10909"/>
            </a:avLst>
          </a:prstGeom>
          <a:solidFill>
            <a:srgbClr val="0F766E"/>
          </a:solidFill>
          <a:ln/>
          <a:effectLst>
            <a:outerShdw sx="100000" sy="100000" kx="0" ky="0" algn="bl" rotWithShape="0" blurRad="50800" dist="12700" dir="2700000">
              <a:srgbClr val="0B0E20">
                <a:alpha val="10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4846320" y="443484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blk 3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4846320" y="4626864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FA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 48–63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86868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table  ↓  maps to scattered physical blocks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6217920" y="402336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GPU memory (non-contiguous)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217920" y="4389120"/>
            <a:ext cx="4572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739128" y="4389120"/>
            <a:ext cx="457200" cy="502920"/>
          </a:xfrm>
          <a:prstGeom prst="roundRect">
            <a:avLst>
              <a:gd name="adj" fmla="val 10000"/>
            </a:avLst>
          </a:prstGeom>
          <a:solidFill>
            <a:srgbClr val="14B8A6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7260336" y="4389120"/>
            <a:ext cx="4572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7781544" y="4389120"/>
            <a:ext cx="457200" cy="502920"/>
          </a:xfrm>
          <a:prstGeom prst="roundRect">
            <a:avLst>
              <a:gd name="adj" fmla="val 10000"/>
            </a:avLst>
          </a:prstGeom>
          <a:solidFill>
            <a:srgbClr val="14B8A6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8302752" y="4389120"/>
            <a:ext cx="4572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8823960" y="4389120"/>
            <a:ext cx="4572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9345168" y="4389120"/>
            <a:ext cx="4572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9866376" y="4389120"/>
            <a:ext cx="457200" cy="502920"/>
          </a:xfrm>
          <a:prstGeom prst="roundRect">
            <a:avLst>
              <a:gd name="adj" fmla="val 10000"/>
            </a:avLst>
          </a:prstGeom>
          <a:solidFill>
            <a:srgbClr val="14B8A6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10387584" y="4389120"/>
            <a:ext cx="457200" cy="502920"/>
          </a:xfrm>
          <a:prstGeom prst="roundRect">
            <a:avLst>
              <a:gd name="adj" fmla="val 10000"/>
            </a:avLst>
          </a:prstGeom>
          <a:solidFill>
            <a:srgbClr val="14B8A6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0908792" y="4389120"/>
            <a:ext cx="45720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217920" y="49834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= this sequence's blocks, placed wherever there's room — no reservation, no gaps</a:t>
            </a:r>
            <a:endParaRPr lang="en-US" sz="1050" dirty="0"/>
          </a:p>
        </p:txBody>
      </p:sp>
      <p:sp>
        <p:nvSpPr>
          <p:cNvPr id="41" name="Text 37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Kwon et al. 2023 (PagedAttention, SOSP'23, arXiv:2309.06180) — inspired by OS virtual memory &amp; paging.</a:t>
            </a:r>
            <a:endParaRPr lang="en-US" sz="850" dirty="0"/>
          </a:p>
        </p:txBody>
      </p:sp>
      <p:sp>
        <p:nvSpPr>
          <p:cNvPr id="42" name="Text 38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PAGING UNLOCKS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near-zero waste to free prefix sharing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84832"/>
            <a:ext cx="658368" cy="65836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6" name="Image 0" descr="ic/recyc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719" y="2262591"/>
            <a:ext cx="302849" cy="3028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64208" y="21031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Near-zero waste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64208" y="257860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fill almost completely; the freed memory becomes larger batches and longer contexts on the same GPU.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90488" y="182880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2084832"/>
            <a:ext cx="658368" cy="65836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1" name="Image 1" descr="ic/puzzle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279" y="2262591"/>
            <a:ext cx="302849" cy="3028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87768" y="21031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Copy-on-write sharing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287768" y="257860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samples / beam search share prompt blocks until they diverge, then copy a single block — not the whole cache.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66928" y="3813048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069080"/>
            <a:ext cx="658368" cy="65836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6" name="Image 2" descr="ic/db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19" y="4246839"/>
            <a:ext cx="302849" cy="3028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64208" y="408736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caching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64208" y="4562856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system prompt or RAG context is stored once and reused across thousands of requests via the block table.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90488" y="3813048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4069080"/>
            <a:ext cx="658368" cy="65836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1" name="Image 3" descr="ic/arr_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279" y="4246839"/>
            <a:ext cx="302849" cy="3028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87768" y="408736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Preemption &amp; swap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287768" y="4562856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pressure, a sequence's blocks can be evicted to host memory and recomputed/restored — graceful overload, not OOM.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66928" y="5715000"/>
            <a:ext cx="11064240" cy="566928"/>
          </a:xfrm>
          <a:prstGeom prst="roundRect">
            <a:avLst>
              <a:gd name="adj" fmla="val 16129"/>
            </a:avLst>
          </a:prstGeom>
          <a:solidFill>
            <a:srgbClr val="10142C"/>
          </a:solidFill>
          <a:ln/>
        </p:spPr>
      </p:sp>
      <p:sp>
        <p:nvSpPr>
          <p:cNvPr id="25" name="Text 19"/>
          <p:cNvSpPr/>
          <p:nvPr/>
        </p:nvSpPr>
        <p:spPr>
          <a:xfrm>
            <a:off x="868680" y="571500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result: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2–4× higher throughput at the same latency vs. prior systems — the gain that made vLLM the default serving engine.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Kwon et al. 2023, SOSP'23; vLLM project documentation 2026.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PAGEDATTENTION · THE NUMBERS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PagedAttention, quantified: why paging multiplies your batch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864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93392"/>
            <a:ext cx="566928" cy="56692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6" name="Image 0" descr="ic/puzzle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311" y="2146463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idea, formalized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2615184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9" name="Text 6"/>
          <p:cNvSpPr/>
          <p:nvPr/>
        </p:nvSpPr>
        <p:spPr>
          <a:xfrm>
            <a:off x="1042416" y="2532888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= a fixed chunk of KV, ~16 tokens — the “page”.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822960" y="3108960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1" name="Text 8"/>
          <p:cNvSpPr/>
          <p:nvPr/>
        </p:nvSpPr>
        <p:spPr>
          <a:xfrm>
            <a:off x="1042416" y="3026664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per-sequence block table maps logical token positions → physical blocks: exactly an OS page table.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822960" y="3602736"/>
            <a:ext cx="109728" cy="10972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3" name="Text 10"/>
          <p:cNvSpPr/>
          <p:nvPr/>
        </p:nvSpPr>
        <p:spPr>
          <a:xfrm>
            <a:off x="1042416" y="3520440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are allocated on demand; the only unused space is the final, partially-filled block.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6199632" y="1783080"/>
            <a:ext cx="54406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9944" y="1993392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6" name="Image 1" descr="ic/gauge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015" y="2146463"/>
            <a:ext cx="260787" cy="26078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114032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math: bounded waste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6409944" y="2542032"/>
            <a:ext cx="5029200" cy="566928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583680" y="254203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waste  ≤  (B − 1) / S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B=16, S=2048  ⇒  ≤ 0.7%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409944" y="320040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contiguous reserve wastes </a:t>
            </a:r>
            <a:pPr indent="0" marL="0">
              <a:lnSpc>
                <a:spcPts val="1450"/>
              </a:lnSpc>
              <a:buNone/>
            </a:pPr>
            <a:r>
              <a:rPr lang="en-US" sz="118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max_len − S</a:t>
            </a:r>
            <a:pPr indent="0" marL="0">
              <a:lnSpc>
                <a:spcPts val="145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sequence (60–80% lost). Paging caps waste at one block, so usable KV jumps from ~20–40% to </a:t>
            </a:r>
            <a:pPr indent="0" marL="0">
              <a:lnSpc>
                <a:spcPts val="1450"/>
              </a:lnSpc>
              <a:buNone/>
            </a:pPr>
            <a:r>
              <a:rPr lang="en-US" sz="118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</a:t>
            </a:r>
            <a:pPr indent="0" marL="0">
              <a:lnSpc>
                <a:spcPts val="1450"/>
              </a:lnSpc>
              <a:buNone/>
            </a:pPr>
            <a:r>
              <a:rPr lang="en-US" sz="11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80" dirty="0"/>
          </a:p>
        </p:txBody>
      </p:sp>
      <p:sp>
        <p:nvSpPr>
          <p:cNvPr id="21" name="Shape 17"/>
          <p:cNvSpPr/>
          <p:nvPr/>
        </p:nvSpPr>
        <p:spPr>
          <a:xfrm>
            <a:off x="566928" y="425196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22960" y="437083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— Phi-4 on one L40S · 12.4 GB KV budget · 0.20 MB per token · 2K-token sequences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822960" y="4754880"/>
            <a:ext cx="45720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B0E20">
                <a:alpha val="7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1005840" y="47548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(reserve max 16K):  </a:t>
            </a:r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16,384 × 0.20 MB = 3.2 GB / seq  →  </a:t>
            </a:r>
            <a:pPr indent="0" marL="0">
              <a:lnSpc>
                <a:spcPts val="1400"/>
              </a:lnSpc>
              <a:buNone/>
            </a:pPr>
            <a:r>
              <a:rPr lang="en-US" sz="113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sequences</a:t>
            </a:r>
            <a:endParaRPr lang="en-US" sz="1130" dirty="0"/>
          </a:p>
        </p:txBody>
      </p:sp>
      <p:sp>
        <p:nvSpPr>
          <p:cNvPr id="25" name="Shape 21"/>
          <p:cNvSpPr/>
          <p:nvPr/>
        </p:nvSpPr>
        <p:spPr>
          <a:xfrm>
            <a:off x="5532120" y="4882896"/>
            <a:ext cx="566928" cy="566928"/>
          </a:xfrm>
          <a:prstGeom prst="chevron">
            <a:avLst/>
          </a:prstGeom>
          <a:solidFill>
            <a:srgbClr val="14B8A6"/>
          </a:solidFill>
          <a:ln/>
        </p:spPr>
      </p:sp>
      <p:sp>
        <p:nvSpPr>
          <p:cNvPr id="26" name="Shape 22"/>
          <p:cNvSpPr/>
          <p:nvPr/>
        </p:nvSpPr>
        <p:spPr>
          <a:xfrm>
            <a:off x="6263640" y="4754880"/>
            <a:ext cx="4572000" cy="822960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76200" dist="25400" dir="2700000">
              <a:srgbClr val="0B0E20">
                <a:alpha val="7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6446520" y="47548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3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Paged (use actual 2K):  </a:t>
            </a:r>
            <a:pPr indent="0" marL="0">
              <a:lnSpc>
                <a:spcPts val="1400"/>
              </a:lnSpc>
              <a:buNone/>
            </a:pPr>
            <a:r>
              <a:rPr lang="en-US" sz="11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2,048 × 0.20 MB ≈ 0.41 GB / seq  →  </a:t>
            </a:r>
            <a:pPr indent="0" marL="0">
              <a:lnSpc>
                <a:spcPts val="1400"/>
              </a:lnSpc>
              <a:buNone/>
            </a:pPr>
            <a:r>
              <a:rPr lang="en-US" sz="113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sequences</a:t>
            </a:r>
            <a:endParaRPr lang="en-US" sz="1130" dirty="0"/>
          </a:p>
        </p:txBody>
      </p:sp>
      <p:sp>
        <p:nvSpPr>
          <p:cNvPr id="28" name="Text 24"/>
          <p:cNvSpPr/>
          <p:nvPr/>
        </p:nvSpPr>
        <p:spPr>
          <a:xfrm>
            <a:off x="822960" y="5687568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8× more concurrent users from the same 12.4 GB — paging turns reserved-but-empty memory into live batch slots.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Kwon et al. 2023 (PagedAttention, SOSP'23, arXiv:2309.06180); Phi-4 KV math computed against L40S 48 GB @ util 0.9.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OTHER HALF OF THE SPEEDUP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FlashAttention: never write the N×N matrix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20574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14300" dist="38100" dir="2700000">
              <a:srgbClr val="0B0E2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attention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Materializes the full N×N scores in HBM, then reads them back for softmax. O(N²) HBM traffic — at 8K tokens that's &gt;100 GB of round-trips.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Q·Kᵀ  →  HBM  →  softmax  →  HBM  →  ·V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4069080"/>
            <a:ext cx="5349240" cy="2057400"/>
          </a:xfrm>
          <a:prstGeom prst="roundRect">
            <a:avLst>
              <a:gd name="adj" fmla="val 5333"/>
            </a:avLst>
          </a:prstGeom>
          <a:solidFill>
            <a:srgbClr val="ECFEFF"/>
          </a:solidFill>
          <a:ln/>
          <a:effectLst>
            <a:outerShdw sx="100000" sy="100000" kx="0" ky="0" algn="bl" rotWithShape="0" blurRad="114300" dist="38100" dir="2700000">
              <a:srgbClr val="0B0E2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42519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FlashAttention (IO-aware tiling)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14400" y="46177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tiles of Q,K,V through fast SRAM; keep a running softmax (online LSE); write only the final output to HBM. Exact result, a fraction of the memory traffic.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5532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 tile → compute in SRAM → fuse → write 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828800"/>
            <a:ext cx="5349240" cy="1335024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2011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~10×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583680" y="261518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SRAM bandwidth advantage over HBM that tiling exploits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3255264"/>
            <a:ext cx="5349240" cy="1335024"/>
          </a:xfrm>
          <a:prstGeom prst="roundRect">
            <a:avLst>
              <a:gd name="adj" fmla="val 6849"/>
            </a:avLst>
          </a:prstGeom>
          <a:solidFill>
            <a:srgbClr val="10142C"/>
          </a:solidFill>
          <a:ln/>
          <a:effectLst>
            <a:outerShdw sx="100000" sy="100000" kx="0" ky="0" algn="bl" rotWithShape="0" blurRad="114300" dist="38100" dir="2700000">
              <a:srgbClr val="0B0E2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343814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2–4×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583680" y="404164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attention speedup; grows with sequence length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4681728"/>
            <a:ext cx="5349240" cy="1335024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83680" y="48646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&gt;100 GB → &lt;1 GB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583680" y="546811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attention memory at 8K tokens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et al. 2022 (FlashAttention, arXiv:2205.14135); Dao 2023 (FlashAttention-2, arXiv:2307.08691).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FEWER BYTES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Quantization: the cheapest gigabytes you'll ever save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691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8600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Bytes/param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0" y="1691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Phi-4 weights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on a 48 GB L40S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221992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B0E2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6656" y="2221992"/>
            <a:ext cx="1645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BF16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286000" y="2221992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2221992"/>
            <a:ext cx="1920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29.3 GB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943600" y="2221992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quality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412480" y="2221992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fits, ~12 GB for KV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081528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B0E2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" y="3081528"/>
            <a:ext cx="1645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FP8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286000" y="3081528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B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31920" y="3081528"/>
            <a:ext cx="1920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14.7 GB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0" y="3081528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~lossless (L40S native)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412480" y="3081528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doubles KV room &amp; speed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3941064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B0E2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6656" y="3941064"/>
            <a:ext cx="1645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2286000" y="3941064"/>
            <a:ext cx="1554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 B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931920" y="3941064"/>
            <a:ext cx="1920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 GB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943600" y="3941064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quality hit (AWQ/GPTQ)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412480" y="3941064"/>
            <a:ext cx="3200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KV room, edge-ready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498348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7240" y="5166360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30" name="Image 0" descr="ic/bolt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5314493"/>
            <a:ext cx="252374" cy="252374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463040" y="512064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aren't the only target.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FP8 / INT8 KV-cache quantization halves the KV footprint too — directly buying you more concurrent users.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199632" y="498348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409944" y="5166360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34" name="Image 1" descr="ic/chip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077" y="5314493"/>
            <a:ext cx="252374" cy="252374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7095744" y="512064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matters.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L40S has 4th-gen Tensor Cores with a Transformer Engine — FP8 is native, so it's faster, not just smaller.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quantization docs (FP8/INT4/AWQ/GPTQ); NVIDIA L40S Transformer Engine.</a:t>
            </a:r>
            <a:endParaRPr lang="en-US" sz="850" dirty="0"/>
          </a:p>
        </p:txBody>
      </p:sp>
      <p:sp>
        <p:nvSpPr>
          <p:cNvPr id="37" name="Text 33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ONE GPU ISN'T ENOUGH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to split a model across GPUs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676656" cy="676656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6" name="Image 0" descr="ic/split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657" y="2285817"/>
            <a:ext cx="311262" cy="311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64208" y="2084832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 parallelism (TP)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1664208" y="2505456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D1FAF4"/>
          </a:solidFill>
          <a:ln/>
        </p:spPr>
      </p:sp>
      <p:sp>
        <p:nvSpPr>
          <p:cNvPr id="9" name="Text 6"/>
          <p:cNvSpPr/>
          <p:nvPr/>
        </p:nvSpPr>
        <p:spPr>
          <a:xfrm>
            <a:off x="1664208" y="250545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a layer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22960" y="292608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each layer's matrices across GPUs; all-reduce per layer. Cuts weights &amp; compute — but needs fast interconnect.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90488" y="182880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46520" y="2103120"/>
            <a:ext cx="676656" cy="676656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3" name="Image 1" descr="ic/site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217" y="2285817"/>
            <a:ext cx="311262" cy="3112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87768" y="2084832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parallelism (PP)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7287768" y="2505456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16" name="Text 12"/>
          <p:cNvSpPr/>
          <p:nvPr/>
        </p:nvSpPr>
        <p:spPr>
          <a:xfrm>
            <a:off x="7287768" y="250545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layers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6446520" y="292608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whole layer-ranges to different GPUs as stages; micro-batches flow through. Light on bandwidth; watch the bubble.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66928" y="3950208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960" y="4224528"/>
            <a:ext cx="676656" cy="676656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0" name="Image 2" descr="ic/cubes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657" y="4407225"/>
            <a:ext cx="311262" cy="31126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64208" y="4206240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/ replica parallelism</a:t>
            </a:r>
            <a:endParaRPr lang="en-US" sz="1550" dirty="0"/>
          </a:p>
        </p:txBody>
      </p:sp>
      <p:sp>
        <p:nvSpPr>
          <p:cNvPr id="22" name="Shape 17"/>
          <p:cNvSpPr/>
          <p:nvPr/>
        </p:nvSpPr>
        <p:spPr>
          <a:xfrm>
            <a:off x="1664208" y="4626864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D1FAF4"/>
          </a:solidFill>
          <a:ln/>
        </p:spPr>
      </p:sp>
      <p:sp>
        <p:nvSpPr>
          <p:cNvPr id="23" name="Text 18"/>
          <p:cNvSpPr/>
          <p:nvPr/>
        </p:nvSpPr>
        <p:spPr>
          <a:xfrm>
            <a:off x="1664208" y="462686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requests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822960" y="5047488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 copy per GPU, different requests each. The throughput-scaling knob behind autoscaling.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190488" y="3950208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446520" y="4224528"/>
            <a:ext cx="676656" cy="676656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7" name="Image 3" descr="ic/puzzle_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217" y="4407225"/>
            <a:ext cx="311262" cy="31126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287768" y="4206240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parallelism (EP)</a:t>
            </a:r>
            <a:endParaRPr lang="en-US" sz="1550" dirty="0"/>
          </a:p>
        </p:txBody>
      </p:sp>
      <p:sp>
        <p:nvSpPr>
          <p:cNvPr id="29" name="Shape 23"/>
          <p:cNvSpPr/>
          <p:nvPr/>
        </p:nvSpPr>
        <p:spPr>
          <a:xfrm>
            <a:off x="7287768" y="4626864"/>
            <a:ext cx="169164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30" name="Text 24"/>
          <p:cNvSpPr/>
          <p:nvPr/>
        </p:nvSpPr>
        <p:spPr>
          <a:xfrm>
            <a:off x="7287768" y="462686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experts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6446520" y="5047488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Mixture-of-Experts: place experts on different GPUs and route tokens. Scales capacity, not active compute.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Shoeybi et al. 2019 (Megatron-LM, arXiv:1909.08053); Huang et al. 2019 (GPipe); vLLM distributed-serving docs.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TRAP SPECIFIC TO THIS HARDWARE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L40S has no NVLink — so plan parallelism around PCIe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5778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14400" y="2450592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parallelism does an all-reduce every layer. On NVLink GPUs (A100/H100) that's ~600–900 GB/s of GPU-to-GPU bandwidth. The L40S talks only over PCIe Gen4 — about 64 GB/s bidirectional, ~10× slower.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guidance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932688" y="4105656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4032504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one GPU + quantization before reaching for multi-GPU TP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32688" y="4562856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4489704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must shard, pipeline parallelism is gentler on PCIe than TP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32688" y="5020056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4946904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pure throughput, replicate (data-parallel) behind a load balancer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32688" y="5477256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5404104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GPU that fits the model whole — the cleanest scaling story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92240" y="1874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GPU-to-GPU interconnect bandwidth</a:t>
            </a:r>
            <a:endParaRPr lang="en-US" sz="13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355080" y="2286000"/>
          <a:ext cx="5349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6492240" y="54864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All-reduce-heavy tensor parallelism on the L40S pays this gap every layer.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L40S datasheet (PCIe Gen4 x16, no NVLink/MIG); NVLink bandwidth figures from A100/H100 datasheets.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REFERENCE MACHINE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g6e.2xlarge — one NVIDIA L40S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B0E2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1965960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6" name="Image 0" descr="ic/mem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2114093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GB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795528" y="25786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GDDR6 with ECC (not HBM)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15968" y="173736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B0E2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44568" y="1965960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1" name="Image 1" descr="ic/speed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701" y="2114093"/>
            <a:ext cx="252374" cy="2523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30368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864 GB/s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4544568" y="25786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bandwidth — the real ceiling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65008" y="173736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B0E2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93608" y="1965960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6" name="Image 2" descr="ic/chip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1741" y="2114093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9408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733 TFLOPS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8293608" y="25786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BF16 tensor · 1466 FP8 (w/ sparsity)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66928" y="329184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B0E2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95528" y="3520440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1" name="Image 3" descr="ic/bolt_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1" y="3668573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81328" y="3474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FP8 native</a:t>
            </a:r>
            <a:endParaRPr lang="en-US" sz="2100" dirty="0"/>
          </a:p>
        </p:txBody>
      </p:sp>
      <p:sp>
        <p:nvSpPr>
          <p:cNvPr id="23" name="Text 17"/>
          <p:cNvSpPr/>
          <p:nvPr/>
        </p:nvSpPr>
        <p:spPr>
          <a:xfrm>
            <a:off x="795528" y="41330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4th-gen Tensor Cores + Transformer Engine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15968" y="329184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B0E2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44568" y="3520440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6" name="Image 4" descr="ic/srv_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2701" y="3668573"/>
            <a:ext cx="252374" cy="25237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30368" y="3474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vCPU · 64 GB</a:t>
            </a:r>
            <a:endParaRPr lang="en-US" sz="2100" dirty="0"/>
          </a:p>
        </p:txBody>
      </p:sp>
      <p:sp>
        <p:nvSpPr>
          <p:cNvPr id="28" name="Text 21"/>
          <p:cNvSpPr/>
          <p:nvPr/>
        </p:nvSpPr>
        <p:spPr>
          <a:xfrm>
            <a:off x="4544568" y="41330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EPYC host + system RAM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65008" y="3291840"/>
            <a:ext cx="35661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B0E2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93608" y="3520440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31" name="Image 5" descr="ic/net_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1741" y="3668573"/>
            <a:ext cx="252374" cy="25237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9408" y="3474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PCIe Gen4</a:t>
            </a:r>
            <a:endParaRPr lang="en-US" sz="2100" dirty="0"/>
          </a:p>
        </p:txBody>
      </p:sp>
      <p:sp>
        <p:nvSpPr>
          <p:cNvPr id="33" name="Text 25"/>
          <p:cNvSpPr/>
          <p:nvPr/>
        </p:nvSpPr>
        <p:spPr>
          <a:xfrm>
            <a:off x="8293608" y="41330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NVLink, no MIG · 350 W TDP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566928" y="502920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10142C"/>
          </a:solidFill>
          <a:ln/>
        </p:spPr>
      </p:sp>
      <p:sp>
        <p:nvSpPr>
          <p:cNvPr id="35" name="Shape 27"/>
          <p:cNvSpPr/>
          <p:nvPr/>
        </p:nvSpPr>
        <p:spPr>
          <a:xfrm>
            <a:off x="822960" y="5285232"/>
            <a:ext cx="676656" cy="676656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36" name="Image 6" descr="ic/coins_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657" y="5467929"/>
            <a:ext cx="311262" cy="31126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691640" y="5138928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Positioning: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markets G6e for LLMs up to ~13B params — the cost-efficient inference workhorse, not a training flagship. On-demand ≈ $1.86/hr (us-east-1); spot far cheaper. </a:t>
            </a:r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in the worked examples ahead is computed against this exact machine.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G6e page &amp; GA announcement 2024; NVIDIA L40S datasheet; public cloud pricing references.</a:t>
            </a:r>
            <a:endParaRPr lang="en-US" sz="850" dirty="0"/>
          </a:p>
        </p:txBody>
      </p:sp>
      <p:sp>
        <p:nvSpPr>
          <p:cNvPr id="39" name="Text 30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THEORY TO THREE REAL MODELS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sizing method — two equations, one budget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30552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30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params × bytes/param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27832" y="24231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383280" y="187452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39312" y="2130552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639312" y="2130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39312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/ token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39312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2·L·n_kv·d·precision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44184" y="24231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6199632" y="187452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55664" y="2130552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455664" y="2130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55664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budget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55664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0.9·48 GB − weights − overhead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860536" y="24231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9015984" y="187452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72016" y="2130552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9272016" y="2130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272016" y="27889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72016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KV budget ÷ (KV/token × context)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66928" y="3977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subjects, three lessons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66928" y="443484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95528" y="4663440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30" name="Image 0" descr="ic/cubes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474" y="4826386"/>
            <a:ext cx="277612" cy="277612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527048" y="4709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Phi-4 · 14B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795528" y="536752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text model that nearly fills the GPU — KV is the scarce resource.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4261104" y="443484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10142C"/>
          </a:solidFill>
          <a:ln/>
          <a:effectLst>
            <a:outerShdw sx="100000" sy="100000" kx="0" ky="0" algn="bl" rotWithShape="0" blurRad="114300" dist="38100" dir="2700000">
              <a:srgbClr val="0B0E20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489704" y="4663440"/>
            <a:ext cx="603504" cy="603504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35" name="Image 1" descr="ic/robot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650" y="4826386"/>
            <a:ext cx="277612" cy="277612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221224" y="4709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3 · 270M</a:t>
            </a:r>
            <a:endParaRPr lang="en-US" sz="1500" dirty="0"/>
          </a:p>
        </p:txBody>
      </p:sp>
      <p:sp>
        <p:nvSpPr>
          <p:cNvPr id="37" name="Text 33"/>
          <p:cNvSpPr/>
          <p:nvPr/>
        </p:nvSpPr>
        <p:spPr>
          <a:xfrm>
            <a:off x="4489704" y="536752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Embedding-dominated featherweight — throughput-bound, massive concurrency.</a:t>
            </a:r>
            <a:endParaRPr lang="en-US" sz="1150" dirty="0"/>
          </a:p>
        </p:txBody>
      </p:sp>
      <p:sp>
        <p:nvSpPr>
          <p:cNvPr id="38" name="Shape 34"/>
          <p:cNvSpPr/>
          <p:nvPr/>
        </p:nvSpPr>
        <p:spPr>
          <a:xfrm>
            <a:off x="7955280" y="4434840"/>
            <a:ext cx="35661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39" name="Shape 35"/>
          <p:cNvSpPr/>
          <p:nvPr/>
        </p:nvSpPr>
        <p:spPr>
          <a:xfrm>
            <a:off x="8183880" y="4663440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40" name="Image 2" descr="ic/img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6826" y="4826386"/>
            <a:ext cx="277612" cy="277612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8915400" y="4709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3 · 4B vision</a:t>
            </a:r>
            <a:endParaRPr lang="en-US" sz="1500" dirty="0"/>
          </a:p>
        </p:txBody>
      </p:sp>
      <p:sp>
        <p:nvSpPr>
          <p:cNvPr id="42" name="Text 37"/>
          <p:cNvSpPr/>
          <p:nvPr/>
        </p:nvSpPr>
        <p:spPr>
          <a:xfrm>
            <a:off x="8183880" y="536752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Multimodal: images become tokens — same equations, new inputs.</a:t>
            </a:r>
            <a:endParaRPr lang="en-US" sz="1150" dirty="0"/>
          </a:p>
        </p:txBody>
      </p:sp>
      <p:sp>
        <p:nvSpPr>
          <p:cNvPr id="43" name="Text 38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configs from HF (microsoft/phi-4, google/gemma-3-270m, google/gemma-3-4b-it); budget vs g6e.2xlarge.</a:t>
            </a:r>
            <a:endParaRPr lang="en-US" sz="850" dirty="0"/>
          </a:p>
        </p:txBody>
      </p:sp>
      <p:sp>
        <p:nvSpPr>
          <p:cNvPr id="44" name="Text 39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1 · DENSE TEXT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Phi-4 (14B): the model nearly fills the GPU — KV is scarce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493776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29968"/>
            <a:ext cx="566928" cy="56692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6" name="Image 0" descr="ic/cubes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311" y="2183039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848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Phi-4 · 14.66 B params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77240" y="2761488"/>
            <a:ext cx="4526280" cy="45720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7889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/ layers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383280" y="27889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5120 / 40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8680" y="328269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: KV heads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383280" y="3282696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: 10  (GQA 4:1)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7240" y="3749040"/>
            <a:ext cx="4526280" cy="45720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37764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dim · context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383280" y="377647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 · 16K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68680" y="427024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(BF16)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383280" y="427024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29.3 GB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77240" y="4736592"/>
            <a:ext cx="4526280" cy="45720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9" name="Text 16"/>
          <p:cNvSpPr/>
          <p:nvPr/>
        </p:nvSpPr>
        <p:spPr>
          <a:xfrm>
            <a:off x="868680" y="476402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per 1K tokens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3383280" y="4764024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209.7 MB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68680" y="5257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budget @ util 0.9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3383280" y="52578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12.4 GB left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5715000" y="1828800"/>
            <a:ext cx="5897880" cy="4069080"/>
          </a:xfrm>
          <a:prstGeom prst="roundRect">
            <a:avLst>
              <a:gd name="adj" fmla="val 2697"/>
            </a:avLst>
          </a:prstGeom>
          <a:solidFill>
            <a:srgbClr val="10142C"/>
          </a:solidFill>
          <a:ln/>
          <a:effectLst>
            <a:outerShdw sx="100000" sy="100000" kx="0" ky="0" algn="bl" rotWithShape="0" blurRad="114300" dist="38100" dir="2700000">
              <a:srgbClr val="0B0E2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989320" y="20116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sequences vs context length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989320" y="239572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 GB of KV, shared. Long contexts cost concurrency.</a:t>
            </a:r>
            <a:endParaRPr lang="en-US" sz="11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5897880" y="2788920"/>
          <a:ext cx="55321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Text 23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microsoft/phi-4 config.json (HF); KV = 2·L·H_kv·d_head·2B; budget = 43.2GB − 29.3GB weights.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2 · FEATHERWEIGHT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3 270M: tiny weights, embedding-dominated, throughput-bound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6118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2029968"/>
            <a:ext cx="603504" cy="603504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6" name="Image 0" descr="ic/mem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474" y="2192914"/>
            <a:ext cx="277612" cy="2776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5528" y="2697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0.54 GB weights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95528" y="31089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BF16. Of 268M params, 168M (63%) live in the 262K-token embedding table — not compute.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88536" y="1828800"/>
            <a:ext cx="3611880" cy="1874520"/>
          </a:xfrm>
          <a:prstGeom prst="roundRect">
            <a:avLst>
              <a:gd name="adj" fmla="val 5854"/>
            </a:avLst>
          </a:prstGeom>
          <a:solidFill>
            <a:srgbClr val="10142C"/>
          </a:solidFill>
          <a:ln/>
          <a:effectLst>
            <a:outerShdw sx="100000" sy="100000" kx="0" ky="0" algn="bl" rotWithShape="0" blurRad="114300" dist="38100" dir="2700000">
              <a:srgbClr val="0B0E2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17136" y="2029968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1" name="Image 1" descr="ic/users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82" y="2192914"/>
            <a:ext cx="277612" cy="2776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17136" y="2697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~1,090 sequences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517136" y="31089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2K context, 41.2 GB of KV budget swallows over a thousand concurrent users on one L40S.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10144" y="1828800"/>
            <a:ext cx="36118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38744" y="2029968"/>
            <a:ext cx="603504" cy="60350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6" name="Image 2" descr="ic/speed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1690" y="2192914"/>
            <a:ext cx="277612" cy="2776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38744" y="2697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~1,600 tok/s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238744" y="31089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floor is throughput-bound, not memory-bound: 0.54 GB reads in ~0.6 ms per step.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66928" y="3977640"/>
            <a:ext cx="5212080" cy="1920240"/>
          </a:xfrm>
          <a:prstGeom prst="roundRect">
            <a:avLst>
              <a:gd name="adj" fmla="val 5714"/>
            </a:avLst>
          </a:prstGeom>
          <a:solidFill>
            <a:srgbClr val="10142C"/>
          </a:solidFill>
          <a:ln/>
          <a:effectLst>
            <a:outerShdw sx="100000" sy="100000" kx="0" ky="0" algn="bl" rotWithShape="0" blurRad="114300" dist="38100" dir="2700000">
              <a:srgbClr val="0B0E20">
                <a:alpha val="12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822960" y="4160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flips the bottleneck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22960" y="4553712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models are weight-read-bound — the GPU spends its time streaming parameters. 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weights are trivially small, so the limiter becomes raw kernel/launch throughput and the embedding lookup.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scale users, not GPUs.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989320" y="3977640"/>
            <a:ext cx="56235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6217920" y="41148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 (GB): featherweight vs Phi-4</a:t>
            </a:r>
            <a:endParaRPr lang="en-US" sz="13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6126480" y="4526280"/>
          <a:ext cx="534924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5" name="Text 19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google/gemma-3-270m config.json (HF); tied embeddings, vocab 262144, MQA (1 KV head).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3 · MULTIMODAL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3 4B vision: an image becomes 256 tokens — same KV equations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2542032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1993392"/>
            <a:ext cx="566928" cy="56692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6" name="Image 0" descr="ic/img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7551" y="2146463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615184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896×896 image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58368" y="2962656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pixels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072384" y="22402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3273552" y="1828800"/>
            <a:ext cx="2542032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61104" y="1993392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2" name="Image 1" descr="ic/layers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175" y="2146463"/>
            <a:ext cx="260787" cy="2607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64992" y="2615184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SigLIP-400M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364992" y="2962656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27-layer ViT encoder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779008" y="22402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16" name="Shape 12"/>
          <p:cNvSpPr/>
          <p:nvPr/>
        </p:nvSpPr>
        <p:spPr>
          <a:xfrm>
            <a:off x="5980176" y="1828800"/>
            <a:ext cx="2542032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967728" y="1993392"/>
            <a:ext cx="566928" cy="56692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8" name="Image 2" descr="ic/cubes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0799" y="2146463"/>
            <a:ext cx="260787" cy="26078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071616" y="2615184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soft tokens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071616" y="2962656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image = 256 KV slots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485632" y="224028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3000" dirty="0"/>
          </a:p>
        </p:txBody>
      </p:sp>
      <p:sp>
        <p:nvSpPr>
          <p:cNvPr id="22" name="Shape 17"/>
          <p:cNvSpPr/>
          <p:nvPr/>
        </p:nvSpPr>
        <p:spPr>
          <a:xfrm>
            <a:off x="8686800" y="1828800"/>
            <a:ext cx="2542032" cy="1508760"/>
          </a:xfrm>
          <a:prstGeom prst="roundRect">
            <a:avLst>
              <a:gd name="adj" fmla="val 6061"/>
            </a:avLst>
          </a:prstGeom>
          <a:solidFill>
            <a:srgbClr val="10142C"/>
          </a:solidFill>
          <a:ln/>
          <a:effectLst>
            <a:outerShdw sx="100000" sy="100000" kx="0" ky="0" algn="bl" rotWithShape="0" blurRad="114300" dist="38100" dir="2700000">
              <a:srgbClr val="0B0E2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674352" y="1993392"/>
            <a:ext cx="566928" cy="56692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4" name="Image 3" descr="ic/brain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7423" y="2146463"/>
            <a:ext cx="260787" cy="26078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778240" y="2615184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decoder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8778240" y="2962656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vision, jointly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566928" y="3611880"/>
            <a:ext cx="5486400" cy="2286000"/>
          </a:xfrm>
          <a:prstGeom prst="roundRect">
            <a:avLst>
              <a:gd name="adj" fmla="val 4800"/>
            </a:avLst>
          </a:prstGeom>
          <a:solidFill>
            <a:srgbClr val="10142C"/>
          </a:solidFill>
          <a:ln/>
          <a:effectLst>
            <a:outerShdw sx="100000" sy="100000" kx="0" ky="0" algn="bl" rotWithShape="0" blurRad="114300" dist="38100" dir="2700000">
              <a:srgbClr val="0B0E20">
                <a:alpha val="12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82296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image-KV equation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822960" y="4206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KV/token = 2 · 34 · 4 · 256 · 2 B  =  139,264 B  ≈  136 KB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822960" y="46817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image  =  256 tokens  ×  136 KB  =  </a:t>
            </a:r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35.7 MB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of KV cache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822960" y="5212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10-image prompt burns </a:t>
            </a:r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357 MB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KV before a single word of text is generated.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6217920" y="361188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446520" y="3794760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34" name="Image 4" descr="ic/bulb_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4653" y="3942893"/>
            <a:ext cx="252374" cy="25237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086600" y="3840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generalization</a:t>
            </a:r>
            <a:endParaRPr lang="en-US" sz="1500" dirty="0"/>
          </a:p>
        </p:txBody>
      </p:sp>
      <p:sp>
        <p:nvSpPr>
          <p:cNvPr id="36" name="Text 29"/>
          <p:cNvSpPr/>
          <p:nvPr/>
        </p:nvSpPr>
        <p:spPr>
          <a:xfrm>
            <a:off x="6446520" y="429768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Multimodality changes the inputs, not the accounting.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pixels, audio, or video are projected into the token stream, every memory equation from this session applies unchanged — the KV cache neither knows nor cares where a token came from.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google/gemma-3-4b-it config.json (HF); SigLIP encoder, mm_tokens_per_image=256; KV with 4 KV heads, 34 layers.</a:t>
            </a:r>
            <a:endParaRPr lang="en-US" sz="850" dirty="0"/>
          </a:p>
        </p:txBody>
      </p:sp>
      <p:sp>
        <p:nvSpPr>
          <p:cNvPr id="38" name="Text 31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THE THREE SIDE BY SIDE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GPU, three regimes of pressure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783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743200" y="17830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977640" y="17830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 BF16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40680" y="1783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/ 1K tok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0" y="17830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~Conc. @2K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75320" y="17830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 tok/s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46920" y="17830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2331720"/>
            <a:ext cx="11064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233172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Phi-4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743200" y="2331720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14.7 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77640" y="2331720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29.3 GB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40680" y="2331720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209.7 MB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0" y="2331720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~30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75320" y="2331720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46920" y="2331720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weight-read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2935224"/>
            <a:ext cx="11064240" cy="6035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2935224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3 270M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743200" y="2935224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0.27 B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77640" y="2935224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0.54 GB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40680" y="2935224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18.9 MB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0" y="2935224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~1,090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75320" y="2935224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1,612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46920" y="2935224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throughput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3538728"/>
            <a:ext cx="11064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" y="3538728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3 4B-V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743200" y="3538728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4.3 B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977640" y="3538728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8.59 GB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40680" y="3538728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142.6 MB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8000" y="3538728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~116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75320" y="3538728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646920" y="3538728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66928" y="4142232"/>
            <a:ext cx="11064240" cy="60350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" y="4142232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4 31B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2743200" y="4142232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B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977640" y="4142232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 GB ✗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40680" y="4142232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1006 MB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58000" y="4142232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needs FP8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275320" y="4142232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28*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646920" y="4142232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doesn't fit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66928" y="5029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Gemma 4 31B (BF16) overflows 48 GB — it forces FP8 quantization or two-GPU sharding. Same equations, harder constraints.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66928" y="54864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0F766E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54864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table as a gradient: 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models are concurrency machines, large models are bandwidth-starved, and the frontier forces you into quantization or parallelism.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PRECISION CHANGES SPEED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 speed is set by bandwidth ÷ bytes moved per 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10142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t_decode  ≈  weight_bytes / memory_bandwidth        (batch 1, weight-read-bound)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2697480"/>
            <a:ext cx="67665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85292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Single-stream decode floor on L40S (864 GB/s)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85800" y="3246120"/>
          <a:ext cx="653796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543800" y="2697480"/>
            <a:ext cx="4069080" cy="3200400"/>
          </a:xfrm>
          <a:prstGeom prst="roundRect">
            <a:avLst>
              <a:gd name="adj" fmla="val 3429"/>
            </a:avLst>
          </a:prstGeom>
          <a:solidFill>
            <a:srgbClr val="10142C"/>
          </a:solidFill>
          <a:ln/>
          <a:effectLst>
            <a:outerShdw sx="100000" sy="100000" kx="0" ky="0" algn="bl" rotWithShape="0" blurRad="114300" dist="38100" dir="2700000">
              <a:srgbClr val="0B0E2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772400" y="2852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go faster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772400" y="3291840"/>
            <a:ext cx="512064" cy="51206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2" name="Image 0" descr="ic/compress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0657" y="3430097"/>
            <a:ext cx="235549" cy="23554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394192" y="32735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fewer bytes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8394192" y="363931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FP8 halves the weight read → roughly 2× tok/s. INT4 quarters it. Precision buys speed.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772400" y="4590288"/>
            <a:ext cx="512064" cy="51206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6" name="Image 1" descr="ic/stream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657" y="4728545"/>
            <a:ext cx="235549" cy="2355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94192" y="4572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Amortize the read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394192" y="49377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many sequences into one weight sweep — the read is paid once for the whole batch.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from verified weight sizes ÷ L40S 864 GB/s. Log scale. Real throughput is lower (activations, attention, overhead).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2026 FRONTIER · EVOLUTION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4: the same physics, pushed to the edge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27432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1965960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6" name="Image 0" descr="ic/compress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2114093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6060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V projection sharing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9808" y="32004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and values share one projection — the KV cache is literally halved at the source.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55848" y="1783080"/>
            <a:ext cx="27432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84448" y="1965960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1" name="Image 1" descr="ic/layers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2581" y="2114093"/>
            <a:ext cx="252374" cy="2523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38728" y="26060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Per-Layer Embeddings (PLE)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538728" y="32004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params stream from CPU per-layer, shrinking the resident GPU footprint.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44768" y="1783080"/>
            <a:ext cx="27432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73368" y="1965960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6" name="Image 2" descr="ic/cubes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501" y="2114093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27648" y="26060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MoE + 256K context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327648" y="32004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experts raise capacity without proportional FLOPs; context reaches 256K tokens.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933688" y="1783080"/>
            <a:ext cx="27432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62288" y="1965960"/>
            <a:ext cx="548640" cy="54864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1" name="Image 3" descr="ic/img_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0421" y="2114093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16568" y="26060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Natively omni-modal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116568" y="32004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image, video and audio share one decoder — 280 soft tokens per image.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66928" y="4251960"/>
            <a:ext cx="67665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22960" y="4480560"/>
            <a:ext cx="548640" cy="548640"/>
          </a:xfrm>
          <a:prstGeom prst="ellipse">
            <a:avLst/>
          </a:prstGeom>
          <a:solidFill>
            <a:srgbClr val="F87171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6" name="Image 4" descr="ic/warn_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093" y="4628693"/>
            <a:ext cx="252374" cy="25237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81328" y="449884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31B dense variant won't fit one L40S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1481328" y="49377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 GB (BF16)  &gt;  48 GB  →  quantize to FP8 (~31 GB ✓)  or  shard across 2 GPUs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1481328" y="534924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frontier doesn't repeal the budget equation — it forces every lever at once: K=V sharing, PLE offload, FP8, and tensor parallelism.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7543800" y="4251960"/>
            <a:ext cx="4087368" cy="1828800"/>
          </a:xfrm>
          <a:prstGeom prst="roundRect">
            <a:avLst>
              <a:gd name="adj" fmla="val 5000"/>
            </a:avLst>
          </a:prstGeom>
          <a:solidFill>
            <a:srgbClr val="0F766E"/>
          </a:solidFill>
          <a:ln/>
        </p:spPr>
      </p:sp>
      <p:sp>
        <p:nvSpPr>
          <p:cNvPr id="31" name="Text 24"/>
          <p:cNvSpPr/>
          <p:nvPr/>
        </p:nvSpPr>
        <p:spPr>
          <a:xfrm>
            <a:off x="7818120" y="4434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 of the field</a:t>
            </a:r>
            <a:endParaRPr lang="en-US" sz="1450" dirty="0"/>
          </a:p>
        </p:txBody>
      </p:sp>
      <p:sp>
        <p:nvSpPr>
          <p:cNvPr id="32" name="Text 25"/>
          <p:cNvSpPr/>
          <p:nvPr/>
        </p:nvSpPr>
        <p:spPr>
          <a:xfrm>
            <a:off x="7818120" y="4864608"/>
            <a:ext cx="3611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generation attacks the same enemy — memory. Architectures keep finding new ways to store less KV and stream fewer bytes, because that is where inference lives.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release (Apr 2026): K=V sharing, Per-Layer Embeddings, MoE variants, 256K context. Config-derived 31B size ≈62 GB BF16.</a:t>
            </a:r>
            <a:endParaRPr lang="en-US" sz="850" dirty="0"/>
          </a:p>
        </p:txBody>
      </p:sp>
      <p:sp>
        <p:nvSpPr>
          <p:cNvPr id="34" name="Text 27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THREE EXAMPLES TO ANY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recipe to size any model on any GPU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6858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75104"/>
            <a:ext cx="493776" cy="493776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63500" dist="25400" dir="2700000">
              <a:srgbClr val="0B0E2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9751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92024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46120" y="1901952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 × bytes/param. BF16=2, FP8=1, INT4=0.5. This is the fixed cost you pay before serving anyone.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670048"/>
            <a:ext cx="6858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816352"/>
            <a:ext cx="493776" cy="493776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63500" dist="25400" dir="2700000">
              <a:srgbClr val="0B0E2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281635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2761488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budget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46120" y="2743200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VRAM (≈0.9·VRAM) − weights − activations. Whatever's left is your concurrency fund.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511296"/>
            <a:ext cx="6858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657600"/>
            <a:ext cx="493776" cy="493776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63500" dist="25400" dir="2700000">
              <a:srgbClr val="0B0E2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36576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3602736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per token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46120" y="3584448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layers · KV_heads · head_dim · bytes. GQA/MQA and K=V sharing shrink this directly.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352544"/>
            <a:ext cx="6858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4498848"/>
            <a:ext cx="493776" cy="493776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63500" dist="25400" dir="2700000">
              <a:srgbClr val="0B0E2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44988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17320" y="4443984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246120" y="4425696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budget ÷ (KV/token × context). This is how many users you can truly serve at once.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193792"/>
            <a:ext cx="6858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5340096"/>
            <a:ext cx="493776" cy="493776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63500" dist="25400" dir="2700000">
              <a:srgbClr val="0B0E2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1520" y="53400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17320" y="5285232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246120" y="5266944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to amortize the weight read; quantize to move fewer bytes; then replicate to scale out.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589520" y="1828800"/>
            <a:ext cx="4023360" cy="4114800"/>
          </a:xfrm>
          <a:prstGeom prst="roundRect">
            <a:avLst>
              <a:gd name="adj" fmla="val 2727"/>
            </a:avLst>
          </a:prstGeom>
          <a:solidFill>
            <a:srgbClr val="10142C"/>
          </a:solidFill>
          <a:ln/>
          <a:effectLst>
            <a:outerShdw sx="100000" sy="100000" kx="0" ky="0" algn="bl" rotWithShape="0" blurRad="114300" dist="38100" dir="2700000">
              <a:srgbClr val="0B0E2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81812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session on one card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7818120" y="2423160"/>
            <a:ext cx="3566160" cy="2697480"/>
          </a:xfrm>
          <a:prstGeom prst="roundRect">
            <a:avLst>
              <a:gd name="adj" fmla="val 2712"/>
            </a:avLst>
          </a:prstGeom>
          <a:solidFill>
            <a:srgbClr val="252C52"/>
          </a:solidFill>
          <a:ln/>
        </p:spPr>
      </p:sp>
      <p:sp>
        <p:nvSpPr>
          <p:cNvPr id="32" name="Text 30"/>
          <p:cNvSpPr/>
          <p:nvPr/>
        </p:nvSpPr>
        <p:spPr>
          <a:xfrm>
            <a:off x="8001000" y="2542032"/>
            <a:ext cx="32918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M_total =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M_weights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M_kv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M_act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M_kv/token =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2·L·H_kv·d·b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 ≈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KV_budget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M_kv/tok · ctx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818120" y="5257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Memorize the shape, not the numbers.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of the per-model derivations; activations are workload-dependent (sequence length × batch).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ONE GPU ISN'T ENOUGH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out: replicas, smart routing, and scale-to-zero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110642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697480"/>
            <a:ext cx="1691640" cy="777240"/>
          </a:xfrm>
          <a:prstGeom prst="roundRect">
            <a:avLst>
              <a:gd name="adj" fmla="val 11765"/>
            </a:avLst>
          </a:prstGeom>
          <a:solidFill>
            <a:srgbClr val="10142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6974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 /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balancer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74320" y="2834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83280" y="2057400"/>
            <a:ext cx="2468880" cy="603504"/>
          </a:xfrm>
          <a:prstGeom prst="roundRect">
            <a:avLst>
              <a:gd name="adj" fmla="val 12121"/>
            </a:avLst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205740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L40S · replica A  </a:t>
            </a:r>
            <a:pPr algn="ctr" indent="0" marL="0">
              <a:buNone/>
            </a:pPr>
            <a:r>
              <a:rPr lang="en-US" sz="1100" i="1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g6e.2xlarge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3081528"/>
            <a:ext cx="822960" cy="-72237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989320" y="2057400"/>
            <a:ext cx="2468880" cy="603504"/>
          </a:xfrm>
          <a:prstGeom prst="roundRect">
            <a:avLst>
              <a:gd name="adj" fmla="val 12121"/>
            </a:avLst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5989320" y="205740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L40S · replica B  </a:t>
            </a:r>
            <a:pPr algn="ctr" indent="0" marL="0">
              <a:buNone/>
            </a:pPr>
            <a:r>
              <a:rPr lang="en-US" sz="1100" i="1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g6e.2xlarge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0" y="3081528"/>
            <a:ext cx="822960" cy="-72237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595360" y="2057400"/>
            <a:ext cx="2468880" cy="603504"/>
          </a:xfrm>
          <a:prstGeom prst="roundRect">
            <a:avLst>
              <a:gd name="adj" fmla="val 12121"/>
            </a:avLst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8595360" y="2057400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L40S · replica C  </a:t>
            </a:r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g6e.2xlarge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0" y="3081528"/>
            <a:ext cx="822960" cy="-72237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291840" y="1965960"/>
            <a:ext cx="8138160" cy="2103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3611880" y="2121408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11880" y="212140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L40S · replica A   </a:t>
            </a:r>
            <a:pPr algn="ctr" indent="0" marL="0">
              <a:buNone/>
            </a:pPr>
            <a:r>
              <a:rPr lang="en-US" sz="950" i="1" dirty="0">
                <a:solidFill>
                  <a:srgbClr val="E6F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g6e.2xlarge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60320" y="3081528"/>
            <a:ext cx="1051560" cy="-676656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611880" y="2779776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11880" y="277977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L40S · replica B   </a:t>
            </a:r>
            <a:pPr algn="ctr" indent="0" marL="0">
              <a:buNone/>
            </a:pPr>
            <a:r>
              <a:rPr lang="en-US" sz="950" i="1" dirty="0">
                <a:solidFill>
                  <a:srgbClr val="E6FF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g6e.2xlarge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560320" y="3081528"/>
            <a:ext cx="1051560" cy="-1828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611880" y="3438144"/>
            <a:ext cx="2743200" cy="566928"/>
          </a:xfrm>
          <a:prstGeom prst="roundRect">
            <a:avLst>
              <a:gd name="adj" fmla="val 12903"/>
            </a:avLst>
          </a:prstGeom>
          <a:solidFill>
            <a:srgbClr val="E2E8F0"/>
          </a:solidFill>
          <a:ln/>
          <a:effectLst>
            <a:outerShdw sx="100000" sy="100000" kx="0" ky="0" algn="bl" rotWithShape="0" blurRad="76200" dist="25400" dir="2700000">
              <a:srgbClr val="0B0E2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11880" y="34381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L40S · replica C   </a:t>
            </a:r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g6e.2xlarge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560320" y="3081528"/>
            <a:ext cx="1051560" cy="6400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675120" y="2121408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0" y="21214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up ▲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75120" y="3438144"/>
            <a:ext cx="1828800" cy="566928"/>
          </a:xfrm>
          <a:prstGeom prst="roundRect">
            <a:avLst>
              <a:gd name="adj" fmla="val 12903"/>
            </a:avLst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0" y="343814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to zero ▼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686800" y="24688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KV-cache utilization &amp; queue depth — not CPU. That's the signal that actually predicts saturation.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6928" y="434340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68096" y="4526280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34" name="Image 0" descr="ic/gauge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353" y="4664537"/>
            <a:ext cx="235549" cy="235549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749808" y="51023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on the right signal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749808" y="55595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on KV-cache occupancy and pending queue, not CPU%.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3355848" y="434340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3557016" y="4526280"/>
            <a:ext cx="512064" cy="51206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39" name="Image 1" descr="ic/split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273" y="4664537"/>
            <a:ext cx="235549" cy="235549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3538728" y="51023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KV-aware routing</a:t>
            </a:r>
            <a:endParaRPr lang="en-US" sz="1250" dirty="0"/>
          </a:p>
        </p:txBody>
      </p:sp>
      <p:sp>
        <p:nvSpPr>
          <p:cNvPr id="41" name="Text 37"/>
          <p:cNvSpPr/>
          <p:nvPr/>
        </p:nvSpPr>
        <p:spPr>
          <a:xfrm>
            <a:off x="3538728" y="55595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session back to the replica that already holds its prefix.</a:t>
            </a:r>
            <a:endParaRPr lang="en-US" sz="1050" dirty="0"/>
          </a:p>
        </p:txBody>
      </p:sp>
      <p:sp>
        <p:nvSpPr>
          <p:cNvPr id="42" name="Shape 38"/>
          <p:cNvSpPr/>
          <p:nvPr/>
        </p:nvSpPr>
        <p:spPr>
          <a:xfrm>
            <a:off x="6144768" y="434340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43" name="Shape 39"/>
          <p:cNvSpPr/>
          <p:nvPr/>
        </p:nvSpPr>
        <p:spPr>
          <a:xfrm>
            <a:off x="6345936" y="4526280"/>
            <a:ext cx="512064" cy="51206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44" name="Image 2" descr="ic/recyc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193" y="4664537"/>
            <a:ext cx="235549" cy="235549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6327648" y="51023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to zero</a:t>
            </a:r>
            <a:endParaRPr lang="en-US" sz="1250" dirty="0"/>
          </a:p>
        </p:txBody>
      </p:sp>
      <p:sp>
        <p:nvSpPr>
          <p:cNvPr id="46" name="Text 41"/>
          <p:cNvSpPr/>
          <p:nvPr/>
        </p:nvSpPr>
        <p:spPr>
          <a:xfrm>
            <a:off x="6327648" y="55595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idle replicas down; cold-start is weight-load time — pre-bake images.</a:t>
            </a:r>
            <a:endParaRPr lang="en-US" sz="1050" dirty="0"/>
          </a:p>
        </p:txBody>
      </p:sp>
      <p:sp>
        <p:nvSpPr>
          <p:cNvPr id="47" name="Shape 42"/>
          <p:cNvSpPr/>
          <p:nvPr/>
        </p:nvSpPr>
        <p:spPr>
          <a:xfrm>
            <a:off x="8933688" y="4343400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48" name="Shape 43"/>
          <p:cNvSpPr/>
          <p:nvPr/>
        </p:nvSpPr>
        <p:spPr>
          <a:xfrm>
            <a:off x="9134856" y="4526280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49" name="Image 3" descr="ic/coins_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3113" y="4664537"/>
            <a:ext cx="235549" cy="235549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9116568" y="510235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for throughput</a:t>
            </a:r>
            <a:endParaRPr lang="en-US" sz="1250" dirty="0"/>
          </a:p>
        </p:txBody>
      </p:sp>
      <p:sp>
        <p:nvSpPr>
          <p:cNvPr id="51" name="Text 45"/>
          <p:cNvSpPr/>
          <p:nvPr/>
        </p:nvSpPr>
        <p:spPr>
          <a:xfrm>
            <a:off x="9116568" y="555955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Batch/offline traffic on Spot (~5× cheaper); on-demand for latency-critical.</a:t>
            </a:r>
            <a:endParaRPr lang="en-US" sz="1050" dirty="0"/>
          </a:p>
        </p:txBody>
      </p:sp>
      <p:sp>
        <p:nvSpPr>
          <p:cNvPr id="52" name="Text 46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production patterns; AWS g6e pricing (on-demand ≈ $1.86/hr, Spot ≈ $0.39/hr, us-east-1); prefix-aware routing.</a:t>
            </a:r>
            <a:endParaRPr lang="en-US" sz="850" dirty="0"/>
          </a:p>
        </p:txBody>
      </p:sp>
      <p:sp>
        <p:nvSpPr>
          <p:cNvPr id="53" name="Text 47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ZOOMING OUT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stack actually solves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84248"/>
            <a:ext cx="512064" cy="51206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6" name="Image 0" descr="ic/puzzle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353" y="2122505"/>
            <a:ext cx="235549" cy="2355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196596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fragmentation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86384" y="256946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PagedAttention pages the cache like virtual memory — waste drops from 60–80% to near zero.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9120" y="1783080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98424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1" name="Image 1" descr="ic/stream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545" y="2122505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196596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GPUs between requests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608576" y="256946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batching schedules at iteration level — finished slots refill instantly.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11312" y="1783080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1984248"/>
            <a:ext cx="512064" cy="51206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6" name="Image 2" descr="ic/mem_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0737" y="2122505"/>
            <a:ext cx="235549" cy="2355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34272" y="196596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Quadratic attention memory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430768" y="256946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FlashAttention tiles in SRAM and never materializes the N×N matrix.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66928" y="3474720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8096" y="367588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1" name="Image 3" descr="ic/compress_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353" y="3814145"/>
            <a:ext cx="235549" cy="2355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89888" y="365760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that don't fit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86384" y="426110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FP8 / INT4 quantization and K=V sharing shrink weights and KV at the source.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89120" y="3474720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0288" y="3675888"/>
            <a:ext cx="512064" cy="512064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6" name="Image 4" descr="ic/split_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8545" y="3814145"/>
            <a:ext cx="235549" cy="23554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12080" y="365760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Single-GPU ceilings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608576" y="426110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&amp; pipeline parallelism spread one model across many devices.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211312" y="3474720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12480" y="367588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31" name="Image 5" descr="ic/scale_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0737" y="3814145"/>
            <a:ext cx="235549" cy="23554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34272" y="365760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Spiky, uneven demand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430768" y="4261104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Replicas + KV-aware autoscaling match capacity to load, down to zero.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566928" y="54406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0F766E"/>
          </a:solidFill>
          <a:ln/>
        </p:spPr>
      </p:sp>
      <p:sp>
        <p:nvSpPr>
          <p:cNvPr id="35" name="Text 27"/>
          <p:cNvSpPr/>
          <p:nvPr/>
        </p:nvSpPr>
        <p:spPr>
          <a:xfrm>
            <a:off x="868680" y="5440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a memory tactic.  </a:t>
            </a:r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engineering is the discipline of moving the right bytes to the right place at the right time.</a:t>
            </a:r>
            <a:endParaRPr lang="en-US" sz="1400" dirty="0"/>
          </a:p>
        </p:txBody>
      </p:sp>
      <p:sp>
        <p:nvSpPr>
          <p:cNvPr id="36" name="Text 28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GOT HERE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years of chasing the memory wall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109270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40942" y="3547872"/>
            <a:ext cx="219456" cy="219456"/>
          </a:xfrm>
          <a:prstGeom prst="ellipse">
            <a:avLst/>
          </a:prstGeom>
          <a:solidFill>
            <a:srgbClr val="14B8A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0B0E2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50670" y="3346704"/>
            <a:ext cx="0" cy="310896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9422" y="2029968"/>
            <a:ext cx="1682496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09422" y="2121408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3430" y="248716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3430" y="287121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is All You Need — the architecture, and the O(n²) memory problem, are born.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62122" y="3547872"/>
            <a:ext cx="219456" cy="219456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0B0E2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71850" y="3657600"/>
            <a:ext cx="0" cy="310896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30602" y="3968496"/>
            <a:ext cx="1682496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30602" y="405993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594610" y="442569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Orca + FlashAttention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594610" y="480974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Iteration-level batching and IO-aware attention — throughput and memory, reframed.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083302" y="3547872"/>
            <a:ext cx="219456" cy="219456"/>
          </a:xfrm>
          <a:prstGeom prst="ellipse">
            <a:avLst/>
          </a:prstGeom>
          <a:solidFill>
            <a:srgbClr val="14B8A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0B0E2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93030" y="3346704"/>
            <a:ext cx="0" cy="310896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51782" y="2029968"/>
            <a:ext cx="1682496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51782" y="2121408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415790" y="248716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vLLM / PagedAttention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415790" y="287121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paged like virtual memory; 2–4× throughput becomes the new baseline.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904482" y="3547872"/>
            <a:ext cx="219456" cy="219456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0B0E2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014210" y="3657600"/>
            <a:ext cx="0" cy="310896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962" y="3968496"/>
            <a:ext cx="1682496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962" y="405993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236970" y="442569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FP8 &amp; L40S-class GPUs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36970" y="480974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FP8 tensor cores make quantized serving routine on commodity cloud GPUs.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725662" y="3547872"/>
            <a:ext cx="219456" cy="219456"/>
          </a:xfrm>
          <a:prstGeom prst="ellipse">
            <a:avLst/>
          </a:prstGeom>
          <a:solidFill>
            <a:srgbClr val="14B8A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0B0E2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835390" y="3346704"/>
            <a:ext cx="0" cy="310896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94142" y="2029968"/>
            <a:ext cx="1682496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994142" y="2121408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058150" y="248716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3 family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058150" y="287121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GQA/MQA, sliding-window attention and tied embeddings squeeze KV at the architecture level.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0546842" y="3547872"/>
            <a:ext cx="219456" cy="219456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2700000">
              <a:srgbClr val="0B0E2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656570" y="3657600"/>
            <a:ext cx="0" cy="310896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815322" y="3968496"/>
            <a:ext cx="1682496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815322" y="4059936"/>
            <a:ext cx="1682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879330" y="442569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4 · omni-modal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879330" y="480974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K=V sharing, Per-Layer Embeddings, MoE and 256K context push every lever at once.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66928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constant across every era: progress means moving — or storing — fewer bytes per generated token.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arXiv:1706.03762 · OSDI'22 (Orca) · arXiv:2205.14135 (FlashAttention) · SOSP'23 / arXiv:2309.06180 (vLLM) · Gemma 3 &amp; 4 releases.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COVERED THE COMMON CORE — NOT THE WHOLE 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was the foundation. The frontier keeps moving.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2763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so far — KV cache, PagedAttention, batching, quantization, parallelism — is the common toolkit you'll meet in almost every deployment. But it's a starting set. Vendors like NVIDIA are pushing an active research frontier; here are a few directions worth knowing exist.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542032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743200"/>
            <a:ext cx="493776" cy="493776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7" name="Image 0" descr="ic/split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416" y="2876520"/>
            <a:ext cx="227137" cy="2271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3312" y="2724912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Disaggregated serving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86384" y="329184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compute-bound prefill from memory-bound decode onto separate GPU pools — each tuned independently. The core idea behind NVIDIA Dynamo.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4389120" y="2542032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90288" y="2743200"/>
            <a:ext cx="493776" cy="493776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2" name="Image 1" descr="ic/net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608" y="2876520"/>
            <a:ext cx="227137" cy="22713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75504" y="2724912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KV-aware routing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608576" y="329184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each request to the GPU that already holds its prefix, instead of recomputing it. Dynamo's router + NIXL move KV between workers.</a:t>
            </a:r>
            <a:endParaRPr lang="en-US" sz="1030" dirty="0"/>
          </a:p>
        </p:txBody>
      </p:sp>
      <p:sp>
        <p:nvSpPr>
          <p:cNvPr id="15" name="Shape 11"/>
          <p:cNvSpPr/>
          <p:nvPr/>
        </p:nvSpPr>
        <p:spPr>
          <a:xfrm>
            <a:off x="8211312" y="2542032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2480" y="2743200"/>
            <a:ext cx="493776" cy="493776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7" name="Image 2" descr="ic/compress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5800" y="2876520"/>
            <a:ext cx="227137" cy="22713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97696" y="2724912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NVFP4 — 4-bit float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430768" y="329184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Blackwell's native 4-bit format: roughly 2× the throughput of FP8 at comparable accuracy for compatible layers.</a:t>
            </a:r>
            <a:endParaRPr lang="en-US" sz="1030" dirty="0"/>
          </a:p>
        </p:txBody>
      </p:sp>
      <p:sp>
        <p:nvSpPr>
          <p:cNvPr id="20" name="Shape 15"/>
          <p:cNvSpPr/>
          <p:nvPr/>
        </p:nvSpPr>
        <p:spPr>
          <a:xfrm>
            <a:off x="566928" y="4279392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68096" y="4480560"/>
            <a:ext cx="493776" cy="493776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2" name="Image 3" descr="ic/bolt_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416" y="4613880"/>
            <a:ext cx="227137" cy="22713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53312" y="4462272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Speculative decoding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86384" y="502920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draft model proposes several tokens; the big model verifies them in one pass (Medusa, EAGLE) — more tokens per weight-read.</a:t>
            </a:r>
            <a:endParaRPr lang="en-US" sz="1030" dirty="0"/>
          </a:p>
        </p:txBody>
      </p:sp>
      <p:sp>
        <p:nvSpPr>
          <p:cNvPr id="25" name="Shape 19"/>
          <p:cNvSpPr/>
          <p:nvPr/>
        </p:nvSpPr>
        <p:spPr>
          <a:xfrm>
            <a:off x="4389120" y="4279392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90288" y="4480560"/>
            <a:ext cx="493776" cy="493776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7" name="Image 4" descr="ic/stream_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3608" y="4613880"/>
            <a:ext cx="227137" cy="22713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75504" y="4462272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Chunked prefill &amp; prefix cache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608576" y="502920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Interleave long prefills with decode, and store shared system/RAG prefixes once — fewer redundant passes.</a:t>
            </a:r>
            <a:endParaRPr lang="en-US" sz="1030" dirty="0"/>
          </a:p>
        </p:txBody>
      </p:sp>
      <p:sp>
        <p:nvSpPr>
          <p:cNvPr id="30" name="Shape 23"/>
          <p:cNvSpPr/>
          <p:nvPr/>
        </p:nvSpPr>
        <p:spPr>
          <a:xfrm>
            <a:off x="8211312" y="4279392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412480" y="4480560"/>
            <a:ext cx="493776" cy="493776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32" name="Image 5" descr="ic/db_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5800" y="4613880"/>
            <a:ext cx="227137" cy="227137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997696" y="4462272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offload to tiers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8430768" y="502920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Spill cold KV blocks to CPU RAM or NVMe and page them back — extending effective capacity beyond VRAM.</a:t>
            </a:r>
            <a:endParaRPr lang="en-US" sz="1030" dirty="0"/>
          </a:p>
        </p:txBody>
      </p:sp>
      <p:sp>
        <p:nvSpPr>
          <p:cNvPr id="35" name="Shape 27"/>
          <p:cNvSpPr/>
          <p:nvPr/>
        </p:nvSpPr>
        <p:spPr>
          <a:xfrm>
            <a:off x="566928" y="5870448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10142C"/>
          </a:solidFill>
          <a:ln/>
        </p:spPr>
      </p:sp>
      <p:sp>
        <p:nvSpPr>
          <p:cNvPr id="36" name="Text 28"/>
          <p:cNvSpPr/>
          <p:nvPr/>
        </p:nvSpPr>
        <p:spPr>
          <a:xfrm>
            <a:off x="868680" y="587044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8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enemy, new weapons:  </a:t>
            </a:r>
            <a:pPr indent="0" marL="0">
              <a:lnSpc>
                <a:spcPts val="1400"/>
              </a:lnSpc>
              <a:buNone/>
            </a:pPr>
            <a:r>
              <a:rPr lang="en-US" sz="11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above is still a way to move fewer bytes or reuse the ones you moved — NVIDIA reports up to ~7× throughput from disaggregation alone on Blackwell.</a:t>
            </a:r>
            <a:endParaRPr lang="en-US" sz="1180" dirty="0"/>
          </a:p>
        </p:txBody>
      </p:sp>
      <p:sp>
        <p:nvSpPr>
          <p:cNvPr id="37" name="Text 29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Dynamo (GA Mar 2026, GTC) developer blogs; NVFP4 / Blackwell inference posts; Medusa &amp; EAGLE speculative-decoding papers. Illustrative, not exhaustive.</a:t>
            </a:r>
            <a:endParaRPr lang="en-US" sz="850" dirty="0"/>
          </a:p>
        </p:txBody>
      </p:sp>
      <p:sp>
        <p:nvSpPr>
          <p:cNvPr id="38" name="Text 30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PAGE TO KEEP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equations, all in one place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65960"/>
            <a:ext cx="475488" cy="47548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6" name="Image 0" descr="ic/mem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478" y="2094342"/>
            <a:ext cx="218724" cy="2187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44168" y="196596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 memory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6384" y="2514600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M_weights = N_params × bytes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BF16 → 2 B   FP8 → 1 B   INT4 → 0.5 B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9120" y="1783080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965960"/>
            <a:ext cx="475488" cy="47548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1" name="Image 1" descr="ic/db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670" y="2094342"/>
            <a:ext cx="218724" cy="2187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66360" y="196596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cache per token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608576" y="2514600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M_kv/tok = 2 · L · H_kv · d_head · b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= K and V   ·   b = bytes/elem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11312" y="1783080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1965960"/>
            <a:ext cx="475488" cy="47548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6" name="Image 2" descr="ic/layers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862" y="2094342"/>
            <a:ext cx="218724" cy="2187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88552" y="196596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KV for a request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430768" y="2514600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M_kv = M_kv/tok × context_len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grows linearly with every token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66928" y="3474720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8096" y="3657600"/>
            <a:ext cx="475488" cy="47548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1" name="Image 3" descr="ic/users_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478" y="3785982"/>
            <a:ext cx="218724" cy="2187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44168" y="365760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Concurrency ceiling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86384" y="4206240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N_users ≈ KV_budget ÷ (M_kv/tok · ctx)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KV_budget = 0.9·VRAM − weights − act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89120" y="3474720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0288" y="3657600"/>
            <a:ext cx="475488" cy="47548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26" name="Image 4" descr="ic/speed_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670" y="3785982"/>
            <a:ext cx="218724" cy="2187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66360" y="365760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Decode-step floor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608576" y="4206240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t_step ≈ weight_bytes ÷ bandwidth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 1, weight-read-bound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211312" y="3474720"/>
            <a:ext cx="361188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12480" y="3657600"/>
            <a:ext cx="475488" cy="47548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31" name="Image 5" descr="ic/gauge_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0862" y="3785982"/>
            <a:ext cx="218724" cy="21872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88552" y="365760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Arithmetic intensity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430768" y="4206240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FLOPs ÷ bytes   (roofline)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decode: low I → memory-bound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66928" y="54406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868680" y="5440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layers   </a:t>
            </a:r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H_kv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key/value heads (GQA/MQA shrink this)   </a:t>
            </a:r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d_head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per-head dim   </a:t>
            </a:r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ctx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sequence length</a:t>
            </a:r>
            <a:endParaRPr lang="en-US" sz="1250" dirty="0"/>
          </a:p>
        </p:txBody>
      </p:sp>
      <p:sp>
        <p:nvSpPr>
          <p:cNvPr id="36" name="Text 28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OWN UNDERSTANDING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&amp; further reading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4864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6" name="Image 0" descr="ic/book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031" y="2210471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27048" y="21214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Foundational papers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86968" y="2788920"/>
            <a:ext cx="49377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Vaswani et al. 2017 — Attention Is All You Need (arXiv:1706.03762)</a:t>
            </a:r>
            <a:endParaRPr lang="en-US" sz="1100" dirty="0"/>
          </a:p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et al. 2022 — FlashAttention (arXiv:2205.14135); FA-2 (2307.08691)</a:t>
            </a:r>
            <a:endParaRPr lang="en-US" sz="1100" dirty="0"/>
          </a:p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 et al. 2022 — Orca, continuous batching (OSDI '22)</a:t>
            </a:r>
            <a:endParaRPr lang="en-US" sz="1100" dirty="0"/>
          </a:p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Kwon et al. 2023 — PagedAttention / vLLM (SOSP '23, arXiv:2309.06180)</a:t>
            </a:r>
            <a:endParaRPr lang="en-US" sz="1100" dirty="0"/>
          </a:p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Ainslie et al. 2023 — GQA (arXiv:2305.13245)</a:t>
            </a:r>
            <a:endParaRPr lang="en-US" sz="1100" dirty="0"/>
          </a:p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Shoeybi et al. 2019 — Megatron-LM tensor parallelism (arXiv:1909.08053)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27648" y="1828800"/>
            <a:ext cx="54864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2700000">
              <a:srgbClr val="0B0E2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057400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11" name="Image 1" descr="ic/site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751" y="2210471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87768" y="21214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&amp; docs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647688" y="2788920"/>
            <a:ext cx="49377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documentation — paged KV cache, scheduling, quantization</a:t>
            </a:r>
            <a:endParaRPr lang="en-US" sz="1100" dirty="0"/>
          </a:p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— Amazon EC2 G6e instances &amp; NVIDIA L40S specs / pricing</a:t>
            </a:r>
            <a:endParaRPr lang="en-US" sz="1100" dirty="0"/>
          </a:p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— model cards: microsoft/phi-4, google/gemma-3-*</a:t>
            </a:r>
            <a:endParaRPr lang="en-US" sz="1100" dirty="0"/>
          </a:p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Anyscale / vLLM blog — continuous batching benchmarks (up to 23×)</a:t>
            </a:r>
            <a:endParaRPr lang="en-US" sz="1100" dirty="0"/>
          </a:p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— L40S datasheet (FP8 Transformer Engine, 864 GB/s)</a:t>
            </a:r>
            <a:endParaRPr lang="en-US" sz="1100" dirty="0"/>
          </a:p>
          <a:p>
            <a:pPr marL="177800" indent="-1778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Dynamo &amp; NVFP4 — disaggregated serving, Blackwell inference (2026)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66928" y="5623560"/>
            <a:ext cx="11064240" cy="658368"/>
          </a:xfrm>
          <a:prstGeom prst="roundRect">
            <a:avLst>
              <a:gd name="adj" fmla="val 13889"/>
            </a:avLst>
          </a:prstGeom>
          <a:solidFill>
            <a:srgbClr val="10142C"/>
          </a:solidFill>
          <a:ln/>
        </p:spPr>
      </p:sp>
      <p:sp>
        <p:nvSpPr>
          <p:cNvPr id="15" name="Text 11"/>
          <p:cNvSpPr/>
          <p:nvPr/>
        </p:nvSpPr>
        <p:spPr>
          <a:xfrm>
            <a:off x="868680" y="562356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lectures (YouTube): 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CS25 — Transformers United  ·  Umar Jamil — Attention &amp; vLLM walkthroughs  ·  MIT 6.5940 EfficientML  ·  vLLM Office Hours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566928" y="643737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quantitative claims independently recomputed from model configs and L40S specs; figures rounded for teaching.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914400"/>
            <a:ext cx="3840480" cy="3840480"/>
          </a:xfrm>
          <a:prstGeom prst="ellipse">
            <a:avLst/>
          </a:prstGeom>
          <a:solidFill>
            <a:srgbClr val="E6FFFA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108960" cy="3108960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868680"/>
            <a:ext cx="777240" cy="777240"/>
          </a:xfrm>
          <a:prstGeom prst="ellipse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2700000">
              <a:srgbClr val="0B0E20">
                <a:alpha val="18000"/>
              </a:srgbClr>
            </a:outerShdw>
          </a:effectLst>
        </p:spPr>
      </p:sp>
      <p:pic>
        <p:nvPicPr>
          <p:cNvPr id="5" name="Image 0" descr="ic/brain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935" y="1078535"/>
            <a:ext cx="357530" cy="3575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1828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ONE-LINE TAKEAWAY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3504" y="224028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is a memory-movement problem.</a:t>
            </a:r>
            <a:endParaRPr lang="en-US" sz="33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the bytes, and the rest is engineering.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64008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carry into discussion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58368" y="4562856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" y="4562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97280" y="45262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double context length, what breaks first — and which lever do you pull?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58368" y="5065776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3" name="Text 10"/>
          <p:cNvSpPr/>
          <p:nvPr/>
        </p:nvSpPr>
        <p:spPr>
          <a:xfrm>
            <a:off x="658368" y="5065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97280" y="502920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quantization stop helping, and parallelism become unavoidable?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658368" y="5568696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6" name="Text 13"/>
          <p:cNvSpPr/>
          <p:nvPr/>
        </p:nvSpPr>
        <p:spPr>
          <a:xfrm>
            <a:off x="658368" y="5568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97280" y="55321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autoscale a multimodal service whose KV cost depends on image count?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548872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Serving LLMs with vLLM on AWS</dc:title>
  <dc:subject>PptxGenJS Presentation</dc:subject>
  <dc:creator>Inference Systems Session</dc:creator>
  <cp:lastModifiedBy>Inference Systems Session</cp:lastModifiedBy>
  <cp:revision>1</cp:revision>
  <dcterms:created xsi:type="dcterms:W3CDTF">2026-06-25T03:00:38Z</dcterms:created>
  <dcterms:modified xsi:type="dcterms:W3CDTF">2026-06-25T03:00:38Z</dcterms:modified>
</cp:coreProperties>
</file>